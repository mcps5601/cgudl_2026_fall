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4"/>
  </p:notesMasterIdLst>
  <p:sldIdLst>
    <p:sldId id="264" r:id="rId2"/>
    <p:sldId id="686" r:id="rId3"/>
    <p:sldId id="705" r:id="rId4"/>
    <p:sldId id="312" r:id="rId5"/>
    <p:sldId id="685" r:id="rId6"/>
    <p:sldId id="678" r:id="rId7"/>
    <p:sldId id="681" r:id="rId8"/>
    <p:sldId id="687" r:id="rId9"/>
    <p:sldId id="689" r:id="rId10"/>
    <p:sldId id="694" r:id="rId11"/>
    <p:sldId id="690" r:id="rId12"/>
    <p:sldId id="487" r:id="rId13"/>
    <p:sldId id="691" r:id="rId14"/>
    <p:sldId id="488" r:id="rId15"/>
    <p:sldId id="489" r:id="rId16"/>
    <p:sldId id="692" r:id="rId17"/>
    <p:sldId id="693" r:id="rId18"/>
    <p:sldId id="695" r:id="rId19"/>
    <p:sldId id="701" r:id="rId20"/>
    <p:sldId id="696" r:id="rId21"/>
    <p:sldId id="697" r:id="rId22"/>
    <p:sldId id="612" r:id="rId23"/>
    <p:sldId id="762" r:id="rId24"/>
    <p:sldId id="698" r:id="rId25"/>
    <p:sldId id="699" r:id="rId26"/>
    <p:sldId id="597" r:id="rId27"/>
    <p:sldId id="707" r:id="rId28"/>
    <p:sldId id="755" r:id="rId29"/>
    <p:sldId id="756" r:id="rId30"/>
    <p:sldId id="608" r:id="rId31"/>
    <p:sldId id="753" r:id="rId32"/>
    <p:sldId id="754" r:id="rId33"/>
    <p:sldId id="642" r:id="rId34"/>
    <p:sldId id="757" r:id="rId35"/>
    <p:sldId id="758" r:id="rId36"/>
    <p:sldId id="759" r:id="rId37"/>
    <p:sldId id="598" r:id="rId38"/>
    <p:sldId id="600" r:id="rId39"/>
    <p:sldId id="760" r:id="rId40"/>
    <p:sldId id="761" r:id="rId41"/>
    <p:sldId id="609" r:id="rId42"/>
    <p:sldId id="556" r:id="rId43"/>
    <p:sldId id="557" r:id="rId44"/>
    <p:sldId id="688" r:id="rId45"/>
    <p:sldId id="763" r:id="rId46"/>
    <p:sldId id="764" r:id="rId47"/>
    <p:sldId id="765" r:id="rId48"/>
    <p:sldId id="766" r:id="rId49"/>
    <p:sldId id="704" r:id="rId50"/>
    <p:sldId id="607" r:id="rId51"/>
    <p:sldId id="706" r:id="rId52"/>
    <p:sldId id="767" r:id="rId5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D5DE"/>
    <a:srgbClr val="FCE7D7"/>
    <a:srgbClr val="F9EDC6"/>
    <a:srgbClr val="9EF5EA"/>
    <a:srgbClr val="05AE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97"/>
    <p:restoredTop sz="90909"/>
  </p:normalViewPr>
  <p:slideViewPr>
    <p:cSldViewPr snapToGrid="0">
      <p:cViewPr varScale="1">
        <p:scale>
          <a:sx n="161" d="100"/>
          <a:sy n="161" d="100"/>
        </p:scale>
        <p:origin x="54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3" d="100"/>
          <a:sy n="93" d="100"/>
        </p:scale>
        <p:origin x="3568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DBE83B-754F-B948-8CD7-D8047F5EE2C4}" type="datetimeFigureOut">
              <a:rPr kumimoji="1" lang="zh-TW" altLang="en-US" smtClean="0"/>
              <a:t>2026/10/27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836D1C-D09F-2A41-BBEA-6549EF3DDB6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51419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490997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09451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431315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zh-TW" dirty="0"/>
              <a:t>Word embedding model: glove-wiki-gigaword-100</a:t>
            </a:r>
          </a:p>
          <a:p>
            <a:r>
              <a:rPr kumimoji="1" lang="en" altLang="zh-TW" dirty="0"/>
              <a:t>Dimension reduction: t-SNE</a:t>
            </a:r>
          </a:p>
          <a:p>
            <a:r>
              <a:rPr kumimoji="1" lang="en" altLang="zh-TW" dirty="0"/>
              <a:t>Dataset: </a:t>
            </a:r>
            <a:r>
              <a:rPr kumimoji="1" lang="en" altLang="zh-TW" dirty="0" err="1"/>
              <a:t>Mikolov</a:t>
            </a:r>
            <a:r>
              <a:rPr kumimoji="1" lang="en" altLang="zh-TW" dirty="0"/>
              <a:t> et al., 2013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498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6F8EE-4D6B-CE58-AB49-FD2A782CD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F007256-A8AC-13B6-C1D8-A2C6E43934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451018D-369B-6B45-7137-84BDC8C928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818DEBC-F030-3F25-B785-32B5FEDCA0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418679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613278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1904B-8EDF-EE65-2BE9-FAE95C259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FC0DFE5-31A4-C23F-56CB-007BB09E5F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99C047A-108A-1BCE-4138-64EDED0CAE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FFE7BA7-4FB2-AEDA-0DAC-EF09AD5216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735863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085526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A0E60-B02E-1867-1C4E-C3E4C7CCE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2326492-9516-8608-4682-691F868D1F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03DD599-6376-0A1A-C26B-D75093C449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FBFCCA-917C-CE79-0A78-5FF45D5A69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873753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08308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2717683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33956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325AC-AC8F-9557-7F00-4493B8353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9682E6D-0FEF-5D8C-A140-0EB2FB5E5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644522C-8F56-8976-A4D9-69B7198C0A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D0AAB3-82C4-129B-E73B-00095E9E3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619848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86D1D-FFCA-F878-7D53-8F26078F9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D48F78E-D539-6398-DBBB-4FA417229F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ED6EF34-AC68-B8F9-8F37-2AE019E03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49BF33C-9E1D-4A9C-64C2-0031EA385B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4002300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107785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zh-TW" dirty="0"/>
              <a:t>Sigmoid </a:t>
            </a:r>
            <a:r>
              <a:rPr kumimoji="1" lang="zh-TW" altLang="en-US" dirty="0"/>
              <a:t>的數值是 </a:t>
            </a:r>
            <a:r>
              <a:rPr kumimoji="1" lang="en-US" altLang="zh-TW" dirty="0"/>
              <a:t>0 </a:t>
            </a:r>
            <a:r>
              <a:rPr kumimoji="1" lang="zh-TW" altLang="en-US" dirty="0"/>
              <a:t>到 </a:t>
            </a:r>
            <a:r>
              <a:rPr kumimoji="1" lang="en-US" altLang="zh-TW" dirty="0"/>
              <a:t>1 </a:t>
            </a:r>
            <a:r>
              <a:rPr kumimoji="1" lang="zh-TW" altLang="en-US" dirty="0"/>
              <a:t>之間，而 </a:t>
            </a:r>
            <a:r>
              <a:rPr kumimoji="1" lang="en" altLang="zh-TW" dirty="0"/>
              <a:t>tanh </a:t>
            </a:r>
            <a:r>
              <a:rPr kumimoji="1" lang="zh-TW" altLang="en-US" dirty="0"/>
              <a:t>的數值在 </a:t>
            </a:r>
            <a:r>
              <a:rPr kumimoji="1" lang="en-US" altLang="zh-TW" dirty="0"/>
              <a:t>-1 </a:t>
            </a:r>
            <a:r>
              <a:rPr kumimoji="1" lang="zh-TW" altLang="en-US" dirty="0"/>
              <a:t>到 </a:t>
            </a:r>
            <a:r>
              <a:rPr kumimoji="1" lang="en-US" altLang="zh-TW" dirty="0"/>
              <a:t>1 </a:t>
            </a:r>
            <a:r>
              <a:rPr kumimoji="1" lang="zh-TW" altLang="en-US" dirty="0"/>
              <a:t>之間</a:t>
            </a:r>
          </a:p>
          <a:p>
            <a:r>
              <a:rPr kumimoji="1" lang="zh-TW" altLang="en-US" dirty="0"/>
              <a:t>代表模型在梯度下降的過程中有機會改變梯度的方向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3688437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765023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備忘稿版面配置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在 </a:t>
                </a:r>
                <a:r>
                  <a:rPr lang="en" altLang="zh-TW" dirty="0"/>
                  <a:t>sequence classification </a:t>
                </a:r>
                <a:r>
                  <a:rPr lang="zh-TW" altLang="en-US" dirty="0"/>
                  <a:t>裡，我們常常不需要每個位置都做預測，而是要用一個向量代表整個句子。</a:t>
                </a:r>
                <a:br>
                  <a:rPr lang="zh-TW" altLang="en-US" dirty="0"/>
                </a:br>
                <a:r>
                  <a:rPr lang="zh-TW" altLang="en-US" dirty="0"/>
                  <a:t>因此可以把 </a:t>
                </a:r>
                <a:r>
                  <a:rPr lang="en" altLang="zh-TW" dirty="0"/>
                  <a:t>forward RNN </a:t>
                </a:r>
                <a:r>
                  <a:rPr lang="zh-TW" altLang="en-US" dirty="0"/>
                  <a:t>在最後一個 </a:t>
                </a:r>
                <a:r>
                  <a:rPr lang="en" altLang="zh-TW" dirty="0"/>
                  <a:t>token </a:t>
                </a:r>
                <a:r>
                  <a:rPr lang="zh-TW" altLang="en-US" dirty="0"/>
                  <a:t>的 </a:t>
                </a:r>
                <a:r>
                  <a:rPr lang="en" altLang="zh-TW" dirty="0"/>
                  <a:t>hidden state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zh-TW" alt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acc>
                  </m:oMath>
                </a14:m>
                <a:r>
                  <a:rPr lang="zh-TW" altLang="en" dirty="0"/>
                  <a:t>，</a:t>
                </a:r>
                <a:endParaRPr lang="en-US" altLang="zh-TW" dirty="0"/>
              </a:p>
              <a:p>
                <a:r>
                  <a:rPr lang="zh-TW" altLang="en-US" dirty="0"/>
                  <a:t>以及 </a:t>
                </a:r>
                <a:r>
                  <a:rPr lang="en" altLang="zh-TW" dirty="0"/>
                  <a:t>backward RNN </a:t>
                </a:r>
                <a:r>
                  <a:rPr lang="zh-TW" altLang="en-US" dirty="0"/>
                  <a:t>在第一個 </a:t>
                </a:r>
                <a:r>
                  <a:rPr lang="en" altLang="zh-TW" dirty="0"/>
                  <a:t>token </a:t>
                </a:r>
                <a:r>
                  <a:rPr lang="zh-TW" altLang="en-US" dirty="0"/>
                  <a:t>的 </a:t>
                </a:r>
                <a:r>
                  <a:rPr lang="en" altLang="zh-TW" dirty="0"/>
                  <a:t>hidden state 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pos m:val="top"/>
                        <m:vertJc m:val="bot"/>
                        <m:ctrlPr>
                          <a:rPr lang="zh-TW" alt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groupChr>
                  </m:oMath>
                </a14:m>
                <a:r>
                  <a:rPr lang="en" altLang="zh-TW" dirty="0"/>
                  <a:t> </a:t>
                </a:r>
                <a:r>
                  <a:rPr lang="zh-TW" altLang="en-US" dirty="0"/>
                  <a:t>做 </a:t>
                </a:r>
                <a:r>
                  <a:rPr lang="en" altLang="zh-TW" dirty="0"/>
                  <a:t>concatenation</a:t>
                </a:r>
                <a:r>
                  <a:rPr lang="zh-TW" altLang="en" dirty="0"/>
                  <a:t>，</a:t>
                </a:r>
                <a:r>
                  <a:rPr lang="zh-TW" altLang="en-US" dirty="0"/>
                  <a:t>形成整句表示，再送進 </a:t>
                </a:r>
                <a:r>
                  <a:rPr lang="en" altLang="zh-TW" dirty="0"/>
                  <a:t>linear classifier</a:t>
                </a:r>
                <a:r>
                  <a:rPr lang="zh-TW" altLang="en" dirty="0"/>
                  <a:t>。</a:t>
                </a:r>
                <a:endParaRPr kumimoji="1" lang="zh-TW" altLang="en-US" dirty="0"/>
              </a:p>
            </p:txBody>
          </p:sp>
        </mc:Choice>
        <mc:Fallback xmlns="">
          <p:sp>
            <p:nvSpPr>
              <p:cNvPr id="3" name="備忘稿版面配置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在 </a:t>
                </a:r>
                <a:r>
                  <a:rPr lang="en" altLang="zh-TW" dirty="0"/>
                  <a:t>sequence classification </a:t>
                </a:r>
                <a:r>
                  <a:rPr lang="zh-TW" altLang="en-US" dirty="0"/>
                  <a:t>裡，我們常常不需要每個位置都做預測，而是要用一個向量代表整個句子。</a:t>
                </a:r>
                <a:br>
                  <a:rPr lang="zh-TW" altLang="en-US" dirty="0"/>
                </a:br>
                <a:r>
                  <a:rPr lang="zh-TW" altLang="en-US" dirty="0"/>
                  <a:t>因此可以把 </a:t>
                </a:r>
                <a:r>
                  <a:rPr lang="en" altLang="zh-TW" dirty="0"/>
                  <a:t>forward RNN </a:t>
                </a:r>
                <a:r>
                  <a:rPr lang="zh-TW" altLang="en-US" dirty="0"/>
                  <a:t>在最後一個 </a:t>
                </a:r>
                <a:r>
                  <a:rPr lang="en" altLang="zh-TW" dirty="0"/>
                  <a:t>token </a:t>
                </a:r>
                <a:r>
                  <a:rPr lang="zh-TW" altLang="en-US" dirty="0"/>
                  <a:t>的 </a:t>
                </a:r>
                <a:r>
                  <a:rPr lang="en" altLang="zh-TW" dirty="0"/>
                  <a:t>hidden state </a:t>
                </a:r>
                <a:r>
                  <a:rPr lang="zh-TW" altLang="en-US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(ℎ_𝑛 ) ⃗</a:t>
                </a:r>
                <a:r>
                  <a:rPr lang="zh-TW" altLang="en" dirty="0"/>
                  <a:t>，</a:t>
                </a:r>
                <a:endParaRPr lang="en-US" altLang="zh-TW" dirty="0"/>
              </a:p>
              <a:p>
                <a:r>
                  <a:rPr lang="zh-TW" altLang="en-US" dirty="0"/>
                  <a:t>以及 </a:t>
                </a:r>
                <a:r>
                  <a:rPr lang="en" altLang="zh-TW" dirty="0"/>
                  <a:t>backward RNN </a:t>
                </a:r>
                <a:r>
                  <a:rPr lang="zh-TW" altLang="en-US" dirty="0"/>
                  <a:t>在第一個 </a:t>
                </a:r>
                <a:r>
                  <a:rPr lang="en" altLang="zh-TW" dirty="0"/>
                  <a:t>token </a:t>
                </a:r>
                <a:r>
                  <a:rPr lang="zh-TW" altLang="en-US" dirty="0"/>
                  <a:t>的 </a:t>
                </a:r>
                <a:r>
                  <a:rPr lang="en" altLang="zh-TW" dirty="0"/>
                  <a:t>hidden state </a:t>
                </a:r>
                <a:r>
                  <a:rPr lang="zh-TW" altLang="en-US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ℎ_1 ┴←</a:t>
                </a:r>
                <a:r>
                  <a:rPr lang="en" altLang="zh-TW" dirty="0"/>
                  <a:t> </a:t>
                </a:r>
                <a:r>
                  <a:rPr lang="zh-TW" altLang="en-US" dirty="0"/>
                  <a:t>做 </a:t>
                </a:r>
                <a:r>
                  <a:rPr lang="en" altLang="zh-TW" dirty="0"/>
                  <a:t>concatenation</a:t>
                </a:r>
                <a:r>
                  <a:rPr lang="zh-TW" altLang="en" dirty="0"/>
                  <a:t>，</a:t>
                </a:r>
                <a:r>
                  <a:rPr lang="zh-TW" altLang="en-US" dirty="0"/>
                  <a:t>形成整句表示，再送進 </a:t>
                </a:r>
                <a:r>
                  <a:rPr lang="en" altLang="zh-TW" dirty="0"/>
                  <a:t>linear classifier</a:t>
                </a:r>
                <a:r>
                  <a:rPr lang="zh-TW" altLang="en" dirty="0"/>
                  <a:t>。</a:t>
                </a:r>
                <a:endParaRPr kumimoji="1" lang="zh-TW" altLang="en-US" dirty="0"/>
              </a:p>
            </p:txBody>
          </p:sp>
        </mc:Fallback>
      </mc:AlternateContent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54065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488453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37596206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401180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4724991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519987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553428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3143" y="1845734"/>
            <a:ext cx="10918371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pic>
        <p:nvPicPr>
          <p:cNvPr id="8" name="圖片 7" descr="一張含有 黑暗, 鮮豔, 圓形, 對稱 的圖片&#10;&#10;自動產生的描述">
            <a:extLst>
              <a:ext uri="{FF2B5EF4-FFF2-40B4-BE49-F238E27FC236}">
                <a16:creationId xmlns:a16="http://schemas.microsoft.com/office/drawing/2014/main" id="{7B42FF8E-DE09-ED24-7D18-F64355A345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20" y="6349567"/>
            <a:ext cx="462323" cy="453571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7DAD89E-131D-FDCA-9260-AC4191103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2955" y="6415560"/>
            <a:ext cx="1312025" cy="3651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6113E31D-E2AB-40D1-8B51-AFA5AFEF393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986838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9116564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10/27/26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DAB314-DF41-49F3-8643-5960470A9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4963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10/27/26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6FF28B-EE0C-0976-1882-688F9026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79200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10/27/26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8DE478E-C0B1-6FFC-0061-DA2334C3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719898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10/27/26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310670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10/27/26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22681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10/27/26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6162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B6B208-0D45-71D0-C7BE-D6974D30E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0684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10/27/26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143666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676003" y="1355758"/>
            <a:ext cx="10839994" cy="45719"/>
          </a:xfrm>
          <a:prstGeom prst="rect">
            <a:avLst/>
          </a:prstGeom>
          <a:solidFill>
            <a:srgbClr val="05AED6"/>
          </a:solidFill>
          <a:ln>
            <a:solidFill>
              <a:srgbClr val="05AE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CGU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101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sli.do/event/trLLdJv5TjT9ahwZTURqNG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mcps5601/CGUDL_2025_Spring" TargetMode="External"/><Relationship Id="rId5" Type="http://schemas.openxmlformats.org/officeDocument/2006/relationships/image" Target="../media/image4.png"/><Relationship Id="rId4" Type="http://schemas.openxmlformats.org/officeDocument/2006/relationships/hyperlink" Target="https://app.sli.do/event/jNcLWvE9wkw5j64qvf9Fxd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2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1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0.png"/><Relationship Id="rId5" Type="http://schemas.openxmlformats.org/officeDocument/2006/relationships/image" Target="../media/image211.png"/><Relationship Id="rId4" Type="http://schemas.openxmlformats.org/officeDocument/2006/relationships/image" Target="../media/image201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0.png"/><Relationship Id="rId3" Type="http://schemas.openxmlformats.org/officeDocument/2006/relationships/image" Target="../media/image25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2.png"/><Relationship Id="rId11" Type="http://schemas.openxmlformats.org/officeDocument/2006/relationships/image" Target="../media/image26.png"/><Relationship Id="rId5" Type="http://schemas.openxmlformats.org/officeDocument/2006/relationships/image" Target="../media/image160.png"/><Relationship Id="rId10" Type="http://schemas.openxmlformats.org/officeDocument/2006/relationships/image" Target="../media/image210.png"/><Relationship Id="rId4" Type="http://schemas.openxmlformats.org/officeDocument/2006/relationships/image" Target="../media/image150.png"/><Relationship Id="rId9" Type="http://schemas.openxmlformats.org/officeDocument/2006/relationships/image" Target="../media/image200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36.png"/><Relationship Id="rId7" Type="http://schemas.openxmlformats.org/officeDocument/2006/relationships/image" Target="../media/image31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1.png"/><Relationship Id="rId4" Type="http://schemas.openxmlformats.org/officeDocument/2006/relationships/image" Target="../media/image362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40.png"/><Relationship Id="rId7" Type="http://schemas.openxmlformats.org/officeDocument/2006/relationships/image" Target="../media/image39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5" Type="http://schemas.openxmlformats.org/officeDocument/2006/relationships/image" Target="../media/image3710.png"/><Relationship Id="rId10" Type="http://schemas.openxmlformats.org/officeDocument/2006/relationships/image" Target="../media/image44.png"/><Relationship Id="rId4" Type="http://schemas.openxmlformats.org/officeDocument/2006/relationships/image" Target="../media/image41.png"/><Relationship Id="rId9" Type="http://schemas.openxmlformats.org/officeDocument/2006/relationships/image" Target="../media/image4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0.png"/><Relationship Id="rId3" Type="http://schemas.openxmlformats.org/officeDocument/2006/relationships/image" Target="../media/image811.png"/><Relationship Id="rId7" Type="http://schemas.openxmlformats.org/officeDocument/2006/relationships/image" Target="../media/image10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0.png"/><Relationship Id="rId5" Type="http://schemas.openxmlformats.org/officeDocument/2006/relationships/image" Target="../media/image810.png"/><Relationship Id="rId4" Type="http://schemas.openxmlformats.org/officeDocument/2006/relationships/image" Target="../media/image710.png"/><Relationship Id="rId9" Type="http://schemas.openxmlformats.org/officeDocument/2006/relationships/image" Target="../media/image121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3" Type="http://schemas.openxmlformats.org/officeDocument/2006/relationships/image" Target="../media/image610.png"/><Relationship Id="rId7" Type="http://schemas.openxmlformats.org/officeDocument/2006/relationships/image" Target="../media/image13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image" Target="../media/image810.png"/><Relationship Id="rId4" Type="http://schemas.openxmlformats.org/officeDocument/2006/relationships/image" Target="../media/image110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1.png"/><Relationship Id="rId13" Type="http://schemas.openxmlformats.org/officeDocument/2006/relationships/image" Target="../media/image331.png"/><Relationship Id="rId18" Type="http://schemas.openxmlformats.org/officeDocument/2006/relationships/image" Target="../media/image381.png"/><Relationship Id="rId26" Type="http://schemas.openxmlformats.org/officeDocument/2006/relationships/image" Target="../media/image231.png"/><Relationship Id="rId3" Type="http://schemas.openxmlformats.org/officeDocument/2006/relationships/image" Target="../media/image230.png"/><Relationship Id="rId21" Type="http://schemas.openxmlformats.org/officeDocument/2006/relationships/image" Target="../media/image411.png"/><Relationship Id="rId7" Type="http://schemas.openxmlformats.org/officeDocument/2006/relationships/image" Target="../media/image271.png"/><Relationship Id="rId12" Type="http://schemas.openxmlformats.org/officeDocument/2006/relationships/image" Target="../media/image320.png"/><Relationship Id="rId17" Type="http://schemas.openxmlformats.org/officeDocument/2006/relationships/image" Target="../media/image370.png"/><Relationship Id="rId25" Type="http://schemas.openxmlformats.org/officeDocument/2006/relationships/image" Target="../media/image160.png"/><Relationship Id="rId2" Type="http://schemas.openxmlformats.org/officeDocument/2006/relationships/notesSlide" Target="../notesSlides/notesSlide21.xml"/><Relationship Id="rId16" Type="http://schemas.openxmlformats.org/officeDocument/2006/relationships/image" Target="../media/image361.png"/><Relationship Id="rId20" Type="http://schemas.openxmlformats.org/officeDocument/2006/relationships/image" Target="../media/image401.png"/><Relationship Id="rId29" Type="http://schemas.openxmlformats.org/officeDocument/2006/relationships/image" Target="../media/image4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1.png"/><Relationship Id="rId11" Type="http://schemas.openxmlformats.org/officeDocument/2006/relationships/image" Target="../media/image310.png"/><Relationship Id="rId24" Type="http://schemas.openxmlformats.org/officeDocument/2006/relationships/image" Target="../media/image150.png"/><Relationship Id="rId5" Type="http://schemas.openxmlformats.org/officeDocument/2006/relationships/image" Target="../media/image251.png"/><Relationship Id="rId15" Type="http://schemas.openxmlformats.org/officeDocument/2006/relationships/image" Target="../media/image351.png"/><Relationship Id="rId23" Type="http://schemas.openxmlformats.org/officeDocument/2006/relationships/image" Target="../media/image431.png"/><Relationship Id="rId28" Type="http://schemas.openxmlformats.org/officeDocument/2006/relationships/image" Target="../media/image190.png"/><Relationship Id="rId10" Type="http://schemas.openxmlformats.org/officeDocument/2006/relationships/image" Target="../media/image301.png"/><Relationship Id="rId19" Type="http://schemas.openxmlformats.org/officeDocument/2006/relationships/image" Target="../media/image392.png"/><Relationship Id="rId31" Type="http://schemas.openxmlformats.org/officeDocument/2006/relationships/image" Target="../media/image450.png"/><Relationship Id="rId4" Type="http://schemas.openxmlformats.org/officeDocument/2006/relationships/image" Target="../media/image241.png"/><Relationship Id="rId9" Type="http://schemas.openxmlformats.org/officeDocument/2006/relationships/image" Target="../media/image291.png"/><Relationship Id="rId14" Type="http://schemas.openxmlformats.org/officeDocument/2006/relationships/image" Target="../media/image340.png"/><Relationship Id="rId22" Type="http://schemas.openxmlformats.org/officeDocument/2006/relationships/image" Target="../media/image420.png"/><Relationship Id="rId27" Type="http://schemas.openxmlformats.org/officeDocument/2006/relationships/image" Target="../media/image252.png"/><Relationship Id="rId30" Type="http://schemas.openxmlformats.org/officeDocument/2006/relationships/image" Target="../media/image210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8" Type="http://schemas.openxmlformats.org/officeDocument/2006/relationships/image" Target="../media/image53.png"/><Relationship Id="rId7" Type="http://schemas.openxmlformats.org/officeDocument/2006/relationships/image" Target="../media/image280.png"/><Relationship Id="rId17" Type="http://schemas.openxmlformats.org/officeDocument/2006/relationships/image" Target="../media/image303.png"/><Relationship Id="rId2" Type="http://schemas.openxmlformats.org/officeDocument/2006/relationships/notesSlide" Target="../notesSlides/notesSlide22.xml"/><Relationship Id="rId16" Type="http://schemas.openxmlformats.org/officeDocument/2006/relationships/image" Target="../media/image35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0.png"/><Relationship Id="rId13" Type="http://schemas.openxmlformats.org/officeDocument/2006/relationships/image" Target="../media/image1600.png"/><Relationship Id="rId18" Type="http://schemas.openxmlformats.org/officeDocument/2006/relationships/image" Target="../media/image461.png"/><Relationship Id="rId3" Type="http://schemas.openxmlformats.org/officeDocument/2006/relationships/image" Target="../media/image240.png"/><Relationship Id="rId21" Type="http://schemas.openxmlformats.org/officeDocument/2006/relationships/image" Target="../media/image302.png"/><Relationship Id="rId7" Type="http://schemas.openxmlformats.org/officeDocument/2006/relationships/image" Target="../media/image280.png"/><Relationship Id="rId12" Type="http://schemas.openxmlformats.org/officeDocument/2006/relationships/image" Target="../media/image330.png"/><Relationship Id="rId17" Type="http://schemas.openxmlformats.org/officeDocument/2006/relationships/image" Target="../media/image360.png"/><Relationship Id="rId2" Type="http://schemas.openxmlformats.org/officeDocument/2006/relationships/notesSlide" Target="../notesSlides/notesSlide23.xml"/><Relationship Id="rId16" Type="http://schemas.openxmlformats.org/officeDocument/2006/relationships/image" Target="../media/image350.png"/><Relationship Id="rId20" Type="http://schemas.openxmlformats.org/officeDocument/2006/relationships/image" Target="../media/image3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0.png"/><Relationship Id="rId11" Type="http://schemas.openxmlformats.org/officeDocument/2006/relationships/image" Target="../media/image460.png"/><Relationship Id="rId5" Type="http://schemas.openxmlformats.org/officeDocument/2006/relationships/image" Target="../media/image260.png"/><Relationship Id="rId15" Type="http://schemas.openxmlformats.org/officeDocument/2006/relationships/image" Target="../media/image480.png"/><Relationship Id="rId10" Type="http://schemas.openxmlformats.org/officeDocument/2006/relationships/image" Target="../media/image440.png"/><Relationship Id="rId4" Type="http://schemas.openxmlformats.org/officeDocument/2006/relationships/image" Target="../media/image250.png"/><Relationship Id="rId9" Type="http://schemas.openxmlformats.org/officeDocument/2006/relationships/image" Target="../media/image300.png"/><Relationship Id="rId14" Type="http://schemas.openxmlformats.org/officeDocument/2006/relationships/image" Target="../media/image470.png"/></Relationships>
</file>

<file path=ppt/slides/_rels/slide4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10.png"/><Relationship Id="rId3" Type="http://schemas.openxmlformats.org/officeDocument/2006/relationships/image" Target="../media/image330.png"/><Relationship Id="rId7" Type="http://schemas.openxmlformats.org/officeDocument/2006/relationships/image" Target="../media/image400.png"/><Relationship Id="rId12" Type="http://schemas.openxmlformats.org/officeDocument/2006/relationships/image" Target="../media/image390.png"/><Relationship Id="rId16" Type="http://schemas.openxmlformats.org/officeDocument/2006/relationships/image" Target="../media/image4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0.png"/><Relationship Id="rId15" Type="http://schemas.openxmlformats.org/officeDocument/2006/relationships/image" Target="../media/image510.png"/><Relationship Id="rId4" Type="http://schemas.openxmlformats.org/officeDocument/2006/relationships/image" Target="../media/image1600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cps5601/CGUDL_2026_fall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圓角矩形 4">
            <a:extLst>
              <a:ext uri="{FF2B5EF4-FFF2-40B4-BE49-F238E27FC236}">
                <a16:creationId xmlns:a16="http://schemas.microsoft.com/office/drawing/2014/main" id="{3C6264BC-1151-9168-C7F5-CC114FF3CC95}"/>
              </a:ext>
            </a:extLst>
          </p:cNvPr>
          <p:cNvSpPr/>
          <p:nvPr/>
        </p:nvSpPr>
        <p:spPr>
          <a:xfrm>
            <a:off x="667422" y="2025546"/>
            <a:ext cx="10857156" cy="2426189"/>
          </a:xfrm>
          <a:prstGeom prst="roundRect">
            <a:avLst/>
          </a:prstGeom>
          <a:solidFill>
            <a:srgbClr val="9EF5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058193-D513-E805-2BD5-118E50D976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1959" y="1006002"/>
            <a:ext cx="5437882" cy="3224045"/>
          </a:xfrm>
        </p:spPr>
        <p:txBody>
          <a:bodyPr anchor="b">
            <a:normAutofit/>
          </a:bodyPr>
          <a:lstStyle/>
          <a:p>
            <a:r>
              <a:rPr kumimoji="1" lang="zh-TW" altLang="en-US" sz="5800" b="1" dirty="0">
                <a:ea typeface="Microsoft JhengHei" panose="020B0604030504040204" pitchFamily="34" charset="-120"/>
              </a:rPr>
              <a:t>深度學習</a:t>
            </a:r>
            <a:br>
              <a:rPr kumimoji="1" lang="en-US" altLang="zh-TW" sz="5800" b="1" dirty="0">
                <a:ea typeface="Microsoft JhengHei" panose="020B0604030504040204" pitchFamily="34" charset="-120"/>
              </a:rPr>
            </a:br>
            <a:r>
              <a:rPr kumimoji="1" lang="en-US" altLang="zh-TW" sz="5800" b="1" dirty="0">
                <a:ea typeface="Microsoft JhengHei" panose="020B0604030504040204" pitchFamily="34" charset="-120"/>
              </a:rPr>
              <a:t>Deep Learning</a:t>
            </a:r>
            <a:endParaRPr kumimoji="1" lang="zh-TW" altLang="en-US" sz="5800" b="1" dirty="0"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598A032-0E8B-F9E1-A926-2F2E78D575C6}"/>
              </a:ext>
            </a:extLst>
          </p:cNvPr>
          <p:cNvSpPr txBox="1"/>
          <p:nvPr/>
        </p:nvSpPr>
        <p:spPr>
          <a:xfrm>
            <a:off x="726698" y="4749453"/>
            <a:ext cx="555980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8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Recurrent Neural Networks</a:t>
            </a:r>
          </a:p>
          <a:p>
            <a:r>
              <a:rPr kumimoji="1" lang="en-US" altLang="zh-TW" sz="28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(RNN)</a:t>
            </a:r>
            <a:endParaRPr kumimoji="1" lang="zh-TW" altLang="en-US" sz="2800" b="1" dirty="0">
              <a:solidFill>
                <a:srgbClr val="0070C0"/>
              </a:solidFill>
              <a:latin typeface="+mj-lt"/>
              <a:cs typeface="Calibri" panose="020F0502020204030204" pitchFamily="34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F843A79-3FEF-CDAD-6B9A-C5A7AD279D2D}"/>
              </a:ext>
            </a:extLst>
          </p:cNvPr>
          <p:cNvSpPr txBox="1"/>
          <p:nvPr/>
        </p:nvSpPr>
        <p:spPr>
          <a:xfrm>
            <a:off x="726698" y="5827136"/>
            <a:ext cx="48892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林英嘉 </a:t>
            </a:r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(Ying-Jia Lin)</a:t>
            </a:r>
          </a:p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2026/10/28</a:t>
            </a:r>
            <a:endParaRPr kumimoji="1" lang="zh-TW" altLang="en-US" sz="2000" b="1" dirty="0">
              <a:latin typeface="+mj-lt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C0C8410-1877-4FB2-39F9-E0CFE0480E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9528" y="253272"/>
            <a:ext cx="1468923" cy="1468923"/>
          </a:xfrm>
          <a:prstGeom prst="rect">
            <a:avLst/>
          </a:prstGeom>
        </p:spPr>
      </p:pic>
      <p:sp>
        <p:nvSpPr>
          <p:cNvPr id="6" name="文字方塊 5">
            <a:hlinkClick r:id="rId3"/>
            <a:extLst>
              <a:ext uri="{FF2B5EF4-FFF2-40B4-BE49-F238E27FC236}">
                <a16:creationId xmlns:a16="http://schemas.microsoft.com/office/drawing/2014/main" id="{3F9FCBEA-AF28-BA45-7C85-1BDB6C7F371D}"/>
              </a:ext>
            </a:extLst>
          </p:cNvPr>
          <p:cNvSpPr txBox="1"/>
          <p:nvPr/>
        </p:nvSpPr>
        <p:spPr>
          <a:xfrm>
            <a:off x="9210931" y="6467013"/>
            <a:ext cx="1825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4"/>
              </a:rPr>
              <a:t>Slido # DL1028</a:t>
            </a:r>
            <a:endParaRPr kumimoji="1" lang="zh-TW" altLang="en-US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6607E795-A06B-4F0F-5D54-59885296C8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0640" y="4456832"/>
            <a:ext cx="2227592" cy="2227592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5BD70C5B-48B1-3692-322F-54B1D032CB09}"/>
              </a:ext>
            </a:extLst>
          </p:cNvPr>
          <p:cNvSpPr txBox="1"/>
          <p:nvPr/>
        </p:nvSpPr>
        <p:spPr>
          <a:xfrm>
            <a:off x="6623833" y="6470108"/>
            <a:ext cx="203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6"/>
              </a:rPr>
              <a:t>Course GitHub</a:t>
            </a:r>
            <a:endParaRPr kumimoji="1" lang="zh-TW" altLang="en-US" dirty="0"/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BE684B60-313D-7DCF-1846-1057A9BA13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8689" y="4657912"/>
            <a:ext cx="1825432" cy="1825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314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729B53-50E5-64FF-C825-124AD6476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Outline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9A3BFD-11F7-B87C-8992-2C59714FB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D63A80CC-9484-1BAA-ED61-BC08FFD88841}"/>
              </a:ext>
            </a:extLst>
          </p:cNvPr>
          <p:cNvSpPr txBox="1"/>
          <p:nvPr/>
        </p:nvSpPr>
        <p:spPr>
          <a:xfrm>
            <a:off x="653144" y="1806093"/>
            <a:ext cx="10918370" cy="2793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Introduction to Natural Language Processing (NLP) [30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Recurrent Neural Networks (RNN) [50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solidFill>
                  <a:srgbClr val="FF0000"/>
                </a:solidFill>
              </a:rPr>
              <a:t>Midterm Exam Reminder [5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NLP code [50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Quiz [15 min]</a:t>
            </a:r>
          </a:p>
        </p:txBody>
      </p:sp>
    </p:spTree>
    <p:extLst>
      <p:ext uri="{BB962C8B-B14F-4D97-AF65-F5344CB8AC3E}">
        <p14:creationId xmlns:p14="http://schemas.microsoft.com/office/powerpoint/2010/main" val="15087611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3EBAE6-B0D3-68C7-4057-B6BBCB298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什麼是自然語言處理？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8DF8F6F-9749-77DC-0B84-A5883421AF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281" r="1174"/>
          <a:stretch/>
        </p:blipFill>
        <p:spPr>
          <a:xfrm>
            <a:off x="653143" y="2573631"/>
            <a:ext cx="5141949" cy="3247387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F4FC4D-0209-B517-62A5-42E3A0F59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43103C8-C901-C978-C62E-2DC49907A7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8453" y="2573631"/>
            <a:ext cx="5700404" cy="3247387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E8F0AB0F-7B7D-3865-2BA0-5E681B3AE3F0}"/>
              </a:ext>
            </a:extLst>
          </p:cNvPr>
          <p:cNvSpPr txBox="1"/>
          <p:nvPr/>
        </p:nvSpPr>
        <p:spPr>
          <a:xfrm>
            <a:off x="2398039" y="1997665"/>
            <a:ext cx="16521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400" dirty="0"/>
              <a:t>文字搜尋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0D2CBE3-4F03-5FA6-C0D7-7C4EA033F0BB}"/>
              </a:ext>
            </a:extLst>
          </p:cNvPr>
          <p:cNvSpPr txBox="1"/>
          <p:nvPr/>
        </p:nvSpPr>
        <p:spPr>
          <a:xfrm>
            <a:off x="7490838" y="1997665"/>
            <a:ext cx="2395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400" dirty="0"/>
              <a:t>下一個字預測</a:t>
            </a:r>
          </a:p>
        </p:txBody>
      </p:sp>
    </p:spTree>
    <p:extLst>
      <p:ext uri="{BB962C8B-B14F-4D97-AF65-F5344CB8AC3E}">
        <p14:creationId xmlns:p14="http://schemas.microsoft.com/office/powerpoint/2010/main" val="329685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E0868FB-6F6F-35BC-A23D-E0A4D5252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The Revolution of </a:t>
            </a:r>
            <a:r>
              <a:rPr kumimoji="1" lang="en-US" altLang="zh-TW" dirty="0" err="1"/>
              <a:t>ChatGPT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DD7684D-DA0F-B6F8-7ABC-6110B2CE0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9E07DDE-D011-6299-A807-ED42ACC99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2013" y="2080805"/>
            <a:ext cx="7060629" cy="3972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46E1A2F0-2B3B-1E98-C744-317CE2B4F219}"/>
              </a:ext>
            </a:extLst>
          </p:cNvPr>
          <p:cNvSpPr txBox="1"/>
          <p:nvPr/>
        </p:nvSpPr>
        <p:spPr>
          <a:xfrm>
            <a:off x="2455455" y="6415560"/>
            <a:ext cx="72810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/>
              <a:t>Figure source: https://</a:t>
            </a:r>
            <a:r>
              <a:rPr kumimoji="1" lang="en-US" altLang="zh-TW" sz="1200" dirty="0" err="1"/>
              <a:t>poole.ncsu.edu</a:t>
            </a:r>
            <a:r>
              <a:rPr kumimoji="1" lang="en-US" altLang="zh-TW" sz="1200" dirty="0"/>
              <a:t>/thought-leadership/article/lets-chat-about-</a:t>
            </a:r>
            <a:r>
              <a:rPr kumimoji="1" lang="en-US" altLang="zh-TW" sz="1200" dirty="0" err="1"/>
              <a:t>chatgpt</a:t>
            </a:r>
            <a:r>
              <a:rPr kumimoji="1" lang="en-US" altLang="zh-TW" sz="1200" dirty="0"/>
              <a:t>/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0C202C2-0880-D4B3-31EA-6667DAC9DEA5}"/>
              </a:ext>
            </a:extLst>
          </p:cNvPr>
          <p:cNvSpPr txBox="1"/>
          <p:nvPr/>
        </p:nvSpPr>
        <p:spPr>
          <a:xfrm>
            <a:off x="653143" y="1586711"/>
            <a:ext cx="5716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 err="1"/>
              <a:t>ChatGPT</a:t>
            </a:r>
            <a:r>
              <a:rPr kumimoji="1" lang="en" altLang="zh-TW" dirty="0"/>
              <a:t> came out in November, 2022.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606983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B562B04-9C41-700D-01E7-7312C61BA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大型語言模型的應用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87D3013-3C6C-0124-D824-1C0E208FB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BE8FDE4D-65D5-02ED-2DB6-2BAD43A99A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1632" y="2929877"/>
            <a:ext cx="1108862" cy="110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A0135A98-4A89-5D8D-1B01-B3072122F17E}"/>
              </a:ext>
            </a:extLst>
          </p:cNvPr>
          <p:cNvCxnSpPr>
            <a:cxnSpLocks/>
          </p:cNvCxnSpPr>
          <p:nvPr/>
        </p:nvCxnSpPr>
        <p:spPr>
          <a:xfrm flipH="1">
            <a:off x="4084029" y="3484308"/>
            <a:ext cx="11411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7">
            <a:extLst>
              <a:ext uri="{FF2B5EF4-FFF2-40B4-BE49-F238E27FC236}">
                <a16:creationId xmlns:a16="http://schemas.microsoft.com/office/drawing/2014/main" id="{C573909E-78CE-7A0D-18DB-7666126A8CC0}"/>
              </a:ext>
            </a:extLst>
          </p:cNvPr>
          <p:cNvSpPr txBox="1"/>
          <p:nvPr/>
        </p:nvSpPr>
        <p:spPr>
          <a:xfrm>
            <a:off x="5428891" y="2929877"/>
            <a:ext cx="48569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翻譯、聊天機器人、寫故事、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摘要、教學、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寫程式、寫作業 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…</a:t>
            </a:r>
            <a:endParaRPr kumimoji="1" lang="zh-TW" altLang="en-US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D1420AB-9C6C-A1C0-B579-E042D7EA81C4}"/>
              </a:ext>
            </a:extLst>
          </p:cNvPr>
          <p:cNvSpPr txBox="1"/>
          <p:nvPr/>
        </p:nvSpPr>
        <p:spPr>
          <a:xfrm>
            <a:off x="1738367" y="3191010"/>
            <a:ext cx="7095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4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📚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1BD93034-DDC9-E3A0-408F-3670A03A0C8F}"/>
              </a:ext>
            </a:extLst>
          </p:cNvPr>
          <p:cNvSpPr txBox="1"/>
          <p:nvPr/>
        </p:nvSpPr>
        <p:spPr>
          <a:xfrm>
            <a:off x="9576291" y="3191010"/>
            <a:ext cx="7095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4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💪</a:t>
            </a:r>
          </a:p>
        </p:txBody>
      </p:sp>
    </p:spTree>
    <p:extLst>
      <p:ext uri="{BB962C8B-B14F-4D97-AF65-F5344CB8AC3E}">
        <p14:creationId xmlns:p14="http://schemas.microsoft.com/office/powerpoint/2010/main" val="723399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C97F4-586E-F208-C8EA-193C69B0D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Code Llama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C5FDBBC-AD7B-D79D-01BB-9B2DBEF33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7DCAE8C-A040-8805-C91A-409E8AD8C9CB}"/>
              </a:ext>
            </a:extLst>
          </p:cNvPr>
          <p:cNvSpPr txBox="1"/>
          <p:nvPr/>
        </p:nvSpPr>
        <p:spPr>
          <a:xfrm>
            <a:off x="7883371" y="987093"/>
            <a:ext cx="3667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https://</a:t>
            </a:r>
            <a:r>
              <a:rPr kumimoji="1" lang="en" altLang="zh-TW" dirty="0" err="1"/>
              <a:t>arxiv.org</a:t>
            </a:r>
            <a:r>
              <a:rPr kumimoji="1" lang="en" altLang="zh-TW" dirty="0"/>
              <a:t>/abs/2308.12950</a:t>
            </a:r>
            <a:endParaRPr kumimoji="1" lang="zh-TW" altLang="en-US" dirty="0"/>
          </a:p>
        </p:txBody>
      </p:sp>
      <p:pic>
        <p:nvPicPr>
          <p:cNvPr id="7" name="圖片 6" descr="一張含有 文字, 螢幕擷取畫面, 軟體, 作業系統 的圖片&#10;&#10;AI 產生的內容可能不正確。">
            <a:extLst>
              <a:ext uri="{FF2B5EF4-FFF2-40B4-BE49-F238E27FC236}">
                <a16:creationId xmlns:a16="http://schemas.microsoft.com/office/drawing/2014/main" id="{57AF73A1-E2C5-469B-5F13-07928441DF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520" y="1530270"/>
            <a:ext cx="8684959" cy="4885290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2B854E84-C8C5-6141-0246-7DBFB1C7348F}"/>
              </a:ext>
            </a:extLst>
          </p:cNvPr>
          <p:cNvSpPr txBox="1"/>
          <p:nvPr/>
        </p:nvSpPr>
        <p:spPr>
          <a:xfrm>
            <a:off x="3324952" y="6501912"/>
            <a:ext cx="58015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dirty="0"/>
              <a:t>Figure source: https://</a:t>
            </a:r>
            <a:r>
              <a:rPr kumimoji="1" lang="en-US" altLang="zh-TW" sz="1200" dirty="0" err="1"/>
              <a:t>ai.meta.com</a:t>
            </a:r>
            <a:r>
              <a:rPr kumimoji="1" lang="en-US" altLang="zh-TW" sz="1200" dirty="0"/>
              <a:t>/blog/code-llama-large-language-model-coding/</a:t>
            </a:r>
            <a:endParaRPr kumimoji="1"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929739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6A4B0D-ADBF-AB68-88BC-C7280251B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深度學習常見模型架構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E9BBB56-7C58-7116-360E-46E09CF10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42E9188-99F9-535E-4937-651819D2F4C8}"/>
              </a:ext>
            </a:extLst>
          </p:cNvPr>
          <p:cNvSpPr/>
          <p:nvPr/>
        </p:nvSpPr>
        <p:spPr>
          <a:xfrm>
            <a:off x="1131525" y="3941806"/>
            <a:ext cx="827903" cy="82790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D655BDE-80C9-BC0F-087B-077AA3C3E281}"/>
              </a:ext>
            </a:extLst>
          </p:cNvPr>
          <p:cNvSpPr/>
          <p:nvPr/>
        </p:nvSpPr>
        <p:spPr>
          <a:xfrm>
            <a:off x="1131525" y="3941806"/>
            <a:ext cx="185351" cy="185351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34FF96C0-8C5E-FC12-FC17-12129436ED20}"/>
              </a:ext>
            </a:extLst>
          </p:cNvPr>
          <p:cNvCxnSpPr/>
          <p:nvPr/>
        </p:nvCxnSpPr>
        <p:spPr>
          <a:xfrm>
            <a:off x="1168593" y="4232193"/>
            <a:ext cx="228600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 12">
            <a:extLst>
              <a:ext uri="{FF2B5EF4-FFF2-40B4-BE49-F238E27FC236}">
                <a16:creationId xmlns:a16="http://schemas.microsoft.com/office/drawing/2014/main" id="{ACF9AAC7-E80D-8D7A-6E43-541F9F024DC6}"/>
              </a:ext>
            </a:extLst>
          </p:cNvPr>
          <p:cNvSpPr/>
          <p:nvPr/>
        </p:nvSpPr>
        <p:spPr>
          <a:xfrm>
            <a:off x="2237455" y="4126127"/>
            <a:ext cx="459259" cy="45925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6E7F158E-1D25-24C4-633A-A777A22970FF}"/>
              </a:ext>
            </a:extLst>
          </p:cNvPr>
          <p:cNvCxnSpPr>
            <a:cxnSpLocks/>
          </p:cNvCxnSpPr>
          <p:nvPr/>
        </p:nvCxnSpPr>
        <p:spPr>
          <a:xfrm>
            <a:off x="1316876" y="3954165"/>
            <a:ext cx="920579" cy="18006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CBAF0285-AB7B-39F9-42E8-C08004E7AED7}"/>
              </a:ext>
            </a:extLst>
          </p:cNvPr>
          <p:cNvCxnSpPr>
            <a:cxnSpLocks/>
          </p:cNvCxnSpPr>
          <p:nvPr/>
        </p:nvCxnSpPr>
        <p:spPr>
          <a:xfrm flipH="1" flipV="1">
            <a:off x="1336441" y="4134225"/>
            <a:ext cx="913371" cy="917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 21">
            <a:extLst>
              <a:ext uri="{FF2B5EF4-FFF2-40B4-BE49-F238E27FC236}">
                <a16:creationId xmlns:a16="http://schemas.microsoft.com/office/drawing/2014/main" id="{D58D325B-C331-0BF8-C410-E65BF635FA6D}"/>
              </a:ext>
            </a:extLst>
          </p:cNvPr>
          <p:cNvSpPr/>
          <p:nvPr/>
        </p:nvSpPr>
        <p:spPr>
          <a:xfrm>
            <a:off x="2249813" y="4143939"/>
            <a:ext cx="113268" cy="11326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0A1B0241-5667-67A0-4760-C4AFBAA24C0D}"/>
              </a:ext>
            </a:extLst>
          </p:cNvPr>
          <p:cNvSpPr txBox="1"/>
          <p:nvPr/>
        </p:nvSpPr>
        <p:spPr>
          <a:xfrm>
            <a:off x="4225146" y="4769709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 err="1"/>
              <a:t>i</a:t>
            </a:r>
            <a:endParaRPr kumimoji="1" lang="zh-TW" altLang="en-US" sz="1400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F08A08CA-B884-E7D6-82ED-8D06577D0930}"/>
              </a:ext>
            </a:extLst>
          </p:cNvPr>
          <p:cNvSpPr txBox="1"/>
          <p:nvPr/>
        </p:nvSpPr>
        <p:spPr>
          <a:xfrm>
            <a:off x="4951926" y="4769708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love</a:t>
            </a:r>
            <a:endParaRPr kumimoji="1" lang="zh-TW" altLang="en-US" sz="1400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350706D6-17A1-8F84-2888-5A7582AB79D7}"/>
              </a:ext>
            </a:extLst>
          </p:cNvPr>
          <p:cNvSpPr txBox="1"/>
          <p:nvPr/>
        </p:nvSpPr>
        <p:spPr>
          <a:xfrm>
            <a:off x="5623204" y="4769709"/>
            <a:ext cx="736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deep</a:t>
            </a:r>
            <a:endParaRPr kumimoji="1" lang="zh-TW" altLang="en-US" sz="1400" dirty="0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DB1AE786-D22F-2101-21DB-229967DB29A7}"/>
              </a:ext>
            </a:extLst>
          </p:cNvPr>
          <p:cNvSpPr txBox="1"/>
          <p:nvPr/>
        </p:nvSpPr>
        <p:spPr>
          <a:xfrm>
            <a:off x="6272969" y="4769709"/>
            <a:ext cx="881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learning</a:t>
            </a:r>
            <a:endParaRPr kumimoji="1" lang="zh-TW" altLang="en-US" sz="1400" dirty="0"/>
          </a:p>
        </p:txBody>
      </p:sp>
      <p:sp>
        <p:nvSpPr>
          <p:cNvPr id="64" name="圓角矩形 63">
            <a:extLst>
              <a:ext uri="{FF2B5EF4-FFF2-40B4-BE49-F238E27FC236}">
                <a16:creationId xmlns:a16="http://schemas.microsoft.com/office/drawing/2014/main" id="{57222733-D9EB-7984-460E-7ABCBB7385C6}"/>
              </a:ext>
            </a:extLst>
          </p:cNvPr>
          <p:cNvSpPr/>
          <p:nvPr/>
        </p:nvSpPr>
        <p:spPr>
          <a:xfrm>
            <a:off x="4371939" y="4089251"/>
            <a:ext cx="324276" cy="32427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5" name="圓角矩形 64">
            <a:extLst>
              <a:ext uri="{FF2B5EF4-FFF2-40B4-BE49-F238E27FC236}">
                <a16:creationId xmlns:a16="http://schemas.microsoft.com/office/drawing/2014/main" id="{DCD118DC-6BE9-8EEA-7BE1-01AA713649B0}"/>
              </a:ext>
            </a:extLst>
          </p:cNvPr>
          <p:cNvSpPr/>
          <p:nvPr/>
        </p:nvSpPr>
        <p:spPr>
          <a:xfrm>
            <a:off x="5095637" y="4092251"/>
            <a:ext cx="324276" cy="32427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6" name="圓角矩形 65">
            <a:extLst>
              <a:ext uri="{FF2B5EF4-FFF2-40B4-BE49-F238E27FC236}">
                <a16:creationId xmlns:a16="http://schemas.microsoft.com/office/drawing/2014/main" id="{42F0CA90-5C5C-23E1-2CF1-D204376A27A7}"/>
              </a:ext>
            </a:extLst>
          </p:cNvPr>
          <p:cNvSpPr/>
          <p:nvPr/>
        </p:nvSpPr>
        <p:spPr>
          <a:xfrm>
            <a:off x="5819335" y="4092847"/>
            <a:ext cx="324276" cy="324276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7" name="圓角矩形 66">
            <a:extLst>
              <a:ext uri="{FF2B5EF4-FFF2-40B4-BE49-F238E27FC236}">
                <a16:creationId xmlns:a16="http://schemas.microsoft.com/office/drawing/2014/main" id="{764EF694-3B95-C672-D21C-80EBFD7841D5}"/>
              </a:ext>
            </a:extLst>
          </p:cNvPr>
          <p:cNvSpPr/>
          <p:nvPr/>
        </p:nvSpPr>
        <p:spPr>
          <a:xfrm>
            <a:off x="6543033" y="4089251"/>
            <a:ext cx="324276" cy="3242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0" name="Google Shape;193;p17">
            <a:extLst>
              <a:ext uri="{FF2B5EF4-FFF2-40B4-BE49-F238E27FC236}">
                <a16:creationId xmlns:a16="http://schemas.microsoft.com/office/drawing/2014/main" id="{5B495652-96CC-929A-39BF-7A1AAF8DE5F9}"/>
              </a:ext>
            </a:extLst>
          </p:cNvPr>
          <p:cNvCxnSpPr>
            <a:cxnSpLocks/>
          </p:cNvCxnSpPr>
          <p:nvPr/>
        </p:nvCxnSpPr>
        <p:spPr>
          <a:xfrm rot="10800000">
            <a:off x="526207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1" name="Google Shape;194;p17">
            <a:extLst>
              <a:ext uri="{FF2B5EF4-FFF2-40B4-BE49-F238E27FC236}">
                <a16:creationId xmlns:a16="http://schemas.microsoft.com/office/drawing/2014/main" id="{D5AE85F3-A023-C627-9075-4AF080934D79}"/>
              </a:ext>
            </a:extLst>
          </p:cNvPr>
          <p:cNvCxnSpPr>
            <a:cxnSpLocks/>
          </p:cNvCxnSpPr>
          <p:nvPr/>
        </p:nvCxnSpPr>
        <p:spPr>
          <a:xfrm rot="10800000">
            <a:off x="598362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2" name="Google Shape;195;p17">
            <a:extLst>
              <a:ext uri="{FF2B5EF4-FFF2-40B4-BE49-F238E27FC236}">
                <a16:creationId xmlns:a16="http://schemas.microsoft.com/office/drawing/2014/main" id="{7CC17379-F806-21C9-6178-06E32AB7CCB9}"/>
              </a:ext>
            </a:extLst>
          </p:cNvPr>
          <p:cNvCxnSpPr>
            <a:cxnSpLocks/>
          </p:cNvCxnSpPr>
          <p:nvPr/>
        </p:nvCxnSpPr>
        <p:spPr>
          <a:xfrm rot="10800000">
            <a:off x="670517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3" name="Google Shape;195;p17">
            <a:extLst>
              <a:ext uri="{FF2B5EF4-FFF2-40B4-BE49-F238E27FC236}">
                <a16:creationId xmlns:a16="http://schemas.microsoft.com/office/drawing/2014/main" id="{C8031A89-C128-95D0-0770-E7F9380655E0}"/>
              </a:ext>
            </a:extLst>
          </p:cNvPr>
          <p:cNvCxnSpPr>
            <a:cxnSpLocks/>
          </p:cNvCxnSpPr>
          <p:nvPr/>
        </p:nvCxnSpPr>
        <p:spPr>
          <a:xfrm rot="10800000">
            <a:off x="454052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" name="Google Shape;193;p17">
            <a:extLst>
              <a:ext uri="{FF2B5EF4-FFF2-40B4-BE49-F238E27FC236}">
                <a16:creationId xmlns:a16="http://schemas.microsoft.com/office/drawing/2014/main" id="{4B4F0FEB-E883-FD23-5465-FE979C5AC073}"/>
              </a:ext>
            </a:extLst>
          </p:cNvPr>
          <p:cNvCxnSpPr>
            <a:cxnSpLocks/>
          </p:cNvCxnSpPr>
          <p:nvPr/>
        </p:nvCxnSpPr>
        <p:spPr>
          <a:xfrm rot="16200000">
            <a:off x="4903565" y="416924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6" name="Google Shape;193;p17">
            <a:extLst>
              <a:ext uri="{FF2B5EF4-FFF2-40B4-BE49-F238E27FC236}">
                <a16:creationId xmlns:a16="http://schemas.microsoft.com/office/drawing/2014/main" id="{7BD1291D-6361-51E2-2205-10B8DC139E0C}"/>
              </a:ext>
            </a:extLst>
          </p:cNvPr>
          <p:cNvCxnSpPr>
            <a:cxnSpLocks/>
          </p:cNvCxnSpPr>
          <p:nvPr/>
        </p:nvCxnSpPr>
        <p:spPr>
          <a:xfrm rot="16200000">
            <a:off x="5619624" y="416924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7" name="Google Shape;193;p17">
            <a:extLst>
              <a:ext uri="{FF2B5EF4-FFF2-40B4-BE49-F238E27FC236}">
                <a16:creationId xmlns:a16="http://schemas.microsoft.com/office/drawing/2014/main" id="{7084FCB7-0B38-CEAF-2E24-64352DB0AA7A}"/>
              </a:ext>
            </a:extLst>
          </p:cNvPr>
          <p:cNvCxnSpPr>
            <a:cxnSpLocks/>
          </p:cNvCxnSpPr>
          <p:nvPr/>
        </p:nvCxnSpPr>
        <p:spPr>
          <a:xfrm rot="16200000">
            <a:off x="6340437" y="416924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25DCFA54-065A-9330-DF7E-C15CD8100274}"/>
              </a:ext>
            </a:extLst>
          </p:cNvPr>
          <p:cNvSpPr txBox="1"/>
          <p:nvPr/>
        </p:nvSpPr>
        <p:spPr>
          <a:xfrm>
            <a:off x="8357179" y="4769708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 err="1"/>
              <a:t>i</a:t>
            </a:r>
            <a:endParaRPr kumimoji="1" lang="zh-TW" altLang="en-US" sz="1400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BAA1C1EA-B16D-CDA1-4329-A79D6D83CD2A}"/>
              </a:ext>
            </a:extLst>
          </p:cNvPr>
          <p:cNvSpPr txBox="1"/>
          <p:nvPr/>
        </p:nvSpPr>
        <p:spPr>
          <a:xfrm>
            <a:off x="9083959" y="4769707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love</a:t>
            </a:r>
            <a:endParaRPr kumimoji="1" lang="zh-TW" altLang="en-US" sz="1400" dirty="0"/>
          </a:p>
        </p:txBody>
      </p: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066A6BB9-24C9-E51A-99EF-5E94A4D532FB}"/>
              </a:ext>
            </a:extLst>
          </p:cNvPr>
          <p:cNvSpPr txBox="1"/>
          <p:nvPr/>
        </p:nvSpPr>
        <p:spPr>
          <a:xfrm>
            <a:off x="9755237" y="4769708"/>
            <a:ext cx="736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deep</a:t>
            </a:r>
            <a:endParaRPr kumimoji="1" lang="zh-TW" altLang="en-US" sz="1400" dirty="0"/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3CF9AA4D-F329-672F-66E5-8772CCFBA6CF}"/>
              </a:ext>
            </a:extLst>
          </p:cNvPr>
          <p:cNvSpPr txBox="1"/>
          <p:nvPr/>
        </p:nvSpPr>
        <p:spPr>
          <a:xfrm>
            <a:off x="10405002" y="4769708"/>
            <a:ext cx="881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learning</a:t>
            </a:r>
            <a:endParaRPr kumimoji="1" lang="zh-TW" altLang="en-US" sz="1400" dirty="0"/>
          </a:p>
        </p:txBody>
      </p:sp>
      <p:sp>
        <p:nvSpPr>
          <p:cNvPr id="97" name="圓角矩形 96">
            <a:extLst>
              <a:ext uri="{FF2B5EF4-FFF2-40B4-BE49-F238E27FC236}">
                <a16:creationId xmlns:a16="http://schemas.microsoft.com/office/drawing/2014/main" id="{F1E97076-7658-B55C-62FF-EF3573CCFD8A}"/>
              </a:ext>
            </a:extLst>
          </p:cNvPr>
          <p:cNvSpPr/>
          <p:nvPr/>
        </p:nvSpPr>
        <p:spPr>
          <a:xfrm>
            <a:off x="8503972" y="4089250"/>
            <a:ext cx="324276" cy="32427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8" name="圓角矩形 97">
            <a:extLst>
              <a:ext uri="{FF2B5EF4-FFF2-40B4-BE49-F238E27FC236}">
                <a16:creationId xmlns:a16="http://schemas.microsoft.com/office/drawing/2014/main" id="{A5D5AAFA-167E-7D28-CBD6-4D33575C199E}"/>
              </a:ext>
            </a:extLst>
          </p:cNvPr>
          <p:cNvSpPr/>
          <p:nvPr/>
        </p:nvSpPr>
        <p:spPr>
          <a:xfrm>
            <a:off x="9227670" y="4092250"/>
            <a:ext cx="324276" cy="32427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9" name="圓角矩形 98">
            <a:extLst>
              <a:ext uri="{FF2B5EF4-FFF2-40B4-BE49-F238E27FC236}">
                <a16:creationId xmlns:a16="http://schemas.microsoft.com/office/drawing/2014/main" id="{C74F5FDB-9EF8-19C4-3758-A0F0844832BD}"/>
              </a:ext>
            </a:extLst>
          </p:cNvPr>
          <p:cNvSpPr/>
          <p:nvPr/>
        </p:nvSpPr>
        <p:spPr>
          <a:xfrm>
            <a:off x="9951368" y="4092846"/>
            <a:ext cx="324276" cy="324276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0" name="圓角矩形 99">
            <a:extLst>
              <a:ext uri="{FF2B5EF4-FFF2-40B4-BE49-F238E27FC236}">
                <a16:creationId xmlns:a16="http://schemas.microsoft.com/office/drawing/2014/main" id="{1AE583C5-B4F9-3C53-D5C0-7E19525EA0DC}"/>
              </a:ext>
            </a:extLst>
          </p:cNvPr>
          <p:cNvSpPr/>
          <p:nvPr/>
        </p:nvSpPr>
        <p:spPr>
          <a:xfrm>
            <a:off x="10675066" y="4089250"/>
            <a:ext cx="324276" cy="3242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1" name="Google Shape;193;p17">
            <a:extLst>
              <a:ext uri="{FF2B5EF4-FFF2-40B4-BE49-F238E27FC236}">
                <a16:creationId xmlns:a16="http://schemas.microsoft.com/office/drawing/2014/main" id="{7247A728-A4BF-8C3B-D6BD-7D3ADCA43A7F}"/>
              </a:ext>
            </a:extLst>
          </p:cNvPr>
          <p:cNvCxnSpPr>
            <a:cxnSpLocks/>
          </p:cNvCxnSpPr>
          <p:nvPr/>
        </p:nvCxnSpPr>
        <p:spPr>
          <a:xfrm rot="10800000">
            <a:off x="939410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" name="Google Shape;194;p17">
            <a:extLst>
              <a:ext uri="{FF2B5EF4-FFF2-40B4-BE49-F238E27FC236}">
                <a16:creationId xmlns:a16="http://schemas.microsoft.com/office/drawing/2014/main" id="{7043418C-CD6E-9785-39B3-024E3D7F95A5}"/>
              </a:ext>
            </a:extLst>
          </p:cNvPr>
          <p:cNvCxnSpPr>
            <a:cxnSpLocks/>
          </p:cNvCxnSpPr>
          <p:nvPr/>
        </p:nvCxnSpPr>
        <p:spPr>
          <a:xfrm rot="10800000">
            <a:off x="1011565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3" name="Google Shape;195;p17">
            <a:extLst>
              <a:ext uri="{FF2B5EF4-FFF2-40B4-BE49-F238E27FC236}">
                <a16:creationId xmlns:a16="http://schemas.microsoft.com/office/drawing/2014/main" id="{C44E3066-5A68-7A64-3D40-9C7428C9C3D1}"/>
              </a:ext>
            </a:extLst>
          </p:cNvPr>
          <p:cNvCxnSpPr>
            <a:cxnSpLocks/>
          </p:cNvCxnSpPr>
          <p:nvPr/>
        </p:nvCxnSpPr>
        <p:spPr>
          <a:xfrm rot="10800000">
            <a:off x="1083720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4" name="Google Shape;195;p17">
            <a:extLst>
              <a:ext uri="{FF2B5EF4-FFF2-40B4-BE49-F238E27FC236}">
                <a16:creationId xmlns:a16="http://schemas.microsoft.com/office/drawing/2014/main" id="{9A0FFD74-D705-46EF-DF84-52CB48C7B516}"/>
              </a:ext>
            </a:extLst>
          </p:cNvPr>
          <p:cNvCxnSpPr>
            <a:cxnSpLocks/>
          </p:cNvCxnSpPr>
          <p:nvPr/>
        </p:nvCxnSpPr>
        <p:spPr>
          <a:xfrm rot="10800000">
            <a:off x="867255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5" name="Google Shape;193;p17">
            <a:extLst>
              <a:ext uri="{FF2B5EF4-FFF2-40B4-BE49-F238E27FC236}">
                <a16:creationId xmlns:a16="http://schemas.microsoft.com/office/drawing/2014/main" id="{FD0E2963-5602-8F08-39E6-55B96C6CCF62}"/>
              </a:ext>
            </a:extLst>
          </p:cNvPr>
          <p:cNvCxnSpPr>
            <a:cxnSpLocks/>
          </p:cNvCxnSpPr>
          <p:nvPr/>
        </p:nvCxnSpPr>
        <p:spPr>
          <a:xfrm rot="16200000">
            <a:off x="9035598" y="416924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6" name="Google Shape;193;p17">
            <a:extLst>
              <a:ext uri="{FF2B5EF4-FFF2-40B4-BE49-F238E27FC236}">
                <a16:creationId xmlns:a16="http://schemas.microsoft.com/office/drawing/2014/main" id="{4D8E11BB-9004-0A1E-66FF-75A286F739B3}"/>
              </a:ext>
            </a:extLst>
          </p:cNvPr>
          <p:cNvCxnSpPr>
            <a:cxnSpLocks/>
          </p:cNvCxnSpPr>
          <p:nvPr/>
        </p:nvCxnSpPr>
        <p:spPr>
          <a:xfrm rot="16200000">
            <a:off x="9751657" y="416924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7" name="Google Shape;193;p17">
            <a:extLst>
              <a:ext uri="{FF2B5EF4-FFF2-40B4-BE49-F238E27FC236}">
                <a16:creationId xmlns:a16="http://schemas.microsoft.com/office/drawing/2014/main" id="{99B72DB4-CEAC-0E13-6E27-91490FAD7578}"/>
              </a:ext>
            </a:extLst>
          </p:cNvPr>
          <p:cNvCxnSpPr>
            <a:cxnSpLocks/>
          </p:cNvCxnSpPr>
          <p:nvPr/>
        </p:nvCxnSpPr>
        <p:spPr>
          <a:xfrm rot="16200000">
            <a:off x="10472470" y="416924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9" name="曲線接點 108">
            <a:extLst>
              <a:ext uri="{FF2B5EF4-FFF2-40B4-BE49-F238E27FC236}">
                <a16:creationId xmlns:a16="http://schemas.microsoft.com/office/drawing/2014/main" id="{9B0DC847-52C3-76FB-2373-932B3C701608}"/>
              </a:ext>
            </a:extLst>
          </p:cNvPr>
          <p:cNvCxnSpPr>
            <a:stCxn id="97" idx="0"/>
            <a:endCxn id="98" idx="0"/>
          </p:cNvCxnSpPr>
          <p:nvPr/>
        </p:nvCxnSpPr>
        <p:spPr>
          <a:xfrm rot="16200000" flipH="1">
            <a:off x="9026459" y="3728901"/>
            <a:ext cx="3000" cy="723698"/>
          </a:xfrm>
          <a:prstGeom prst="curvedConnector3">
            <a:avLst>
              <a:gd name="adj1" fmla="val -762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曲線接點 109">
            <a:extLst>
              <a:ext uri="{FF2B5EF4-FFF2-40B4-BE49-F238E27FC236}">
                <a16:creationId xmlns:a16="http://schemas.microsoft.com/office/drawing/2014/main" id="{3ABF1D0F-B4D8-0BD3-1526-56AA941B8741}"/>
              </a:ext>
            </a:extLst>
          </p:cNvPr>
          <p:cNvCxnSpPr>
            <a:cxnSpLocks/>
            <a:stCxn id="98" idx="0"/>
            <a:endCxn id="99" idx="0"/>
          </p:cNvCxnSpPr>
          <p:nvPr/>
        </p:nvCxnSpPr>
        <p:spPr>
          <a:xfrm rot="16200000" flipH="1">
            <a:off x="9751359" y="3730699"/>
            <a:ext cx="596" cy="723698"/>
          </a:xfrm>
          <a:prstGeom prst="curvedConnector3">
            <a:avLst>
              <a:gd name="adj1" fmla="val -38355705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曲線接點 112">
            <a:extLst>
              <a:ext uri="{FF2B5EF4-FFF2-40B4-BE49-F238E27FC236}">
                <a16:creationId xmlns:a16="http://schemas.microsoft.com/office/drawing/2014/main" id="{071F9B04-E6F1-FF40-77A2-9B70F784B658}"/>
              </a:ext>
            </a:extLst>
          </p:cNvPr>
          <p:cNvCxnSpPr>
            <a:cxnSpLocks/>
            <a:stCxn id="99" idx="0"/>
            <a:endCxn id="100" idx="0"/>
          </p:cNvCxnSpPr>
          <p:nvPr/>
        </p:nvCxnSpPr>
        <p:spPr>
          <a:xfrm rot="5400000" flipH="1" flipV="1">
            <a:off x="10473557" y="3729199"/>
            <a:ext cx="3596" cy="723698"/>
          </a:xfrm>
          <a:prstGeom prst="curvedConnector3">
            <a:avLst>
              <a:gd name="adj1" fmla="val 6457063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曲線接點 116">
            <a:extLst>
              <a:ext uri="{FF2B5EF4-FFF2-40B4-BE49-F238E27FC236}">
                <a16:creationId xmlns:a16="http://schemas.microsoft.com/office/drawing/2014/main" id="{50AAA37A-AAEB-B816-D4DF-F4EBC42DC848}"/>
              </a:ext>
            </a:extLst>
          </p:cNvPr>
          <p:cNvCxnSpPr>
            <a:cxnSpLocks/>
            <a:stCxn id="97" idx="0"/>
            <a:endCxn id="99" idx="0"/>
          </p:cNvCxnSpPr>
          <p:nvPr/>
        </p:nvCxnSpPr>
        <p:spPr>
          <a:xfrm rot="16200000" flipH="1">
            <a:off x="9388010" y="3367350"/>
            <a:ext cx="3596" cy="1447396"/>
          </a:xfrm>
          <a:prstGeom prst="curvedConnector3">
            <a:avLst>
              <a:gd name="adj1" fmla="val -6357063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曲線接點 119">
            <a:extLst>
              <a:ext uri="{FF2B5EF4-FFF2-40B4-BE49-F238E27FC236}">
                <a16:creationId xmlns:a16="http://schemas.microsoft.com/office/drawing/2014/main" id="{9D51BEA6-5532-9FA5-BEB5-B22F97781C89}"/>
              </a:ext>
            </a:extLst>
          </p:cNvPr>
          <p:cNvCxnSpPr>
            <a:cxnSpLocks/>
            <a:stCxn id="97" idx="0"/>
            <a:endCxn id="100" idx="0"/>
          </p:cNvCxnSpPr>
          <p:nvPr/>
        </p:nvCxnSpPr>
        <p:spPr>
          <a:xfrm rot="5400000" flipH="1" flipV="1">
            <a:off x="9751657" y="3003703"/>
            <a:ext cx="12700" cy="2171094"/>
          </a:xfrm>
          <a:prstGeom prst="curvedConnector3">
            <a:avLst>
              <a:gd name="adj1" fmla="val 180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曲線接點 122">
            <a:extLst>
              <a:ext uri="{FF2B5EF4-FFF2-40B4-BE49-F238E27FC236}">
                <a16:creationId xmlns:a16="http://schemas.microsoft.com/office/drawing/2014/main" id="{99D2E61B-76E9-83D6-4E33-F1BBFA6095A3}"/>
              </a:ext>
            </a:extLst>
          </p:cNvPr>
          <p:cNvCxnSpPr>
            <a:cxnSpLocks/>
            <a:stCxn id="98" idx="0"/>
            <a:endCxn id="100" idx="0"/>
          </p:cNvCxnSpPr>
          <p:nvPr/>
        </p:nvCxnSpPr>
        <p:spPr>
          <a:xfrm rot="5400000" flipH="1" flipV="1">
            <a:off x="10112006" y="3367052"/>
            <a:ext cx="3000" cy="1447396"/>
          </a:xfrm>
          <a:prstGeom prst="curvedConnector3">
            <a:avLst>
              <a:gd name="adj1" fmla="val 772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D886D36-8D5C-CC16-CF33-9A3F0966E28D}"/>
              </a:ext>
            </a:extLst>
          </p:cNvPr>
          <p:cNvSpPr txBox="1"/>
          <p:nvPr/>
        </p:nvSpPr>
        <p:spPr>
          <a:xfrm>
            <a:off x="541757" y="2529359"/>
            <a:ext cx="283146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/>
              <a:t>CNN</a:t>
            </a:r>
          </a:p>
          <a:p>
            <a:pPr algn="ctr"/>
            <a:r>
              <a:rPr kumimoji="1" lang="en-US" altLang="zh-TW" sz="2800" b="1" dirty="0"/>
              <a:t>(</a:t>
            </a:r>
            <a:r>
              <a:rPr kumimoji="1" lang="zh-TW" altLang="en-US" sz="2800" b="1" dirty="0"/>
              <a:t>著重局部資訊</a:t>
            </a:r>
            <a:r>
              <a:rPr kumimoji="1" lang="en-US" altLang="zh-TW" sz="2800" b="1" dirty="0"/>
              <a:t>)</a:t>
            </a:r>
            <a:endParaRPr kumimoji="1" lang="zh-TW" altLang="en-US" sz="2800" b="1" dirty="0"/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A760FD09-FFA9-A4A1-6C7D-4C30DE6ADB6C}"/>
              </a:ext>
            </a:extLst>
          </p:cNvPr>
          <p:cNvSpPr txBox="1"/>
          <p:nvPr/>
        </p:nvSpPr>
        <p:spPr>
          <a:xfrm>
            <a:off x="4273083" y="2529359"/>
            <a:ext cx="278264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/>
              <a:t>RNN</a:t>
            </a:r>
          </a:p>
          <a:p>
            <a:pPr algn="ctr"/>
            <a:r>
              <a:rPr kumimoji="1" lang="en-US" altLang="zh-TW" sz="2800" b="1" dirty="0"/>
              <a:t>(</a:t>
            </a:r>
            <a:r>
              <a:rPr kumimoji="1" lang="zh-TW" altLang="en-US" sz="2800" b="1" dirty="0"/>
              <a:t>著重記憶力</a:t>
            </a:r>
            <a:r>
              <a:rPr kumimoji="1" lang="en-US" altLang="zh-TW" sz="2800" b="1" dirty="0"/>
              <a:t>)</a:t>
            </a:r>
            <a:endParaRPr kumimoji="1" lang="zh-TW" altLang="en-US" sz="2800" b="1" dirty="0"/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21DD5EF3-243B-2AE6-190D-F1CD8A694FCA}"/>
              </a:ext>
            </a:extLst>
          </p:cNvPr>
          <p:cNvSpPr txBox="1"/>
          <p:nvPr/>
        </p:nvSpPr>
        <p:spPr>
          <a:xfrm>
            <a:off x="7708438" y="2529359"/>
            <a:ext cx="425072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/>
              <a:t>Transformer</a:t>
            </a:r>
          </a:p>
          <a:p>
            <a:pPr algn="ctr"/>
            <a:r>
              <a:rPr kumimoji="1" lang="en-US" altLang="zh-TW" sz="2800" b="1" dirty="0"/>
              <a:t>(</a:t>
            </a:r>
            <a:r>
              <a:rPr kumimoji="1" lang="zh-TW" altLang="en-US" sz="2800" b="1" dirty="0"/>
              <a:t>著重全局資訊與記憶力</a:t>
            </a:r>
            <a:r>
              <a:rPr kumimoji="1" lang="en-US" altLang="zh-TW" sz="2800" b="1" dirty="0"/>
              <a:t>)</a:t>
            </a:r>
            <a:endParaRPr kumimoji="1" lang="zh-TW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18889912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0899A1BE-3193-969D-A02F-23707A2CE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6600" dirty="0"/>
              <a:t>Natural Language Processing (NLP)</a:t>
            </a:r>
            <a:endParaRPr lang="zh-TW" altLang="en-US" sz="66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813CA55-0D23-F48F-2D47-9DCA7E53B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5891779-877C-A24B-EF30-1A20480473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電腦是如何學習自然語言呢？</a:t>
            </a:r>
          </a:p>
        </p:txBody>
      </p:sp>
    </p:spTree>
    <p:extLst>
      <p:ext uri="{BB962C8B-B14F-4D97-AF65-F5344CB8AC3E}">
        <p14:creationId xmlns:p14="http://schemas.microsoft.com/office/powerpoint/2010/main" val="19161985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5542B-7409-3580-A53E-1B6AFCD51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F26CBC-ADDA-39EE-BCCA-FB3BC3151F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NLP</a:t>
            </a:r>
            <a:r>
              <a:rPr kumimoji="1" lang="zh-TW" altLang="en-US" dirty="0"/>
              <a:t> 三大秘辛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4061C05-C647-70B4-7908-6E14BC7A9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73213E0-D47D-E874-78E7-1BF1528ECB4B}"/>
              </a:ext>
            </a:extLst>
          </p:cNvPr>
          <p:cNvSpPr txBox="1"/>
          <p:nvPr/>
        </p:nvSpPr>
        <p:spPr>
          <a:xfrm>
            <a:off x="653144" y="1806093"/>
            <a:ext cx="10918370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/>
              <a:t>1️⃣</a:t>
            </a:r>
            <a:r>
              <a:rPr kumimoji="1" lang="zh-TW" altLang="en-US" sz="2400" dirty="0"/>
              <a:t> 每個字，都是一段向量</a:t>
            </a:r>
            <a:endParaRPr kumimoji="1" lang="en-US" altLang="zh-TW" sz="2400" dirty="0"/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2️⃣</a:t>
            </a:r>
            <a:r>
              <a:rPr kumimoji="1" lang="zh-TW" altLang="en-US" sz="2400" dirty="0"/>
              <a:t> 每個</a:t>
            </a:r>
            <a:r>
              <a:rPr kumimoji="1" lang="en-US" altLang="zh-TW" sz="2400" dirty="0"/>
              <a:t> NLP </a:t>
            </a:r>
            <a:r>
              <a:rPr kumimoji="1" lang="zh-TW" altLang="en-US" sz="2400" dirty="0"/>
              <a:t>模型都有一個字典</a:t>
            </a:r>
            <a:r>
              <a:rPr kumimoji="1" lang="en-US" altLang="zh-TW" sz="2400" dirty="0"/>
              <a:t> 📙 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3️⃣</a:t>
            </a:r>
            <a:r>
              <a:rPr kumimoji="1" lang="zh-TW" altLang="en-US" sz="2400" dirty="0"/>
              <a:t> 自然語言處理模型需要記憶力 </a:t>
            </a:r>
            <a:r>
              <a:rPr kumimoji="1" lang="en-US" altLang="zh-TW" sz="2400" dirty="0"/>
              <a:t>🧠</a:t>
            </a:r>
          </a:p>
          <a:p>
            <a:pPr>
              <a:lnSpc>
                <a:spcPct val="150000"/>
              </a:lnSpc>
            </a:pPr>
            <a:endParaRPr kumimoji="1" lang="en-US" altLang="zh-TW" sz="2400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46C47AD-6F35-F1E3-FC39-A19E5E6E56DC}"/>
              </a:ext>
            </a:extLst>
          </p:cNvPr>
          <p:cNvSpPr/>
          <p:nvPr/>
        </p:nvSpPr>
        <p:spPr>
          <a:xfrm>
            <a:off x="653143" y="1806093"/>
            <a:ext cx="3721788" cy="6375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55788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EDECBF-1CAE-1B26-F24E-4954D182A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影像 </a:t>
            </a:r>
            <a:r>
              <a:rPr kumimoji="1" lang="en-US" altLang="zh-TW" dirty="0"/>
              <a:t>vs. </a:t>
            </a:r>
            <a:r>
              <a:rPr kumimoji="1" lang="zh-TW" altLang="en-US" dirty="0"/>
              <a:t>文字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F3E92C2-211B-DA29-2BF2-F4DA33472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EEBC7127-154F-9C33-52B7-035DCE9B3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0022" y="2342347"/>
            <a:ext cx="1469858" cy="1477697"/>
          </a:xfrm>
          <a:prstGeom prst="rect">
            <a:avLst/>
          </a:prstGeom>
        </p:spPr>
      </p:pic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A1FEA643-C81C-3390-7119-7239A186A66C}"/>
              </a:ext>
            </a:extLst>
          </p:cNvPr>
          <p:cNvCxnSpPr>
            <a:cxnSpLocks/>
          </p:cNvCxnSpPr>
          <p:nvPr/>
        </p:nvCxnSpPr>
        <p:spPr>
          <a:xfrm>
            <a:off x="4858643" y="3138647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9479F864-5932-82AC-74D1-D9567162C935}"/>
              </a:ext>
            </a:extLst>
          </p:cNvPr>
          <p:cNvSpPr txBox="1"/>
          <p:nvPr/>
        </p:nvSpPr>
        <p:spPr>
          <a:xfrm>
            <a:off x="5814872" y="2846259"/>
            <a:ext cx="31515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28</a:t>
            </a:r>
            <a:r>
              <a:rPr kumimoji="1" lang="zh-TW" altLang="en-US" sz="3200" dirty="0"/>
              <a:t> </a:t>
            </a:r>
            <a:r>
              <a:rPr kumimoji="1" lang="en-US" altLang="zh-TW" sz="3200" dirty="0"/>
              <a:t>x</a:t>
            </a:r>
            <a:r>
              <a:rPr kumimoji="1" lang="zh-TW" altLang="en-US" sz="3200" dirty="0"/>
              <a:t> </a:t>
            </a:r>
            <a:r>
              <a:rPr kumimoji="1" lang="en-US" altLang="zh-TW" sz="3200" dirty="0"/>
              <a:t>28 </a:t>
            </a:r>
            <a:r>
              <a:rPr kumimoji="1" lang="zh-TW" altLang="en-US" sz="3200" dirty="0"/>
              <a:t>的矩陣</a:t>
            </a:r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CD4E822C-A082-FDB9-7FFC-F56ECED87EBE}"/>
              </a:ext>
            </a:extLst>
          </p:cNvPr>
          <p:cNvCxnSpPr>
            <a:cxnSpLocks/>
          </p:cNvCxnSpPr>
          <p:nvPr/>
        </p:nvCxnSpPr>
        <p:spPr>
          <a:xfrm>
            <a:off x="4858643" y="5350667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DCA2D4B-D5DA-3C8A-91AF-0EA090AB03E1}"/>
              </a:ext>
            </a:extLst>
          </p:cNvPr>
          <p:cNvSpPr txBox="1"/>
          <p:nvPr/>
        </p:nvSpPr>
        <p:spPr>
          <a:xfrm>
            <a:off x="5571412" y="5064011"/>
            <a:ext cx="11984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?</a:t>
            </a:r>
            <a:endParaRPr kumimoji="1" lang="zh-TW" altLang="en-US" sz="32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5004EEB-8254-10DC-AAC9-C7AF4929FCAB}"/>
              </a:ext>
            </a:extLst>
          </p:cNvPr>
          <p:cNvSpPr txBox="1"/>
          <p:nvPr/>
        </p:nvSpPr>
        <p:spPr>
          <a:xfrm>
            <a:off x="2606750" y="5058278"/>
            <a:ext cx="16764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Apple</a:t>
            </a:r>
            <a:endParaRPr kumimoji="1" lang="zh-TW" altLang="en-US" sz="32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9843B0F-F742-2B53-19C8-D013759AC5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9530" y="4563776"/>
            <a:ext cx="2099756" cy="1573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A8116B2D-5703-6D90-8B7E-88FCD7CB1D33}"/>
              </a:ext>
            </a:extLst>
          </p:cNvPr>
          <p:cNvSpPr txBox="1"/>
          <p:nvPr/>
        </p:nvSpPr>
        <p:spPr>
          <a:xfrm>
            <a:off x="7855802" y="6286468"/>
            <a:ext cx="341316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100" dirty="0"/>
              <a:t>Figure source: https://</a:t>
            </a:r>
            <a:r>
              <a:rPr kumimoji="1" lang="en-US" altLang="zh-TW" sz="1100" dirty="0" err="1"/>
              <a:t>kopu.chat</a:t>
            </a:r>
            <a:r>
              <a:rPr kumimoji="1" lang="en-US" altLang="zh-TW" sz="1100" dirty="0"/>
              <a:t>/wp-content/uploads/2017/04/binary-507x380.jpeg</a:t>
            </a:r>
            <a:endParaRPr kumimoji="1" lang="zh-TW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903899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DD17-9ECE-DE89-04FD-9FCED6606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C373A1-2374-A9CD-9ED7-C2F9860D6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>
                <a:ea typeface="Microsoft JhengHei" panose="020B0604030504040204" pitchFamily="34" charset="-120"/>
              </a:rPr>
              <a:t>每個字，都是一段向量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82F173-6B62-4729-0CB3-05C41FA7B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C71E33E-F729-365C-9A56-2263DDC668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0130" y="1557721"/>
            <a:ext cx="6011384" cy="5133189"/>
          </a:xfrm>
          <a:prstGeom prst="rect">
            <a:avLst/>
          </a:prstGeom>
        </p:spPr>
      </p:pic>
      <p:sp>
        <p:nvSpPr>
          <p:cNvPr id="8" name="橢圓 7">
            <a:extLst>
              <a:ext uri="{FF2B5EF4-FFF2-40B4-BE49-F238E27FC236}">
                <a16:creationId xmlns:a16="http://schemas.microsoft.com/office/drawing/2014/main" id="{68CE06AF-2907-9765-7E78-162BDA3C8C7B}"/>
              </a:ext>
            </a:extLst>
          </p:cNvPr>
          <p:cNvSpPr/>
          <p:nvPr/>
        </p:nvSpPr>
        <p:spPr>
          <a:xfrm>
            <a:off x="5840017" y="2658359"/>
            <a:ext cx="933254" cy="89554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2D8590DD-C77B-2458-15F4-2BC531DA704B}"/>
              </a:ext>
            </a:extLst>
          </p:cNvPr>
          <p:cNvSpPr/>
          <p:nvPr/>
        </p:nvSpPr>
        <p:spPr>
          <a:xfrm>
            <a:off x="9433201" y="5702576"/>
            <a:ext cx="771427" cy="63223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75FF3941-953B-7398-6CFB-205165D0FF4E}"/>
              </a:ext>
            </a:extLst>
          </p:cNvPr>
          <p:cNvSpPr txBox="1"/>
          <p:nvPr/>
        </p:nvSpPr>
        <p:spPr>
          <a:xfrm>
            <a:off x="653143" y="2068497"/>
            <a:ext cx="5028566" cy="872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dirty="0"/>
              <a:t>she = [0.110960 0.032115 -0.004809]</a:t>
            </a:r>
          </a:p>
          <a:p>
            <a:pPr>
              <a:lnSpc>
                <a:spcPct val="150000"/>
              </a:lnSpc>
            </a:pPr>
            <a:r>
              <a:rPr kumimoji="1" lang="en-US" altLang="zh-TW" dirty="0"/>
              <a:t>her = [0.110950 0.032117 -0.004909]</a:t>
            </a:r>
            <a:endParaRPr kumimoji="1"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21B5922-8047-1966-5B8F-016BCB633695}"/>
              </a:ext>
            </a:extLst>
          </p:cNvPr>
          <p:cNvSpPr txBox="1"/>
          <p:nvPr/>
        </p:nvSpPr>
        <p:spPr>
          <a:xfrm>
            <a:off x="653143" y="3553905"/>
            <a:ext cx="5028566" cy="872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dirty="0"/>
              <a:t>grandpa = [0.023115 0.708091, 0.512345]</a:t>
            </a:r>
          </a:p>
          <a:p>
            <a:pPr>
              <a:lnSpc>
                <a:spcPct val="150000"/>
              </a:lnSpc>
            </a:pPr>
            <a:r>
              <a:rPr kumimoji="1" lang="en-US" altLang="zh-TW" dirty="0"/>
              <a:t>grandma = [0.023113 0.708101, 0.512445]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E7A89DAB-630A-F714-F306-C27760B4C146}"/>
              </a:ext>
            </a:extLst>
          </p:cNvPr>
          <p:cNvSpPr txBox="1"/>
          <p:nvPr/>
        </p:nvSpPr>
        <p:spPr>
          <a:xfrm>
            <a:off x="1560784" y="1714835"/>
            <a:ext cx="27116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1600" dirty="0">
                <a:solidFill>
                  <a:srgbClr val="0070C0"/>
                </a:solidFill>
              </a:rPr>
              <a:t>可以自行設定向量長度</a:t>
            </a:r>
          </a:p>
        </p:txBody>
      </p:sp>
      <p:sp>
        <p:nvSpPr>
          <p:cNvPr id="11" name="右中括弧 10">
            <a:extLst>
              <a:ext uri="{FF2B5EF4-FFF2-40B4-BE49-F238E27FC236}">
                <a16:creationId xmlns:a16="http://schemas.microsoft.com/office/drawing/2014/main" id="{89EDDD50-7960-1149-0804-C936FF2D720E}"/>
              </a:ext>
            </a:extLst>
          </p:cNvPr>
          <p:cNvSpPr/>
          <p:nvPr/>
        </p:nvSpPr>
        <p:spPr>
          <a:xfrm rot="16200000">
            <a:off x="2906403" y="612518"/>
            <a:ext cx="83496" cy="2995456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4643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/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F6BAB6-B4AA-13CD-0AD3-7B7F2FB64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Word Representations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EDA3F6-A6A6-8F7F-229B-612A63712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EF35CB33-6AF5-DE8F-55EB-4C367C73DFD8}"/>
              </a:ext>
            </a:extLst>
          </p:cNvPr>
          <p:cNvSpPr/>
          <p:nvPr/>
        </p:nvSpPr>
        <p:spPr>
          <a:xfrm>
            <a:off x="2319962" y="1771513"/>
            <a:ext cx="843382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like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DA033C3C-2D29-BBB2-99C3-93553E76DE6E}"/>
              </a:ext>
            </a:extLst>
          </p:cNvPr>
          <p:cNvSpPr/>
          <p:nvPr/>
        </p:nvSpPr>
        <p:spPr>
          <a:xfrm>
            <a:off x="2319962" y="2396430"/>
            <a:ext cx="843382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apple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7" name="直線箭頭接點 6">
            <a:extLst>
              <a:ext uri="{FF2B5EF4-FFF2-40B4-BE49-F238E27FC236}">
                <a16:creationId xmlns:a16="http://schemas.microsoft.com/office/drawing/2014/main" id="{6FE083B9-4940-4F58-0E92-038EBCF79F68}"/>
              </a:ext>
            </a:extLst>
          </p:cNvPr>
          <p:cNvCxnSpPr>
            <a:cxnSpLocks/>
          </p:cNvCxnSpPr>
          <p:nvPr/>
        </p:nvCxnSpPr>
        <p:spPr>
          <a:xfrm>
            <a:off x="3615218" y="2245888"/>
            <a:ext cx="1198485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7">
            <a:extLst>
              <a:ext uri="{FF2B5EF4-FFF2-40B4-BE49-F238E27FC236}">
                <a16:creationId xmlns:a16="http://schemas.microsoft.com/office/drawing/2014/main" id="{CC1213A1-F77A-DB50-E3F7-FEDF7C3D8CCE}"/>
              </a:ext>
            </a:extLst>
          </p:cNvPr>
          <p:cNvSpPr txBox="1"/>
          <p:nvPr/>
        </p:nvSpPr>
        <p:spPr>
          <a:xfrm>
            <a:off x="4914900" y="1771513"/>
            <a:ext cx="17526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8000" dirty="0"/>
              <a:t>🖥️</a:t>
            </a:r>
            <a:endParaRPr kumimoji="1" lang="zh-TW" altLang="en-US" sz="8000" dirty="0"/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E652FD1D-9B44-9613-BCFF-F5D5958E1815}"/>
              </a:ext>
            </a:extLst>
          </p:cNvPr>
          <p:cNvCxnSpPr>
            <a:cxnSpLocks/>
          </p:cNvCxnSpPr>
          <p:nvPr/>
        </p:nvCxnSpPr>
        <p:spPr>
          <a:xfrm>
            <a:off x="6667500" y="2245888"/>
            <a:ext cx="1198485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74D98F1-AA3C-9208-3747-5A61BF904007}"/>
              </a:ext>
            </a:extLst>
          </p:cNvPr>
          <p:cNvSpPr txBox="1"/>
          <p:nvPr/>
        </p:nvSpPr>
        <p:spPr>
          <a:xfrm>
            <a:off x="8054340" y="1945326"/>
            <a:ext cx="579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?</a:t>
            </a:r>
            <a:endParaRPr kumimoji="1" lang="zh-TW" altLang="en-US" sz="3600" b="1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938E0F8-04E3-42A5-80E3-DAC75C6C47CE}"/>
              </a:ext>
            </a:extLst>
          </p:cNvPr>
          <p:cNvSpPr txBox="1"/>
          <p:nvPr/>
        </p:nvSpPr>
        <p:spPr>
          <a:xfrm>
            <a:off x="839520" y="3155256"/>
            <a:ext cx="25222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b="1" dirty="0"/>
              <a:t>Basic Approach</a:t>
            </a:r>
            <a:endParaRPr kumimoji="1" lang="zh-TW" altLang="en-US" sz="2400" b="1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05BD7A1-9CB1-647E-B0A3-31D4B4DF87F9}"/>
              </a:ext>
            </a:extLst>
          </p:cNvPr>
          <p:cNvSpPr txBox="1"/>
          <p:nvPr/>
        </p:nvSpPr>
        <p:spPr>
          <a:xfrm>
            <a:off x="823234" y="3702744"/>
            <a:ext cx="25222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Corpus</a:t>
            </a:r>
            <a:endParaRPr kumimoji="1" lang="zh-TW" altLang="en-US" sz="2400" dirty="0"/>
          </a:p>
        </p:txBody>
      </p:sp>
      <p:grpSp>
        <p:nvGrpSpPr>
          <p:cNvPr id="35" name="群組 34">
            <a:extLst>
              <a:ext uri="{FF2B5EF4-FFF2-40B4-BE49-F238E27FC236}">
                <a16:creationId xmlns:a16="http://schemas.microsoft.com/office/drawing/2014/main" id="{AC773989-B87C-D68A-7E2C-7781270984C4}"/>
              </a:ext>
            </a:extLst>
          </p:cNvPr>
          <p:cNvGrpSpPr/>
          <p:nvPr/>
        </p:nvGrpSpPr>
        <p:grpSpPr>
          <a:xfrm>
            <a:off x="686076" y="4138953"/>
            <a:ext cx="2798910" cy="1178802"/>
            <a:chOff x="653143" y="4097438"/>
            <a:chExt cx="2798910" cy="1178802"/>
          </a:xfrm>
        </p:grpSpPr>
        <p:sp>
          <p:nvSpPr>
            <p:cNvPr id="15" name="圓角矩形 14">
              <a:extLst>
                <a:ext uri="{FF2B5EF4-FFF2-40B4-BE49-F238E27FC236}">
                  <a16:creationId xmlns:a16="http://schemas.microsoft.com/office/drawing/2014/main" id="{16178C76-3E8B-9E4C-AFD2-B955C3270965}"/>
                </a:ext>
              </a:extLst>
            </p:cNvPr>
            <p:cNvSpPr/>
            <p:nvPr/>
          </p:nvSpPr>
          <p:spPr>
            <a:xfrm>
              <a:off x="790303" y="4219072"/>
              <a:ext cx="2522218" cy="400110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sz="2000" dirty="0">
                  <a:solidFill>
                    <a:schemeClr val="tx1"/>
                  </a:solidFill>
                </a:rPr>
                <a:t>I like to eat apple</a:t>
              </a:r>
              <a:endParaRPr kumimoji="1" lang="zh-TW" altLang="en-US" sz="2000" dirty="0">
                <a:solidFill>
                  <a:schemeClr val="tx1"/>
                </a:solidFill>
              </a:endParaRPr>
            </a:p>
          </p:txBody>
        </p:sp>
        <p:sp>
          <p:nvSpPr>
            <p:cNvPr id="16" name="圓角矩形 15">
              <a:extLst>
                <a:ext uri="{FF2B5EF4-FFF2-40B4-BE49-F238E27FC236}">
                  <a16:creationId xmlns:a16="http://schemas.microsoft.com/office/drawing/2014/main" id="{00D36C8B-72ED-6DC2-EC8D-74F34886FFA8}"/>
                </a:ext>
              </a:extLst>
            </p:cNvPr>
            <p:cNvSpPr/>
            <p:nvPr/>
          </p:nvSpPr>
          <p:spPr>
            <a:xfrm>
              <a:off x="806587" y="4740816"/>
              <a:ext cx="2522219" cy="400110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sz="2000" dirty="0">
                  <a:solidFill>
                    <a:schemeClr val="tx1"/>
                  </a:solidFill>
                </a:rPr>
                <a:t>You like to watch TV</a:t>
              </a:r>
              <a:endParaRPr kumimoji="1" lang="zh-TW" altLang="en-US" sz="2000" dirty="0">
                <a:solidFill>
                  <a:schemeClr val="tx1"/>
                </a:solidFill>
              </a:endParaRP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B664C5D4-C1BD-DA8A-031B-F885F27D33C8}"/>
                </a:ext>
              </a:extLst>
            </p:cNvPr>
            <p:cNvSpPr/>
            <p:nvPr/>
          </p:nvSpPr>
          <p:spPr>
            <a:xfrm>
              <a:off x="653143" y="4097438"/>
              <a:ext cx="2798910" cy="117880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</p:grp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BEA2D24D-3AA2-E2AE-1D76-D35CFC1E755D}"/>
              </a:ext>
            </a:extLst>
          </p:cNvPr>
          <p:cNvSpPr txBox="1"/>
          <p:nvPr/>
        </p:nvSpPr>
        <p:spPr>
          <a:xfrm>
            <a:off x="3749824" y="4552715"/>
            <a:ext cx="17511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solidFill>
                  <a:srgbClr val="00B050"/>
                </a:solidFill>
              </a:rPr>
              <a:t>Vocabulary</a:t>
            </a:r>
            <a:endParaRPr kumimoji="1" lang="zh-TW" altLang="en-US" sz="2000" dirty="0">
              <a:solidFill>
                <a:srgbClr val="00B050"/>
              </a:solidFill>
            </a:endParaRPr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401A8F95-3600-8957-0805-E1F1F2AC90C6}"/>
              </a:ext>
            </a:extLst>
          </p:cNvPr>
          <p:cNvSpPr/>
          <p:nvPr/>
        </p:nvSpPr>
        <p:spPr>
          <a:xfrm>
            <a:off x="5668371" y="3446798"/>
            <a:ext cx="843382" cy="30278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apple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89F2ACED-A2D0-C3C3-68A7-B31F0DA0901C}"/>
              </a:ext>
            </a:extLst>
          </p:cNvPr>
          <p:cNvSpPr/>
          <p:nvPr/>
        </p:nvSpPr>
        <p:spPr>
          <a:xfrm>
            <a:off x="5668371" y="3899114"/>
            <a:ext cx="843382" cy="292094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eat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66070AE8-43B4-F8BF-BEFE-168CAE60C487}"/>
              </a:ext>
            </a:extLst>
          </p:cNvPr>
          <p:cNvSpPr/>
          <p:nvPr/>
        </p:nvSpPr>
        <p:spPr>
          <a:xfrm>
            <a:off x="5668371" y="4340738"/>
            <a:ext cx="843382" cy="292094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33600E8E-A145-E547-2303-4EF07FAAF6AF}"/>
              </a:ext>
            </a:extLst>
          </p:cNvPr>
          <p:cNvSpPr/>
          <p:nvPr/>
        </p:nvSpPr>
        <p:spPr>
          <a:xfrm>
            <a:off x="5668371" y="4782362"/>
            <a:ext cx="843382" cy="292094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like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3D0B28C5-A462-85E7-AF9B-A44075CA512D}"/>
              </a:ext>
            </a:extLst>
          </p:cNvPr>
          <p:cNvSpPr/>
          <p:nvPr/>
        </p:nvSpPr>
        <p:spPr>
          <a:xfrm>
            <a:off x="5675991" y="5223986"/>
            <a:ext cx="843382" cy="292095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watch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12619BBF-AB71-9CDC-CDAC-505987D98712}"/>
              </a:ext>
            </a:extLst>
          </p:cNvPr>
          <p:cNvSpPr/>
          <p:nvPr/>
        </p:nvSpPr>
        <p:spPr>
          <a:xfrm>
            <a:off x="5668371" y="5665610"/>
            <a:ext cx="843382" cy="292097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to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1530FAE0-48A7-4AAB-BF03-0AF1482EDE18}"/>
              </a:ext>
            </a:extLst>
          </p:cNvPr>
          <p:cNvSpPr txBox="1"/>
          <p:nvPr/>
        </p:nvSpPr>
        <p:spPr>
          <a:xfrm rot="5400000">
            <a:off x="5954801" y="5953895"/>
            <a:ext cx="4616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...</a:t>
            </a:r>
            <a:endParaRPr kumimoji="1" lang="zh-TW" altLang="en-US" sz="24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99015AF-A281-FB12-0B4D-7A59691A76B2}"/>
              </a:ext>
            </a:extLst>
          </p:cNvPr>
          <p:cNvSpPr txBox="1"/>
          <p:nvPr/>
        </p:nvSpPr>
        <p:spPr>
          <a:xfrm>
            <a:off x="6565093" y="3403481"/>
            <a:ext cx="2296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[1, 0, 0, 0, 0, 0, 0, 0]</a:t>
            </a:r>
            <a:endParaRPr kumimoji="1" lang="zh-TW" altLang="en-US" dirty="0"/>
          </a:p>
        </p:txBody>
      </p:sp>
      <p:sp>
        <p:nvSpPr>
          <p:cNvPr id="27" name="左中括弧 26">
            <a:extLst>
              <a:ext uri="{FF2B5EF4-FFF2-40B4-BE49-F238E27FC236}">
                <a16:creationId xmlns:a16="http://schemas.microsoft.com/office/drawing/2014/main" id="{7DEA1A3D-ED4C-C615-B6B7-A8E6F6ABFA92}"/>
              </a:ext>
            </a:extLst>
          </p:cNvPr>
          <p:cNvSpPr/>
          <p:nvPr/>
        </p:nvSpPr>
        <p:spPr>
          <a:xfrm>
            <a:off x="5452931" y="3554308"/>
            <a:ext cx="143013" cy="2668520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33CF28B0-50E9-FE47-EF65-FE9007E964A1}"/>
              </a:ext>
            </a:extLst>
          </p:cNvPr>
          <p:cNvSpPr txBox="1"/>
          <p:nvPr/>
        </p:nvSpPr>
        <p:spPr>
          <a:xfrm>
            <a:off x="6565093" y="3845106"/>
            <a:ext cx="2296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[0, 1, 0, 0, 0, 0, 0, 0]</a:t>
            </a:r>
            <a:endParaRPr kumimoji="1" lang="zh-TW" altLang="en-US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9BAE045C-99A9-22BF-F976-7A82B3AEA0AA}"/>
              </a:ext>
            </a:extLst>
          </p:cNvPr>
          <p:cNvSpPr txBox="1"/>
          <p:nvPr/>
        </p:nvSpPr>
        <p:spPr>
          <a:xfrm>
            <a:off x="6565093" y="4286729"/>
            <a:ext cx="2296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[0, 0, 1, 0, 0, 0, 0, 0]</a:t>
            </a:r>
            <a:endParaRPr kumimoji="1" lang="zh-TW" altLang="en-US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E5426A75-33D6-67F2-D0D5-3F11E90CAEF8}"/>
              </a:ext>
            </a:extLst>
          </p:cNvPr>
          <p:cNvSpPr txBox="1"/>
          <p:nvPr/>
        </p:nvSpPr>
        <p:spPr>
          <a:xfrm>
            <a:off x="6565093" y="4728354"/>
            <a:ext cx="2296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[0, 0, 0, 1, 0, 0, 0, 0]</a:t>
            </a:r>
            <a:endParaRPr kumimoji="1" lang="zh-TW" altLang="en-US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FB6EAF12-75B6-27A9-2E3B-49267A795C7B}"/>
              </a:ext>
            </a:extLst>
          </p:cNvPr>
          <p:cNvSpPr txBox="1"/>
          <p:nvPr/>
        </p:nvSpPr>
        <p:spPr>
          <a:xfrm>
            <a:off x="6565093" y="5169978"/>
            <a:ext cx="2296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[0, 0, 0, 0, 1, 0, 0, 0]</a:t>
            </a:r>
            <a:endParaRPr kumimoji="1" lang="zh-TW" altLang="en-US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6005F137-2959-202F-5E65-77BBE91F906A}"/>
              </a:ext>
            </a:extLst>
          </p:cNvPr>
          <p:cNvSpPr txBox="1"/>
          <p:nvPr/>
        </p:nvSpPr>
        <p:spPr>
          <a:xfrm>
            <a:off x="6565093" y="5611603"/>
            <a:ext cx="2296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[0, 0, 0, 0, 0, 1, 0, 0]</a:t>
            </a:r>
            <a:endParaRPr kumimoji="1" lang="zh-TW" altLang="en-US" dirty="0"/>
          </a:p>
        </p:txBody>
      </p:sp>
      <p:sp>
        <p:nvSpPr>
          <p:cNvPr id="33" name="向右箭號 32">
            <a:extLst>
              <a:ext uri="{FF2B5EF4-FFF2-40B4-BE49-F238E27FC236}">
                <a16:creationId xmlns:a16="http://schemas.microsoft.com/office/drawing/2014/main" id="{3546E0ED-1EAE-77E4-46F3-6CAA06FD63F5}"/>
              </a:ext>
            </a:extLst>
          </p:cNvPr>
          <p:cNvSpPr/>
          <p:nvPr/>
        </p:nvSpPr>
        <p:spPr>
          <a:xfrm>
            <a:off x="3614624" y="4613261"/>
            <a:ext cx="257319" cy="26679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AE8CEF02-5219-F7E1-F8D2-D01EDBB32DA8}"/>
              </a:ext>
            </a:extLst>
          </p:cNvPr>
          <p:cNvSpPr txBox="1"/>
          <p:nvPr/>
        </p:nvSpPr>
        <p:spPr>
          <a:xfrm>
            <a:off x="8862077" y="3422907"/>
            <a:ext cx="289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600" dirty="0"/>
              <a:t>One hot encodings with each vector size equal to the vocab size (8 in this case)</a:t>
            </a:r>
            <a:endParaRPr kumimoji="1" lang="zh-TW" altLang="en-US" sz="1600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959437F-0083-D577-939A-673D8133E577}"/>
              </a:ext>
            </a:extLst>
          </p:cNvPr>
          <p:cNvSpPr txBox="1"/>
          <p:nvPr/>
        </p:nvSpPr>
        <p:spPr>
          <a:xfrm>
            <a:off x="8862077" y="4550130"/>
            <a:ext cx="274318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600" b="1" dirty="0"/>
              <a:t>Pros</a:t>
            </a:r>
            <a:r>
              <a:rPr kumimoji="1" lang="en" altLang="zh-TW" sz="1600" dirty="0"/>
              <a:t>: handy, training-free</a:t>
            </a:r>
          </a:p>
          <a:p>
            <a:r>
              <a:rPr kumimoji="1" lang="en" altLang="zh-TW" sz="1600" b="1" dirty="0"/>
              <a:t>Cons</a:t>
            </a:r>
            <a:r>
              <a:rPr kumimoji="1" lang="en" altLang="zh-TW" sz="1600" dirty="0"/>
              <a:t>: sparse matrix which occupies much memory</a:t>
            </a:r>
            <a:endParaRPr kumimoji="1"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1279903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805057-7DC9-3E0B-5145-4970C5D73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nn.Embeddings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5F9C56C-9A5E-F5F2-71F4-B58D912E2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EBBEBCE-830B-EAB8-FF6C-5B93AF8BFD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9760"/>
          <a:stretch/>
        </p:blipFill>
        <p:spPr>
          <a:xfrm>
            <a:off x="2559334" y="3284284"/>
            <a:ext cx="7073332" cy="3217628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415753EA-1C6E-3D80-F12D-4864F69E87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0245" y="2133583"/>
            <a:ext cx="8011509" cy="850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2085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74D967F-6129-6EEA-EC79-0D5CE8379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Word Embeddings (Word2Vec)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D7ADE4-3145-5A62-E184-3740A8F64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ABEA6365-DAA5-3D21-15A3-44E21F0B3E90}"/>
              </a:ext>
            </a:extLst>
          </p:cNvPr>
          <p:cNvSpPr/>
          <p:nvPr/>
        </p:nvSpPr>
        <p:spPr>
          <a:xfrm>
            <a:off x="5244998" y="1976138"/>
            <a:ext cx="919582" cy="36377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Steve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47BBC121-29B6-5220-CB78-B4D68370D415}"/>
              </a:ext>
            </a:extLst>
          </p:cNvPr>
          <p:cNvSpPr/>
          <p:nvPr/>
        </p:nvSpPr>
        <p:spPr>
          <a:xfrm>
            <a:off x="5244998" y="2428453"/>
            <a:ext cx="919582" cy="363771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Jobs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1CC73DF7-67C5-E923-B110-F5027E607101}"/>
              </a:ext>
            </a:extLst>
          </p:cNvPr>
          <p:cNvSpPr/>
          <p:nvPr/>
        </p:nvSpPr>
        <p:spPr>
          <a:xfrm>
            <a:off x="5244998" y="2870077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FF0000"/>
                </a:solidFill>
              </a:rPr>
              <a:t>[MASK]</a:t>
            </a:r>
            <a:endParaRPr kumimoji="1" lang="zh-TW" altLang="en-US" sz="1400" dirty="0">
              <a:solidFill>
                <a:srgbClr val="FF0000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56B8A95F-18DA-D383-DB7E-C39CA36DF52E}"/>
              </a:ext>
            </a:extLst>
          </p:cNvPr>
          <p:cNvSpPr/>
          <p:nvPr/>
        </p:nvSpPr>
        <p:spPr>
          <a:xfrm>
            <a:off x="5244998" y="3311701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Apple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F5E789D0-102E-9899-6B0E-E72F53B56733}"/>
              </a:ext>
            </a:extLst>
          </p:cNvPr>
          <p:cNvSpPr/>
          <p:nvPr/>
        </p:nvSpPr>
        <p:spPr>
          <a:xfrm>
            <a:off x="5252618" y="3753326"/>
            <a:ext cx="91196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Inc.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64F8053-1CB6-9280-0786-1F5398B4FB9E}"/>
              </a:ext>
            </a:extLst>
          </p:cNvPr>
          <p:cNvSpPr txBox="1"/>
          <p:nvPr/>
        </p:nvSpPr>
        <p:spPr>
          <a:xfrm>
            <a:off x="5279288" y="1508868"/>
            <a:ext cx="8510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/>
              <a:t>Input</a:t>
            </a:r>
            <a:endParaRPr kumimoji="1" lang="zh-TW" altLang="en-US" sz="2000" b="1" dirty="0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217AB8D6-2DB3-140E-DF9E-4A5CD8120CB8}"/>
              </a:ext>
            </a:extLst>
          </p:cNvPr>
          <p:cNvSpPr/>
          <p:nvPr/>
        </p:nvSpPr>
        <p:spPr>
          <a:xfrm>
            <a:off x="5244998" y="4456485"/>
            <a:ext cx="919582" cy="36377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FF0000"/>
                </a:solidFill>
              </a:rPr>
              <a:t>[MASK]</a:t>
            </a:r>
            <a:endParaRPr kumimoji="1" lang="zh-TW" altLang="en-US" sz="1400" dirty="0">
              <a:solidFill>
                <a:srgbClr val="FF0000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AC62D52E-CDFE-9BB1-61EF-4CCF984C5F54}"/>
              </a:ext>
            </a:extLst>
          </p:cNvPr>
          <p:cNvSpPr/>
          <p:nvPr/>
        </p:nvSpPr>
        <p:spPr>
          <a:xfrm>
            <a:off x="5244998" y="4908800"/>
            <a:ext cx="919582" cy="363771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FF0000"/>
                </a:solidFill>
              </a:rPr>
              <a:t>[MASK]</a:t>
            </a:r>
            <a:endParaRPr kumimoji="1" lang="zh-TW" altLang="en-US" sz="1400" dirty="0">
              <a:solidFill>
                <a:srgbClr val="FF0000"/>
              </a:solidFill>
            </a:endParaRP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5FFE151F-6C37-B885-AA8A-89C81A8E1C02}"/>
              </a:ext>
            </a:extLst>
          </p:cNvPr>
          <p:cNvSpPr/>
          <p:nvPr/>
        </p:nvSpPr>
        <p:spPr>
          <a:xfrm>
            <a:off x="5244998" y="5350424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founded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1E1E2AE5-0D93-DD14-622D-9071BF79245E}"/>
              </a:ext>
            </a:extLst>
          </p:cNvPr>
          <p:cNvSpPr/>
          <p:nvPr/>
        </p:nvSpPr>
        <p:spPr>
          <a:xfrm>
            <a:off x="5244998" y="5792048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FF0000"/>
                </a:solidFill>
              </a:rPr>
              <a:t>[MASK]</a:t>
            </a:r>
            <a:endParaRPr kumimoji="1" lang="zh-TW" altLang="en-US" sz="1400" dirty="0">
              <a:solidFill>
                <a:srgbClr val="FF0000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A27E94C1-2F27-B39A-D235-3468AFAFFA21}"/>
              </a:ext>
            </a:extLst>
          </p:cNvPr>
          <p:cNvSpPr/>
          <p:nvPr/>
        </p:nvSpPr>
        <p:spPr>
          <a:xfrm>
            <a:off x="5252618" y="6233673"/>
            <a:ext cx="91196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FF0000"/>
                </a:solidFill>
              </a:rPr>
              <a:t>[MASK]</a:t>
            </a:r>
            <a:endParaRPr kumimoji="1" lang="zh-TW" altLang="en-US" sz="1400" dirty="0">
              <a:solidFill>
                <a:srgbClr val="FF0000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7E3AE6E-B645-5F31-3EFE-1ADD783C7660}"/>
              </a:ext>
            </a:extLst>
          </p:cNvPr>
          <p:cNvSpPr/>
          <p:nvPr/>
        </p:nvSpPr>
        <p:spPr>
          <a:xfrm>
            <a:off x="7053942" y="2571436"/>
            <a:ext cx="1726164" cy="96105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CBOW</a:t>
            </a:r>
            <a:r>
              <a:rPr kumimoji="1" lang="en-US" altLang="zh-TW" sz="2000" b="1" baseline="30000" dirty="0">
                <a:solidFill>
                  <a:schemeClr val="tx1"/>
                </a:solidFill>
              </a:rPr>
              <a:t> [1]</a:t>
            </a:r>
          </a:p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(Continuous Bag-of-Words)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B756E92-B49D-591B-450F-7D841A4E8E92}"/>
              </a:ext>
            </a:extLst>
          </p:cNvPr>
          <p:cNvSpPr/>
          <p:nvPr/>
        </p:nvSpPr>
        <p:spPr>
          <a:xfrm>
            <a:off x="7053942" y="5051783"/>
            <a:ext cx="1726164" cy="96105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Skip-gram</a:t>
            </a:r>
            <a:r>
              <a:rPr kumimoji="1" lang="en-US" altLang="zh-TW" sz="2000" b="1" baseline="30000" dirty="0">
                <a:solidFill>
                  <a:schemeClr val="tx1"/>
                </a:solidFill>
              </a:rPr>
              <a:t> [1]</a:t>
            </a:r>
          </a:p>
        </p:txBody>
      </p:sp>
      <p:sp>
        <p:nvSpPr>
          <p:cNvPr id="19" name="向右箭號 18">
            <a:extLst>
              <a:ext uri="{FF2B5EF4-FFF2-40B4-BE49-F238E27FC236}">
                <a16:creationId xmlns:a16="http://schemas.microsoft.com/office/drawing/2014/main" id="{B6298F9D-954E-9AF2-976C-3D992F35FDEE}"/>
              </a:ext>
            </a:extLst>
          </p:cNvPr>
          <p:cNvSpPr/>
          <p:nvPr/>
        </p:nvSpPr>
        <p:spPr>
          <a:xfrm>
            <a:off x="6411476" y="2870077"/>
            <a:ext cx="399870" cy="36377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0" name="向右箭號 19">
            <a:extLst>
              <a:ext uri="{FF2B5EF4-FFF2-40B4-BE49-F238E27FC236}">
                <a16:creationId xmlns:a16="http://schemas.microsoft.com/office/drawing/2014/main" id="{D9D549DC-66E7-886B-30E5-3E0923B9BCA9}"/>
              </a:ext>
            </a:extLst>
          </p:cNvPr>
          <p:cNvSpPr/>
          <p:nvPr/>
        </p:nvSpPr>
        <p:spPr>
          <a:xfrm>
            <a:off x="6411476" y="5350424"/>
            <a:ext cx="399870" cy="36377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向右箭號 20">
            <a:extLst>
              <a:ext uri="{FF2B5EF4-FFF2-40B4-BE49-F238E27FC236}">
                <a16:creationId xmlns:a16="http://schemas.microsoft.com/office/drawing/2014/main" id="{51DBA887-8E1F-29F0-817A-C5C7BBB15E7A}"/>
              </a:ext>
            </a:extLst>
          </p:cNvPr>
          <p:cNvSpPr/>
          <p:nvPr/>
        </p:nvSpPr>
        <p:spPr>
          <a:xfrm>
            <a:off x="9022702" y="2870077"/>
            <a:ext cx="399870" cy="36377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2" name="向右箭號 21">
            <a:extLst>
              <a:ext uri="{FF2B5EF4-FFF2-40B4-BE49-F238E27FC236}">
                <a16:creationId xmlns:a16="http://schemas.microsoft.com/office/drawing/2014/main" id="{3020C1B6-28E3-D523-663B-7878A32C14DC}"/>
              </a:ext>
            </a:extLst>
          </p:cNvPr>
          <p:cNvSpPr/>
          <p:nvPr/>
        </p:nvSpPr>
        <p:spPr>
          <a:xfrm>
            <a:off x="9022702" y="5350422"/>
            <a:ext cx="399870" cy="36377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13408D5A-5F0D-DA91-55E3-75255C645246}"/>
              </a:ext>
            </a:extLst>
          </p:cNvPr>
          <p:cNvSpPr/>
          <p:nvPr/>
        </p:nvSpPr>
        <p:spPr>
          <a:xfrm>
            <a:off x="9665168" y="2870077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00B050"/>
                </a:solidFill>
              </a:rPr>
              <a:t>founded</a:t>
            </a:r>
            <a:endParaRPr kumimoji="1" lang="zh-TW" altLang="en-US" sz="1400" dirty="0">
              <a:solidFill>
                <a:srgbClr val="00B050"/>
              </a:solidFill>
            </a:endParaRPr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A2C0ADAF-4B06-7494-320C-1881B8E359E8}"/>
              </a:ext>
            </a:extLst>
          </p:cNvPr>
          <p:cNvSpPr/>
          <p:nvPr/>
        </p:nvSpPr>
        <p:spPr>
          <a:xfrm>
            <a:off x="9665168" y="4456485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00B050"/>
                </a:solidFill>
              </a:rPr>
              <a:t>Steve</a:t>
            </a:r>
            <a:endParaRPr kumimoji="1" lang="zh-TW" altLang="en-US" sz="1400" dirty="0">
              <a:solidFill>
                <a:srgbClr val="00B050"/>
              </a:solidFill>
            </a:endParaRPr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6F9B7D74-09CA-1873-9999-4DAAAD78ADBE}"/>
              </a:ext>
            </a:extLst>
          </p:cNvPr>
          <p:cNvSpPr/>
          <p:nvPr/>
        </p:nvSpPr>
        <p:spPr>
          <a:xfrm>
            <a:off x="9665168" y="4908800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00B050"/>
                </a:solidFill>
              </a:rPr>
              <a:t>Jobs</a:t>
            </a:r>
            <a:endParaRPr kumimoji="1" lang="zh-TW" altLang="en-US" sz="1400" dirty="0">
              <a:solidFill>
                <a:srgbClr val="00B050"/>
              </a:solidFill>
            </a:endParaRPr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2F53890A-216B-C892-85E2-D557B210F1DD}"/>
              </a:ext>
            </a:extLst>
          </p:cNvPr>
          <p:cNvSpPr/>
          <p:nvPr/>
        </p:nvSpPr>
        <p:spPr>
          <a:xfrm>
            <a:off x="9665168" y="5792047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00B050"/>
                </a:solidFill>
              </a:rPr>
              <a:t>Apple</a:t>
            </a:r>
            <a:endParaRPr kumimoji="1" lang="zh-TW" altLang="en-US" sz="1400" dirty="0">
              <a:solidFill>
                <a:srgbClr val="00B050"/>
              </a:solidFill>
            </a:endParaRPr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9C581A5E-459C-9DB5-1789-60A08665AA6F}"/>
              </a:ext>
            </a:extLst>
          </p:cNvPr>
          <p:cNvSpPr/>
          <p:nvPr/>
        </p:nvSpPr>
        <p:spPr>
          <a:xfrm>
            <a:off x="9665168" y="6233673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00B050"/>
                </a:solidFill>
              </a:rPr>
              <a:t>Inc.</a:t>
            </a:r>
            <a:endParaRPr kumimoji="1" lang="zh-TW" altLang="en-US" sz="1400" dirty="0">
              <a:solidFill>
                <a:srgbClr val="00B050"/>
              </a:solidFill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5EC9481B-B30D-240D-6196-1E01F34DAE0F}"/>
              </a:ext>
            </a:extLst>
          </p:cNvPr>
          <p:cNvSpPr txBox="1"/>
          <p:nvPr/>
        </p:nvSpPr>
        <p:spPr>
          <a:xfrm>
            <a:off x="6829048" y="1508868"/>
            <a:ext cx="21736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/>
              <a:t>Word2Vec model</a:t>
            </a:r>
            <a:endParaRPr kumimoji="1" lang="zh-TW" altLang="en-US" sz="2000" b="1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E314A0F9-0710-AAAD-15CA-0C0522C692AA}"/>
              </a:ext>
            </a:extLst>
          </p:cNvPr>
          <p:cNvSpPr txBox="1"/>
          <p:nvPr/>
        </p:nvSpPr>
        <p:spPr>
          <a:xfrm>
            <a:off x="9463560" y="1508868"/>
            <a:ext cx="13227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/>
              <a:t>Prediction</a:t>
            </a:r>
            <a:endParaRPr kumimoji="1" lang="zh-TW" altLang="en-US" sz="2000" b="1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36E2F30-73F8-F34A-01D8-F7B6D011A53F}"/>
              </a:ext>
            </a:extLst>
          </p:cNvPr>
          <p:cNvSpPr txBox="1"/>
          <p:nvPr/>
        </p:nvSpPr>
        <p:spPr>
          <a:xfrm>
            <a:off x="653143" y="1999664"/>
            <a:ext cx="41409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600" dirty="0"/>
              <a:t>[1] </a:t>
            </a:r>
            <a:r>
              <a:rPr kumimoji="1" lang="en" altLang="zh-TW" sz="1600" dirty="0" err="1"/>
              <a:t>Mikolov</a:t>
            </a:r>
            <a:r>
              <a:rPr kumimoji="1" lang="en" altLang="zh-TW" sz="1600" dirty="0"/>
              <a:t> et al. "Distributed representations of words and phrases and their compositionality." </a:t>
            </a:r>
            <a:r>
              <a:rPr kumimoji="1" lang="en" altLang="zh-TW" sz="1600" dirty="0" err="1"/>
              <a:t>NeurIPS</a:t>
            </a:r>
            <a:r>
              <a:rPr kumimoji="1" lang="en" altLang="zh-TW" sz="1600" dirty="0"/>
              <a:t> 2013.</a:t>
            </a:r>
            <a:endParaRPr kumimoji="1" lang="zh-TW" altLang="en-US" sz="16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A274E792-7344-6280-09CA-B877CD7CD5A0}"/>
              </a:ext>
            </a:extLst>
          </p:cNvPr>
          <p:cNvSpPr txBox="1"/>
          <p:nvPr/>
        </p:nvSpPr>
        <p:spPr>
          <a:xfrm>
            <a:off x="1107919" y="3458158"/>
            <a:ext cx="281294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dirty="0"/>
              <a:t>Large Corpora</a:t>
            </a:r>
          </a:p>
          <a:p>
            <a:pPr algn="ctr"/>
            <a:r>
              <a:rPr kumimoji="1" lang="en-US" altLang="zh-TW" sz="2800" dirty="0"/>
              <a:t>(E.g., Wikipedia)</a:t>
            </a:r>
            <a:endParaRPr kumimoji="1" lang="zh-TW" altLang="en-US" sz="2800" dirty="0"/>
          </a:p>
        </p:txBody>
      </p:sp>
      <p:pic>
        <p:nvPicPr>
          <p:cNvPr id="34" name="圖形 33" descr="文件 以實心填滿">
            <a:extLst>
              <a:ext uri="{FF2B5EF4-FFF2-40B4-BE49-F238E27FC236}">
                <a16:creationId xmlns:a16="http://schemas.microsoft.com/office/drawing/2014/main" id="{7A94258A-95E1-22E2-2BFB-E5C4551FC4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40736" y="4517640"/>
            <a:ext cx="510073" cy="510073"/>
          </a:xfrm>
          <a:prstGeom prst="rect">
            <a:avLst/>
          </a:prstGeom>
        </p:spPr>
      </p:pic>
      <p:pic>
        <p:nvPicPr>
          <p:cNvPr id="35" name="圖形 34" descr="文件 以實心填滿">
            <a:extLst>
              <a:ext uri="{FF2B5EF4-FFF2-40B4-BE49-F238E27FC236}">
                <a16:creationId xmlns:a16="http://schemas.microsoft.com/office/drawing/2014/main" id="{D36976D9-1ED0-257C-AD50-A625D6F5B6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44517" y="4519435"/>
            <a:ext cx="510073" cy="510073"/>
          </a:xfrm>
          <a:prstGeom prst="rect">
            <a:avLst/>
          </a:prstGeom>
        </p:spPr>
      </p:pic>
      <p:pic>
        <p:nvPicPr>
          <p:cNvPr id="36" name="圖形 35" descr="文件 以實心填滿">
            <a:extLst>
              <a:ext uri="{FF2B5EF4-FFF2-40B4-BE49-F238E27FC236}">
                <a16:creationId xmlns:a16="http://schemas.microsoft.com/office/drawing/2014/main" id="{6913D729-0EAF-12BB-F4E8-2C0CF7585A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248298" y="4517639"/>
            <a:ext cx="510073" cy="510073"/>
          </a:xfrm>
          <a:prstGeom prst="rect">
            <a:avLst/>
          </a:prstGeom>
        </p:spPr>
      </p:pic>
      <p:pic>
        <p:nvPicPr>
          <p:cNvPr id="37" name="圖形 36" descr="文件 以實心填滿">
            <a:extLst>
              <a:ext uri="{FF2B5EF4-FFF2-40B4-BE49-F238E27FC236}">
                <a16:creationId xmlns:a16="http://schemas.microsoft.com/office/drawing/2014/main" id="{5F05F6AD-5A45-611C-8D19-EC29E8555C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52079" y="4517639"/>
            <a:ext cx="510073" cy="510073"/>
          </a:xfrm>
          <a:prstGeom prst="rect">
            <a:avLst/>
          </a:prstGeom>
        </p:spPr>
      </p:pic>
      <p:pic>
        <p:nvPicPr>
          <p:cNvPr id="38" name="圖形 37" descr="文件 以實心填滿">
            <a:extLst>
              <a:ext uri="{FF2B5EF4-FFF2-40B4-BE49-F238E27FC236}">
                <a16:creationId xmlns:a16="http://schemas.microsoft.com/office/drawing/2014/main" id="{519DA7A2-4031-31A8-F0E0-8D2C3C43D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55860" y="4517639"/>
            <a:ext cx="510073" cy="510073"/>
          </a:xfrm>
          <a:prstGeom prst="rect">
            <a:avLst/>
          </a:prstGeom>
        </p:spPr>
      </p:pic>
      <p:pic>
        <p:nvPicPr>
          <p:cNvPr id="39" name="圖形 38" descr="文件 以實心填滿">
            <a:extLst>
              <a:ext uri="{FF2B5EF4-FFF2-40B4-BE49-F238E27FC236}">
                <a16:creationId xmlns:a16="http://schemas.microsoft.com/office/drawing/2014/main" id="{37CDEBF7-B379-DDE6-23A3-1E2848B228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51793" y="5133292"/>
            <a:ext cx="510073" cy="510073"/>
          </a:xfrm>
          <a:prstGeom prst="rect">
            <a:avLst/>
          </a:prstGeom>
        </p:spPr>
      </p:pic>
      <p:pic>
        <p:nvPicPr>
          <p:cNvPr id="40" name="圖形 39" descr="文件 以實心填滿">
            <a:extLst>
              <a:ext uri="{FF2B5EF4-FFF2-40B4-BE49-F238E27FC236}">
                <a16:creationId xmlns:a16="http://schemas.microsoft.com/office/drawing/2014/main" id="{40027F16-03D0-7ABA-5B52-AF4E86B586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55574" y="5135087"/>
            <a:ext cx="510073" cy="510073"/>
          </a:xfrm>
          <a:prstGeom prst="rect">
            <a:avLst/>
          </a:prstGeom>
        </p:spPr>
      </p:pic>
      <p:pic>
        <p:nvPicPr>
          <p:cNvPr id="41" name="圖形 40" descr="文件 以實心填滿">
            <a:extLst>
              <a:ext uri="{FF2B5EF4-FFF2-40B4-BE49-F238E27FC236}">
                <a16:creationId xmlns:a16="http://schemas.microsoft.com/office/drawing/2014/main" id="{4CC14187-67EB-A803-0B66-26EE3B29F4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259355" y="5133291"/>
            <a:ext cx="510073" cy="510073"/>
          </a:xfrm>
          <a:prstGeom prst="rect">
            <a:avLst/>
          </a:prstGeom>
        </p:spPr>
      </p:pic>
      <p:pic>
        <p:nvPicPr>
          <p:cNvPr id="42" name="圖形 41" descr="文件 以實心填滿">
            <a:extLst>
              <a:ext uri="{FF2B5EF4-FFF2-40B4-BE49-F238E27FC236}">
                <a16:creationId xmlns:a16="http://schemas.microsoft.com/office/drawing/2014/main" id="{9A001660-6B26-87AD-6D86-BC65CB4AB8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63136" y="5133291"/>
            <a:ext cx="510073" cy="510073"/>
          </a:xfrm>
          <a:prstGeom prst="rect">
            <a:avLst/>
          </a:prstGeom>
        </p:spPr>
      </p:pic>
      <p:pic>
        <p:nvPicPr>
          <p:cNvPr id="43" name="圖形 42" descr="文件 以實心填滿">
            <a:extLst>
              <a:ext uri="{FF2B5EF4-FFF2-40B4-BE49-F238E27FC236}">
                <a16:creationId xmlns:a16="http://schemas.microsoft.com/office/drawing/2014/main" id="{ACDF1470-4C07-5F00-8E88-AF1B7A2B97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66917" y="5133291"/>
            <a:ext cx="510073" cy="510073"/>
          </a:xfrm>
          <a:prstGeom prst="rect">
            <a:avLst/>
          </a:prstGeom>
        </p:spPr>
      </p:pic>
      <p:sp>
        <p:nvSpPr>
          <p:cNvPr id="47" name="矩形 46">
            <a:extLst>
              <a:ext uri="{FF2B5EF4-FFF2-40B4-BE49-F238E27FC236}">
                <a16:creationId xmlns:a16="http://schemas.microsoft.com/office/drawing/2014/main" id="{2F40236C-E5D3-4E83-D4A2-D6106D7B1381}"/>
              </a:ext>
            </a:extLst>
          </p:cNvPr>
          <p:cNvSpPr/>
          <p:nvPr/>
        </p:nvSpPr>
        <p:spPr>
          <a:xfrm>
            <a:off x="1181127" y="4451761"/>
            <a:ext cx="2641437" cy="1277847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938517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030758-72D6-A663-4E57-B0B0CEE51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After Training Word Embeddings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A93BF6D-5A69-F709-D836-0505A7646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53E6CD1-A702-D7E3-696C-2CE9995BBA31}"/>
              </a:ext>
            </a:extLst>
          </p:cNvPr>
          <p:cNvSpPr txBox="1"/>
          <p:nvPr/>
        </p:nvSpPr>
        <p:spPr>
          <a:xfrm>
            <a:off x="653143" y="1781790"/>
            <a:ext cx="77492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sz="2400" dirty="0"/>
              <a:t>The outputs are dense vectors with a fixed dimension size:</a:t>
            </a:r>
            <a:endParaRPr kumimoji="1" lang="zh-TW" altLang="en-US" sz="2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6858132-885D-7727-6337-AD6BEC31EF2C}"/>
              </a:ext>
            </a:extLst>
          </p:cNvPr>
          <p:cNvSpPr txBox="1"/>
          <p:nvPr/>
        </p:nvSpPr>
        <p:spPr>
          <a:xfrm>
            <a:off x="3373907" y="3433713"/>
            <a:ext cx="789506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2000" dirty="0">
                <a:solidFill>
                  <a:srgbClr val="0070C0"/>
                </a:solidFill>
              </a:rPr>
              <a:t>apple</a:t>
            </a:r>
            <a:r>
              <a:rPr kumimoji="1" lang="en" altLang="zh-TW" sz="2000" dirty="0"/>
              <a:t> -0.110960 0.016115 -0.004809 0.033589 0.121455 …</a:t>
            </a:r>
          </a:p>
          <a:p>
            <a:r>
              <a:rPr kumimoji="1" lang="en" altLang="zh-TW" sz="2000" dirty="0">
                <a:solidFill>
                  <a:srgbClr val="0070C0"/>
                </a:solidFill>
              </a:rPr>
              <a:t>banana</a:t>
            </a:r>
            <a:r>
              <a:rPr kumimoji="1" lang="en" altLang="zh-TW" sz="2000" dirty="0"/>
              <a:t> -0.027713 -0.015676 0.003314 0.077602 0.159718 …</a:t>
            </a:r>
          </a:p>
          <a:p>
            <a:r>
              <a:rPr kumimoji="1" lang="en" altLang="zh-TW" sz="2000" dirty="0"/>
              <a:t>…</a:t>
            </a:r>
          </a:p>
          <a:p>
            <a:r>
              <a:rPr kumimoji="1" lang="en" altLang="zh-TW" sz="2000" dirty="0"/>
              <a:t>…</a:t>
            </a:r>
          </a:p>
          <a:p>
            <a:r>
              <a:rPr kumimoji="1" lang="en" altLang="zh-TW" sz="2000" dirty="0"/>
              <a:t>…</a:t>
            </a:r>
            <a:endParaRPr kumimoji="1" lang="zh-TW" altLang="en-US" sz="20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BA952A9-F907-5BC0-7C30-F83FA491B5B9}"/>
              </a:ext>
            </a:extLst>
          </p:cNvPr>
          <p:cNvSpPr txBox="1"/>
          <p:nvPr/>
        </p:nvSpPr>
        <p:spPr>
          <a:xfrm>
            <a:off x="5635632" y="2633384"/>
            <a:ext cx="33716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sz="2000" dirty="0">
                <a:solidFill>
                  <a:srgbClr val="00B050"/>
                </a:solidFill>
              </a:rPr>
              <a:t>Dimension size (e.g., 300)</a:t>
            </a:r>
            <a:endParaRPr kumimoji="1" lang="zh-TW" altLang="en-US" sz="2000" dirty="0">
              <a:solidFill>
                <a:srgbClr val="00B050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7674488-2D13-83A8-AC9E-A3078CDB63CC}"/>
              </a:ext>
            </a:extLst>
          </p:cNvPr>
          <p:cNvSpPr txBox="1"/>
          <p:nvPr/>
        </p:nvSpPr>
        <p:spPr>
          <a:xfrm>
            <a:off x="920890" y="3987710"/>
            <a:ext cx="21131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sz="2000" dirty="0">
                <a:solidFill>
                  <a:srgbClr val="00B050"/>
                </a:solidFill>
              </a:rPr>
              <a:t>Vocabulary size</a:t>
            </a:r>
          </a:p>
          <a:p>
            <a:pPr algn="ctr"/>
            <a:r>
              <a:rPr kumimoji="1" lang="en" altLang="zh-TW" sz="2000" dirty="0">
                <a:solidFill>
                  <a:srgbClr val="00B050"/>
                </a:solidFill>
              </a:rPr>
              <a:t>(e.g., 30,000)</a:t>
            </a:r>
            <a:endParaRPr kumimoji="1" lang="zh-TW" altLang="en-US" sz="2000" dirty="0">
              <a:solidFill>
                <a:srgbClr val="00B050"/>
              </a:solidFill>
            </a:endParaRPr>
          </a:p>
        </p:txBody>
      </p:sp>
      <p:sp>
        <p:nvSpPr>
          <p:cNvPr id="11" name="左中括弧 10">
            <a:extLst>
              <a:ext uri="{FF2B5EF4-FFF2-40B4-BE49-F238E27FC236}">
                <a16:creationId xmlns:a16="http://schemas.microsoft.com/office/drawing/2014/main" id="{3E39DB12-6F05-AF06-BCD3-90104E7F4BB0}"/>
              </a:ext>
            </a:extLst>
          </p:cNvPr>
          <p:cNvSpPr/>
          <p:nvPr/>
        </p:nvSpPr>
        <p:spPr>
          <a:xfrm>
            <a:off x="3104768" y="3615582"/>
            <a:ext cx="127737" cy="1658715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2" name="左中括弧 11">
            <a:extLst>
              <a:ext uri="{FF2B5EF4-FFF2-40B4-BE49-F238E27FC236}">
                <a16:creationId xmlns:a16="http://schemas.microsoft.com/office/drawing/2014/main" id="{D2B670A4-E9EA-3C02-28E4-7E138B8F19E0}"/>
              </a:ext>
            </a:extLst>
          </p:cNvPr>
          <p:cNvSpPr/>
          <p:nvPr/>
        </p:nvSpPr>
        <p:spPr>
          <a:xfrm rot="5400000">
            <a:off x="7396296" y="-29975"/>
            <a:ext cx="198140" cy="6481749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709170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50259-90F8-2670-E62D-5E84908AD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F78E92-5601-DD87-AEC7-8ACE7FC2B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NLP</a:t>
            </a:r>
            <a:r>
              <a:rPr kumimoji="1" lang="zh-TW" altLang="en-US" dirty="0"/>
              <a:t> 三大秘辛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7AD1202-EA49-CB23-9B15-71B4EA215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BC1DB9D-34CF-6A46-EFAF-4CECA5B84F95}"/>
              </a:ext>
            </a:extLst>
          </p:cNvPr>
          <p:cNvSpPr txBox="1"/>
          <p:nvPr/>
        </p:nvSpPr>
        <p:spPr>
          <a:xfrm>
            <a:off x="653144" y="1806093"/>
            <a:ext cx="10918370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/>
              <a:t>1️⃣</a:t>
            </a:r>
            <a:r>
              <a:rPr kumimoji="1" lang="zh-TW" altLang="en-US" sz="2400" dirty="0"/>
              <a:t> 每個字，都是一段向量</a:t>
            </a:r>
            <a:endParaRPr kumimoji="1" lang="en-US" altLang="zh-TW" sz="2400" dirty="0"/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2️⃣</a:t>
            </a:r>
            <a:r>
              <a:rPr kumimoji="1" lang="zh-TW" altLang="en-US" sz="2400" dirty="0"/>
              <a:t> 每個</a:t>
            </a:r>
            <a:r>
              <a:rPr kumimoji="1" lang="en-US" altLang="zh-TW" sz="2400" dirty="0"/>
              <a:t> NLP </a:t>
            </a:r>
            <a:r>
              <a:rPr kumimoji="1" lang="zh-TW" altLang="en-US" sz="2400" dirty="0"/>
              <a:t>模型都有一個字典</a:t>
            </a:r>
            <a:r>
              <a:rPr kumimoji="1" lang="en-US" altLang="zh-TW" sz="2400" dirty="0"/>
              <a:t> 📙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3️⃣</a:t>
            </a:r>
            <a:r>
              <a:rPr kumimoji="1" lang="zh-TW" altLang="en-US" sz="2400" dirty="0"/>
              <a:t> 自然語言處理模型需要記憶力 </a:t>
            </a:r>
            <a:r>
              <a:rPr kumimoji="1" lang="en-US" altLang="zh-TW" sz="2400" dirty="0"/>
              <a:t>🧠</a:t>
            </a:r>
          </a:p>
          <a:p>
            <a:pPr>
              <a:lnSpc>
                <a:spcPct val="150000"/>
              </a:lnSpc>
            </a:pPr>
            <a:endParaRPr kumimoji="1" lang="en-US" altLang="zh-TW" sz="2400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2CF460A-749C-7496-75BA-BEEDC9D0AA29}"/>
              </a:ext>
            </a:extLst>
          </p:cNvPr>
          <p:cNvSpPr/>
          <p:nvPr/>
        </p:nvSpPr>
        <p:spPr>
          <a:xfrm>
            <a:off x="653143" y="2396357"/>
            <a:ext cx="4801726" cy="5833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113397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70CAA3-2FE9-9CDF-13CA-49C8E47FC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每個 </a:t>
            </a:r>
            <a:r>
              <a:rPr kumimoji="1" lang="en" altLang="zh-TW" dirty="0"/>
              <a:t>NLP </a:t>
            </a:r>
            <a:r>
              <a:rPr kumimoji="1" lang="zh-TW" altLang="en-US" dirty="0"/>
              <a:t>模型都有一個字典 📙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599373-AAC8-BF28-7933-95FB57B5F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4822BAA0-4C03-52CE-2B5E-17511F87B6C6}"/>
              </a:ext>
            </a:extLst>
          </p:cNvPr>
          <p:cNvSpPr txBox="1"/>
          <p:nvPr/>
        </p:nvSpPr>
        <p:spPr>
          <a:xfrm>
            <a:off x="6738190" y="4215513"/>
            <a:ext cx="5042741" cy="646331"/>
          </a:xfrm>
          <a:prstGeom prst="rect">
            <a:avLst/>
          </a:prstGeom>
          <a:noFill/>
          <a:ln w="1905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字典裡面的內容是語言模型能理解的最小單元，如此一來模型才能夠進行目標任務 </a:t>
            </a:r>
            <a:r>
              <a:rPr kumimoji="1" lang="en-US" altLang="zh-TW" dirty="0"/>
              <a:t>(e.g., </a:t>
            </a:r>
            <a:r>
              <a:rPr kumimoji="1" lang="zh-TW" altLang="en-US" dirty="0"/>
              <a:t>生成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988A6AFA-D99E-1AE8-2F81-7D3C2CC2B816}"/>
              </a:ext>
            </a:extLst>
          </p:cNvPr>
          <p:cNvGrpSpPr/>
          <p:nvPr/>
        </p:nvGrpSpPr>
        <p:grpSpPr>
          <a:xfrm>
            <a:off x="522180" y="1893082"/>
            <a:ext cx="2769549" cy="2968762"/>
            <a:chOff x="466004" y="1704586"/>
            <a:chExt cx="2769549" cy="2968762"/>
          </a:xfrm>
        </p:grpSpPr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52460DD3-AB7A-CC22-CE65-813D6F671E45}"/>
                </a:ext>
              </a:extLst>
            </p:cNvPr>
            <p:cNvSpPr txBox="1"/>
            <p:nvPr/>
          </p:nvSpPr>
          <p:spPr>
            <a:xfrm>
              <a:off x="466004" y="2810503"/>
              <a:ext cx="175119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2000" dirty="0">
                  <a:solidFill>
                    <a:srgbClr val="00B050"/>
                  </a:solidFill>
                </a:rPr>
                <a:t>Vocabulary</a:t>
              </a:r>
              <a:endParaRPr kumimoji="1" lang="zh-TW" altLang="en-US" sz="2000" dirty="0">
                <a:solidFill>
                  <a:srgbClr val="00B050"/>
                </a:solidFill>
              </a:endParaRPr>
            </a:p>
          </p:txBody>
        </p:sp>
        <p:sp>
          <p:nvSpPr>
            <p:cNvPr id="12" name="圓角矩形 11">
              <a:extLst>
                <a:ext uri="{FF2B5EF4-FFF2-40B4-BE49-F238E27FC236}">
                  <a16:creationId xmlns:a16="http://schemas.microsoft.com/office/drawing/2014/main" id="{8A5DA706-6449-6F4C-19FE-521F06233031}"/>
                </a:ext>
              </a:extLst>
            </p:cNvPr>
            <p:cNvSpPr/>
            <p:nvPr/>
          </p:nvSpPr>
          <p:spPr>
            <a:xfrm>
              <a:off x="2384551" y="1704586"/>
              <a:ext cx="843382" cy="302786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apple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3" name="圓角矩形 12">
              <a:extLst>
                <a:ext uri="{FF2B5EF4-FFF2-40B4-BE49-F238E27FC236}">
                  <a16:creationId xmlns:a16="http://schemas.microsoft.com/office/drawing/2014/main" id="{00CD2980-456E-52A5-AF49-D22738724911}"/>
                </a:ext>
              </a:extLst>
            </p:cNvPr>
            <p:cNvSpPr/>
            <p:nvPr/>
          </p:nvSpPr>
          <p:spPr>
            <a:xfrm>
              <a:off x="2384551" y="2156902"/>
              <a:ext cx="843382" cy="292094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eat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圓角矩形 13">
              <a:extLst>
                <a:ext uri="{FF2B5EF4-FFF2-40B4-BE49-F238E27FC236}">
                  <a16:creationId xmlns:a16="http://schemas.microsoft.com/office/drawing/2014/main" id="{3139D9CB-05DE-B50D-C75D-937F9F7571BA}"/>
                </a:ext>
              </a:extLst>
            </p:cNvPr>
            <p:cNvSpPr/>
            <p:nvPr/>
          </p:nvSpPr>
          <p:spPr>
            <a:xfrm>
              <a:off x="2384551" y="2598526"/>
              <a:ext cx="843382" cy="292094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I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5" name="圓角矩形 14">
              <a:extLst>
                <a:ext uri="{FF2B5EF4-FFF2-40B4-BE49-F238E27FC236}">
                  <a16:creationId xmlns:a16="http://schemas.microsoft.com/office/drawing/2014/main" id="{4CDB48F6-656D-D893-A267-1AB422FB772D}"/>
                </a:ext>
              </a:extLst>
            </p:cNvPr>
            <p:cNvSpPr/>
            <p:nvPr/>
          </p:nvSpPr>
          <p:spPr>
            <a:xfrm>
              <a:off x="2384551" y="3040150"/>
              <a:ext cx="843382" cy="292094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like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圓角矩形 15">
              <a:extLst>
                <a:ext uri="{FF2B5EF4-FFF2-40B4-BE49-F238E27FC236}">
                  <a16:creationId xmlns:a16="http://schemas.microsoft.com/office/drawing/2014/main" id="{F0D0F36F-F312-6BCC-EB63-EAEF1E65B2D7}"/>
                </a:ext>
              </a:extLst>
            </p:cNvPr>
            <p:cNvSpPr/>
            <p:nvPr/>
          </p:nvSpPr>
          <p:spPr>
            <a:xfrm>
              <a:off x="2392171" y="3481774"/>
              <a:ext cx="843382" cy="292095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watch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圓角矩形 16">
              <a:extLst>
                <a:ext uri="{FF2B5EF4-FFF2-40B4-BE49-F238E27FC236}">
                  <a16:creationId xmlns:a16="http://schemas.microsoft.com/office/drawing/2014/main" id="{EBBFC587-798C-FDAB-A5D6-820654258B10}"/>
                </a:ext>
              </a:extLst>
            </p:cNvPr>
            <p:cNvSpPr/>
            <p:nvPr/>
          </p:nvSpPr>
          <p:spPr>
            <a:xfrm>
              <a:off x="2384551" y="3923398"/>
              <a:ext cx="843382" cy="292097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to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DE0D2582-C1AA-077E-6060-8023BA7054E7}"/>
                </a:ext>
              </a:extLst>
            </p:cNvPr>
            <p:cNvSpPr txBox="1"/>
            <p:nvPr/>
          </p:nvSpPr>
          <p:spPr>
            <a:xfrm rot="5400000">
              <a:off x="2670981" y="4211683"/>
              <a:ext cx="46166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2400" dirty="0"/>
                <a:t>...</a:t>
              </a:r>
              <a:endParaRPr kumimoji="1" lang="zh-TW" altLang="en-US" sz="2400" dirty="0"/>
            </a:p>
          </p:txBody>
        </p:sp>
        <p:sp>
          <p:nvSpPr>
            <p:cNvPr id="19" name="左中括弧 18">
              <a:extLst>
                <a:ext uri="{FF2B5EF4-FFF2-40B4-BE49-F238E27FC236}">
                  <a16:creationId xmlns:a16="http://schemas.microsoft.com/office/drawing/2014/main" id="{6BE69DB4-0BE4-C9A6-0EDC-CA7A50A0AAAE}"/>
                </a:ext>
              </a:extLst>
            </p:cNvPr>
            <p:cNvSpPr/>
            <p:nvPr/>
          </p:nvSpPr>
          <p:spPr>
            <a:xfrm>
              <a:off x="2169111" y="1812096"/>
              <a:ext cx="143013" cy="2668520"/>
            </a:xfrm>
            <a:prstGeom prst="leftBracket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</p:grpSp>
      <p:sp>
        <p:nvSpPr>
          <p:cNvPr id="20" name="向右箭號 19">
            <a:extLst>
              <a:ext uri="{FF2B5EF4-FFF2-40B4-BE49-F238E27FC236}">
                <a16:creationId xmlns:a16="http://schemas.microsoft.com/office/drawing/2014/main" id="{649B6F93-D98F-24E4-0202-A1FE61344E54}"/>
              </a:ext>
            </a:extLst>
          </p:cNvPr>
          <p:cNvSpPr/>
          <p:nvPr/>
        </p:nvSpPr>
        <p:spPr>
          <a:xfrm>
            <a:off x="3517634" y="3051787"/>
            <a:ext cx="255719" cy="28495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01A3B2D-5146-CB78-B631-6F74440C57F6}"/>
              </a:ext>
            </a:extLst>
          </p:cNvPr>
          <p:cNvSpPr txBox="1"/>
          <p:nvPr/>
        </p:nvSpPr>
        <p:spPr>
          <a:xfrm>
            <a:off x="5417590" y="3025551"/>
            <a:ext cx="29337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I like to eat apple watch</a:t>
            </a:r>
            <a:endParaRPr kumimoji="1" lang="zh-TW" altLang="en-US" dirty="0"/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AC573751-096B-1972-5515-6CE2C5E33B19}"/>
              </a:ext>
            </a:extLst>
          </p:cNvPr>
          <p:cNvSpPr/>
          <p:nvPr/>
        </p:nvSpPr>
        <p:spPr>
          <a:xfrm>
            <a:off x="3968928" y="2977648"/>
            <a:ext cx="882869" cy="441624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LM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3" name="向右箭號 22">
            <a:extLst>
              <a:ext uri="{FF2B5EF4-FFF2-40B4-BE49-F238E27FC236}">
                <a16:creationId xmlns:a16="http://schemas.microsoft.com/office/drawing/2014/main" id="{C3CE8226-06DF-6B70-EF3B-C5F3853CA713}"/>
              </a:ext>
            </a:extLst>
          </p:cNvPr>
          <p:cNvSpPr/>
          <p:nvPr/>
        </p:nvSpPr>
        <p:spPr>
          <a:xfrm>
            <a:off x="5085322" y="3056578"/>
            <a:ext cx="255719" cy="28495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pic>
        <p:nvPicPr>
          <p:cNvPr id="25" name="Picture 2" descr="undefined">
            <a:extLst>
              <a:ext uri="{FF2B5EF4-FFF2-40B4-BE49-F238E27FC236}">
                <a16:creationId xmlns:a16="http://schemas.microsoft.com/office/drawing/2014/main" id="{D72EB8F8-959B-0E35-09C6-AE30B400B4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85002" y="5428384"/>
            <a:ext cx="593033" cy="593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4" descr="undefined">
            <a:extLst>
              <a:ext uri="{FF2B5EF4-FFF2-40B4-BE49-F238E27FC236}">
                <a16:creationId xmlns:a16="http://schemas.microsoft.com/office/drawing/2014/main" id="{959B29B3-DA45-DD15-8208-16E962E078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5628" y="5494852"/>
            <a:ext cx="459830" cy="4194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Reddit - Wikipedia">
            <a:extLst>
              <a:ext uri="{FF2B5EF4-FFF2-40B4-BE49-F238E27FC236}">
                <a16:creationId xmlns:a16="http://schemas.microsoft.com/office/drawing/2014/main" id="{A38B7392-BE92-5B3F-2172-7DFF242088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6060" y="5652084"/>
            <a:ext cx="369333" cy="369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知乎- 維基百科，自由嘅百科全書">
            <a:extLst>
              <a:ext uri="{FF2B5EF4-FFF2-40B4-BE49-F238E27FC236}">
                <a16:creationId xmlns:a16="http://schemas.microsoft.com/office/drawing/2014/main" id="{4A3037A1-4614-A213-E5DB-9B0B63A50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0983" y="6021417"/>
            <a:ext cx="495077" cy="2322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Google商標- 維基百科，自由的百科全書">
            <a:extLst>
              <a:ext uri="{FF2B5EF4-FFF2-40B4-BE49-F238E27FC236}">
                <a16:creationId xmlns:a16="http://schemas.microsoft.com/office/drawing/2014/main" id="{A812F3F0-7C36-9A12-37BC-B634DA319E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5458" y="5252484"/>
            <a:ext cx="345268" cy="349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向右箭號 26">
            <a:extLst>
              <a:ext uri="{FF2B5EF4-FFF2-40B4-BE49-F238E27FC236}">
                <a16:creationId xmlns:a16="http://schemas.microsoft.com/office/drawing/2014/main" id="{CC8A7493-A957-0A75-DFF4-C441B2C24ACF}"/>
              </a:ext>
            </a:extLst>
          </p:cNvPr>
          <p:cNvSpPr/>
          <p:nvPr/>
        </p:nvSpPr>
        <p:spPr>
          <a:xfrm>
            <a:off x="3462630" y="5551798"/>
            <a:ext cx="255719" cy="28495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8" name="向右箭號 27">
            <a:extLst>
              <a:ext uri="{FF2B5EF4-FFF2-40B4-BE49-F238E27FC236}">
                <a16:creationId xmlns:a16="http://schemas.microsoft.com/office/drawing/2014/main" id="{1075051D-8808-7103-111C-C943DCCDB358}"/>
              </a:ext>
            </a:extLst>
          </p:cNvPr>
          <p:cNvSpPr/>
          <p:nvPr/>
        </p:nvSpPr>
        <p:spPr>
          <a:xfrm>
            <a:off x="4956067" y="5551798"/>
            <a:ext cx="255719" cy="28495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86D13F3A-BE5F-B705-8F54-E349AA9CFDAA}"/>
              </a:ext>
            </a:extLst>
          </p:cNvPr>
          <p:cNvSpPr txBox="1"/>
          <p:nvPr/>
        </p:nvSpPr>
        <p:spPr>
          <a:xfrm>
            <a:off x="5489818" y="5509608"/>
            <a:ext cx="37607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... (</a:t>
            </a:r>
            <a:r>
              <a:rPr kumimoji="1" lang="zh-TW" altLang="en-US" dirty="0"/>
              <a:t>你平常操作 </a:t>
            </a:r>
            <a:r>
              <a:rPr kumimoji="1" lang="en-US" altLang="zh-TW" dirty="0"/>
              <a:t>ChatGPT</a:t>
            </a:r>
            <a:r>
              <a:rPr kumimoji="1" lang="zh-TW" altLang="en-US" dirty="0"/>
              <a:t> 的結果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3621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20" grpId="0" animBg="1"/>
      <p:bldP spid="21" grpId="0"/>
      <p:bldP spid="22" grpId="0" animBg="1"/>
      <p:bldP spid="23" grpId="0" animBg="1"/>
      <p:bldP spid="27" grpId="0" animBg="1"/>
      <p:bldP spid="28" grpId="0" animBg="1"/>
      <p:bldP spid="2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839E10-9EF8-C7C2-386F-219C8B379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字典實作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D013D9-9F60-94CA-34B1-07EBFB569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618E0251-09B7-4CBF-66D0-942BC8316A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454" y="2489683"/>
            <a:ext cx="7772400" cy="2825698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C0FCBB75-FD59-A78A-F5A8-0BAC2D44511E}"/>
              </a:ext>
            </a:extLst>
          </p:cNvPr>
          <p:cNvSpPr txBox="1"/>
          <p:nvPr/>
        </p:nvSpPr>
        <p:spPr>
          <a:xfrm>
            <a:off x="3231930" y="1566268"/>
            <a:ext cx="48400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1600" dirty="0"/>
              <a:t>通常我們會預先準備 </a:t>
            </a:r>
            <a:r>
              <a:rPr kumimoji="1" lang="en-US" altLang="zh-TW" sz="1600" dirty="0"/>
              <a:t>&lt;pad&gt; </a:t>
            </a:r>
            <a:r>
              <a:rPr kumimoji="1" lang="zh-TW" altLang="en-US" sz="1600" dirty="0"/>
              <a:t>跟 </a:t>
            </a:r>
            <a:r>
              <a:rPr kumimoji="1" lang="en-US" altLang="zh-TW" sz="1600" dirty="0"/>
              <a:t>&lt;</a:t>
            </a:r>
            <a:r>
              <a:rPr kumimoji="1" lang="en-US" altLang="zh-TW" sz="1600" dirty="0" err="1"/>
              <a:t>unk</a:t>
            </a:r>
            <a:r>
              <a:rPr kumimoji="1" lang="en-US" altLang="zh-TW" sz="1600" dirty="0"/>
              <a:t>&gt;</a:t>
            </a:r>
          </a:p>
          <a:p>
            <a:r>
              <a:rPr kumimoji="1" lang="zh-TW" altLang="en-US" sz="1600" dirty="0"/>
              <a:t>前者代表 </a:t>
            </a:r>
            <a:r>
              <a:rPr kumimoji="1" lang="en-US" altLang="zh-TW" sz="1600" dirty="0"/>
              <a:t>padding</a:t>
            </a:r>
            <a:r>
              <a:rPr kumimoji="1" lang="zh-TW" altLang="en-US" sz="1600" dirty="0"/>
              <a:t>，後者代表 </a:t>
            </a:r>
            <a:r>
              <a:rPr kumimoji="1" lang="en-US" altLang="zh-TW" sz="1600" dirty="0"/>
              <a:t>unknown words</a:t>
            </a:r>
            <a:endParaRPr kumimoji="1" lang="zh-TW" altLang="en-US" sz="1600" dirty="0"/>
          </a:p>
        </p:txBody>
      </p: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3C2B3447-2CB2-7303-CC20-7304F1371613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4524704" y="2151043"/>
            <a:ext cx="1127233" cy="4137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BA57FC4-6037-B644-B386-C2D370921C3F}"/>
              </a:ext>
            </a:extLst>
          </p:cNvPr>
          <p:cNvSpPr txBox="1"/>
          <p:nvPr/>
        </p:nvSpPr>
        <p:spPr>
          <a:xfrm>
            <a:off x="700439" y="1594953"/>
            <a:ext cx="22794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1600" dirty="0"/>
              <a:t>字典的變數</a:t>
            </a:r>
            <a:endParaRPr kumimoji="1" lang="en-US" altLang="zh-TW" sz="1600" dirty="0"/>
          </a:p>
          <a:p>
            <a:pPr algn="ctr"/>
            <a:r>
              <a:rPr kumimoji="1" lang="en-US" altLang="zh-TW" sz="1600" dirty="0"/>
              <a:t>(key: </a:t>
            </a:r>
            <a:r>
              <a:rPr kumimoji="1" lang="zh-TW" altLang="en-US" sz="1600" dirty="0"/>
              <a:t>字</a:t>
            </a:r>
            <a:r>
              <a:rPr kumimoji="1" lang="en-US" altLang="zh-TW" sz="1600" dirty="0"/>
              <a:t>, value: index)</a:t>
            </a:r>
            <a:endParaRPr kumimoji="1" lang="zh-TW" altLang="en-US" sz="1600" dirty="0"/>
          </a:p>
        </p:txBody>
      </p: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40711442-A26B-3A16-C94A-5945F16FBFFD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1840155" y="2179728"/>
            <a:ext cx="0" cy="44523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D2AC6C69-90ED-9691-2660-F1EC6BDB002B}"/>
              </a:ext>
            </a:extLst>
          </p:cNvPr>
          <p:cNvSpPr txBox="1"/>
          <p:nvPr/>
        </p:nvSpPr>
        <p:spPr>
          <a:xfrm>
            <a:off x="766128" y="5456059"/>
            <a:ext cx="52405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1600" dirty="0"/>
              <a:t>字典在</a:t>
            </a:r>
            <a:r>
              <a:rPr kumimoji="1" lang="en-US" altLang="zh-TW" sz="1600" dirty="0"/>
              <a:t>NLP</a:t>
            </a:r>
            <a:r>
              <a:rPr kumimoji="1" lang="zh-TW" altLang="en-US" sz="1600" dirty="0"/>
              <a:t>中的實作方式就真的採用</a:t>
            </a:r>
            <a:r>
              <a:rPr kumimoji="1" lang="en-US" altLang="zh-TW" sz="1600" dirty="0"/>
              <a:t>Python dictionary</a:t>
            </a:r>
            <a:endParaRPr kumimoji="1"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403009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4828C-9208-2F47-2535-F318BDA4F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030AF00-6D35-7D1D-A4A9-D3D9AC064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[</a:t>
            </a:r>
            <a:r>
              <a:rPr kumimoji="1" lang="zh-TW" altLang="en-US" dirty="0"/>
              <a:t>注意事項</a:t>
            </a:r>
            <a:r>
              <a:rPr kumimoji="1" lang="en-US" altLang="zh-TW" dirty="0"/>
              <a:t>]</a:t>
            </a:r>
            <a:r>
              <a:rPr kumimoji="1" lang="zh-TW" altLang="en-US" dirty="0"/>
              <a:t> 字典實作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079B7A7-847C-A0BF-8BBA-77F24812E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1901BE0C-EFC4-A537-1ED5-BDA475A52EE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485"/>
          <a:stretch/>
        </p:blipFill>
        <p:spPr>
          <a:xfrm>
            <a:off x="989850" y="3153104"/>
            <a:ext cx="7215999" cy="3531475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C38EECFD-3689-5364-BB20-45945C0579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5836"/>
          <a:stretch/>
        </p:blipFill>
        <p:spPr>
          <a:xfrm>
            <a:off x="989850" y="2324798"/>
            <a:ext cx="7215999" cy="591824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ABFF65ED-E8FC-FC97-D58B-ABE6C1C70355}"/>
              </a:ext>
            </a:extLst>
          </p:cNvPr>
          <p:cNvSpPr txBox="1"/>
          <p:nvPr/>
        </p:nvSpPr>
        <p:spPr>
          <a:xfrm>
            <a:off x="5525814" y="3378340"/>
            <a:ext cx="5778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如果某字不存在於字典中，</a:t>
            </a:r>
            <a:r>
              <a:rPr kumimoji="1" lang="zh-TW" altLang="en-US" dirty="0">
                <a:solidFill>
                  <a:srgbClr val="FF0000"/>
                </a:solidFill>
              </a:rPr>
              <a:t>則通常給予 </a:t>
            </a:r>
            <a:r>
              <a:rPr kumimoji="1" lang="en-US" altLang="zh-TW" dirty="0">
                <a:solidFill>
                  <a:srgbClr val="FF0000"/>
                </a:solidFill>
              </a:rPr>
              <a:t>&lt;</a:t>
            </a:r>
            <a:r>
              <a:rPr kumimoji="1" lang="en-US" altLang="zh-TW" dirty="0" err="1">
                <a:solidFill>
                  <a:srgbClr val="FF0000"/>
                </a:solidFill>
              </a:rPr>
              <a:t>unk</a:t>
            </a:r>
            <a:r>
              <a:rPr kumimoji="1" lang="en-US" altLang="zh-TW" dirty="0">
                <a:solidFill>
                  <a:srgbClr val="FF0000"/>
                </a:solidFill>
              </a:rPr>
              <a:t>&gt;</a:t>
            </a:r>
            <a:r>
              <a:rPr kumimoji="1" lang="zh-TW" altLang="en-US" dirty="0">
                <a:solidFill>
                  <a:srgbClr val="FF0000"/>
                </a:solidFill>
              </a:rPr>
              <a:t> 的</a:t>
            </a:r>
            <a:r>
              <a:rPr kumimoji="1" lang="en-US" altLang="zh-TW" dirty="0">
                <a:solidFill>
                  <a:srgbClr val="FF0000"/>
                </a:solidFill>
              </a:rPr>
              <a:t> id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13946D57-D6DF-7550-92F4-117E3E2EF6C7}"/>
              </a:ext>
            </a:extLst>
          </p:cNvPr>
          <p:cNvCxnSpPr/>
          <p:nvPr/>
        </p:nvCxnSpPr>
        <p:spPr>
          <a:xfrm flipH="1">
            <a:off x="4367049" y="3563006"/>
            <a:ext cx="107205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6EE4062-5E59-5916-A617-F957F91816C9}"/>
              </a:ext>
            </a:extLst>
          </p:cNvPr>
          <p:cNvSpPr txBox="1"/>
          <p:nvPr/>
        </p:nvSpPr>
        <p:spPr>
          <a:xfrm>
            <a:off x="989850" y="1717306"/>
            <a:ext cx="5778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字典是經由訓練資料集的字所建立的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7267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148DF-8E6F-F4C6-57E9-45A0E09C2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0F9A38-7F02-60EA-A9C2-D4746FB07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NLP</a:t>
            </a:r>
            <a:r>
              <a:rPr kumimoji="1" lang="zh-TW" altLang="en-US" dirty="0"/>
              <a:t> 三大秘辛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940A0F-7C9F-0DA3-A56D-23ED34260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21A2DB1C-1F94-8EDC-4897-82B5A339023E}"/>
              </a:ext>
            </a:extLst>
          </p:cNvPr>
          <p:cNvSpPr txBox="1"/>
          <p:nvPr/>
        </p:nvSpPr>
        <p:spPr>
          <a:xfrm>
            <a:off x="653144" y="1806093"/>
            <a:ext cx="10918370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/>
              <a:t>1️⃣</a:t>
            </a:r>
            <a:r>
              <a:rPr kumimoji="1" lang="zh-TW" altLang="en-US" sz="2400" dirty="0"/>
              <a:t> 每個字，都是一段向量</a:t>
            </a:r>
            <a:endParaRPr kumimoji="1" lang="en-US" altLang="zh-TW" sz="2400" dirty="0"/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2️⃣</a:t>
            </a:r>
            <a:r>
              <a:rPr kumimoji="1" lang="zh-TW" altLang="en-US" sz="2400" dirty="0"/>
              <a:t> 每個</a:t>
            </a:r>
            <a:r>
              <a:rPr kumimoji="1" lang="en-US" altLang="zh-TW" sz="2400" dirty="0"/>
              <a:t> NLP </a:t>
            </a:r>
            <a:r>
              <a:rPr kumimoji="1" lang="zh-TW" altLang="en-US" sz="2400" dirty="0"/>
              <a:t>模型都有一個字典</a:t>
            </a:r>
            <a:r>
              <a:rPr kumimoji="1" lang="en-US" altLang="zh-TW" sz="2400" dirty="0"/>
              <a:t> 📙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3️⃣</a:t>
            </a:r>
            <a:r>
              <a:rPr kumimoji="1" lang="zh-TW" altLang="en-US" sz="2400" dirty="0"/>
              <a:t> 自然語言處理模型需要記憶力 </a:t>
            </a:r>
            <a:r>
              <a:rPr kumimoji="1" lang="en-US" altLang="zh-TW" sz="2400" dirty="0"/>
              <a:t>🧠</a:t>
            </a:r>
          </a:p>
          <a:p>
            <a:pPr>
              <a:lnSpc>
                <a:spcPct val="150000"/>
              </a:lnSpc>
            </a:pPr>
            <a:endParaRPr kumimoji="1" lang="en-US" altLang="zh-TW" sz="2400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A20E722-5E68-8CA6-EE9F-163F569E9534}"/>
              </a:ext>
            </a:extLst>
          </p:cNvPr>
          <p:cNvSpPr/>
          <p:nvPr/>
        </p:nvSpPr>
        <p:spPr>
          <a:xfrm>
            <a:off x="653143" y="2922800"/>
            <a:ext cx="5010810" cy="5833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459011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A55D2E-4281-4811-1ADB-16FDC234A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語言的模式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658FB6-BC98-F8B7-9976-6028D0958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134DC0FD-623A-A635-118C-6C5097127854}"/>
              </a:ext>
            </a:extLst>
          </p:cNvPr>
          <p:cNvSpPr/>
          <p:nvPr/>
        </p:nvSpPr>
        <p:spPr>
          <a:xfrm>
            <a:off x="2654421" y="2811275"/>
            <a:ext cx="8362765" cy="12458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TW" altLang="en-US" sz="2400" dirty="0"/>
              <a:t>小明昨天遇到小美，他對她說：「下次一起去看電影吧！」</a:t>
            </a:r>
            <a:endParaRPr kumimoji="1" lang="en-US" altLang="zh-TW" sz="2400" dirty="0"/>
          </a:p>
          <a:p>
            <a:r>
              <a:rPr kumimoji="1" lang="zh-TW" altLang="en-US" sz="2400" dirty="0"/>
              <a:t>，請問小明下次想去跟誰看電影？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E9BC50A-E2EB-BFE2-6B67-A22B6C1BAC59}"/>
              </a:ext>
            </a:extLst>
          </p:cNvPr>
          <p:cNvSpPr txBox="1"/>
          <p:nvPr/>
        </p:nvSpPr>
        <p:spPr>
          <a:xfrm>
            <a:off x="1233994" y="3190170"/>
            <a:ext cx="14204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/>
              <a:t>句子</a:t>
            </a:r>
            <a:r>
              <a:rPr kumimoji="1" lang="en-US" altLang="zh-TW" sz="2400" dirty="0"/>
              <a:t>1</a:t>
            </a:r>
            <a:r>
              <a:rPr kumimoji="1" lang="zh-TW" altLang="en-US" sz="2400" dirty="0"/>
              <a:t>：</a:t>
            </a: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5D30CD6A-7FBE-B62E-2807-300D41076B16}"/>
              </a:ext>
            </a:extLst>
          </p:cNvPr>
          <p:cNvSpPr/>
          <p:nvPr/>
        </p:nvSpPr>
        <p:spPr>
          <a:xfrm>
            <a:off x="2654420" y="4810198"/>
            <a:ext cx="8362765" cy="932156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TW" altLang="en-US" sz="2400" dirty="0"/>
              <a:t>「庭院深深深幾許」，請問有幾個深？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1926D478-4623-F4A8-7A23-4CD9052A5BFC}"/>
              </a:ext>
            </a:extLst>
          </p:cNvPr>
          <p:cNvSpPr txBox="1"/>
          <p:nvPr/>
        </p:nvSpPr>
        <p:spPr>
          <a:xfrm>
            <a:off x="1233994" y="5045444"/>
            <a:ext cx="14204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/>
              <a:t>句子</a:t>
            </a:r>
            <a:r>
              <a:rPr kumimoji="1" lang="en-US" altLang="zh-TW" sz="2400" dirty="0"/>
              <a:t>2</a:t>
            </a:r>
            <a:r>
              <a:rPr kumimoji="1" lang="zh-TW" altLang="en-US" sz="2400" dirty="0"/>
              <a:t>：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4F27D29-9819-CE8D-DBF8-0153798D9E6D}"/>
              </a:ext>
            </a:extLst>
          </p:cNvPr>
          <p:cNvSpPr txBox="1"/>
          <p:nvPr/>
        </p:nvSpPr>
        <p:spPr>
          <a:xfrm>
            <a:off x="653143" y="1729514"/>
            <a:ext cx="6094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TW" altLang="en-US" sz="2800" dirty="0"/>
              <a:t>⭐️ 上下文非常重要</a:t>
            </a:r>
          </a:p>
        </p:txBody>
      </p:sp>
    </p:spTree>
    <p:extLst>
      <p:ext uri="{BB962C8B-B14F-4D97-AF65-F5344CB8AC3E}">
        <p14:creationId xmlns:p14="http://schemas.microsoft.com/office/powerpoint/2010/main" val="2815349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7" grpId="0" animBg="1"/>
      <p:bldP spid="8" grpId="0"/>
      <p:bldP spid="1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0899A1BE-3193-969D-A02F-23707A2CE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7200" dirty="0"/>
              <a:t>序列模型</a:t>
            </a: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F0AF9683-5275-9108-5E85-B8E0BF3ACA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Recurrent Neural Networks (RNN)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813CA55-0D23-F48F-2D47-9DCA7E53B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79041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Recurrent Neural Networks (RNN)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23</a:t>
            </a:fld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7F5B106-0BAF-60DD-4273-71B0D8629245}"/>
              </a:ext>
            </a:extLst>
          </p:cNvPr>
          <p:cNvSpPr>
            <a:spLocks noGrp="1"/>
          </p:cNvSpPr>
          <p:nvPr/>
        </p:nvSpPr>
        <p:spPr>
          <a:xfrm>
            <a:off x="1066800" y="1615276"/>
            <a:ext cx="10058400" cy="4023360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Wingdings" panose="020F0502020204030204" pitchFamily="34" charset="0"/>
              <a:buChar char="Ø"/>
            </a:pPr>
            <a:r>
              <a:rPr lang="en-US" sz="2400" dirty="0">
                <a:solidFill>
                  <a:srgbClr val="404040"/>
                </a:solidFill>
                <a:latin typeface="Calibri" panose="020F0502020204030204" pitchFamily="34" charset="0"/>
                <a:ea typeface="+mn-lt"/>
                <a:cs typeface="+mn-lt"/>
              </a:rPr>
              <a:t>Recurrent Neural Networks (RNNs) are a type of artificial neural network designed to handle sequential data by </a:t>
            </a:r>
            <a:r>
              <a:rPr lang="en-US" sz="2400" dirty="0">
                <a:solidFill>
                  <a:schemeClr val="accent1"/>
                </a:solidFill>
                <a:latin typeface="Calibri" panose="020F0502020204030204" pitchFamily="34" charset="0"/>
                <a:ea typeface="+mn-lt"/>
                <a:cs typeface="+mn-lt"/>
              </a:rPr>
              <a:t>capturing temporal dependencies</a:t>
            </a:r>
            <a:r>
              <a:rPr lang="en-US" sz="2400" dirty="0">
                <a:solidFill>
                  <a:srgbClr val="404040"/>
                </a:solidFill>
                <a:latin typeface="Calibri" panose="020F0502020204030204" pitchFamily="34" charset="0"/>
                <a:ea typeface="+mn-lt"/>
                <a:cs typeface="+mn-lt"/>
              </a:rPr>
              <a:t>.</a:t>
            </a:r>
          </a:p>
          <a:p>
            <a:pPr marL="635000" lvl="1" indent="-342900">
              <a:buFont typeface="Courier New" panose="020F0502020204030204" pitchFamily="34" charset="0"/>
              <a:buChar char="o"/>
            </a:pPr>
            <a:r>
              <a:rPr lang="en-US" sz="2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+mn-lt"/>
                <a:cs typeface="+mn-lt"/>
              </a:rPr>
              <a:t>RNN </a:t>
            </a:r>
            <a:r>
              <a:rPr lang="zh-TW" altLang="en-US" sz="2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+mn-lt"/>
                <a:cs typeface="+mn-lt"/>
              </a:rPr>
              <a:t>的“遞迴”是指它在每一個時間步中重複使用相同的參數（同一組權重），並把先前的隱藏狀態傳到下一個時間步</a:t>
            </a:r>
            <a:endParaRPr lang="en-US" sz="2200" dirty="0">
              <a:solidFill>
                <a:schemeClr val="tx1">
                  <a:lumMod val="50000"/>
                  <a:lumOff val="50000"/>
                </a:schemeClr>
              </a:solidFill>
              <a:latin typeface="Calibri" panose="020F0502020204030204" pitchFamily="34" charset="0"/>
              <a:ea typeface="+mn-lt"/>
              <a:cs typeface="+mn-lt"/>
            </a:endParaRPr>
          </a:p>
        </p:txBody>
      </p:sp>
      <p:sp>
        <p:nvSpPr>
          <p:cNvPr id="8" name="箭號: 向右 7">
            <a:extLst>
              <a:ext uri="{FF2B5EF4-FFF2-40B4-BE49-F238E27FC236}">
                <a16:creationId xmlns:a16="http://schemas.microsoft.com/office/drawing/2014/main" id="{C4F34826-E22D-51B8-3036-543B02C0B18B}"/>
              </a:ext>
            </a:extLst>
          </p:cNvPr>
          <p:cNvSpPr/>
          <p:nvPr/>
        </p:nvSpPr>
        <p:spPr>
          <a:xfrm>
            <a:off x="3880620" y="4646841"/>
            <a:ext cx="326571" cy="32657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pic>
        <p:nvPicPr>
          <p:cNvPr id="6" name="圖片 5" descr="一張含有 圖表, 螢幕擷取畫面, 行, 設計 的圖片&#10;&#10;自動產生的描述">
            <a:extLst>
              <a:ext uri="{FF2B5EF4-FFF2-40B4-BE49-F238E27FC236}">
                <a16:creationId xmlns:a16="http://schemas.microsoft.com/office/drawing/2014/main" id="{64D6D508-1E28-1B2F-1579-DEBDD383C28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93" b="4767"/>
          <a:stretch/>
        </p:blipFill>
        <p:spPr>
          <a:xfrm>
            <a:off x="1368657" y="3296659"/>
            <a:ext cx="1966371" cy="3009684"/>
          </a:xfrm>
          <a:prstGeom prst="rect">
            <a:avLst/>
          </a:prstGeom>
        </p:spPr>
      </p:pic>
      <p:pic>
        <p:nvPicPr>
          <p:cNvPr id="10" name="圖片 9" descr="一張含有 文字, 螢幕擷取畫面, 字型, 圖表 的圖片&#10;&#10;自動產生的描述">
            <a:extLst>
              <a:ext uri="{FF2B5EF4-FFF2-40B4-BE49-F238E27FC236}">
                <a16:creationId xmlns:a16="http://schemas.microsoft.com/office/drawing/2014/main" id="{DA0F7D75-46D7-D4A7-34E0-3F7381D1DA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9151" y="3188521"/>
            <a:ext cx="6636151" cy="3382345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63C060A4-1105-64D4-7C5A-851DC170782A}"/>
              </a:ext>
            </a:extLst>
          </p:cNvPr>
          <p:cNvSpPr txBox="1"/>
          <p:nvPr/>
        </p:nvSpPr>
        <p:spPr>
          <a:xfrm>
            <a:off x="2981479" y="4591128"/>
            <a:ext cx="353549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U</a:t>
            </a:r>
            <a:endParaRPr kumimoji="1" lang="zh-TW" altLang="en-US" sz="16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29AF237-68C2-08B1-8E39-39571BE4C14F}"/>
              </a:ext>
            </a:extLst>
          </p:cNvPr>
          <p:cNvSpPr txBox="1"/>
          <p:nvPr/>
        </p:nvSpPr>
        <p:spPr>
          <a:xfrm>
            <a:off x="1716045" y="5330904"/>
            <a:ext cx="353549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W</a:t>
            </a:r>
            <a:endParaRPr kumimoji="1" lang="zh-TW" altLang="en-US" sz="16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2EA3932A-C9B4-D22D-067E-9ED8A243C486}"/>
              </a:ext>
            </a:extLst>
          </p:cNvPr>
          <p:cNvSpPr txBox="1"/>
          <p:nvPr/>
        </p:nvSpPr>
        <p:spPr>
          <a:xfrm>
            <a:off x="6366296" y="5404992"/>
            <a:ext cx="353549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W</a:t>
            </a:r>
            <a:endParaRPr kumimoji="1" lang="zh-TW" altLang="en-US" sz="16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54130EE-EDD3-A318-160A-9C8A359863FA}"/>
              </a:ext>
            </a:extLst>
          </p:cNvPr>
          <p:cNvSpPr txBox="1"/>
          <p:nvPr/>
        </p:nvSpPr>
        <p:spPr>
          <a:xfrm>
            <a:off x="8070093" y="5404992"/>
            <a:ext cx="353549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W</a:t>
            </a:r>
            <a:endParaRPr kumimoji="1" lang="zh-TW" altLang="en-US" sz="16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CA424E99-0010-411E-5EC1-AD35454ABA22}"/>
              </a:ext>
            </a:extLst>
          </p:cNvPr>
          <p:cNvSpPr txBox="1"/>
          <p:nvPr/>
        </p:nvSpPr>
        <p:spPr>
          <a:xfrm>
            <a:off x="9733339" y="5404992"/>
            <a:ext cx="353549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W</a:t>
            </a:r>
            <a:endParaRPr kumimoji="1" lang="zh-TW" altLang="en-US" sz="16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B009686C-244D-A00B-134D-4B588CB2C9D0}"/>
              </a:ext>
            </a:extLst>
          </p:cNvPr>
          <p:cNvSpPr txBox="1"/>
          <p:nvPr/>
        </p:nvSpPr>
        <p:spPr>
          <a:xfrm>
            <a:off x="5758779" y="4432125"/>
            <a:ext cx="353549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U</a:t>
            </a:r>
            <a:endParaRPr kumimoji="1" lang="zh-TW" altLang="en-US" sz="1600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22797FE8-86D9-A238-9F1C-74CFF3C428A2}"/>
              </a:ext>
            </a:extLst>
          </p:cNvPr>
          <p:cNvSpPr txBox="1"/>
          <p:nvPr/>
        </p:nvSpPr>
        <p:spPr>
          <a:xfrm>
            <a:off x="7437101" y="4440486"/>
            <a:ext cx="353549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U</a:t>
            </a:r>
            <a:endParaRPr kumimoji="1" lang="zh-TW" altLang="en-US" sz="16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D09C79E-ABED-368D-8B61-4F488796062B}"/>
              </a:ext>
            </a:extLst>
          </p:cNvPr>
          <p:cNvSpPr txBox="1"/>
          <p:nvPr/>
        </p:nvSpPr>
        <p:spPr>
          <a:xfrm>
            <a:off x="9127837" y="4440486"/>
            <a:ext cx="353549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U</a:t>
            </a:r>
            <a:endParaRPr kumimoji="1"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85176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7C849-99A3-298B-56BE-116F7AC9A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C1C72E-08E9-5217-5A48-C6EC9969A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RNN </a:t>
            </a:r>
            <a:r>
              <a:rPr lang="zh-TW" altLang="en-US" dirty="0">
                <a:latin typeface="+mj-ea"/>
                <a:cs typeface="Calibri" panose="020F0502020204030204" pitchFamily="34" charset="0"/>
              </a:rPr>
              <a:t>的記憶力意義</a:t>
            </a:r>
            <a:endParaRPr lang="zh-TW" altLang="en-US" dirty="0">
              <a:latin typeface="+mj-ea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A0D66F8-5DAE-FCEE-39E0-0C1722D25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24</a:t>
            </a:fld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E8AD376-A5C1-BCEE-A20E-1E48C4A91012}"/>
              </a:ext>
            </a:extLst>
          </p:cNvPr>
          <p:cNvSpPr/>
          <p:nvPr/>
        </p:nvSpPr>
        <p:spPr>
          <a:xfrm>
            <a:off x="2392525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庭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F3EBA4E-3A00-2125-D9AF-F8605FEAFFE6}"/>
              </a:ext>
            </a:extLst>
          </p:cNvPr>
          <p:cNvSpPr/>
          <p:nvPr/>
        </p:nvSpPr>
        <p:spPr>
          <a:xfrm>
            <a:off x="4033257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院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D0CDE6-9FB0-4205-398E-636C340A773C}"/>
              </a:ext>
            </a:extLst>
          </p:cNvPr>
          <p:cNvSpPr/>
          <p:nvPr/>
        </p:nvSpPr>
        <p:spPr>
          <a:xfrm>
            <a:off x="2188705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1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D46F4B8-76DD-B4A5-5BAC-8C9FCB3608E9}"/>
              </a:ext>
            </a:extLst>
          </p:cNvPr>
          <p:cNvSpPr/>
          <p:nvPr/>
        </p:nvSpPr>
        <p:spPr>
          <a:xfrm>
            <a:off x="3829441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2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D2FF996-4635-36A8-C173-A858231CA9F9}"/>
              </a:ext>
            </a:extLst>
          </p:cNvPr>
          <p:cNvSpPr/>
          <p:nvPr/>
        </p:nvSpPr>
        <p:spPr>
          <a:xfrm>
            <a:off x="5673993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深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F0364B9-3372-2696-B9BF-7FE6B48F8ABE}"/>
              </a:ext>
            </a:extLst>
          </p:cNvPr>
          <p:cNvSpPr/>
          <p:nvPr/>
        </p:nvSpPr>
        <p:spPr>
          <a:xfrm>
            <a:off x="5470177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3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07E1F00-22F0-2B19-3BB5-583849515D8D}"/>
              </a:ext>
            </a:extLst>
          </p:cNvPr>
          <p:cNvSpPr/>
          <p:nvPr/>
        </p:nvSpPr>
        <p:spPr>
          <a:xfrm>
            <a:off x="9047292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幾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A299266-13B9-3FC0-4780-6364DC60E4D0}"/>
              </a:ext>
            </a:extLst>
          </p:cNvPr>
          <p:cNvSpPr/>
          <p:nvPr/>
        </p:nvSpPr>
        <p:spPr>
          <a:xfrm>
            <a:off x="8843476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6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939ED7D-EB84-B212-99D9-551BE533707B}"/>
              </a:ext>
            </a:extLst>
          </p:cNvPr>
          <p:cNvSpPr/>
          <p:nvPr/>
        </p:nvSpPr>
        <p:spPr>
          <a:xfrm>
            <a:off x="10684115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許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B0583E1-A83D-31F2-B786-D989656FF794}"/>
              </a:ext>
            </a:extLst>
          </p:cNvPr>
          <p:cNvSpPr/>
          <p:nvPr/>
        </p:nvSpPr>
        <p:spPr>
          <a:xfrm>
            <a:off x="10480299" y="4108945"/>
            <a:ext cx="1091215" cy="638420"/>
          </a:xfrm>
          <a:prstGeom prst="rect">
            <a:avLst/>
          </a:prstGeom>
          <a:solidFill>
            <a:srgbClr val="FCE7D7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7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707408FA-1271-969E-0707-1DF05634E9F4}"/>
              </a:ext>
            </a:extLst>
          </p:cNvPr>
          <p:cNvCxnSpPr>
            <a:stCxn id="9" idx="3"/>
            <a:endCxn id="11" idx="1"/>
          </p:cNvCxnSpPr>
          <p:nvPr/>
        </p:nvCxnSpPr>
        <p:spPr>
          <a:xfrm>
            <a:off x="3279920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52D2F549-477F-F97E-B3F4-000FA572D702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>
            <a:off x="4920656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25079409-120F-E7F7-131B-F009222EB0B4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9934691" y="4428155"/>
            <a:ext cx="54560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35C780D0-7996-5F86-8069-EA01AF90FB20}"/>
              </a:ext>
            </a:extLst>
          </p:cNvPr>
          <p:cNvCxnSpPr>
            <a:cxnSpLocks/>
          </p:cNvCxnSpPr>
          <p:nvPr/>
        </p:nvCxnSpPr>
        <p:spPr>
          <a:xfrm>
            <a:off x="6561392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05DE6BAC-D3EF-5A24-7B88-655B2F585ABC}"/>
              </a:ext>
            </a:extLst>
          </p:cNvPr>
          <p:cNvCxnSpPr>
            <a:cxnSpLocks/>
          </p:cNvCxnSpPr>
          <p:nvPr/>
        </p:nvCxnSpPr>
        <p:spPr>
          <a:xfrm>
            <a:off x="8293955" y="4421143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2F8951A5-49BA-68FF-521E-025C42F06150}"/>
              </a:ext>
            </a:extLst>
          </p:cNvPr>
          <p:cNvSpPr txBox="1"/>
          <p:nvPr/>
        </p:nvSpPr>
        <p:spPr>
          <a:xfrm>
            <a:off x="7500792" y="4012670"/>
            <a:ext cx="6835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...</a:t>
            </a:r>
            <a:endParaRPr kumimoji="1" lang="zh-TW" altLang="en-US" sz="3200" dirty="0"/>
          </a:p>
        </p:txBody>
      </p: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A969CE53-E3D8-B939-64D9-72A82539CDFB}"/>
              </a:ext>
            </a:extLst>
          </p:cNvPr>
          <p:cNvCxnSpPr>
            <a:cxnSpLocks/>
            <a:stCxn id="5" idx="0"/>
            <a:endCxn id="9" idx="2"/>
          </p:cNvCxnSpPr>
          <p:nvPr/>
        </p:nvCxnSpPr>
        <p:spPr>
          <a:xfrm flipH="1" flipV="1">
            <a:off x="2734313" y="4747365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689C7E87-90B6-9E46-F431-A995A78D4751}"/>
              </a:ext>
            </a:extLst>
          </p:cNvPr>
          <p:cNvSpPr txBox="1"/>
          <p:nvPr/>
        </p:nvSpPr>
        <p:spPr>
          <a:xfrm>
            <a:off x="7500792" y="5141128"/>
            <a:ext cx="6835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...</a:t>
            </a:r>
            <a:endParaRPr kumimoji="1" lang="zh-TW" altLang="en-US" sz="3200" dirty="0"/>
          </a:p>
        </p:txBody>
      </p:sp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4096EDDB-A80B-2CE9-109B-79E72E6289AB}"/>
              </a:ext>
            </a:extLst>
          </p:cNvPr>
          <p:cNvCxnSpPr>
            <a:cxnSpLocks/>
            <a:stCxn id="7" idx="0"/>
            <a:endCxn id="11" idx="2"/>
          </p:cNvCxnSpPr>
          <p:nvPr/>
        </p:nvCxnSpPr>
        <p:spPr>
          <a:xfrm flipV="1">
            <a:off x="4375048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箭頭接點 39">
            <a:extLst>
              <a:ext uri="{FF2B5EF4-FFF2-40B4-BE49-F238E27FC236}">
                <a16:creationId xmlns:a16="http://schemas.microsoft.com/office/drawing/2014/main" id="{0F7B40D0-4B10-0688-0473-A5E3FA79DD54}"/>
              </a:ext>
            </a:extLst>
          </p:cNvPr>
          <p:cNvCxnSpPr>
            <a:cxnSpLocks/>
            <a:stCxn id="12" idx="0"/>
            <a:endCxn id="13" idx="2"/>
          </p:cNvCxnSpPr>
          <p:nvPr/>
        </p:nvCxnSpPr>
        <p:spPr>
          <a:xfrm flipV="1">
            <a:off x="6015784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箭頭接點 42">
            <a:extLst>
              <a:ext uri="{FF2B5EF4-FFF2-40B4-BE49-F238E27FC236}">
                <a16:creationId xmlns:a16="http://schemas.microsoft.com/office/drawing/2014/main" id="{FCC67591-7155-7503-9B19-204703774C54}"/>
              </a:ext>
            </a:extLst>
          </p:cNvPr>
          <p:cNvCxnSpPr>
            <a:cxnSpLocks/>
            <a:stCxn id="14" idx="0"/>
            <a:endCxn id="15" idx="2"/>
          </p:cNvCxnSpPr>
          <p:nvPr/>
        </p:nvCxnSpPr>
        <p:spPr>
          <a:xfrm flipV="1">
            <a:off x="9389083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箭頭接點 45">
            <a:extLst>
              <a:ext uri="{FF2B5EF4-FFF2-40B4-BE49-F238E27FC236}">
                <a16:creationId xmlns:a16="http://schemas.microsoft.com/office/drawing/2014/main" id="{D0688ECF-FE41-D1A7-AFCE-73157BA34EA3}"/>
              </a:ext>
            </a:extLst>
          </p:cNvPr>
          <p:cNvCxnSpPr>
            <a:cxnSpLocks/>
            <a:stCxn id="16" idx="0"/>
            <a:endCxn id="17" idx="2"/>
          </p:cNvCxnSpPr>
          <p:nvPr/>
        </p:nvCxnSpPr>
        <p:spPr>
          <a:xfrm flipV="1">
            <a:off x="11025906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矩形 48">
            <a:extLst>
              <a:ext uri="{FF2B5EF4-FFF2-40B4-BE49-F238E27FC236}">
                <a16:creationId xmlns:a16="http://schemas.microsoft.com/office/drawing/2014/main" id="{39A4EAF7-C8F8-F0D7-DD7B-205830FD698E}"/>
              </a:ext>
            </a:extLst>
          </p:cNvPr>
          <p:cNvSpPr/>
          <p:nvPr/>
        </p:nvSpPr>
        <p:spPr>
          <a:xfrm>
            <a:off x="547970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0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E4E944BF-886A-D3C5-57CB-3E981E9EAC43}"/>
              </a:ext>
            </a:extLst>
          </p:cNvPr>
          <p:cNvCxnSpPr>
            <a:cxnSpLocks/>
            <a:stCxn id="49" idx="3"/>
            <a:endCxn id="9" idx="1"/>
          </p:cNvCxnSpPr>
          <p:nvPr/>
        </p:nvCxnSpPr>
        <p:spPr>
          <a:xfrm>
            <a:off x="1639185" y="4428155"/>
            <a:ext cx="549520" cy="0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橢圓圖說文字 52">
            <a:extLst>
              <a:ext uri="{FF2B5EF4-FFF2-40B4-BE49-F238E27FC236}">
                <a16:creationId xmlns:a16="http://schemas.microsoft.com/office/drawing/2014/main" id="{BDBD93E0-28A2-1AB2-38AF-AFFC35864028}"/>
              </a:ext>
            </a:extLst>
          </p:cNvPr>
          <p:cNvSpPr/>
          <p:nvPr/>
        </p:nvSpPr>
        <p:spPr>
          <a:xfrm>
            <a:off x="8341650" y="2556776"/>
            <a:ext cx="3229864" cy="1096429"/>
          </a:xfrm>
          <a:prstGeom prst="wedgeEllipseCallout">
            <a:avLst>
              <a:gd name="adj1" fmla="val 28517"/>
              <a:gd name="adj2" fmla="val 79770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已經包含了「庭院深深深幾許」的資訊</a:t>
            </a:r>
          </a:p>
        </p:txBody>
      </p:sp>
      <p:sp>
        <p:nvSpPr>
          <p:cNvPr id="55" name="橢圓圖說文字 54">
            <a:extLst>
              <a:ext uri="{FF2B5EF4-FFF2-40B4-BE49-F238E27FC236}">
                <a16:creationId xmlns:a16="http://schemas.microsoft.com/office/drawing/2014/main" id="{F329370E-F317-6D2F-F92C-17AF8813E0F8}"/>
              </a:ext>
            </a:extLst>
          </p:cNvPr>
          <p:cNvSpPr/>
          <p:nvPr/>
        </p:nvSpPr>
        <p:spPr>
          <a:xfrm>
            <a:off x="979121" y="2556776"/>
            <a:ext cx="2419168" cy="1096429"/>
          </a:xfrm>
          <a:prstGeom prst="wedgeEllipseCallout">
            <a:avLst>
              <a:gd name="adj1" fmla="val 23746"/>
              <a:gd name="adj2" fmla="val 8138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得知第一個字為「庭」</a:t>
            </a:r>
          </a:p>
        </p:txBody>
      </p:sp>
      <p:sp>
        <p:nvSpPr>
          <p:cNvPr id="57" name="橢圓圖說文字 56">
            <a:extLst>
              <a:ext uri="{FF2B5EF4-FFF2-40B4-BE49-F238E27FC236}">
                <a16:creationId xmlns:a16="http://schemas.microsoft.com/office/drawing/2014/main" id="{D0EF801E-7A48-BF0D-EC47-D60F0F11D8D6}"/>
              </a:ext>
            </a:extLst>
          </p:cNvPr>
          <p:cNvSpPr/>
          <p:nvPr/>
        </p:nvSpPr>
        <p:spPr>
          <a:xfrm>
            <a:off x="3606288" y="2556776"/>
            <a:ext cx="3229864" cy="1096429"/>
          </a:xfrm>
          <a:prstGeom prst="wedgeEllipseCallout">
            <a:avLst>
              <a:gd name="adj1" fmla="val 24394"/>
              <a:gd name="adj2" fmla="val 8138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已經包含了「庭院深」的資訊</a:t>
            </a:r>
          </a:p>
        </p:txBody>
      </p:sp>
    </p:spTree>
    <p:extLst>
      <p:ext uri="{BB962C8B-B14F-4D97-AF65-F5344CB8AC3E}">
        <p14:creationId xmlns:p14="http://schemas.microsoft.com/office/powerpoint/2010/main" val="1964500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3" grpId="0" animBg="1"/>
      <p:bldP spid="15" grpId="0" animBg="1"/>
      <p:bldP spid="17" grpId="0" animBg="1"/>
      <p:bldP spid="30" grpId="0"/>
      <p:bldP spid="49" grpId="0" animBg="1"/>
      <p:bldP spid="53" grpId="0" animBg="1"/>
      <p:bldP spid="55" grpId="0" animBg="1"/>
      <p:bldP spid="5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74830-02B0-D441-DF01-36FE73EAD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D67116-FFDF-4C13-EA8B-FE7946628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altLang="zh-TW" dirty="0"/>
              <a:t>RNN </a:t>
            </a:r>
            <a:r>
              <a:rPr lang="zh-TW" altLang="en-US" dirty="0"/>
              <a:t>以文字接龍進行訓練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4FEABBC-D622-4768-8577-87E43BDFF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25</a:t>
            </a:fld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396AE06-EA04-261A-87C2-76C24C5AAB93}"/>
              </a:ext>
            </a:extLst>
          </p:cNvPr>
          <p:cNvSpPr/>
          <p:nvPr/>
        </p:nvSpPr>
        <p:spPr>
          <a:xfrm>
            <a:off x="2392525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庭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8278C6B-7AAF-76BF-B026-4CDFF669BA8C}"/>
              </a:ext>
            </a:extLst>
          </p:cNvPr>
          <p:cNvSpPr/>
          <p:nvPr/>
        </p:nvSpPr>
        <p:spPr>
          <a:xfrm>
            <a:off x="4033257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院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4478747-7875-FC06-7D25-699C1A658968}"/>
              </a:ext>
            </a:extLst>
          </p:cNvPr>
          <p:cNvSpPr/>
          <p:nvPr/>
        </p:nvSpPr>
        <p:spPr>
          <a:xfrm>
            <a:off x="2188705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1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CA1BEC5-06C9-EB91-1858-29E1515F5D3A}"/>
              </a:ext>
            </a:extLst>
          </p:cNvPr>
          <p:cNvSpPr/>
          <p:nvPr/>
        </p:nvSpPr>
        <p:spPr>
          <a:xfrm>
            <a:off x="3829441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2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BB4C7BF-D3B6-C3FB-0E2D-01D6320B0235}"/>
              </a:ext>
            </a:extLst>
          </p:cNvPr>
          <p:cNvSpPr/>
          <p:nvPr/>
        </p:nvSpPr>
        <p:spPr>
          <a:xfrm>
            <a:off x="5673993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深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0966CB2-B92F-1F9A-EC59-29B86FFADA4C}"/>
              </a:ext>
            </a:extLst>
          </p:cNvPr>
          <p:cNvSpPr/>
          <p:nvPr/>
        </p:nvSpPr>
        <p:spPr>
          <a:xfrm>
            <a:off x="5470177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3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789CDDE-F0EB-80C2-CAEE-DDC81D929C16}"/>
              </a:ext>
            </a:extLst>
          </p:cNvPr>
          <p:cNvSpPr/>
          <p:nvPr/>
        </p:nvSpPr>
        <p:spPr>
          <a:xfrm>
            <a:off x="9047292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幾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CDC9818-9903-48DD-04F4-E4FBE671D76F}"/>
              </a:ext>
            </a:extLst>
          </p:cNvPr>
          <p:cNvSpPr/>
          <p:nvPr/>
        </p:nvSpPr>
        <p:spPr>
          <a:xfrm>
            <a:off x="8843476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6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2D26A63-DA0E-CD19-FCA6-8A6B6BBEE129}"/>
              </a:ext>
            </a:extLst>
          </p:cNvPr>
          <p:cNvSpPr/>
          <p:nvPr/>
        </p:nvSpPr>
        <p:spPr>
          <a:xfrm>
            <a:off x="10684115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許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E33629C-6344-299A-3518-0209769F6A2C}"/>
              </a:ext>
            </a:extLst>
          </p:cNvPr>
          <p:cNvSpPr/>
          <p:nvPr/>
        </p:nvSpPr>
        <p:spPr>
          <a:xfrm>
            <a:off x="10480299" y="4108945"/>
            <a:ext cx="1091215" cy="638420"/>
          </a:xfrm>
          <a:prstGeom prst="rect">
            <a:avLst/>
          </a:prstGeom>
          <a:solidFill>
            <a:srgbClr val="FCE7D7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7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EB84D9AC-4269-4831-FD2A-80A8C526EBEE}"/>
              </a:ext>
            </a:extLst>
          </p:cNvPr>
          <p:cNvCxnSpPr>
            <a:stCxn id="9" idx="3"/>
            <a:endCxn id="11" idx="1"/>
          </p:cNvCxnSpPr>
          <p:nvPr/>
        </p:nvCxnSpPr>
        <p:spPr>
          <a:xfrm>
            <a:off x="3279920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324F915C-CFA9-A41C-06BA-6C804541C547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>
            <a:off x="4920656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09D3F7C2-BAA3-73F8-A525-F63722A547DF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9934691" y="4428155"/>
            <a:ext cx="54560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DE03C36A-E3A5-5409-09D8-780186572612}"/>
              </a:ext>
            </a:extLst>
          </p:cNvPr>
          <p:cNvCxnSpPr>
            <a:cxnSpLocks/>
          </p:cNvCxnSpPr>
          <p:nvPr/>
        </p:nvCxnSpPr>
        <p:spPr>
          <a:xfrm>
            <a:off x="6561392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91D9CCFF-2305-E50F-7E2E-7D1DFC8B06F1}"/>
              </a:ext>
            </a:extLst>
          </p:cNvPr>
          <p:cNvCxnSpPr>
            <a:cxnSpLocks/>
          </p:cNvCxnSpPr>
          <p:nvPr/>
        </p:nvCxnSpPr>
        <p:spPr>
          <a:xfrm>
            <a:off x="8293955" y="4421143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27D486D5-9D87-67C8-3EAB-6A0404A6C124}"/>
              </a:ext>
            </a:extLst>
          </p:cNvPr>
          <p:cNvSpPr txBox="1"/>
          <p:nvPr/>
        </p:nvSpPr>
        <p:spPr>
          <a:xfrm>
            <a:off x="7500792" y="4012670"/>
            <a:ext cx="6835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...</a:t>
            </a:r>
            <a:endParaRPr kumimoji="1" lang="zh-TW" altLang="en-US" sz="3200" dirty="0"/>
          </a:p>
        </p:txBody>
      </p: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2868D469-3DED-3DD8-B833-F8886692E9A4}"/>
              </a:ext>
            </a:extLst>
          </p:cNvPr>
          <p:cNvCxnSpPr>
            <a:cxnSpLocks/>
            <a:stCxn id="5" idx="0"/>
            <a:endCxn id="9" idx="2"/>
          </p:cNvCxnSpPr>
          <p:nvPr/>
        </p:nvCxnSpPr>
        <p:spPr>
          <a:xfrm flipH="1" flipV="1">
            <a:off x="2734313" y="4747365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FFC9A063-E7BA-EC96-FA3A-DBFBBF29DA62}"/>
              </a:ext>
            </a:extLst>
          </p:cNvPr>
          <p:cNvSpPr txBox="1"/>
          <p:nvPr/>
        </p:nvSpPr>
        <p:spPr>
          <a:xfrm>
            <a:off x="7500792" y="5141128"/>
            <a:ext cx="6835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...</a:t>
            </a:r>
            <a:endParaRPr kumimoji="1" lang="zh-TW" altLang="en-US" sz="3200" dirty="0"/>
          </a:p>
        </p:txBody>
      </p:sp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1EFE4834-27DF-100E-4F0F-FDC13D974EF8}"/>
              </a:ext>
            </a:extLst>
          </p:cNvPr>
          <p:cNvCxnSpPr>
            <a:cxnSpLocks/>
            <a:stCxn id="7" idx="0"/>
            <a:endCxn id="11" idx="2"/>
          </p:cNvCxnSpPr>
          <p:nvPr/>
        </p:nvCxnSpPr>
        <p:spPr>
          <a:xfrm flipV="1">
            <a:off x="4375048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箭頭接點 39">
            <a:extLst>
              <a:ext uri="{FF2B5EF4-FFF2-40B4-BE49-F238E27FC236}">
                <a16:creationId xmlns:a16="http://schemas.microsoft.com/office/drawing/2014/main" id="{9E5E0EA2-BE29-22B7-C04A-6AD5CE5CEBE4}"/>
              </a:ext>
            </a:extLst>
          </p:cNvPr>
          <p:cNvCxnSpPr>
            <a:cxnSpLocks/>
            <a:stCxn id="12" idx="0"/>
            <a:endCxn id="13" idx="2"/>
          </p:cNvCxnSpPr>
          <p:nvPr/>
        </p:nvCxnSpPr>
        <p:spPr>
          <a:xfrm flipV="1">
            <a:off x="6015784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箭頭接點 42">
            <a:extLst>
              <a:ext uri="{FF2B5EF4-FFF2-40B4-BE49-F238E27FC236}">
                <a16:creationId xmlns:a16="http://schemas.microsoft.com/office/drawing/2014/main" id="{B3E3A1C7-818E-AA7B-496B-37D387769AD6}"/>
              </a:ext>
            </a:extLst>
          </p:cNvPr>
          <p:cNvCxnSpPr>
            <a:cxnSpLocks/>
            <a:stCxn id="14" idx="0"/>
            <a:endCxn id="15" idx="2"/>
          </p:cNvCxnSpPr>
          <p:nvPr/>
        </p:nvCxnSpPr>
        <p:spPr>
          <a:xfrm flipV="1">
            <a:off x="9389083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箭頭接點 45">
            <a:extLst>
              <a:ext uri="{FF2B5EF4-FFF2-40B4-BE49-F238E27FC236}">
                <a16:creationId xmlns:a16="http://schemas.microsoft.com/office/drawing/2014/main" id="{C0094F9F-414A-DEE6-4C26-D8BD5CEB68D2}"/>
              </a:ext>
            </a:extLst>
          </p:cNvPr>
          <p:cNvCxnSpPr>
            <a:cxnSpLocks/>
            <a:stCxn id="16" idx="0"/>
            <a:endCxn id="17" idx="2"/>
          </p:cNvCxnSpPr>
          <p:nvPr/>
        </p:nvCxnSpPr>
        <p:spPr>
          <a:xfrm flipV="1">
            <a:off x="11025906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矩形 48">
            <a:extLst>
              <a:ext uri="{FF2B5EF4-FFF2-40B4-BE49-F238E27FC236}">
                <a16:creationId xmlns:a16="http://schemas.microsoft.com/office/drawing/2014/main" id="{85369AB0-9363-2423-A35A-D025A5F229D3}"/>
              </a:ext>
            </a:extLst>
          </p:cNvPr>
          <p:cNvSpPr/>
          <p:nvPr/>
        </p:nvSpPr>
        <p:spPr>
          <a:xfrm>
            <a:off x="547970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>
                <a:solidFill>
                  <a:schemeClr val="tx1"/>
                </a:solidFill>
              </a:rPr>
              <a:t>0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EB60400A-D3AD-EC6D-F10A-52F498F98E88}"/>
              </a:ext>
            </a:extLst>
          </p:cNvPr>
          <p:cNvCxnSpPr>
            <a:cxnSpLocks/>
            <a:stCxn id="49" idx="3"/>
            <a:endCxn id="9" idx="1"/>
          </p:cNvCxnSpPr>
          <p:nvPr/>
        </p:nvCxnSpPr>
        <p:spPr>
          <a:xfrm>
            <a:off x="1639185" y="4428155"/>
            <a:ext cx="549520" cy="0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>
            <a:extLst>
              <a:ext uri="{FF2B5EF4-FFF2-40B4-BE49-F238E27FC236}">
                <a16:creationId xmlns:a16="http://schemas.microsoft.com/office/drawing/2014/main" id="{34413CB1-8C45-3B74-5BE7-1D82B91CB4F0}"/>
              </a:ext>
            </a:extLst>
          </p:cNvPr>
          <p:cNvSpPr/>
          <p:nvPr/>
        </p:nvSpPr>
        <p:spPr>
          <a:xfrm>
            <a:off x="2392525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院</a:t>
            </a:r>
          </a:p>
        </p:txBody>
      </p:sp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19121FB9-49A4-B010-DA2D-A80AFBB4D9B0}"/>
              </a:ext>
            </a:extLst>
          </p:cNvPr>
          <p:cNvCxnSpPr>
            <a:cxnSpLocks/>
          </p:cNvCxnSpPr>
          <p:nvPr/>
        </p:nvCxnSpPr>
        <p:spPr>
          <a:xfrm flipH="1" flipV="1">
            <a:off x="2734308" y="3549650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F2679BE5-BEFE-3444-CE2F-64AB85686FE7}"/>
              </a:ext>
            </a:extLst>
          </p:cNvPr>
          <p:cNvSpPr/>
          <p:nvPr/>
        </p:nvSpPr>
        <p:spPr>
          <a:xfrm>
            <a:off x="4033257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深</a:t>
            </a:r>
          </a:p>
        </p:txBody>
      </p: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0CD4DE0E-AAC2-7BFD-6FE2-7D6F305BF324}"/>
              </a:ext>
            </a:extLst>
          </p:cNvPr>
          <p:cNvCxnSpPr>
            <a:cxnSpLocks/>
          </p:cNvCxnSpPr>
          <p:nvPr/>
        </p:nvCxnSpPr>
        <p:spPr>
          <a:xfrm flipH="1" flipV="1">
            <a:off x="4375043" y="3549649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矩形 20">
            <a:extLst>
              <a:ext uri="{FF2B5EF4-FFF2-40B4-BE49-F238E27FC236}">
                <a16:creationId xmlns:a16="http://schemas.microsoft.com/office/drawing/2014/main" id="{02671F71-5811-F461-7B78-84C9E89B77BE}"/>
              </a:ext>
            </a:extLst>
          </p:cNvPr>
          <p:cNvSpPr/>
          <p:nvPr/>
        </p:nvSpPr>
        <p:spPr>
          <a:xfrm>
            <a:off x="5673989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深</a:t>
            </a:r>
          </a:p>
        </p:txBody>
      </p: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D3D98FCC-74A1-32DB-163E-19412ADA66B1}"/>
              </a:ext>
            </a:extLst>
          </p:cNvPr>
          <p:cNvCxnSpPr>
            <a:cxnSpLocks/>
          </p:cNvCxnSpPr>
          <p:nvPr/>
        </p:nvCxnSpPr>
        <p:spPr>
          <a:xfrm flipH="1" flipV="1">
            <a:off x="6015775" y="3549649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 22">
            <a:extLst>
              <a:ext uri="{FF2B5EF4-FFF2-40B4-BE49-F238E27FC236}">
                <a16:creationId xmlns:a16="http://schemas.microsoft.com/office/drawing/2014/main" id="{CEBD15AE-9150-91E4-D126-FAD9B4F8B6C7}"/>
              </a:ext>
            </a:extLst>
          </p:cNvPr>
          <p:cNvSpPr/>
          <p:nvPr/>
        </p:nvSpPr>
        <p:spPr>
          <a:xfrm>
            <a:off x="9047297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許</a:t>
            </a:r>
          </a:p>
        </p:txBody>
      </p: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51E07C56-66E3-364A-7763-8D646BF38D38}"/>
              </a:ext>
            </a:extLst>
          </p:cNvPr>
          <p:cNvCxnSpPr>
            <a:cxnSpLocks/>
          </p:cNvCxnSpPr>
          <p:nvPr/>
        </p:nvCxnSpPr>
        <p:spPr>
          <a:xfrm flipH="1" flipV="1">
            <a:off x="9389083" y="3549649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>
            <a:extLst>
              <a:ext uri="{FF2B5EF4-FFF2-40B4-BE49-F238E27FC236}">
                <a16:creationId xmlns:a16="http://schemas.microsoft.com/office/drawing/2014/main" id="{F1BD0630-E4CF-6816-61C1-42BEF753D1F1}"/>
              </a:ext>
            </a:extLst>
          </p:cNvPr>
          <p:cNvSpPr/>
          <p:nvPr/>
        </p:nvSpPr>
        <p:spPr>
          <a:xfrm>
            <a:off x="10684115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EOS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AF13A0E8-AACB-B6D2-C676-B5F72045868E}"/>
              </a:ext>
            </a:extLst>
          </p:cNvPr>
          <p:cNvCxnSpPr>
            <a:cxnSpLocks/>
          </p:cNvCxnSpPr>
          <p:nvPr/>
        </p:nvCxnSpPr>
        <p:spPr>
          <a:xfrm flipH="1" flipV="1">
            <a:off x="11025901" y="3549649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49330BCC-3DD7-6264-1B3D-3FDC09D9325A}"/>
              </a:ext>
            </a:extLst>
          </p:cNvPr>
          <p:cNvSpPr txBox="1"/>
          <p:nvPr/>
        </p:nvSpPr>
        <p:spPr>
          <a:xfrm>
            <a:off x="8930936" y="1396019"/>
            <a:ext cx="26405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EOS: End of Sentence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384DF25F-95DA-7187-D85E-65B9F62D052D}"/>
                  </a:ext>
                </a:extLst>
              </p:cNvPr>
              <p:cNvSpPr txBox="1"/>
              <p:nvPr/>
            </p:nvSpPr>
            <p:spPr>
              <a:xfrm>
                <a:off x="2098016" y="2560338"/>
                <a:ext cx="12725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zh-TW" altLang="en-US" i="1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i="0" dirty="0"/>
                        <m:t>庭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384DF25F-95DA-7187-D85E-65B9F62D05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8016" y="2560338"/>
                <a:ext cx="1272584" cy="369332"/>
              </a:xfrm>
              <a:prstGeom prst="rect">
                <a:avLst/>
              </a:prstGeom>
              <a:blipFill>
                <a:blip r:embed="rId3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5CFB7F7D-1C6C-5331-9C3E-7E48E6341E38}"/>
                  </a:ext>
                </a:extLst>
              </p:cNvPr>
              <p:cNvSpPr txBox="1"/>
              <p:nvPr/>
            </p:nvSpPr>
            <p:spPr>
              <a:xfrm>
                <a:off x="3670916" y="2560338"/>
                <a:ext cx="14728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zh-TW" altLang="en-US" i="1" smtClean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i="0" dirty="0"/>
                        <m:t>庭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5CFB7F7D-1C6C-5331-9C3E-7E48E6341E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0916" y="2560338"/>
                <a:ext cx="1472880" cy="369332"/>
              </a:xfrm>
              <a:prstGeom prst="rect">
                <a:avLst/>
              </a:prstGeom>
              <a:blipFill>
                <a:blip r:embed="rId4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62F2CAF3-7E60-2B72-EE9D-1EE38C15A64F}"/>
                  </a:ext>
                </a:extLst>
              </p:cNvPr>
              <p:cNvSpPr txBox="1"/>
              <p:nvPr/>
            </p:nvSpPr>
            <p:spPr>
              <a:xfrm>
                <a:off x="5152673" y="2560338"/>
                <a:ext cx="178965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zh-TW" altLang="en-US" i="1" smtClean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i="0" dirty="0"/>
                        <m:t>庭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62F2CAF3-7E60-2B72-EE9D-1EE38C15A6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673" y="2560338"/>
                <a:ext cx="1789657" cy="369332"/>
              </a:xfrm>
              <a:prstGeom prst="rect">
                <a:avLst/>
              </a:prstGeom>
              <a:blipFill>
                <a:blip r:embed="rId5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49B932DD-AC62-0EC3-0449-D3A5E17A4EA9}"/>
                  </a:ext>
                </a:extLst>
              </p:cNvPr>
              <p:cNvSpPr txBox="1"/>
              <p:nvPr/>
            </p:nvSpPr>
            <p:spPr>
              <a:xfrm>
                <a:off x="7690663" y="2560549"/>
                <a:ext cx="299345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zh-TW" altLang="en-US" i="1">
                          <a:latin typeface="Cambria Math" panose="02040503050406030204" pitchFamily="18" charset="0"/>
                        </a:rPr>
                        <m:t>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i="0" dirty="0"/>
                        <m:t>庭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幾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49B932DD-AC62-0EC3-0449-D3A5E17A4E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0663" y="2560549"/>
                <a:ext cx="2993452" cy="369332"/>
              </a:xfrm>
              <a:prstGeom prst="rect">
                <a:avLst/>
              </a:prstGeom>
              <a:blipFill>
                <a:blip r:embed="rId6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2C086C0B-884F-7D2D-0A1C-841E27AB509A}"/>
                  </a:ext>
                </a:extLst>
              </p:cNvPr>
              <p:cNvSpPr txBox="1"/>
              <p:nvPr/>
            </p:nvSpPr>
            <p:spPr>
              <a:xfrm>
                <a:off x="8495930" y="1985551"/>
                <a:ext cx="329640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kumimoji="1" lang="en-US" altLang="zh-TW" b="0" i="0" smtClean="0">
                          <a:latin typeface="Cambria Math" panose="02040503050406030204" pitchFamily="18" charset="0"/>
                        </a:rPr>
                        <m:t>EOS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i="0" dirty="0"/>
                        <m:t>庭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幾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2C086C0B-884F-7D2D-0A1C-841E27AB50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5930" y="1985551"/>
                <a:ext cx="3296409" cy="369332"/>
              </a:xfrm>
              <a:prstGeom prst="rect">
                <a:avLst/>
              </a:prstGeom>
              <a:blipFill>
                <a:blip r:embed="rId7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B2B4D7B-698D-DC75-98B4-531802CD8DB0}"/>
                  </a:ext>
                </a:extLst>
              </p:cNvPr>
              <p:cNvSpPr txBox="1"/>
              <p:nvPr/>
            </p:nvSpPr>
            <p:spPr>
              <a:xfrm>
                <a:off x="1630307" y="6285198"/>
                <a:ext cx="938671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/>
                  <a:t>目標函數：</a:t>
                </a:r>
                <a:r>
                  <a:rPr kumimoji="1" lang="en-US" altLang="zh-TW" dirty="0"/>
                  <a:t>        </a:t>
                </a:r>
                <a14:m>
                  <m:oMath xmlns:m="http://schemas.openxmlformats.org/officeDocument/2006/math"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zh-TW" altLang="en-US" i="1">
                        <a:latin typeface="Cambria Math" panose="02040503050406030204" pitchFamily="18" charset="0"/>
                      </a:rPr>
                      <m:t>院</m:t>
                    </m:r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zh-TW" altLang="en-US" i="0" dirty="0"/>
                      <m:t>庭</m:t>
                    </m:r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𝑃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zh-TW" altLang="en-US" i="1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zh-TW" altLang="en-US" i="0" dirty="0"/>
                      <m:t>庭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院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𝑃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zh-TW" altLang="en-US" i="1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zh-TW" altLang="en-US" i="0" dirty="0"/>
                      <m:t>庭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院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altLang="zh-TW" dirty="0"/>
                  <a:t>...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𝑃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kumimoji="1" lang="en-US" altLang="zh-TW">
                        <a:latin typeface="Cambria Math" panose="02040503050406030204" pitchFamily="18" charset="0"/>
                      </a:rPr>
                      <m:t>EOS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zh-TW" altLang="en-US" i="0" dirty="0"/>
                      <m:t>庭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院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幾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許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B2B4D7B-698D-DC75-98B4-531802CD8D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0307" y="6285198"/>
                <a:ext cx="9386716" cy="369332"/>
              </a:xfrm>
              <a:prstGeom prst="rect">
                <a:avLst/>
              </a:prstGeom>
              <a:blipFill>
                <a:blip r:embed="rId8"/>
                <a:stretch>
                  <a:fillRect l="-541" t="-9677" b="-193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文字方塊 44">
            <a:extLst>
              <a:ext uri="{FF2B5EF4-FFF2-40B4-BE49-F238E27FC236}">
                <a16:creationId xmlns:a16="http://schemas.microsoft.com/office/drawing/2014/main" id="{BA0110AC-0D07-A8AC-F1DA-E32B9D5F394D}"/>
              </a:ext>
            </a:extLst>
          </p:cNvPr>
          <p:cNvSpPr txBox="1"/>
          <p:nvPr/>
        </p:nvSpPr>
        <p:spPr>
          <a:xfrm>
            <a:off x="2806063" y="6258992"/>
            <a:ext cx="10145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rgbClr val="FF0000"/>
                </a:solidFill>
              </a:rPr>
              <a:t>log(</a:t>
            </a:r>
            <a:endParaRPr kumimoji="1" lang="zh-TW" altLang="en-US" sz="2000" dirty="0">
              <a:solidFill>
                <a:srgbClr val="FF0000"/>
              </a:solidFill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ED1A8C09-AA94-595C-7CA2-4C728282A6A3}"/>
              </a:ext>
            </a:extLst>
          </p:cNvPr>
          <p:cNvSpPr txBox="1"/>
          <p:nvPr/>
        </p:nvSpPr>
        <p:spPr>
          <a:xfrm>
            <a:off x="10661920" y="6258992"/>
            <a:ext cx="10145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rgbClr val="FF0000"/>
                </a:solidFill>
              </a:rPr>
              <a:t>)</a:t>
            </a:r>
            <a:endParaRPr kumimoji="1" lang="zh-TW" altLang="en-US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2195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0" grpId="0" animBg="1"/>
      <p:bldP spid="21" grpId="0" animBg="1"/>
      <p:bldP spid="23" grpId="0" animBg="1"/>
      <p:bldP spid="26" grpId="0" animBg="1"/>
      <p:bldP spid="33" grpId="0"/>
      <p:bldP spid="38" grpId="0"/>
      <p:bldP spid="39" grpId="0"/>
      <p:bldP spid="41" grpId="0"/>
      <p:bldP spid="42" grpId="0"/>
      <p:bldP spid="44" grpId="0"/>
      <p:bldP spid="45" grpId="0"/>
      <p:bldP spid="47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>
                <a:ea typeface="新細明體"/>
                <a:cs typeface="Calibri" panose="020F0502020204030204" pitchFamily="34" charset="0"/>
              </a:rPr>
              <a:t>RNN</a:t>
            </a:r>
            <a:r>
              <a:rPr lang="zh-TW" altLang="en-US" dirty="0">
                <a:ea typeface="新細明體"/>
                <a:cs typeface="Calibri" panose="020F0502020204030204" pitchFamily="34" charset="0"/>
              </a:rPr>
              <a:t> </a:t>
            </a:r>
            <a:r>
              <a:rPr lang="en-US" altLang="zh-TW" dirty="0">
                <a:ea typeface="新細明體"/>
                <a:cs typeface="Calibri" panose="020F0502020204030204" pitchFamily="34" charset="0"/>
              </a:rPr>
              <a:t>(</a:t>
            </a:r>
            <a:r>
              <a:rPr lang="zh-TW" altLang="en-US" dirty="0">
                <a:latin typeface="+mn-ea"/>
                <a:ea typeface="+mn-ea"/>
                <a:cs typeface="Calibri" panose="020F0502020204030204" pitchFamily="34" charset="0"/>
              </a:rPr>
              <a:t>本頁省略</a:t>
            </a:r>
            <a:r>
              <a:rPr lang="en-US" altLang="zh-TW" dirty="0">
                <a:latin typeface="+mn-ea"/>
                <a:ea typeface="+mn-ea"/>
                <a:cs typeface="Calibri" panose="020F0502020204030204" pitchFamily="34" charset="0"/>
              </a:rPr>
              <a:t> </a:t>
            </a:r>
            <a:r>
              <a:rPr lang="en-US" altLang="zh-TW" dirty="0">
                <a:ea typeface="新細明體"/>
                <a:cs typeface="Calibri" panose="020F0502020204030204" pitchFamily="34" charset="0"/>
              </a:rPr>
              <a:t>bias)</a:t>
            </a:r>
            <a:endParaRPr lang="en-US" dirty="0">
              <a:solidFill>
                <a:srgbClr val="000000"/>
              </a:solidFill>
              <a:ea typeface="新細明體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26</a:t>
            </a:fld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內容版面配置區 2">
                <a:extLst>
                  <a:ext uri="{FF2B5EF4-FFF2-40B4-BE49-F238E27FC236}">
                    <a16:creationId xmlns:a16="http://schemas.microsoft.com/office/drawing/2014/main" id="{07F5B106-0BAF-60DD-4273-71B0D862924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066800" y="1877409"/>
                <a:ext cx="10058400" cy="4023360"/>
              </a:xfrm>
              <a:prstGeom prst="rect">
                <a:avLst/>
              </a:prstGeom>
            </p:spPr>
            <p:txBody>
              <a:bodyPr vert="horz" lIns="0" tIns="45720" rIns="0" bIns="45720" rtlCol="0" anchor="t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Calibri" panose="020F0502020204030204" pitchFamily="34" charset="0"/>
                  <a:buChar char=" "/>
                  <a:defRPr sz="20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38404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56692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74980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3268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42900" indent="-342900">
                  <a:buFont typeface="Wingdings" panose="020F0502020204030204" pitchFamily="34" charset="0"/>
                  <a:buChar char="Ø"/>
                </a:pPr>
                <a:r>
                  <a:rPr lang="en-US" sz="2400" dirty="0">
                    <a:solidFill>
                      <a:srgbClr val="404040"/>
                    </a:solidFill>
                    <a:latin typeface="Calibri" panose="020F0502020204030204" pitchFamily="34" charset="0"/>
                    <a:ea typeface="+mn-lt"/>
                    <a:cs typeface="+mn-lt"/>
                  </a:rPr>
                  <a:t>The equation on step t is:</a:t>
                </a:r>
                <a:endParaRPr lang="zh-TW" altLang="en-US" sz="1600" dirty="0">
                  <a:solidFill>
                    <a:srgbClr val="404040"/>
                  </a:solidFill>
                  <a:latin typeface="Calibri" panose="020F0502020204030204"/>
                  <a:ea typeface="新細明體" panose="02020500000000000000" pitchFamily="18" charset="-120"/>
                  <a:cs typeface="+mn-lt"/>
                </a:endParaRPr>
              </a:p>
              <a:p>
                <a:pPr marL="342900" indent="-342900">
                  <a:buFont typeface="Wingdings" panose="020F0502020204030204" pitchFamily="34" charset="0"/>
                  <a:buChar char="Ø"/>
                </a:pPr>
                <a:endParaRPr lang="en-US" sz="2400" dirty="0">
                  <a:latin typeface="Calibri" panose="020F0502020204030204" pitchFamily="34" charset="0"/>
                  <a:ea typeface="Calibri"/>
                  <a:cs typeface="Calibri"/>
                </a:endParaRPr>
              </a:p>
              <a:p>
                <a:pPr marL="342900" indent="-342900">
                  <a:buFont typeface="Wingdings" panose="020F0502020204030204" pitchFamily="34" charset="0"/>
                  <a:buChar char="Ø"/>
                </a:pPr>
                <a:endParaRPr lang="en-US" sz="2400" dirty="0">
                  <a:latin typeface="Calibri" panose="020F0502020204030204" pitchFamily="34" charset="0"/>
                  <a:ea typeface="Calibri"/>
                  <a:cs typeface="Calibri"/>
                </a:endParaRPr>
              </a:p>
              <a:p>
                <a:pPr marL="0" indent="0">
                  <a:buNone/>
                </a:pPr>
                <a:endParaRPr lang="en-US" sz="2400" dirty="0">
                  <a:latin typeface="Calibri" panose="020F0502020204030204" pitchFamily="34" charset="0"/>
                  <a:ea typeface="Calibri"/>
                  <a:cs typeface="Calibri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Calibri" panose="020F0502020204030204" pitchFamily="34" charset="0"/>
                    <a:ea typeface="Calibri"/>
                    <a:cs typeface="Calibri"/>
                  </a:rPr>
                  <a:t>, 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400" b="0" i="0" smtClean="0">
                        <a:latin typeface="Cambria Math" panose="02040503050406030204" pitchFamily="18" charset="0"/>
                      </a:rPr>
                      <m:t>tanh</m:t>
                    </m:r>
                  </m:oMath>
                </a14:m>
                <a:r>
                  <a:rPr lang="en-US" sz="2400" dirty="0">
                    <a:latin typeface="Calibri" panose="020F0502020204030204" pitchFamily="34" charset="0"/>
                    <a:ea typeface="Calibri"/>
                    <a:cs typeface="Calibri"/>
                  </a:rPr>
                  <a:t> is an activation function.</a:t>
                </a:r>
                <a:endParaRPr lang="en-US" dirty="0"/>
              </a:p>
              <a:p>
                <a:pPr marL="342900" indent="-342900">
                  <a:buFont typeface="Wingdings" panose="020F0502020204030204" pitchFamily="34" charset="0"/>
                  <a:buChar char="Ø"/>
                </a:pPr>
                <a:endParaRPr lang="en-US" sz="2400" dirty="0">
                  <a:latin typeface="Calibri" panose="020F0502020204030204" pitchFamily="34" charset="0"/>
                  <a:ea typeface="Calibri"/>
                  <a:cs typeface="Calibri"/>
                </a:endParaRPr>
              </a:p>
            </p:txBody>
          </p:sp>
        </mc:Choice>
        <mc:Fallback xmlns="">
          <p:sp>
            <p:nvSpPr>
              <p:cNvPr id="5" name="內容版面配置區 2">
                <a:extLst>
                  <a:ext uri="{FF2B5EF4-FFF2-40B4-BE49-F238E27FC236}">
                    <a16:creationId xmlns:a16="http://schemas.microsoft.com/office/drawing/2014/main" id="{07F5B106-0BAF-60DD-4273-71B0D86292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800" y="1877409"/>
                <a:ext cx="10058400" cy="4023360"/>
              </a:xfrm>
              <a:prstGeom prst="rect">
                <a:avLst/>
              </a:prstGeom>
              <a:blipFill>
                <a:blip r:embed="rId3"/>
                <a:stretch>
                  <a:fillRect l="-1892" t="-157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群組 11">
            <a:extLst>
              <a:ext uri="{FF2B5EF4-FFF2-40B4-BE49-F238E27FC236}">
                <a16:creationId xmlns:a16="http://schemas.microsoft.com/office/drawing/2014/main" id="{2515E8C9-306B-7B9F-D5E0-A7AAC5771E6A}"/>
              </a:ext>
            </a:extLst>
          </p:cNvPr>
          <p:cNvGrpSpPr/>
          <p:nvPr/>
        </p:nvGrpSpPr>
        <p:grpSpPr>
          <a:xfrm>
            <a:off x="7322626" y="5908968"/>
            <a:ext cx="895546" cy="490194"/>
            <a:chOff x="7654565" y="5128181"/>
            <a:chExt cx="895546" cy="490194"/>
          </a:xfrm>
        </p:grpSpPr>
        <p:sp>
          <p:nvSpPr>
            <p:cNvPr id="6" name="圓角矩形 5">
              <a:extLst>
                <a:ext uri="{FF2B5EF4-FFF2-40B4-BE49-F238E27FC236}">
                  <a16:creationId xmlns:a16="http://schemas.microsoft.com/office/drawing/2014/main" id="{45C257AD-4C99-E577-98EA-D51A29F2CBD0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字方塊 9">
                  <a:extLst>
                    <a:ext uri="{FF2B5EF4-FFF2-40B4-BE49-F238E27FC236}">
                      <a16:creationId xmlns:a16="http://schemas.microsoft.com/office/drawing/2014/main" id="{437BF961-E223-7FF5-8AE5-8E8E1FB67BFF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10" name="文字方塊 9">
                  <a:extLst>
                    <a:ext uri="{FF2B5EF4-FFF2-40B4-BE49-F238E27FC236}">
                      <a16:creationId xmlns:a16="http://schemas.microsoft.com/office/drawing/2014/main" id="{437BF961-E223-7FF5-8AE5-8E8E1FB67B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34FECAE7-1810-BE48-8D54-8C40BC259CAA}"/>
              </a:ext>
            </a:extLst>
          </p:cNvPr>
          <p:cNvGrpSpPr/>
          <p:nvPr/>
        </p:nvGrpSpPr>
        <p:grpSpPr>
          <a:xfrm>
            <a:off x="9744956" y="5908968"/>
            <a:ext cx="895546" cy="490194"/>
            <a:chOff x="7654565" y="5128181"/>
            <a:chExt cx="895546" cy="490194"/>
          </a:xfrm>
        </p:grpSpPr>
        <p:sp>
          <p:nvSpPr>
            <p:cNvPr id="14" name="圓角矩形 13">
              <a:extLst>
                <a:ext uri="{FF2B5EF4-FFF2-40B4-BE49-F238E27FC236}">
                  <a16:creationId xmlns:a16="http://schemas.microsoft.com/office/drawing/2014/main" id="{C61AF627-DC7E-564C-3173-5C80BB5F2C92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16569C70-18FB-3D33-E97C-9C217BC077BD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16569C70-18FB-3D33-E97C-9C217BC077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平行四邊形 15">
            <a:extLst>
              <a:ext uri="{FF2B5EF4-FFF2-40B4-BE49-F238E27FC236}">
                <a16:creationId xmlns:a16="http://schemas.microsoft.com/office/drawing/2014/main" id="{D2B95F3D-4EDC-A8E4-8D26-EDF632B3DC95}"/>
              </a:ext>
            </a:extLst>
          </p:cNvPr>
          <p:cNvSpPr/>
          <p:nvPr/>
        </p:nvSpPr>
        <p:spPr>
          <a:xfrm>
            <a:off x="7506447" y="4589215"/>
            <a:ext cx="1899503" cy="1219078"/>
          </a:xfrm>
          <a:prstGeom prst="parallelogram">
            <a:avLst>
              <a:gd name="adj" fmla="val 11155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7" name="不規則四邊形 16">
            <a:extLst>
              <a:ext uri="{FF2B5EF4-FFF2-40B4-BE49-F238E27FC236}">
                <a16:creationId xmlns:a16="http://schemas.microsoft.com/office/drawing/2014/main" id="{E7C5DE91-8F95-026C-38EB-124DE91C10FE}"/>
              </a:ext>
            </a:extLst>
          </p:cNvPr>
          <p:cNvSpPr/>
          <p:nvPr/>
        </p:nvSpPr>
        <p:spPr>
          <a:xfrm>
            <a:off x="9896963" y="4589215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1691562C-E0BE-4770-4ACA-FF77F540F931}"/>
                  </a:ext>
                </a:extLst>
              </p:cNvPr>
              <p:cNvSpPr txBox="1"/>
              <p:nvPr/>
            </p:nvSpPr>
            <p:spPr>
              <a:xfrm>
                <a:off x="8188712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1691562C-E0BE-4770-4ACA-FF77F540F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8712" y="5014088"/>
                <a:ext cx="53497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78B011F4-484B-C972-3BE9-E10A9A597FA2}"/>
                  </a:ext>
                </a:extLst>
              </p:cNvPr>
              <p:cNvSpPr txBox="1"/>
              <p:nvPr/>
            </p:nvSpPr>
            <p:spPr>
              <a:xfrm>
                <a:off x="9955530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78B011F4-484B-C972-3BE9-E10A9A597F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5530" y="5014088"/>
                <a:ext cx="534971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群組 20">
            <a:extLst>
              <a:ext uri="{FF2B5EF4-FFF2-40B4-BE49-F238E27FC236}">
                <a16:creationId xmlns:a16="http://schemas.microsoft.com/office/drawing/2014/main" id="{47148334-2837-A161-1685-F0A24EE0FF4C}"/>
              </a:ext>
            </a:extLst>
          </p:cNvPr>
          <p:cNvGrpSpPr/>
          <p:nvPr/>
        </p:nvGrpSpPr>
        <p:grpSpPr>
          <a:xfrm>
            <a:off x="9228841" y="3745742"/>
            <a:ext cx="895546" cy="490194"/>
            <a:chOff x="7654565" y="5128181"/>
            <a:chExt cx="895546" cy="490194"/>
          </a:xfrm>
        </p:grpSpPr>
        <p:sp>
          <p:nvSpPr>
            <p:cNvPr id="22" name="圓角矩形 21">
              <a:extLst>
                <a:ext uri="{FF2B5EF4-FFF2-40B4-BE49-F238E27FC236}">
                  <a16:creationId xmlns:a16="http://schemas.microsoft.com/office/drawing/2014/main" id="{CB5725BC-8AD1-5C54-6AE4-96966C790061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98142BF9-B217-9B3A-89B9-6761B9CADD20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98142BF9-B217-9B3A-89B9-6761B9CADD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A68854A7-2EAC-4F9D-078D-32C2E4FBF3C0}"/>
              </a:ext>
            </a:extLst>
          </p:cNvPr>
          <p:cNvSpPr txBox="1"/>
          <p:nvPr/>
        </p:nvSpPr>
        <p:spPr>
          <a:xfrm>
            <a:off x="9514355" y="4250505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sp>
        <p:nvSpPr>
          <p:cNvPr id="25" name="不規則四邊形 24">
            <a:extLst>
              <a:ext uri="{FF2B5EF4-FFF2-40B4-BE49-F238E27FC236}">
                <a16:creationId xmlns:a16="http://schemas.microsoft.com/office/drawing/2014/main" id="{C8278CD5-C6D4-8E3C-8A75-279A3EB07171}"/>
              </a:ext>
            </a:extLst>
          </p:cNvPr>
          <p:cNvSpPr/>
          <p:nvPr/>
        </p:nvSpPr>
        <p:spPr>
          <a:xfrm flipV="1">
            <a:off x="9364093" y="2429840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27688FA3-232F-3DC7-8095-F85F4FBCC40A}"/>
                  </a:ext>
                </a:extLst>
              </p:cNvPr>
              <p:cNvSpPr txBox="1"/>
              <p:nvPr/>
            </p:nvSpPr>
            <p:spPr>
              <a:xfrm>
                <a:off x="9404473" y="2854713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27688FA3-232F-3DC7-8095-F85F4FBCC4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4473" y="2854713"/>
                <a:ext cx="53497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" name="群組 26">
            <a:extLst>
              <a:ext uri="{FF2B5EF4-FFF2-40B4-BE49-F238E27FC236}">
                <a16:creationId xmlns:a16="http://schemas.microsoft.com/office/drawing/2014/main" id="{23BD701F-B78A-9E3B-8148-ADC7342F8EAD}"/>
              </a:ext>
            </a:extLst>
          </p:cNvPr>
          <p:cNvGrpSpPr/>
          <p:nvPr/>
        </p:nvGrpSpPr>
        <p:grpSpPr>
          <a:xfrm>
            <a:off x="9212038" y="1829776"/>
            <a:ext cx="895546" cy="490194"/>
            <a:chOff x="7654565" y="5128181"/>
            <a:chExt cx="895546" cy="490194"/>
          </a:xfrm>
        </p:grpSpPr>
        <p:sp>
          <p:nvSpPr>
            <p:cNvPr id="28" name="圓角矩形 27">
              <a:extLst>
                <a:ext uri="{FF2B5EF4-FFF2-40B4-BE49-F238E27FC236}">
                  <a16:creationId xmlns:a16="http://schemas.microsoft.com/office/drawing/2014/main" id="{23ABDAC9-A102-B78B-7811-A460B72C5F88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10CF887D-6BA7-4674-B095-B5205D3938A9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10CF887D-6BA7-4674-B095-B5205D3938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0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D686431E-00B4-45C4-2CE8-07425C6113E2}"/>
                  </a:ext>
                </a:extLst>
              </p:cNvPr>
              <p:cNvSpPr txBox="1"/>
              <p:nvPr/>
            </p:nvSpPr>
            <p:spPr>
              <a:xfrm>
                <a:off x="1439852" y="2656036"/>
                <a:ext cx="4198947" cy="83099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2400" b="0" i="0" smtClean="0">
                          <a:latin typeface="Cambria Math" panose="02040503050406030204" pitchFamily="18" charset="0"/>
                        </a:rPr>
                        <m:t>tanh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𝑊</m:t>
                      </m:r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𝑈</m:t>
                      </m:r>
                      <m:sSub>
                        <m:sSubPr>
                          <m:ctrlPr>
                            <a:rPr lang="zh-TW" alt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D686431E-00B4-45C4-2CE8-07425C6113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9852" y="2656036"/>
                <a:ext cx="4198947" cy="830997"/>
              </a:xfrm>
              <a:prstGeom prst="rect">
                <a:avLst/>
              </a:prstGeom>
              <a:blipFill>
                <a:blip r:embed="rId11"/>
                <a:stretch>
                  <a:fillRect l="-602" b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99285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ECFD3-9F9E-D486-2DC7-84073400A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C0D99D-1E40-8E98-9837-A229A457C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>
                <a:ea typeface="新細明體"/>
                <a:cs typeface="Calibri Light"/>
              </a:rPr>
              <a:t>Text Generation with RNN</a:t>
            </a:r>
            <a:endParaRPr lang="zh-TW" altLang="en-US" dirty="0">
              <a:ea typeface="新細明體"/>
              <a:cs typeface="Calibri Light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44121A3-4B88-E98F-8D6C-0396D7754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27</a:t>
            </a:fld>
            <a:endParaRPr lang="zh-TW" altLang="en-US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C8F4C0A3-FA3F-2E2B-F8BE-653E57712662}"/>
              </a:ext>
            </a:extLst>
          </p:cNvPr>
          <p:cNvSpPr/>
          <p:nvPr/>
        </p:nvSpPr>
        <p:spPr>
          <a:xfrm>
            <a:off x="2450284" y="5222793"/>
            <a:ext cx="673768" cy="571500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love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74BF1484-9D99-02A5-AAAF-EE9BBEFB506F}"/>
              </a:ext>
            </a:extLst>
          </p:cNvPr>
          <p:cNvSpPr/>
          <p:nvPr/>
        </p:nvSpPr>
        <p:spPr>
          <a:xfrm>
            <a:off x="1079810" y="5222792"/>
            <a:ext cx="673768" cy="571500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22B29D0B-5991-2E5E-3F83-667A16EA833A}"/>
              </a:ext>
            </a:extLst>
          </p:cNvPr>
          <p:cNvSpPr/>
          <p:nvPr/>
        </p:nvSpPr>
        <p:spPr>
          <a:xfrm>
            <a:off x="3802954" y="5222792"/>
            <a:ext cx="673768" cy="571500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" name="直線箭頭接點 2">
            <a:extLst>
              <a:ext uri="{FF2B5EF4-FFF2-40B4-BE49-F238E27FC236}">
                <a16:creationId xmlns:a16="http://schemas.microsoft.com/office/drawing/2014/main" id="{B6F1BF5D-E0DF-596A-0806-DB62092410DE}"/>
              </a:ext>
            </a:extLst>
          </p:cNvPr>
          <p:cNvCxnSpPr>
            <a:cxnSpLocks/>
          </p:cNvCxnSpPr>
          <p:nvPr/>
        </p:nvCxnSpPr>
        <p:spPr>
          <a:xfrm flipV="1">
            <a:off x="1416694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>
            <a:extLst>
              <a:ext uri="{FF2B5EF4-FFF2-40B4-BE49-F238E27FC236}">
                <a16:creationId xmlns:a16="http://schemas.microsoft.com/office/drawing/2014/main" id="{A74271B2-06A7-502A-FC23-4C6E28205970}"/>
              </a:ext>
            </a:extLst>
          </p:cNvPr>
          <p:cNvSpPr/>
          <p:nvPr/>
        </p:nvSpPr>
        <p:spPr>
          <a:xfrm>
            <a:off x="995391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5B9775F-52E9-275E-3013-33A5AE9299C9}"/>
              </a:ext>
            </a:extLst>
          </p:cNvPr>
          <p:cNvSpPr/>
          <p:nvPr/>
        </p:nvSpPr>
        <p:spPr>
          <a:xfrm>
            <a:off x="2365865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4A8E273-92C8-B725-9D20-B5D11A1BACFB}"/>
              </a:ext>
            </a:extLst>
          </p:cNvPr>
          <p:cNvSpPr/>
          <p:nvPr/>
        </p:nvSpPr>
        <p:spPr>
          <a:xfrm>
            <a:off x="3718535" y="3813917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71962B3F-9FA6-0220-1AF1-6586D948FF0E}"/>
              </a:ext>
            </a:extLst>
          </p:cNvPr>
          <p:cNvCxnSpPr>
            <a:cxnSpLocks/>
          </p:cNvCxnSpPr>
          <p:nvPr/>
        </p:nvCxnSpPr>
        <p:spPr>
          <a:xfrm flipV="1">
            <a:off x="2787168" y="4635585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CB4E6377-CCC8-2632-4A20-88A949727A04}"/>
              </a:ext>
            </a:extLst>
          </p:cNvPr>
          <p:cNvCxnSpPr>
            <a:cxnSpLocks/>
          </p:cNvCxnSpPr>
          <p:nvPr/>
        </p:nvCxnSpPr>
        <p:spPr>
          <a:xfrm flipV="1">
            <a:off x="4141007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F1FF3DF9-C6C8-FDCE-E3CE-61925F28344B}"/>
              </a:ext>
            </a:extLst>
          </p:cNvPr>
          <p:cNvCxnSpPr>
            <a:cxnSpLocks/>
          </p:cNvCxnSpPr>
          <p:nvPr/>
        </p:nvCxnSpPr>
        <p:spPr>
          <a:xfrm>
            <a:off x="1880704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1D44DBB5-ED82-02A3-9302-A42011057600}"/>
              </a:ext>
            </a:extLst>
          </p:cNvPr>
          <p:cNvCxnSpPr>
            <a:cxnSpLocks/>
          </p:cNvCxnSpPr>
          <p:nvPr/>
        </p:nvCxnSpPr>
        <p:spPr>
          <a:xfrm>
            <a:off x="3255492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箭頭接點 32">
            <a:extLst>
              <a:ext uri="{FF2B5EF4-FFF2-40B4-BE49-F238E27FC236}">
                <a16:creationId xmlns:a16="http://schemas.microsoft.com/office/drawing/2014/main" id="{257328A5-5F55-A752-538F-ABF645111174}"/>
              </a:ext>
            </a:extLst>
          </p:cNvPr>
          <p:cNvCxnSpPr>
            <a:cxnSpLocks/>
          </p:cNvCxnSpPr>
          <p:nvPr/>
        </p:nvCxnSpPr>
        <p:spPr>
          <a:xfrm flipV="1">
            <a:off x="4132163" y="3226711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6C09E09E-1B5A-6B4B-0B4C-ABDBCCADEF4B}"/>
                  </a:ext>
                </a:extLst>
              </p:cNvPr>
              <p:cNvSpPr/>
              <p:nvPr/>
            </p:nvSpPr>
            <p:spPr>
              <a:xfrm>
                <a:off x="5340637" y="2479771"/>
                <a:ext cx="1968284" cy="6884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dirty="0">
                    <a:solidFill>
                      <a:schemeClr val="tx1"/>
                    </a:solidFill>
                  </a:rPr>
                  <a:t>Classification Layer </a:t>
                </a:r>
                <a14:m>
                  <m:oMath xmlns:m="http://schemas.openxmlformats.org/officeDocument/2006/math">
                    <m:r>
                      <a:rPr lang="en-US" altLang="zh-TW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6C09E09E-1B5A-6B4B-0B4C-ABDBCCADEF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0637" y="2479771"/>
                <a:ext cx="1968284" cy="688455"/>
              </a:xfrm>
              <a:prstGeom prst="rect">
                <a:avLst/>
              </a:prstGeom>
              <a:blipFill>
                <a:blip r:embed="rId3"/>
                <a:stretch>
                  <a:fillRect b="-701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F504C4C2-7B73-596C-F469-CE40F29F2DF4}"/>
              </a:ext>
            </a:extLst>
          </p:cNvPr>
          <p:cNvCxnSpPr>
            <a:cxnSpLocks/>
          </p:cNvCxnSpPr>
          <p:nvPr/>
        </p:nvCxnSpPr>
        <p:spPr>
          <a:xfrm>
            <a:off x="4592137" y="2823999"/>
            <a:ext cx="6376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/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zh-TW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文字方塊 38">
            <a:extLst>
              <a:ext uri="{FF2B5EF4-FFF2-40B4-BE49-F238E27FC236}">
                <a16:creationId xmlns:a16="http://schemas.microsoft.com/office/drawing/2014/main" id="{D522AE8D-1F2D-4249-2548-0DF2ADBD9008}"/>
              </a:ext>
            </a:extLst>
          </p:cNvPr>
          <p:cNvSpPr txBox="1"/>
          <p:nvPr/>
        </p:nvSpPr>
        <p:spPr>
          <a:xfrm>
            <a:off x="3379025" y="2075615"/>
            <a:ext cx="1521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(1, </a:t>
            </a:r>
            <a:r>
              <a:rPr kumimoji="1" lang="en-US" altLang="zh-TW" sz="1400" dirty="0" err="1"/>
              <a:t>hidden_size</a:t>
            </a:r>
            <a:r>
              <a:rPr kumimoji="1" lang="en-US" altLang="zh-TW" sz="1400" dirty="0"/>
              <a:t>)</a:t>
            </a:r>
            <a:endParaRPr kumimoji="1" lang="zh-TW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/>
              <p:nvPr/>
            </p:nvSpPr>
            <p:spPr>
              <a:xfrm>
                <a:off x="6013348" y="4046686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zh-TW" altLang="en-US" sz="24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3348" y="4046686"/>
                <a:ext cx="673768" cy="57150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文字方塊 40">
            <a:extLst>
              <a:ext uri="{FF2B5EF4-FFF2-40B4-BE49-F238E27FC236}">
                <a16:creationId xmlns:a16="http://schemas.microsoft.com/office/drawing/2014/main" id="{82598EF1-AAEA-BC2D-6367-51A87950FCBF}"/>
              </a:ext>
            </a:extLst>
          </p:cNvPr>
          <p:cNvSpPr txBox="1"/>
          <p:nvPr/>
        </p:nvSpPr>
        <p:spPr>
          <a:xfrm>
            <a:off x="4984607" y="3639517"/>
            <a:ext cx="27270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(1, </a:t>
            </a:r>
            <a:r>
              <a:rPr kumimoji="1" lang="en-US" altLang="zh-TW" sz="1600" dirty="0" err="1">
                <a:solidFill>
                  <a:srgbClr val="FF0000"/>
                </a:solidFill>
              </a:rPr>
              <a:t>Vocab_size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AD626588-EC2D-EEE2-4116-B55D7C483E57}"/>
              </a:ext>
            </a:extLst>
          </p:cNvPr>
          <p:cNvCxnSpPr>
            <a:cxnSpLocks/>
          </p:cNvCxnSpPr>
          <p:nvPr/>
        </p:nvCxnSpPr>
        <p:spPr>
          <a:xfrm>
            <a:off x="6348132" y="3247790"/>
            <a:ext cx="0" cy="37818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F2099F3C-F78E-6A2B-2947-F9C8737CFA85}"/>
              </a:ext>
            </a:extLst>
          </p:cNvPr>
          <p:cNvSpPr txBox="1"/>
          <p:nvPr/>
        </p:nvSpPr>
        <p:spPr>
          <a:xfrm>
            <a:off x="8430482" y="232398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apple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banana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elephant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eraser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zoo</a:t>
            </a:r>
            <a:endParaRPr kumimoji="1" lang="zh-TW" altLang="en-US" dirty="0"/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EB660368-A093-E449-96B6-37BABFD81213}"/>
              </a:ext>
            </a:extLst>
          </p:cNvPr>
          <p:cNvSpPr txBox="1"/>
          <p:nvPr/>
        </p:nvSpPr>
        <p:spPr>
          <a:xfrm>
            <a:off x="9528585" y="232398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0.600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0.0003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0.300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0.05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  <a:endParaRPr kumimoji="1" lang="zh-TW" altLang="en-US" dirty="0"/>
          </a:p>
        </p:txBody>
      </p: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66956FDE-BE9A-324F-F66F-A8C197B137C2}"/>
              </a:ext>
            </a:extLst>
          </p:cNvPr>
          <p:cNvCxnSpPr/>
          <p:nvPr/>
        </p:nvCxnSpPr>
        <p:spPr>
          <a:xfrm flipV="1">
            <a:off x="7572381" y="2479771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E9E6F8AF-77C6-BAD2-7887-E81A757F7645}"/>
              </a:ext>
            </a:extLst>
          </p:cNvPr>
          <p:cNvCxnSpPr>
            <a:cxnSpLocks/>
          </p:cNvCxnSpPr>
          <p:nvPr/>
        </p:nvCxnSpPr>
        <p:spPr>
          <a:xfrm flipH="1" flipV="1">
            <a:off x="7572381" y="4403283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EEE00C0D-5F7E-C3ED-CA9C-8112CF99132E}"/>
              </a:ext>
            </a:extLst>
          </p:cNvPr>
          <p:cNvCxnSpPr/>
          <p:nvPr/>
        </p:nvCxnSpPr>
        <p:spPr>
          <a:xfrm>
            <a:off x="6843972" y="4349834"/>
            <a:ext cx="630978" cy="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右大括弧 52">
            <a:extLst>
              <a:ext uri="{FF2B5EF4-FFF2-40B4-BE49-F238E27FC236}">
                <a16:creationId xmlns:a16="http://schemas.microsoft.com/office/drawing/2014/main" id="{E09434B5-6FEC-D973-FCC9-0E540FD23417}"/>
              </a:ext>
            </a:extLst>
          </p:cNvPr>
          <p:cNvSpPr/>
          <p:nvPr/>
        </p:nvSpPr>
        <p:spPr>
          <a:xfrm>
            <a:off x="10501384" y="2417802"/>
            <a:ext cx="373278" cy="378268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2D8C42DF-7E9A-C921-36DB-8E5134655A89}"/>
              </a:ext>
            </a:extLst>
          </p:cNvPr>
          <p:cNvSpPr txBox="1"/>
          <p:nvPr/>
        </p:nvSpPr>
        <p:spPr>
          <a:xfrm>
            <a:off x="10859150" y="3982823"/>
            <a:ext cx="839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Vocab</a:t>
            </a:r>
          </a:p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size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A151BD34-8F4C-0447-E9B3-FEF499EC3283}"/>
              </a:ext>
            </a:extLst>
          </p:cNvPr>
          <p:cNvSpPr txBox="1"/>
          <p:nvPr/>
        </p:nvSpPr>
        <p:spPr>
          <a:xfrm>
            <a:off x="841665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Vocab</a:t>
            </a: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5EEBE339-6BDB-4693-61B8-51C7547502C9}"/>
              </a:ext>
            </a:extLst>
          </p:cNvPr>
          <p:cNvSpPr txBox="1"/>
          <p:nvPr/>
        </p:nvSpPr>
        <p:spPr>
          <a:xfrm>
            <a:off x="951372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Prob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圓角矩形 12">
                <a:extLst>
                  <a:ext uri="{FF2B5EF4-FFF2-40B4-BE49-F238E27FC236}">
                    <a16:creationId xmlns:a16="http://schemas.microsoft.com/office/drawing/2014/main" id="{81E01E23-EA7F-26CA-D7FD-D3AD34EF18E3}"/>
                  </a:ext>
                </a:extLst>
              </p:cNvPr>
              <p:cNvSpPr/>
              <p:nvPr/>
            </p:nvSpPr>
            <p:spPr>
              <a:xfrm>
                <a:off x="2450284" y="2531936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zh-TW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圓角矩形 12">
                <a:extLst>
                  <a:ext uri="{FF2B5EF4-FFF2-40B4-BE49-F238E27FC236}">
                    <a16:creationId xmlns:a16="http://schemas.microsoft.com/office/drawing/2014/main" id="{81E01E23-EA7F-26CA-D7FD-D3AD34EF18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0284" y="2531936"/>
                <a:ext cx="673768" cy="57150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FCE531B0-0209-8911-AB20-73BB1EB3BEA0}"/>
                  </a:ext>
                </a:extLst>
              </p:cNvPr>
              <p:cNvSpPr/>
              <p:nvPr/>
            </p:nvSpPr>
            <p:spPr>
              <a:xfrm>
                <a:off x="1079810" y="2521669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zh-TW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FCE531B0-0209-8911-AB20-73BB1EB3BE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810" y="2521669"/>
                <a:ext cx="673768" cy="57150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695A3FD4-AD49-0352-EE91-263E004765AA}"/>
              </a:ext>
            </a:extLst>
          </p:cNvPr>
          <p:cNvCxnSpPr>
            <a:cxnSpLocks/>
          </p:cNvCxnSpPr>
          <p:nvPr/>
        </p:nvCxnSpPr>
        <p:spPr>
          <a:xfrm flipV="1">
            <a:off x="2787168" y="3226711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B6D5EDE0-8376-B273-E991-B30A58AC223C}"/>
              </a:ext>
            </a:extLst>
          </p:cNvPr>
          <p:cNvCxnSpPr>
            <a:cxnSpLocks/>
          </p:cNvCxnSpPr>
          <p:nvPr/>
        </p:nvCxnSpPr>
        <p:spPr>
          <a:xfrm flipV="1">
            <a:off x="1416694" y="3202782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3BCB72AE-B665-3A90-38A9-632038151578}"/>
              </a:ext>
            </a:extLst>
          </p:cNvPr>
          <p:cNvSpPr/>
          <p:nvPr/>
        </p:nvSpPr>
        <p:spPr>
          <a:xfrm>
            <a:off x="1563505" y="6423560"/>
            <a:ext cx="381628" cy="22922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A6C6F730-BCC8-0DE4-DA77-FCA5960C49C4}"/>
              </a:ext>
            </a:extLst>
          </p:cNvPr>
          <p:cNvSpPr txBox="1"/>
          <p:nvPr/>
        </p:nvSpPr>
        <p:spPr>
          <a:xfrm>
            <a:off x="1878573" y="6390354"/>
            <a:ext cx="18399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Word embeddings</a:t>
            </a:r>
            <a:endParaRPr kumimoji="1" lang="zh-TW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15AFD019-80A5-86B6-961D-076B447FE072}"/>
                  </a:ext>
                </a:extLst>
              </p:cNvPr>
              <p:cNvSpPr txBox="1"/>
              <p:nvPr/>
            </p:nvSpPr>
            <p:spPr>
              <a:xfrm>
                <a:off x="1883751" y="3808794"/>
                <a:ext cx="45416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15AFD019-80A5-86B6-961D-076B447FE0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3751" y="3808794"/>
                <a:ext cx="454165" cy="369332"/>
              </a:xfrm>
              <a:prstGeom prst="rect">
                <a:avLst/>
              </a:prstGeom>
              <a:blipFill>
                <a:blip r:embed="rId8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774BC75C-EEF7-CEC5-4919-CAC1C4FEB363}"/>
                  </a:ext>
                </a:extLst>
              </p:cNvPr>
              <p:cNvSpPr txBox="1"/>
              <p:nvPr/>
            </p:nvSpPr>
            <p:spPr>
              <a:xfrm>
                <a:off x="3241515" y="3808794"/>
                <a:ext cx="45416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774BC75C-EEF7-CEC5-4919-CAC1C4FEB3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1515" y="3808794"/>
                <a:ext cx="454165" cy="369332"/>
              </a:xfrm>
              <a:prstGeom prst="rect">
                <a:avLst/>
              </a:prstGeom>
              <a:blipFill>
                <a:blip r:embed="rId9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99989ED1-753D-4460-DDA1-83C4D06A2F39}"/>
                  </a:ext>
                </a:extLst>
              </p:cNvPr>
              <p:cNvSpPr txBox="1"/>
              <p:nvPr/>
            </p:nvSpPr>
            <p:spPr>
              <a:xfrm>
                <a:off x="653142" y="1509513"/>
                <a:ext cx="247090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400" dirty="0"/>
                  <a:t>*</a:t>
                </a:r>
                <a:r>
                  <a:rPr kumimoji="1" lang="zh-TW" altLang="en-US" sz="1400" dirty="0"/>
                  <a:t>本頁的</a:t>
                </a:r>
                <a:r>
                  <a:rPr kumimoji="1" lang="en-US" altLang="zh-TW" sz="1400" dirty="0"/>
                  <a:t>RNN</a:t>
                </a:r>
                <a:r>
                  <a:rPr kumimoji="1" lang="zh-TW" altLang="en-US" sz="1400" dirty="0"/>
                  <a:t>不包含輸出層</a:t>
                </a:r>
                <a14:m>
                  <m:oMath xmlns:m="http://schemas.openxmlformats.org/officeDocument/2006/math">
                    <m:r>
                      <a:rPr lang="en-US" altLang="zh-TW" sz="14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99989ED1-753D-4460-DDA1-83C4D06A2F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2" y="1509513"/>
                <a:ext cx="2470909" cy="307777"/>
              </a:xfrm>
              <a:prstGeom prst="rect">
                <a:avLst/>
              </a:prstGeom>
              <a:blipFill>
                <a:blip r:embed="rId10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文字方塊 28">
            <a:extLst>
              <a:ext uri="{FF2B5EF4-FFF2-40B4-BE49-F238E27FC236}">
                <a16:creationId xmlns:a16="http://schemas.microsoft.com/office/drawing/2014/main" id="{8FF51323-929F-C653-8DF8-8B33CC851110}"/>
              </a:ext>
            </a:extLst>
          </p:cNvPr>
          <p:cNvSpPr txBox="1"/>
          <p:nvPr/>
        </p:nvSpPr>
        <p:spPr>
          <a:xfrm>
            <a:off x="2037741" y="2077071"/>
            <a:ext cx="1521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(1, </a:t>
            </a:r>
            <a:r>
              <a:rPr kumimoji="1" lang="en-US" altLang="zh-TW" sz="1400" dirty="0" err="1"/>
              <a:t>hidden_size</a:t>
            </a:r>
            <a:r>
              <a:rPr kumimoji="1" lang="en-US" altLang="zh-TW" sz="1400" dirty="0"/>
              <a:t>)</a:t>
            </a:r>
            <a:endParaRPr kumimoji="1" lang="zh-TW" altLang="en-US" sz="14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4DDA4593-CCEC-BA37-2161-5E283A6CD22A}"/>
              </a:ext>
            </a:extLst>
          </p:cNvPr>
          <p:cNvSpPr txBox="1"/>
          <p:nvPr/>
        </p:nvSpPr>
        <p:spPr>
          <a:xfrm>
            <a:off x="655882" y="2078057"/>
            <a:ext cx="1521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(1, </a:t>
            </a:r>
            <a:r>
              <a:rPr kumimoji="1" lang="en-US" altLang="zh-TW" sz="1400" dirty="0" err="1"/>
              <a:t>hidden_size</a:t>
            </a:r>
            <a:r>
              <a:rPr kumimoji="1" lang="en-US" altLang="zh-TW" sz="1400" dirty="0"/>
              <a:t>)</a:t>
            </a:r>
            <a:endParaRPr kumimoji="1" lang="zh-TW" altLang="en-US" sz="1400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AD4420E8-C43F-C5D9-727D-B484E5B01716}"/>
              </a:ext>
            </a:extLst>
          </p:cNvPr>
          <p:cNvSpPr txBox="1"/>
          <p:nvPr/>
        </p:nvSpPr>
        <p:spPr>
          <a:xfrm>
            <a:off x="6287811" y="3275111"/>
            <a:ext cx="10892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b="1" dirty="0" err="1">
                <a:solidFill>
                  <a:schemeClr val="accent6"/>
                </a:solidFill>
              </a:rPr>
              <a:t>Softmax</a:t>
            </a:r>
            <a:endParaRPr kumimoji="1" lang="zh-TW" altLang="en-US" sz="1400" b="1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4658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36" grpId="0" animBg="1"/>
      <p:bldP spid="34" grpId="0" animBg="1"/>
      <p:bldP spid="39" grpId="0"/>
      <p:bldP spid="40" grpId="0" animBg="1"/>
      <p:bldP spid="41" grpId="0"/>
      <p:bldP spid="45" grpId="0"/>
      <p:bldP spid="46" grpId="0"/>
      <p:bldP spid="53" grpId="0" animBg="1"/>
      <p:bldP spid="54" grpId="0"/>
      <p:bldP spid="55" grpId="0"/>
      <p:bldP spid="56" grpId="0"/>
      <p:bldP spid="13" grpId="0" animBg="1"/>
      <p:bldP spid="18" grpId="0" animBg="1"/>
      <p:bldP spid="25" grpId="0"/>
      <p:bldP spid="27" grpId="0"/>
      <p:bldP spid="29" grpId="0"/>
      <p:bldP spid="30" grpId="0"/>
      <p:bldP spid="3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8B349F8-522C-1BA1-D72D-1B9D4779D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Why is </a:t>
            </a:r>
            <a:r>
              <a:rPr kumimoji="1" lang="en-US" altLang="zh-TW" dirty="0" err="1"/>
              <a:t>softmax</a:t>
            </a:r>
            <a:r>
              <a:rPr kumimoji="1" lang="en-US" altLang="zh-TW" dirty="0"/>
              <a:t> called </a:t>
            </a:r>
            <a:r>
              <a:rPr kumimoji="1" lang="en-US" altLang="zh-TW" dirty="0" err="1"/>
              <a:t>softmax</a:t>
            </a:r>
            <a:r>
              <a:rPr kumimoji="1" lang="en-US" altLang="zh-TW" dirty="0"/>
              <a:t>?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59E684-D77A-5ADF-1EAB-0AEA42A85F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sz="2800" dirty="0"/>
              <a:t>soft: </a:t>
            </a:r>
            <a:r>
              <a:rPr kumimoji="1" lang="zh-TW" altLang="en-US" sz="2800" dirty="0"/>
              <a:t>機率</a:t>
            </a:r>
            <a:r>
              <a:rPr kumimoji="1" lang="en-US" altLang="zh-TW" sz="2800" dirty="0"/>
              <a:t> (</a:t>
            </a:r>
            <a:r>
              <a:rPr kumimoji="1" lang="zh-TW" altLang="en-US" sz="2800" dirty="0"/>
              <a:t>帶有資訊量</a:t>
            </a:r>
            <a:r>
              <a:rPr kumimoji="1" lang="en-US" altLang="zh-TW" sz="2800" dirty="0"/>
              <a:t>)</a:t>
            </a:r>
            <a:endParaRPr kumimoji="1" lang="zh-TW" altLang="en-US" sz="2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0039427-5B65-D0FC-B6FD-3234DB565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434D4B8-8CF1-821B-4FC8-9D1F36766DE3}"/>
              </a:ext>
            </a:extLst>
          </p:cNvPr>
          <p:cNvSpPr txBox="1"/>
          <p:nvPr/>
        </p:nvSpPr>
        <p:spPr>
          <a:xfrm>
            <a:off x="1802435" y="3229383"/>
            <a:ext cx="13841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800" dirty="0"/>
              <a:t>Max:</a:t>
            </a:r>
            <a:endParaRPr kumimoji="1" lang="zh-TW" altLang="en-US" sz="28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909814F4-1244-F8FF-34A6-D771370210B8}"/>
              </a:ext>
            </a:extLst>
          </p:cNvPr>
          <p:cNvSpPr txBox="1"/>
          <p:nvPr/>
        </p:nvSpPr>
        <p:spPr>
          <a:xfrm>
            <a:off x="1802435" y="5001432"/>
            <a:ext cx="16622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800" dirty="0" err="1"/>
              <a:t>Softmax</a:t>
            </a:r>
            <a:r>
              <a:rPr kumimoji="1" lang="en-US" altLang="zh-TW" sz="2800" dirty="0"/>
              <a:t>:</a:t>
            </a:r>
            <a:endParaRPr kumimoji="1" lang="zh-TW" altLang="en-US" sz="2800" dirty="0"/>
          </a:p>
        </p:txBody>
      </p:sp>
      <p:pic>
        <p:nvPicPr>
          <p:cNvPr id="1026" name="Picture 2" descr="鬼滅之刃》炎柱最愛的牛鍋便當成真了！就連無限列車也可以乘坐">
            <a:extLst>
              <a:ext uri="{FF2B5EF4-FFF2-40B4-BE49-F238E27FC236}">
                <a16:creationId xmlns:a16="http://schemas.microsoft.com/office/drawing/2014/main" id="{EA3CF354-A618-F45E-6443-AAB438D6C8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5772" y="2823245"/>
            <a:ext cx="1211510" cy="1211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90112554-66C1-4BAB-AC03-6D1C153B60C0}"/>
              </a:ext>
            </a:extLst>
          </p:cNvPr>
          <p:cNvSpPr txBox="1"/>
          <p:nvPr/>
        </p:nvSpPr>
        <p:spPr>
          <a:xfrm>
            <a:off x="5261644" y="3306435"/>
            <a:ext cx="751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1</a:t>
            </a:r>
            <a:endParaRPr kumimoji="1" lang="zh-TW" altLang="en-US" dirty="0"/>
          </a:p>
        </p:txBody>
      </p:sp>
      <p:pic>
        <p:nvPicPr>
          <p:cNvPr id="1028" name="Picture 4" descr="閒聊鬼滅上弦參-猗窩座(有點劇透,介意的話勿入） - 動漫板| Dcard">
            <a:extLst>
              <a:ext uri="{FF2B5EF4-FFF2-40B4-BE49-F238E27FC236}">
                <a16:creationId xmlns:a16="http://schemas.microsoft.com/office/drawing/2014/main" id="{14F34E16-B000-E39E-EC00-F1F5027A78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5177" y="2823245"/>
            <a:ext cx="1443885" cy="1211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DA2332C6-99EE-C280-E210-11378CF1A5D2}"/>
              </a:ext>
            </a:extLst>
          </p:cNvPr>
          <p:cNvSpPr txBox="1"/>
          <p:nvPr/>
        </p:nvSpPr>
        <p:spPr>
          <a:xfrm>
            <a:off x="8409062" y="3306435"/>
            <a:ext cx="751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0</a:t>
            </a:r>
            <a:endParaRPr kumimoji="1" lang="zh-TW" altLang="en-US" dirty="0"/>
          </a:p>
        </p:txBody>
      </p:sp>
      <p:pic>
        <p:nvPicPr>
          <p:cNvPr id="9" name="Picture 2" descr="鬼滅之刃》炎柱最愛的牛鍋便當成真了！就連無限列車也可以乘坐">
            <a:extLst>
              <a:ext uri="{FF2B5EF4-FFF2-40B4-BE49-F238E27FC236}">
                <a16:creationId xmlns:a16="http://schemas.microsoft.com/office/drawing/2014/main" id="{1188480C-D22B-5494-346F-84104BEB76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5772" y="4595186"/>
            <a:ext cx="1211510" cy="1211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90FE308E-34EB-1A77-4A19-04D72C7FC6C0}"/>
              </a:ext>
            </a:extLst>
          </p:cNvPr>
          <p:cNvSpPr txBox="1"/>
          <p:nvPr/>
        </p:nvSpPr>
        <p:spPr>
          <a:xfrm>
            <a:off x="5261644" y="5078376"/>
            <a:ext cx="751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0.6</a:t>
            </a:r>
            <a:endParaRPr kumimoji="1" lang="zh-TW" altLang="en-US" dirty="0"/>
          </a:p>
        </p:txBody>
      </p:sp>
      <p:pic>
        <p:nvPicPr>
          <p:cNvPr id="11" name="Picture 4" descr="閒聊鬼滅上弦參-猗窩座(有點劇透,介意的話勿入） - 動漫板| Dcard">
            <a:extLst>
              <a:ext uri="{FF2B5EF4-FFF2-40B4-BE49-F238E27FC236}">
                <a16:creationId xmlns:a16="http://schemas.microsoft.com/office/drawing/2014/main" id="{C7B3D360-01BE-350E-A0A1-C0668D11AC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5177" y="4595186"/>
            <a:ext cx="1443885" cy="1211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63896146-1008-3832-08C4-E1BCAD26EDC9}"/>
              </a:ext>
            </a:extLst>
          </p:cNvPr>
          <p:cNvSpPr txBox="1"/>
          <p:nvPr/>
        </p:nvSpPr>
        <p:spPr>
          <a:xfrm>
            <a:off x="8409062" y="5078376"/>
            <a:ext cx="751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0.4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24705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0" grpId="0"/>
      <p:bldP spid="12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ECFD3-9F9E-D486-2DC7-84073400A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60C0D99D-1E40-8E98-9837-A229A457C33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altLang="zh-TW" dirty="0">
                    <a:ea typeface="新細明體"/>
                    <a:cs typeface="Calibri Light"/>
                  </a:rPr>
                  <a:t>Text Generation with RNN</a:t>
                </a:r>
                <a:r>
                  <a:rPr lang="zh-TW" altLang="en-US" dirty="0">
                    <a:ea typeface="新細明體"/>
                    <a:cs typeface="Calibri Light"/>
                  </a:rPr>
                  <a:t> </a:t>
                </a:r>
                <a:r>
                  <a:rPr lang="en-US" altLang="zh-TW" dirty="0">
                    <a:ea typeface="新細明體"/>
                    <a:cs typeface="Calibri Light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zh-TW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zh-TW" altLang="en-US" dirty="0">
                    <a:latin typeface="+mn-ea"/>
                    <a:ea typeface="+mn-ea"/>
                    <a:cs typeface="Calibri Light"/>
                  </a:rPr>
                  <a:t>輸出時</a:t>
                </a:r>
                <a:r>
                  <a:rPr lang="en-US" altLang="zh-TW" dirty="0">
                    <a:ea typeface="新細明體"/>
                    <a:cs typeface="Calibri Light"/>
                  </a:rPr>
                  <a:t>)</a:t>
                </a:r>
                <a:endParaRPr lang="zh-TW" altLang="en-US" dirty="0">
                  <a:ea typeface="新細明體"/>
                  <a:cs typeface="Calibri Light"/>
                </a:endParaRPr>
              </a:p>
            </p:txBody>
          </p:sp>
        </mc:Choice>
        <mc:Fallback xmlns="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60C0D99D-1E40-8E98-9837-A229A457C3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555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44121A3-4B88-E98F-8D6C-0396D7754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29</a:t>
            </a:fld>
            <a:endParaRPr lang="zh-TW" altLang="en-US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C8F4C0A3-FA3F-2E2B-F8BE-653E57712662}"/>
              </a:ext>
            </a:extLst>
          </p:cNvPr>
          <p:cNvSpPr/>
          <p:nvPr/>
        </p:nvSpPr>
        <p:spPr>
          <a:xfrm>
            <a:off x="2450284" y="5222793"/>
            <a:ext cx="673768" cy="571500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love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74BF1484-9D99-02A5-AAAF-EE9BBEFB506F}"/>
              </a:ext>
            </a:extLst>
          </p:cNvPr>
          <p:cNvSpPr/>
          <p:nvPr/>
        </p:nvSpPr>
        <p:spPr>
          <a:xfrm>
            <a:off x="1079810" y="5222792"/>
            <a:ext cx="673768" cy="571500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22B29D0B-5991-2E5E-3F83-667A16EA833A}"/>
              </a:ext>
            </a:extLst>
          </p:cNvPr>
          <p:cNvSpPr/>
          <p:nvPr/>
        </p:nvSpPr>
        <p:spPr>
          <a:xfrm>
            <a:off x="3802954" y="5222792"/>
            <a:ext cx="673768" cy="571500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" name="直線箭頭接點 2">
            <a:extLst>
              <a:ext uri="{FF2B5EF4-FFF2-40B4-BE49-F238E27FC236}">
                <a16:creationId xmlns:a16="http://schemas.microsoft.com/office/drawing/2014/main" id="{B6F1BF5D-E0DF-596A-0806-DB62092410DE}"/>
              </a:ext>
            </a:extLst>
          </p:cNvPr>
          <p:cNvCxnSpPr>
            <a:cxnSpLocks/>
          </p:cNvCxnSpPr>
          <p:nvPr/>
        </p:nvCxnSpPr>
        <p:spPr>
          <a:xfrm flipV="1">
            <a:off x="1416694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>
            <a:extLst>
              <a:ext uri="{FF2B5EF4-FFF2-40B4-BE49-F238E27FC236}">
                <a16:creationId xmlns:a16="http://schemas.microsoft.com/office/drawing/2014/main" id="{A74271B2-06A7-502A-FC23-4C6E28205970}"/>
              </a:ext>
            </a:extLst>
          </p:cNvPr>
          <p:cNvSpPr/>
          <p:nvPr/>
        </p:nvSpPr>
        <p:spPr>
          <a:xfrm>
            <a:off x="995391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5B9775F-52E9-275E-3013-33A5AE9299C9}"/>
              </a:ext>
            </a:extLst>
          </p:cNvPr>
          <p:cNvSpPr/>
          <p:nvPr/>
        </p:nvSpPr>
        <p:spPr>
          <a:xfrm>
            <a:off x="2365865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4A8E273-92C8-B725-9D20-B5D11A1BACFB}"/>
              </a:ext>
            </a:extLst>
          </p:cNvPr>
          <p:cNvSpPr/>
          <p:nvPr/>
        </p:nvSpPr>
        <p:spPr>
          <a:xfrm>
            <a:off x="3718535" y="3813917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71962B3F-9FA6-0220-1AF1-6586D948FF0E}"/>
              </a:ext>
            </a:extLst>
          </p:cNvPr>
          <p:cNvCxnSpPr>
            <a:cxnSpLocks/>
          </p:cNvCxnSpPr>
          <p:nvPr/>
        </p:nvCxnSpPr>
        <p:spPr>
          <a:xfrm flipV="1">
            <a:off x="2787168" y="4635585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CB4E6377-CCC8-2632-4A20-88A949727A04}"/>
              </a:ext>
            </a:extLst>
          </p:cNvPr>
          <p:cNvCxnSpPr>
            <a:cxnSpLocks/>
          </p:cNvCxnSpPr>
          <p:nvPr/>
        </p:nvCxnSpPr>
        <p:spPr>
          <a:xfrm flipV="1">
            <a:off x="4141007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F1FF3DF9-C6C8-FDCE-E3CE-61925F28344B}"/>
              </a:ext>
            </a:extLst>
          </p:cNvPr>
          <p:cNvCxnSpPr>
            <a:cxnSpLocks/>
          </p:cNvCxnSpPr>
          <p:nvPr/>
        </p:nvCxnSpPr>
        <p:spPr>
          <a:xfrm>
            <a:off x="1880704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1D44DBB5-ED82-02A3-9302-A42011057600}"/>
              </a:ext>
            </a:extLst>
          </p:cNvPr>
          <p:cNvCxnSpPr>
            <a:cxnSpLocks/>
          </p:cNvCxnSpPr>
          <p:nvPr/>
        </p:nvCxnSpPr>
        <p:spPr>
          <a:xfrm>
            <a:off x="3255492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箭頭接點 32">
            <a:extLst>
              <a:ext uri="{FF2B5EF4-FFF2-40B4-BE49-F238E27FC236}">
                <a16:creationId xmlns:a16="http://schemas.microsoft.com/office/drawing/2014/main" id="{257328A5-5F55-A752-538F-ABF645111174}"/>
              </a:ext>
            </a:extLst>
          </p:cNvPr>
          <p:cNvCxnSpPr>
            <a:cxnSpLocks/>
          </p:cNvCxnSpPr>
          <p:nvPr/>
        </p:nvCxnSpPr>
        <p:spPr>
          <a:xfrm flipV="1">
            <a:off x="4132163" y="3226711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6C09E09E-1B5A-6B4B-0B4C-ABDBCCADEF4B}"/>
                  </a:ext>
                </a:extLst>
              </p:cNvPr>
              <p:cNvSpPr/>
              <p:nvPr/>
            </p:nvSpPr>
            <p:spPr>
              <a:xfrm>
                <a:off x="5340637" y="2479771"/>
                <a:ext cx="1968284" cy="688455"/>
              </a:xfrm>
              <a:prstGeom prst="rect">
                <a:avLst/>
              </a:prstGeom>
              <a:noFill/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dirty="0">
                    <a:solidFill>
                      <a:schemeClr val="tx1"/>
                    </a:solidFill>
                  </a:rPr>
                  <a:t>Classification Layer </a:t>
                </a:r>
                <a14:m>
                  <m:oMath xmlns:m="http://schemas.openxmlformats.org/officeDocument/2006/math">
                    <m:r>
                      <a:rPr lang="en-US" altLang="zh-TW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6C09E09E-1B5A-6B4B-0B4C-ABDBCCADEF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0637" y="2479771"/>
                <a:ext cx="1968284" cy="688455"/>
              </a:xfrm>
              <a:prstGeom prst="rect">
                <a:avLst/>
              </a:prstGeom>
              <a:blipFill>
                <a:blip r:embed="rId3"/>
                <a:stretch>
                  <a:fillRect b="-3333"/>
                </a:stretch>
              </a:blipFill>
              <a:ln w="571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F504C4C2-7B73-596C-F469-CE40F29F2DF4}"/>
              </a:ext>
            </a:extLst>
          </p:cNvPr>
          <p:cNvCxnSpPr>
            <a:cxnSpLocks/>
          </p:cNvCxnSpPr>
          <p:nvPr/>
        </p:nvCxnSpPr>
        <p:spPr>
          <a:xfrm>
            <a:off x="4592137" y="2823999"/>
            <a:ext cx="6376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/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zh-TW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文字方塊 38">
            <a:extLst>
              <a:ext uri="{FF2B5EF4-FFF2-40B4-BE49-F238E27FC236}">
                <a16:creationId xmlns:a16="http://schemas.microsoft.com/office/drawing/2014/main" id="{D522AE8D-1F2D-4249-2548-0DF2ADBD9008}"/>
              </a:ext>
            </a:extLst>
          </p:cNvPr>
          <p:cNvSpPr txBox="1"/>
          <p:nvPr/>
        </p:nvSpPr>
        <p:spPr>
          <a:xfrm>
            <a:off x="3379025" y="2075615"/>
            <a:ext cx="1521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(1, </a:t>
            </a:r>
            <a:r>
              <a:rPr kumimoji="1" lang="en-US" altLang="zh-TW" sz="1400" dirty="0" err="1"/>
              <a:t>hidden_size</a:t>
            </a:r>
            <a:r>
              <a:rPr kumimoji="1" lang="en-US" altLang="zh-TW" sz="1400" dirty="0"/>
              <a:t>)</a:t>
            </a:r>
            <a:endParaRPr kumimoji="1" lang="zh-TW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/>
              <p:nvPr/>
            </p:nvSpPr>
            <p:spPr>
              <a:xfrm>
                <a:off x="6013348" y="4046686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zh-TW" altLang="en-US" sz="24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3348" y="4046686"/>
                <a:ext cx="673768" cy="57150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文字方塊 40">
            <a:extLst>
              <a:ext uri="{FF2B5EF4-FFF2-40B4-BE49-F238E27FC236}">
                <a16:creationId xmlns:a16="http://schemas.microsoft.com/office/drawing/2014/main" id="{82598EF1-AAEA-BC2D-6367-51A87950FCBF}"/>
              </a:ext>
            </a:extLst>
          </p:cNvPr>
          <p:cNvSpPr txBox="1"/>
          <p:nvPr/>
        </p:nvSpPr>
        <p:spPr>
          <a:xfrm>
            <a:off x="4984607" y="3639517"/>
            <a:ext cx="27270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(1, </a:t>
            </a:r>
            <a:r>
              <a:rPr kumimoji="1" lang="en-US" altLang="zh-TW" sz="1600" dirty="0" err="1">
                <a:solidFill>
                  <a:srgbClr val="FF0000"/>
                </a:solidFill>
              </a:rPr>
              <a:t>Vocab_size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AD626588-EC2D-EEE2-4116-B55D7C483E57}"/>
              </a:ext>
            </a:extLst>
          </p:cNvPr>
          <p:cNvCxnSpPr>
            <a:cxnSpLocks/>
          </p:cNvCxnSpPr>
          <p:nvPr/>
        </p:nvCxnSpPr>
        <p:spPr>
          <a:xfrm>
            <a:off x="6348132" y="3247790"/>
            <a:ext cx="0" cy="378186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F2099F3C-F78E-6A2B-2947-F9C8737CFA85}"/>
              </a:ext>
            </a:extLst>
          </p:cNvPr>
          <p:cNvSpPr txBox="1"/>
          <p:nvPr/>
        </p:nvSpPr>
        <p:spPr>
          <a:xfrm>
            <a:off x="8430482" y="232398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a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apple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b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banana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elephant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eraser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zoo</a:t>
            </a:r>
            <a:endParaRPr kumimoji="1" lang="zh-TW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EB660368-A093-E449-96B6-37BABFD81213}"/>
              </a:ext>
            </a:extLst>
          </p:cNvPr>
          <p:cNvSpPr txBox="1"/>
          <p:nvPr/>
        </p:nvSpPr>
        <p:spPr>
          <a:xfrm>
            <a:off x="9528585" y="2323987"/>
            <a:ext cx="1246720" cy="397031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0.0001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0.600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0.0001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0.0003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0.300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0.05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0.0001</a:t>
            </a:r>
            <a:endParaRPr kumimoji="1" lang="zh-TW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66956FDE-BE9A-324F-F66F-A8C197B137C2}"/>
              </a:ext>
            </a:extLst>
          </p:cNvPr>
          <p:cNvCxnSpPr/>
          <p:nvPr/>
        </p:nvCxnSpPr>
        <p:spPr>
          <a:xfrm flipV="1">
            <a:off x="7572381" y="2479771"/>
            <a:ext cx="728432" cy="182621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E9E6F8AF-77C6-BAD2-7887-E81A757F7645}"/>
              </a:ext>
            </a:extLst>
          </p:cNvPr>
          <p:cNvCxnSpPr>
            <a:cxnSpLocks/>
          </p:cNvCxnSpPr>
          <p:nvPr/>
        </p:nvCxnSpPr>
        <p:spPr>
          <a:xfrm flipH="1" flipV="1">
            <a:off x="7572381" y="4403283"/>
            <a:ext cx="728432" cy="182621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EEE00C0D-5F7E-C3ED-CA9C-8112CF99132E}"/>
              </a:ext>
            </a:extLst>
          </p:cNvPr>
          <p:cNvCxnSpPr/>
          <p:nvPr/>
        </p:nvCxnSpPr>
        <p:spPr>
          <a:xfrm>
            <a:off x="6843972" y="4349834"/>
            <a:ext cx="630978" cy="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右大括弧 52">
            <a:extLst>
              <a:ext uri="{FF2B5EF4-FFF2-40B4-BE49-F238E27FC236}">
                <a16:creationId xmlns:a16="http://schemas.microsoft.com/office/drawing/2014/main" id="{E09434B5-6FEC-D973-FCC9-0E540FD23417}"/>
              </a:ext>
            </a:extLst>
          </p:cNvPr>
          <p:cNvSpPr/>
          <p:nvPr/>
        </p:nvSpPr>
        <p:spPr>
          <a:xfrm>
            <a:off x="10501384" y="2417802"/>
            <a:ext cx="373278" cy="3782688"/>
          </a:xfrm>
          <a:prstGeom prst="rightBrac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2D8C42DF-7E9A-C921-36DB-8E5134655A89}"/>
              </a:ext>
            </a:extLst>
          </p:cNvPr>
          <p:cNvSpPr txBox="1"/>
          <p:nvPr/>
        </p:nvSpPr>
        <p:spPr>
          <a:xfrm>
            <a:off x="10859150" y="3982823"/>
            <a:ext cx="839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Vocab</a:t>
            </a:r>
          </a:p>
          <a:p>
            <a:pPr algn="ctr"/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size</a:t>
            </a:r>
            <a:endParaRPr kumimoji="1" lang="zh-TW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A151BD34-8F4C-0447-E9B3-FEF499EC3283}"/>
              </a:ext>
            </a:extLst>
          </p:cNvPr>
          <p:cNvSpPr txBox="1"/>
          <p:nvPr/>
        </p:nvSpPr>
        <p:spPr>
          <a:xfrm>
            <a:off x="841665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Vocab</a:t>
            </a: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5EEBE339-6BDB-4693-61B8-51C7547502C9}"/>
              </a:ext>
            </a:extLst>
          </p:cNvPr>
          <p:cNvSpPr txBox="1"/>
          <p:nvPr/>
        </p:nvSpPr>
        <p:spPr>
          <a:xfrm>
            <a:off x="951372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Prob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圓角矩形 12">
                <a:extLst>
                  <a:ext uri="{FF2B5EF4-FFF2-40B4-BE49-F238E27FC236}">
                    <a16:creationId xmlns:a16="http://schemas.microsoft.com/office/drawing/2014/main" id="{81E01E23-EA7F-26CA-D7FD-D3AD34EF18E3}"/>
                  </a:ext>
                </a:extLst>
              </p:cNvPr>
              <p:cNvSpPr/>
              <p:nvPr/>
            </p:nvSpPr>
            <p:spPr>
              <a:xfrm>
                <a:off x="2450284" y="2531936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zh-TW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圓角矩形 12">
                <a:extLst>
                  <a:ext uri="{FF2B5EF4-FFF2-40B4-BE49-F238E27FC236}">
                    <a16:creationId xmlns:a16="http://schemas.microsoft.com/office/drawing/2014/main" id="{81E01E23-EA7F-26CA-D7FD-D3AD34EF18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0284" y="2531936"/>
                <a:ext cx="673768" cy="57150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FCE531B0-0209-8911-AB20-73BB1EB3BEA0}"/>
                  </a:ext>
                </a:extLst>
              </p:cNvPr>
              <p:cNvSpPr/>
              <p:nvPr/>
            </p:nvSpPr>
            <p:spPr>
              <a:xfrm>
                <a:off x="1079810" y="2521669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zh-TW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FCE531B0-0209-8911-AB20-73BB1EB3BE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810" y="2521669"/>
                <a:ext cx="673768" cy="57150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695A3FD4-AD49-0352-EE91-263E004765AA}"/>
              </a:ext>
            </a:extLst>
          </p:cNvPr>
          <p:cNvCxnSpPr>
            <a:cxnSpLocks/>
          </p:cNvCxnSpPr>
          <p:nvPr/>
        </p:nvCxnSpPr>
        <p:spPr>
          <a:xfrm flipV="1">
            <a:off x="2787168" y="3226711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B6D5EDE0-8376-B273-E991-B30A58AC223C}"/>
              </a:ext>
            </a:extLst>
          </p:cNvPr>
          <p:cNvCxnSpPr>
            <a:cxnSpLocks/>
          </p:cNvCxnSpPr>
          <p:nvPr/>
        </p:nvCxnSpPr>
        <p:spPr>
          <a:xfrm flipV="1">
            <a:off x="1416694" y="3202782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3BCB72AE-B665-3A90-38A9-632038151578}"/>
              </a:ext>
            </a:extLst>
          </p:cNvPr>
          <p:cNvSpPr/>
          <p:nvPr/>
        </p:nvSpPr>
        <p:spPr>
          <a:xfrm>
            <a:off x="1563505" y="6423560"/>
            <a:ext cx="381628" cy="22922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A6C6F730-BCC8-0DE4-DA77-FCA5960C49C4}"/>
              </a:ext>
            </a:extLst>
          </p:cNvPr>
          <p:cNvSpPr txBox="1"/>
          <p:nvPr/>
        </p:nvSpPr>
        <p:spPr>
          <a:xfrm>
            <a:off x="1878573" y="6390354"/>
            <a:ext cx="18399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Word embeddings</a:t>
            </a:r>
            <a:endParaRPr kumimoji="1" lang="zh-TW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15AFD019-80A5-86B6-961D-076B447FE072}"/>
                  </a:ext>
                </a:extLst>
              </p:cNvPr>
              <p:cNvSpPr txBox="1"/>
              <p:nvPr/>
            </p:nvSpPr>
            <p:spPr>
              <a:xfrm>
                <a:off x="1883751" y="3808794"/>
                <a:ext cx="45416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15AFD019-80A5-86B6-961D-076B447FE0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3751" y="3808794"/>
                <a:ext cx="454165" cy="369332"/>
              </a:xfrm>
              <a:prstGeom prst="rect">
                <a:avLst/>
              </a:prstGeom>
              <a:blipFill>
                <a:blip r:embed="rId8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774BC75C-EEF7-CEC5-4919-CAC1C4FEB363}"/>
                  </a:ext>
                </a:extLst>
              </p:cNvPr>
              <p:cNvSpPr txBox="1"/>
              <p:nvPr/>
            </p:nvSpPr>
            <p:spPr>
              <a:xfrm>
                <a:off x="3241515" y="3808794"/>
                <a:ext cx="45416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774BC75C-EEF7-CEC5-4919-CAC1C4FEB3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1515" y="3808794"/>
                <a:ext cx="454165" cy="369332"/>
              </a:xfrm>
              <a:prstGeom prst="rect">
                <a:avLst/>
              </a:prstGeom>
              <a:blipFill>
                <a:blip r:embed="rId9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99989ED1-753D-4460-DDA1-83C4D06A2F39}"/>
                  </a:ext>
                </a:extLst>
              </p:cNvPr>
              <p:cNvSpPr txBox="1"/>
              <p:nvPr/>
            </p:nvSpPr>
            <p:spPr>
              <a:xfrm>
                <a:off x="653142" y="1509513"/>
                <a:ext cx="247090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400" dirty="0"/>
                  <a:t>*</a:t>
                </a:r>
                <a:r>
                  <a:rPr kumimoji="1" lang="zh-TW" altLang="en-US" sz="1400" dirty="0"/>
                  <a:t>本頁的</a:t>
                </a:r>
                <a:r>
                  <a:rPr kumimoji="1" lang="en-US" altLang="zh-TW" sz="1400" dirty="0"/>
                  <a:t>RNN</a:t>
                </a:r>
                <a:r>
                  <a:rPr kumimoji="1" lang="zh-TW" altLang="en-US" sz="1400" dirty="0"/>
                  <a:t>不包含輸出層</a:t>
                </a:r>
                <a14:m>
                  <m:oMath xmlns:m="http://schemas.openxmlformats.org/officeDocument/2006/math">
                    <m:r>
                      <a:rPr lang="en-US" altLang="zh-TW" sz="14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99989ED1-753D-4460-DDA1-83C4D06A2F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2" y="1509513"/>
                <a:ext cx="2470909" cy="307777"/>
              </a:xfrm>
              <a:prstGeom prst="rect">
                <a:avLst/>
              </a:prstGeom>
              <a:blipFill>
                <a:blip r:embed="rId10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文字方塊 28">
            <a:extLst>
              <a:ext uri="{FF2B5EF4-FFF2-40B4-BE49-F238E27FC236}">
                <a16:creationId xmlns:a16="http://schemas.microsoft.com/office/drawing/2014/main" id="{8FF51323-929F-C653-8DF8-8B33CC851110}"/>
              </a:ext>
            </a:extLst>
          </p:cNvPr>
          <p:cNvSpPr txBox="1"/>
          <p:nvPr/>
        </p:nvSpPr>
        <p:spPr>
          <a:xfrm>
            <a:off x="2037741" y="2077071"/>
            <a:ext cx="1521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(1, </a:t>
            </a:r>
            <a:r>
              <a:rPr kumimoji="1" lang="en-US" altLang="zh-TW" sz="1400" dirty="0" err="1"/>
              <a:t>hidden_size</a:t>
            </a:r>
            <a:r>
              <a:rPr kumimoji="1" lang="en-US" altLang="zh-TW" sz="1400" dirty="0"/>
              <a:t>)</a:t>
            </a:r>
            <a:endParaRPr kumimoji="1" lang="zh-TW" altLang="en-US" sz="14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4DDA4593-CCEC-BA37-2161-5E283A6CD22A}"/>
              </a:ext>
            </a:extLst>
          </p:cNvPr>
          <p:cNvSpPr txBox="1"/>
          <p:nvPr/>
        </p:nvSpPr>
        <p:spPr>
          <a:xfrm>
            <a:off x="655882" y="2078057"/>
            <a:ext cx="1521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(1, </a:t>
            </a:r>
            <a:r>
              <a:rPr kumimoji="1" lang="en-US" altLang="zh-TW" sz="1400" dirty="0" err="1"/>
              <a:t>hidden_size</a:t>
            </a:r>
            <a:r>
              <a:rPr kumimoji="1" lang="en-US" altLang="zh-TW" sz="1400" dirty="0"/>
              <a:t>)</a:t>
            </a:r>
            <a:endParaRPr kumimoji="1" lang="zh-TW" altLang="en-US" sz="1400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AD4420E8-C43F-C5D9-727D-B484E5B01716}"/>
              </a:ext>
            </a:extLst>
          </p:cNvPr>
          <p:cNvSpPr txBox="1"/>
          <p:nvPr/>
        </p:nvSpPr>
        <p:spPr>
          <a:xfrm>
            <a:off x="6287811" y="3275111"/>
            <a:ext cx="10892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b="1" dirty="0" err="1">
                <a:solidFill>
                  <a:schemeClr val="bg1">
                    <a:lumMod val="65000"/>
                  </a:schemeClr>
                </a:solidFill>
              </a:rPr>
              <a:t>Softmax</a:t>
            </a:r>
            <a:endParaRPr kumimoji="1" lang="zh-TW" altLang="en-US" sz="14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642E77C-C0C7-41E1-B2E1-96212DC5C07D}"/>
              </a:ext>
            </a:extLst>
          </p:cNvPr>
          <p:cNvSpPr txBox="1"/>
          <p:nvPr/>
        </p:nvSpPr>
        <p:spPr>
          <a:xfrm>
            <a:off x="5448546" y="1811981"/>
            <a:ext cx="17991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FF0000"/>
                </a:solidFill>
              </a:rPr>
              <a:t>數值未介於</a:t>
            </a:r>
            <a:r>
              <a:rPr kumimoji="1" lang="en-US" altLang="zh-TW" dirty="0">
                <a:solidFill>
                  <a:srgbClr val="FF0000"/>
                </a:solidFill>
              </a:rPr>
              <a:t>0-1</a:t>
            </a:r>
          </a:p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(</a:t>
            </a:r>
            <a:r>
              <a:rPr kumimoji="1" lang="zh-TW" altLang="en-US" dirty="0">
                <a:solidFill>
                  <a:srgbClr val="FF0000"/>
                </a:solidFill>
              </a:rPr>
              <a:t>還不是機率值</a:t>
            </a:r>
            <a:r>
              <a:rPr kumimoji="1" lang="en-US" altLang="zh-TW" dirty="0">
                <a:solidFill>
                  <a:srgbClr val="FF0000"/>
                </a:solidFill>
              </a:rPr>
              <a:t>)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56993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4F101E7-FF59-064D-28EA-E3EB7430F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BFF5B4C-F404-12A6-21C8-AD264C5613B1}"/>
              </a:ext>
            </a:extLst>
          </p:cNvPr>
          <p:cNvSpPr txBox="1"/>
          <p:nvPr/>
        </p:nvSpPr>
        <p:spPr>
          <a:xfrm>
            <a:off x="653144" y="4001428"/>
            <a:ext cx="10918370" cy="1420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000" b="1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Softmax</a:t>
            </a:r>
            <a:r>
              <a:rPr kumimoji="1" lang="en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function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，採用 </a:t>
            </a:r>
            <a:r>
              <a:rPr kumimoji="1" lang="en-US" altLang="zh-TW" sz="20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exponential: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恆正（符號不變性）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大的數值更大，小的數值更小，有助於梯度下降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12A1F9FE-1A80-0C2B-D0AF-2C93AAC49597}"/>
                  </a:ext>
                </a:extLst>
              </p:cNvPr>
              <p:cNvSpPr txBox="1"/>
              <p:nvPr/>
            </p:nvSpPr>
            <p:spPr>
              <a:xfrm>
                <a:off x="3922850" y="3753571"/>
                <a:ext cx="6094602" cy="11583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2400" i="0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Softmax</m:t>
                      </m:r>
                      <m:d>
                        <m:dPr>
                          <m:ctrlPr>
                            <a:rPr lang="zh-TW" altLang="zh-TW" sz="24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zh-TW" sz="24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 kern="10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zh-TW" sz="24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zh-TW" altLang="zh-TW" sz="2400" i="1" kern="1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2400" i="1" kern="100"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zh-TW" altLang="zh-TW" sz="2400" i="1" kern="1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 kern="100"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kern="100" smtClean="0"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zh-TW" altLang="zh-TW" sz="24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altLang="zh-TW" sz="24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zh-TW" altLang="zh-TW" sz="24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24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zh-TW" altLang="zh-TW" sz="2400" i="1" kern="100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 kern="100">
                                          <a:effectLst/>
                                          <a:latin typeface="Cambria Math" panose="02040503050406030204" pitchFamily="18" charset="0"/>
                                          <a:ea typeface="新細明體" panose="02020500000000000000" pitchFamily="18" charset="-12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 kern="100">
                                          <a:effectLst/>
                                          <a:latin typeface="Cambria Math" panose="02040503050406030204" pitchFamily="18" charset="0"/>
                                          <a:ea typeface="新細明體" panose="02020500000000000000" pitchFamily="18" charset="-120"/>
                                          <a:cs typeface="Times New Roman" panose="020206030504050203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zh-TW" altLang="zh-TW" sz="2400" kern="100" dirty="0"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12A1F9FE-1A80-0C2B-D0AF-2C93AAC495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2850" y="3753571"/>
                <a:ext cx="6094602" cy="1158394"/>
              </a:xfrm>
              <a:prstGeom prst="rect">
                <a:avLst/>
              </a:prstGeom>
              <a:blipFill>
                <a:blip r:embed="rId3"/>
                <a:stretch>
                  <a:fillRect t="-5435" b="-641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B2EC388A-F891-908F-9D69-79A14D2A4FC1}"/>
                  </a:ext>
                </a:extLst>
              </p:cNvPr>
              <p:cNvSpPr txBox="1"/>
              <p:nvPr/>
            </p:nvSpPr>
            <p:spPr>
              <a:xfrm>
                <a:off x="5910147" y="2547767"/>
                <a:ext cx="4995760" cy="8535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zh-TW" sz="2400" i="1" kern="1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 kern="100"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 kern="100"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subSup"/>
                              <m:supHide m:val="on"/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zh-TW" altLang="zh-TW" sz="2400" i="1" kern="1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 kern="100"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 kern="100"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0.5,0.25,0.25</m:t>
                          </m:r>
                        </m:e>
                      </m:d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B2EC388A-F891-908F-9D69-79A14D2A4F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147" y="2547767"/>
                <a:ext cx="4995760" cy="853567"/>
              </a:xfrm>
              <a:prstGeom prst="rect">
                <a:avLst/>
              </a:prstGeom>
              <a:blipFill>
                <a:blip r:embed="rId4"/>
                <a:stretch>
                  <a:fillRect t="-29412" b="-985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標題 1">
            <a:extLst>
              <a:ext uri="{FF2B5EF4-FFF2-40B4-BE49-F238E27FC236}">
                <a16:creationId xmlns:a16="http://schemas.microsoft.com/office/drawing/2014/main" id="{2F606194-2E6B-D56B-5920-C6EE7B170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/>
          <a:p>
            <a:r>
              <a:rPr kumimoji="1" lang="zh-TW" altLang="en-US" dirty="0"/>
              <a:t>如何把模型輸出變成機率值 </a:t>
            </a:r>
            <a:r>
              <a:rPr kumimoji="1" lang="en-US" altLang="zh-TW" dirty="0"/>
              <a:t>(0~1)</a:t>
            </a:r>
            <a:r>
              <a:rPr kumimoji="1" lang="zh-TW" altLang="en-US" dirty="0"/>
              <a:t>？</a:t>
            </a:r>
          </a:p>
        </p:txBody>
      </p: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2F11EF77-0F13-5399-5351-9EEC83ADF61A}"/>
              </a:ext>
            </a:extLst>
          </p:cNvPr>
          <p:cNvGrpSpPr/>
          <p:nvPr/>
        </p:nvGrpSpPr>
        <p:grpSpPr>
          <a:xfrm>
            <a:off x="1505552" y="2148768"/>
            <a:ext cx="3969606" cy="1160498"/>
            <a:chOff x="1505552" y="1732460"/>
            <a:chExt cx="3969606" cy="1160498"/>
          </a:xfrm>
        </p:grpSpPr>
        <p:sp>
          <p:nvSpPr>
            <p:cNvPr id="21" name="圓角矩形 20">
              <a:extLst>
                <a:ext uri="{FF2B5EF4-FFF2-40B4-BE49-F238E27FC236}">
                  <a16:creationId xmlns:a16="http://schemas.microsoft.com/office/drawing/2014/main" id="{77FB032C-9A7C-E597-14BB-8B36694B8D3A}"/>
                </a:ext>
              </a:extLst>
            </p:cNvPr>
            <p:cNvSpPr/>
            <p:nvPr/>
          </p:nvSpPr>
          <p:spPr>
            <a:xfrm>
              <a:off x="1505552" y="2165558"/>
              <a:ext cx="914400" cy="725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b="1" dirty="0">
                  <a:solidFill>
                    <a:schemeClr val="tx1"/>
                  </a:solidFill>
                </a:rPr>
                <a:t>50</a:t>
              </a:r>
              <a:endParaRPr kumimoji="1" lang="zh-TW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22" name="圓角矩形 21">
              <a:extLst>
                <a:ext uri="{FF2B5EF4-FFF2-40B4-BE49-F238E27FC236}">
                  <a16:creationId xmlns:a16="http://schemas.microsoft.com/office/drawing/2014/main" id="{368B611F-F5D2-2C0F-4596-3EF40C1D3A43}"/>
                </a:ext>
              </a:extLst>
            </p:cNvPr>
            <p:cNvSpPr/>
            <p:nvPr/>
          </p:nvSpPr>
          <p:spPr>
            <a:xfrm>
              <a:off x="3008450" y="2162696"/>
              <a:ext cx="914400" cy="725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b="1" dirty="0">
                  <a:solidFill>
                    <a:schemeClr val="tx1"/>
                  </a:solidFill>
                </a:rPr>
                <a:t>25</a:t>
              </a:r>
              <a:endParaRPr kumimoji="1" lang="zh-TW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23" name="圓角矩形 22">
              <a:extLst>
                <a:ext uri="{FF2B5EF4-FFF2-40B4-BE49-F238E27FC236}">
                  <a16:creationId xmlns:a16="http://schemas.microsoft.com/office/drawing/2014/main" id="{EDA998CF-B93C-553D-D59D-654B47EA42B7}"/>
                </a:ext>
              </a:extLst>
            </p:cNvPr>
            <p:cNvSpPr/>
            <p:nvPr/>
          </p:nvSpPr>
          <p:spPr>
            <a:xfrm>
              <a:off x="4511348" y="2166989"/>
              <a:ext cx="914400" cy="725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b="1" dirty="0">
                  <a:solidFill>
                    <a:schemeClr val="tx1"/>
                  </a:solidFill>
                </a:rPr>
                <a:t>25</a:t>
              </a:r>
              <a:endParaRPr kumimoji="1" lang="zh-TW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BBABCF01-4DBE-6BAF-B4F0-35684E20721B}"/>
                </a:ext>
              </a:extLst>
            </p:cNvPr>
            <p:cNvSpPr txBox="1"/>
            <p:nvPr/>
          </p:nvSpPr>
          <p:spPr>
            <a:xfrm>
              <a:off x="1505552" y="1735516"/>
              <a:ext cx="10128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Class_0</a:t>
              </a:r>
              <a:endParaRPr kumimoji="1" lang="zh-TW" altLang="en-US" dirty="0"/>
            </a:p>
          </p:txBody>
        </p:sp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B34CDBD8-5CE6-FCE8-7B32-CBE0077CF008}"/>
                </a:ext>
              </a:extLst>
            </p:cNvPr>
            <p:cNvSpPr txBox="1"/>
            <p:nvPr/>
          </p:nvSpPr>
          <p:spPr>
            <a:xfrm>
              <a:off x="3000353" y="1732460"/>
              <a:ext cx="10128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Class_1</a:t>
              </a:r>
              <a:endParaRPr kumimoji="1" lang="zh-TW" altLang="en-US" dirty="0"/>
            </a:p>
          </p:txBody>
        </p: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79272008-05DB-F13B-6107-A35290A800AC}"/>
                </a:ext>
              </a:extLst>
            </p:cNvPr>
            <p:cNvSpPr txBox="1"/>
            <p:nvPr/>
          </p:nvSpPr>
          <p:spPr>
            <a:xfrm>
              <a:off x="4462284" y="1732460"/>
              <a:ext cx="10128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Class_2</a:t>
              </a:r>
              <a:endParaRPr kumimoji="1" lang="zh-TW" altLang="en-US" dirty="0"/>
            </a:p>
          </p:txBody>
        </p:sp>
      </p:grp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B8E8D628-24BB-3651-AED2-3924533AFB88}"/>
              </a:ext>
            </a:extLst>
          </p:cNvPr>
          <p:cNvCxnSpPr/>
          <p:nvPr/>
        </p:nvCxnSpPr>
        <p:spPr>
          <a:xfrm>
            <a:off x="5816542" y="2895692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98DECEB4-D728-E381-79DC-9A2A907BB3AB}"/>
              </a:ext>
            </a:extLst>
          </p:cNvPr>
          <p:cNvSpPr txBox="1"/>
          <p:nvPr/>
        </p:nvSpPr>
        <p:spPr>
          <a:xfrm>
            <a:off x="1430137" y="5885642"/>
            <a:ext cx="43109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FF0000"/>
                </a:solidFill>
              </a:rPr>
              <a:t>注意！</a:t>
            </a:r>
            <a:r>
              <a:rPr kumimoji="1" lang="en-US" altLang="zh-TW" dirty="0" err="1">
                <a:solidFill>
                  <a:srgbClr val="FF0000"/>
                </a:solidFill>
              </a:rPr>
              <a:t>Softmax</a:t>
            </a:r>
            <a:r>
              <a:rPr kumimoji="1" lang="zh-TW" altLang="en-US" dirty="0">
                <a:solidFill>
                  <a:srgbClr val="FF0000"/>
                </a:solidFill>
              </a:rPr>
              <a:t> 有考慮到類別總和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7B6EC6BA-2673-FAF9-55F4-13D6377D0FE1}"/>
              </a:ext>
            </a:extLst>
          </p:cNvPr>
          <p:cNvSpPr txBox="1"/>
          <p:nvPr/>
        </p:nvSpPr>
        <p:spPr>
          <a:xfrm>
            <a:off x="681130" y="1584366"/>
            <a:ext cx="43109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FF0000"/>
                </a:solidFill>
              </a:rPr>
              <a:t>機率總和為</a:t>
            </a:r>
            <a:r>
              <a:rPr kumimoji="1" lang="en-US" altLang="zh-TW" dirty="0">
                <a:solidFill>
                  <a:srgbClr val="FF0000"/>
                </a:solidFill>
              </a:rPr>
              <a:t>1</a:t>
            </a:r>
            <a:r>
              <a:rPr kumimoji="1" lang="zh-TW" altLang="en-US" dirty="0">
                <a:solidFill>
                  <a:srgbClr val="FF0000"/>
                </a:solidFill>
              </a:rPr>
              <a:t>，每個機率介於 </a:t>
            </a:r>
            <a:r>
              <a:rPr kumimoji="1" lang="en-US" altLang="zh-TW" dirty="0">
                <a:solidFill>
                  <a:srgbClr val="FF0000"/>
                </a:solidFill>
              </a:rPr>
              <a:t>0 ~ 1</a:t>
            </a:r>
            <a:r>
              <a:rPr kumimoji="1" lang="zh-TW" altLang="en-US" dirty="0">
                <a:solidFill>
                  <a:srgbClr val="FF0000"/>
                </a:solidFill>
              </a:rPr>
              <a:t> 之間</a:t>
            </a:r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430AB3FD-82F3-7DB5-B57B-569414F3B100}"/>
              </a:ext>
            </a:extLst>
          </p:cNvPr>
          <p:cNvGrpSpPr/>
          <p:nvPr/>
        </p:nvGrpSpPr>
        <p:grpSpPr>
          <a:xfrm>
            <a:off x="1665386" y="3244334"/>
            <a:ext cx="3600528" cy="369332"/>
            <a:chOff x="1665386" y="3244334"/>
            <a:chExt cx="3600528" cy="3693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文字方塊 5">
                  <a:extLst>
                    <a:ext uri="{FF2B5EF4-FFF2-40B4-BE49-F238E27FC236}">
                      <a16:creationId xmlns:a16="http://schemas.microsoft.com/office/drawing/2014/main" id="{F399D457-17BA-82C7-07FA-BDAE046DF4A5}"/>
                    </a:ext>
                  </a:extLst>
                </p:cNvPr>
                <p:cNvSpPr txBox="1"/>
                <p:nvPr/>
              </p:nvSpPr>
              <p:spPr>
                <a:xfrm>
                  <a:off x="1665386" y="3244334"/>
                  <a:ext cx="59473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zh-TW" sz="18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800" i="1" kern="10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1800" b="0" i="1" kern="100" smtClean="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6" name="文字方塊 5">
                  <a:extLst>
                    <a:ext uri="{FF2B5EF4-FFF2-40B4-BE49-F238E27FC236}">
                      <a16:creationId xmlns:a16="http://schemas.microsoft.com/office/drawing/2014/main" id="{F399D457-17BA-82C7-07FA-BDAE046DF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5386" y="3244334"/>
                  <a:ext cx="594732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E55D4418-96D3-D46A-50E3-BC5E2D0D3574}"/>
                    </a:ext>
                  </a:extLst>
                </p:cNvPr>
                <p:cNvSpPr txBox="1"/>
                <p:nvPr/>
              </p:nvSpPr>
              <p:spPr>
                <a:xfrm>
                  <a:off x="3168422" y="3244334"/>
                  <a:ext cx="59473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zh-TW" sz="18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800" i="1" kern="10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1800" b="0" i="1" kern="100" smtClean="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E55D4418-96D3-D46A-50E3-BC5E2D0D35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68422" y="3244334"/>
                  <a:ext cx="594732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文字方塊 7">
                  <a:extLst>
                    <a:ext uri="{FF2B5EF4-FFF2-40B4-BE49-F238E27FC236}">
                      <a16:creationId xmlns:a16="http://schemas.microsoft.com/office/drawing/2014/main" id="{E0EF4EC4-170D-5782-E7C4-39CB779BAFA3}"/>
                    </a:ext>
                  </a:extLst>
                </p:cNvPr>
                <p:cNvSpPr txBox="1"/>
                <p:nvPr/>
              </p:nvSpPr>
              <p:spPr>
                <a:xfrm>
                  <a:off x="4671182" y="3244334"/>
                  <a:ext cx="59473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zh-TW" sz="18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800" i="1" kern="10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1800" b="0" i="1" kern="100" smtClean="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8" name="文字方塊 7">
                  <a:extLst>
                    <a:ext uri="{FF2B5EF4-FFF2-40B4-BE49-F238E27FC236}">
                      <a16:creationId xmlns:a16="http://schemas.microsoft.com/office/drawing/2014/main" id="{E0EF4EC4-170D-5782-E7C4-39CB779BAF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1182" y="3244334"/>
                  <a:ext cx="594732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31999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2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93699-6D61-2489-3C09-4A453A7D6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D915D38-9E58-9B05-0B45-EFD2110DE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A60659BE-C151-D858-EE38-BE4348DC92A6}"/>
                  </a:ext>
                </a:extLst>
              </p:cNvPr>
              <p:cNvSpPr txBox="1"/>
              <p:nvPr/>
            </p:nvSpPr>
            <p:spPr>
              <a:xfrm>
                <a:off x="5649362" y="4274703"/>
                <a:ext cx="6275618" cy="15303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zh-TW" sz="2400" i="0" kern="100" smtClean="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Softmax</m:t>
                    </m:r>
                    <m:d>
                      <m:dPr>
                        <m:ctrlPr>
                          <a:rPr lang="zh-TW" altLang="zh-TW" sz="24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zh-TW" sz="24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 kern="100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 kern="100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altLang="zh-TW" sz="2400" i="1" kern="10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zh-TW" altLang="zh-TW" sz="24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zh-TW" altLang="zh-TW" sz="24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400" i="1" kern="100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altLang="zh-TW" sz="2400" i="1" kern="100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zh-TW" sz="2400" i="1" kern="100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sup>
                        </m:sSubSup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zh-TW" altLang="zh-TW" sz="24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altLang="zh-TW" sz="2400" i="1" kern="100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zh-TW" altLang="zh-TW" sz="2400" i="1" kern="10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2400" i="1" kern="100">
                                    <a:effectLst/>
                                    <a:latin typeface="Cambria Math" panose="02040503050406030204" pitchFamily="18" charset="0"/>
                                    <a:ea typeface="新細明體" panose="02020500000000000000" pitchFamily="18" charset="-120"/>
                                    <a:cs typeface="Times New Roman" panose="020206030504050203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b>
                                  <m:sSubPr>
                                    <m:ctrlPr>
                                      <a:rPr lang="zh-TW" altLang="zh-TW" sz="2400" i="1" kern="100"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 kern="100">
                                        <a:effectLst/>
                                        <a:latin typeface="Cambria Math" panose="02040503050406030204" pitchFamily="18" charset="0"/>
                                        <a:ea typeface="新細明體" panose="02020500000000000000" pitchFamily="18" charset="-120"/>
                                        <a:cs typeface="Times New Roman" panose="020206030504050203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TW" sz="2400" i="1" kern="100">
                                        <a:effectLst/>
                                        <a:latin typeface="Cambria Math" panose="02040503050406030204" pitchFamily="18" charset="0"/>
                                        <a:ea typeface="新細明體" panose="02020500000000000000" pitchFamily="18" charset="-12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sup>
                            </m:sSup>
                          </m:e>
                        </m:nary>
                      </m:den>
                    </m:f>
                  </m:oMath>
                </a14:m>
                <a:r>
                  <a:rPr lang="zh-TW" altLang="en-US" sz="2400" dirty="0"/>
                  <a:t> </a:t>
                </a:r>
                <a:endParaRPr lang="en-US" altLang="zh-TW" sz="24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0" smtClean="0">
                          <a:latin typeface="Cambria Math" panose="02040503050406030204" pitchFamily="18" charset="0"/>
                        </a:rPr>
                        <m:t>                   </m:t>
                      </m:r>
                      <m:r>
                        <a:rPr lang="zh-TW" altLang="en-US" sz="24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400">
                              <a:latin typeface="Cambria Math" panose="02040503050406030204" pitchFamily="18" charset="0"/>
                            </a:rPr>
                            <m:t>1.0</m:t>
                          </m:r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smtClean="0">
                              <a:latin typeface="Cambria Math" panose="02040503050406030204" pitchFamily="18" charset="0"/>
                            </a:rPr>
                            <m:t>2.6786</m:t>
                          </m:r>
                          <m:r>
                            <m:rPr>
                              <m:sty m:val="p"/>
                            </m:rPr>
                            <a:rPr lang="en-US" altLang="zh-TW" sz="2400" smtClean="0">
                              <a:latin typeface="Cambria Math" panose="02040503050406030204" pitchFamily="18" charset="0"/>
                            </a:rPr>
                            <m:t>e</m:t>
                          </m:r>
                          <m:r>
                            <a:rPr lang="en-US" altLang="zh-TW" sz="2400" smtClean="0">
                              <a:latin typeface="Cambria Math" panose="02040503050406030204" pitchFamily="18" charset="0"/>
                            </a:rPr>
                            <m:t>−33</m:t>
                          </m:r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1.3888</m:t>
                          </m:r>
                          <m:r>
                            <m:rPr>
                              <m:sty m:val="p"/>
                            </m:rPr>
                            <a:rPr lang="en-US" altLang="zh-TW" sz="2400" i="1">
                              <a:latin typeface="Cambria Math" panose="02040503050406030204" pitchFamily="18" charset="0"/>
                            </a:rPr>
                            <m:t>e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−11</m:t>
                          </m:r>
                        </m:e>
                      </m:d>
                    </m:oMath>
                  </m:oMathPara>
                </a14:m>
                <a:endParaRPr lang="zh-TW" altLang="zh-TW" sz="2400" kern="100" dirty="0"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A60659BE-C151-D858-EE38-BE4348DC92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9362" y="4274703"/>
                <a:ext cx="6275618" cy="1530355"/>
              </a:xfrm>
              <a:prstGeom prst="rect">
                <a:avLst/>
              </a:prstGeom>
              <a:blipFill>
                <a:blip r:embed="rId3"/>
                <a:stretch>
                  <a:fillRect l="-2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6E240716-3BB1-2663-A2A0-7C8378D0E774}"/>
                  </a:ext>
                </a:extLst>
              </p:cNvPr>
              <p:cNvSpPr txBox="1"/>
              <p:nvPr/>
            </p:nvSpPr>
            <p:spPr>
              <a:xfrm>
                <a:off x="5910147" y="2547767"/>
                <a:ext cx="4995760" cy="8535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num>
                        <m:den>
                          <m:nary>
                            <m:naryPr>
                              <m:chr m:val="∑"/>
                              <m:limLoc m:val="subSup"/>
                              <m:supHide m:val="on"/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zh-TW" altLang="en-US" sz="24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zh-TW" altLang="en-US" sz="24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j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1.0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zh-TW" altLang="en-US" sz="24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0.5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0.5</m:t>
                          </m:r>
                        </m:e>
                      </m:d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6E240716-3BB1-2663-A2A0-7C8378D0E7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147" y="2547767"/>
                <a:ext cx="4995760" cy="853567"/>
              </a:xfrm>
              <a:prstGeom prst="rect">
                <a:avLst/>
              </a:prstGeom>
              <a:blipFill>
                <a:blip r:embed="rId4"/>
                <a:stretch>
                  <a:fillRect t="-29412" b="-985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標題 1">
            <a:extLst>
              <a:ext uri="{FF2B5EF4-FFF2-40B4-BE49-F238E27FC236}">
                <a16:creationId xmlns:a16="http://schemas.microsoft.com/office/drawing/2014/main" id="{010F9AFB-3FAB-F455-2CC2-B45B3BEAE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/>
          <a:p>
            <a:r>
              <a:rPr kumimoji="1" lang="zh-TW" altLang="en-US" dirty="0"/>
              <a:t>為什麼</a:t>
            </a:r>
            <a:r>
              <a:rPr kumimoji="1" lang="zh-TW" altLang="en-US" sz="48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恆正重要？</a:t>
            </a:r>
            <a:endParaRPr kumimoji="1" lang="zh-TW" altLang="en-US" dirty="0"/>
          </a:p>
        </p:txBody>
      </p: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1D6BAF08-F8CF-4DB0-F1E9-44749162B485}"/>
              </a:ext>
            </a:extLst>
          </p:cNvPr>
          <p:cNvGrpSpPr/>
          <p:nvPr/>
        </p:nvGrpSpPr>
        <p:grpSpPr>
          <a:xfrm>
            <a:off x="1505552" y="2148768"/>
            <a:ext cx="3969606" cy="1160498"/>
            <a:chOff x="1505552" y="1732460"/>
            <a:chExt cx="3969606" cy="1160498"/>
          </a:xfrm>
        </p:grpSpPr>
        <p:sp>
          <p:nvSpPr>
            <p:cNvPr id="21" name="圓角矩形 20">
              <a:extLst>
                <a:ext uri="{FF2B5EF4-FFF2-40B4-BE49-F238E27FC236}">
                  <a16:creationId xmlns:a16="http://schemas.microsoft.com/office/drawing/2014/main" id="{B2F448A7-939A-D9D1-BEA2-4A5937CE06AF}"/>
                </a:ext>
              </a:extLst>
            </p:cNvPr>
            <p:cNvSpPr/>
            <p:nvPr/>
          </p:nvSpPr>
          <p:spPr>
            <a:xfrm>
              <a:off x="1505552" y="2165558"/>
              <a:ext cx="914400" cy="725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b="1" dirty="0">
                  <a:solidFill>
                    <a:schemeClr val="tx1"/>
                  </a:solidFill>
                </a:rPr>
                <a:t>50</a:t>
              </a:r>
              <a:endParaRPr kumimoji="1" lang="zh-TW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22" name="圓角矩形 21">
              <a:extLst>
                <a:ext uri="{FF2B5EF4-FFF2-40B4-BE49-F238E27FC236}">
                  <a16:creationId xmlns:a16="http://schemas.microsoft.com/office/drawing/2014/main" id="{B584FF35-E331-5218-78B0-D25C3D3440AA}"/>
                </a:ext>
              </a:extLst>
            </p:cNvPr>
            <p:cNvSpPr/>
            <p:nvPr/>
          </p:nvSpPr>
          <p:spPr>
            <a:xfrm>
              <a:off x="3008450" y="2162696"/>
              <a:ext cx="914400" cy="725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b="1" dirty="0">
                  <a:solidFill>
                    <a:srgbClr val="FF0000"/>
                  </a:solidFill>
                </a:rPr>
                <a:t>-</a:t>
              </a:r>
              <a:r>
                <a:rPr kumimoji="1" lang="en-US" altLang="zh-TW" sz="2400" b="1" dirty="0">
                  <a:solidFill>
                    <a:schemeClr val="tx1"/>
                  </a:solidFill>
                </a:rPr>
                <a:t>25</a:t>
              </a:r>
              <a:endParaRPr kumimoji="1" lang="zh-TW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23" name="圓角矩形 22">
              <a:extLst>
                <a:ext uri="{FF2B5EF4-FFF2-40B4-BE49-F238E27FC236}">
                  <a16:creationId xmlns:a16="http://schemas.microsoft.com/office/drawing/2014/main" id="{D21BE04E-7EF0-0A9C-AB28-E9A8A7C92946}"/>
                </a:ext>
              </a:extLst>
            </p:cNvPr>
            <p:cNvSpPr/>
            <p:nvPr/>
          </p:nvSpPr>
          <p:spPr>
            <a:xfrm>
              <a:off x="4511348" y="2166989"/>
              <a:ext cx="914400" cy="725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b="1" dirty="0">
                  <a:solidFill>
                    <a:schemeClr val="tx1"/>
                  </a:solidFill>
                </a:rPr>
                <a:t>25</a:t>
              </a:r>
              <a:endParaRPr kumimoji="1" lang="zh-TW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9CC8C825-4038-FD27-2350-49B960958F4D}"/>
                </a:ext>
              </a:extLst>
            </p:cNvPr>
            <p:cNvSpPr txBox="1"/>
            <p:nvPr/>
          </p:nvSpPr>
          <p:spPr>
            <a:xfrm>
              <a:off x="1505552" y="1735516"/>
              <a:ext cx="10128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Class_0</a:t>
              </a:r>
              <a:endParaRPr kumimoji="1" lang="zh-TW" altLang="en-US" dirty="0"/>
            </a:p>
          </p:txBody>
        </p:sp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480A144D-0FFC-49BA-6864-E607BC5C7A8B}"/>
                </a:ext>
              </a:extLst>
            </p:cNvPr>
            <p:cNvSpPr txBox="1"/>
            <p:nvPr/>
          </p:nvSpPr>
          <p:spPr>
            <a:xfrm>
              <a:off x="3000353" y="1732460"/>
              <a:ext cx="10128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Class_1</a:t>
              </a:r>
              <a:endParaRPr kumimoji="1" lang="zh-TW" altLang="en-US" dirty="0"/>
            </a:p>
          </p:txBody>
        </p: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137D865E-C8F1-7227-98D8-EAEC471EE617}"/>
                </a:ext>
              </a:extLst>
            </p:cNvPr>
            <p:cNvSpPr txBox="1"/>
            <p:nvPr/>
          </p:nvSpPr>
          <p:spPr>
            <a:xfrm>
              <a:off x="4462284" y="1732460"/>
              <a:ext cx="10128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Class_2</a:t>
              </a:r>
              <a:endParaRPr kumimoji="1" lang="zh-TW" altLang="en-US" dirty="0"/>
            </a:p>
          </p:txBody>
        </p:sp>
      </p:grp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BE9D1213-D3B3-0F8C-AA53-B5DB07D26041}"/>
              </a:ext>
            </a:extLst>
          </p:cNvPr>
          <p:cNvCxnSpPr/>
          <p:nvPr/>
        </p:nvCxnSpPr>
        <p:spPr>
          <a:xfrm>
            <a:off x="5816542" y="2895692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字方塊 1">
            <a:extLst>
              <a:ext uri="{FF2B5EF4-FFF2-40B4-BE49-F238E27FC236}">
                <a16:creationId xmlns:a16="http://schemas.microsoft.com/office/drawing/2014/main" id="{E0A176E2-DC09-5778-84A3-AC2AC1088974}"/>
              </a:ext>
            </a:extLst>
          </p:cNvPr>
          <p:cNvSpPr txBox="1"/>
          <p:nvPr/>
        </p:nvSpPr>
        <p:spPr>
          <a:xfrm>
            <a:off x="681130" y="1584366"/>
            <a:ext cx="43109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FF0000"/>
                </a:solidFill>
              </a:rPr>
              <a:t>機率總和為</a:t>
            </a:r>
            <a:r>
              <a:rPr kumimoji="1" lang="en-US" altLang="zh-TW" dirty="0">
                <a:solidFill>
                  <a:srgbClr val="FF0000"/>
                </a:solidFill>
              </a:rPr>
              <a:t>1</a:t>
            </a:r>
            <a:r>
              <a:rPr kumimoji="1" lang="zh-TW" altLang="en-US" dirty="0">
                <a:solidFill>
                  <a:srgbClr val="FF0000"/>
                </a:solidFill>
              </a:rPr>
              <a:t>，每個機率介於 </a:t>
            </a:r>
            <a:r>
              <a:rPr kumimoji="1" lang="en-US" altLang="zh-TW" dirty="0">
                <a:solidFill>
                  <a:srgbClr val="FF0000"/>
                </a:solidFill>
              </a:rPr>
              <a:t>0 ~ 1</a:t>
            </a:r>
            <a:r>
              <a:rPr kumimoji="1" lang="zh-TW" altLang="en-US" dirty="0">
                <a:solidFill>
                  <a:srgbClr val="FF0000"/>
                </a:solidFill>
              </a:rPr>
              <a:t> 之間</a:t>
            </a:r>
          </a:p>
        </p:txBody>
      </p:sp>
      <p:grpSp>
        <p:nvGrpSpPr>
          <p:cNvPr id="8" name="群組 7">
            <a:extLst>
              <a:ext uri="{FF2B5EF4-FFF2-40B4-BE49-F238E27FC236}">
                <a16:creationId xmlns:a16="http://schemas.microsoft.com/office/drawing/2014/main" id="{12FB4E9F-E3C0-281B-A8A3-757089B8AF9D}"/>
              </a:ext>
            </a:extLst>
          </p:cNvPr>
          <p:cNvGrpSpPr/>
          <p:nvPr/>
        </p:nvGrpSpPr>
        <p:grpSpPr>
          <a:xfrm>
            <a:off x="1665386" y="3244334"/>
            <a:ext cx="3600528" cy="369332"/>
            <a:chOff x="1665386" y="3244334"/>
            <a:chExt cx="3600528" cy="3693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文字方塊 2">
                  <a:extLst>
                    <a:ext uri="{FF2B5EF4-FFF2-40B4-BE49-F238E27FC236}">
                      <a16:creationId xmlns:a16="http://schemas.microsoft.com/office/drawing/2014/main" id="{E2CBA6F4-0767-ED0E-ACDF-FD8768216CB3}"/>
                    </a:ext>
                  </a:extLst>
                </p:cNvPr>
                <p:cNvSpPr txBox="1"/>
                <p:nvPr/>
              </p:nvSpPr>
              <p:spPr>
                <a:xfrm>
                  <a:off x="1665386" y="3244334"/>
                  <a:ext cx="59473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zh-TW" sz="18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800" i="1" kern="10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1800" b="0" i="1" kern="100" smtClean="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3" name="文字方塊 2">
                  <a:extLst>
                    <a:ext uri="{FF2B5EF4-FFF2-40B4-BE49-F238E27FC236}">
                      <a16:creationId xmlns:a16="http://schemas.microsoft.com/office/drawing/2014/main" id="{E2CBA6F4-0767-ED0E-ACDF-FD8768216C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5386" y="3244334"/>
                  <a:ext cx="594732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文字方塊 5">
                  <a:extLst>
                    <a:ext uri="{FF2B5EF4-FFF2-40B4-BE49-F238E27FC236}">
                      <a16:creationId xmlns:a16="http://schemas.microsoft.com/office/drawing/2014/main" id="{E49AC935-27F2-DF67-BC99-46A145A203D4}"/>
                    </a:ext>
                  </a:extLst>
                </p:cNvPr>
                <p:cNvSpPr txBox="1"/>
                <p:nvPr/>
              </p:nvSpPr>
              <p:spPr>
                <a:xfrm>
                  <a:off x="3168422" y="3244334"/>
                  <a:ext cx="59473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zh-TW" sz="18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800" i="1" kern="10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1800" b="0" i="1" kern="100" smtClean="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6" name="文字方塊 5">
                  <a:extLst>
                    <a:ext uri="{FF2B5EF4-FFF2-40B4-BE49-F238E27FC236}">
                      <a16:creationId xmlns:a16="http://schemas.microsoft.com/office/drawing/2014/main" id="{E49AC935-27F2-DF67-BC99-46A145A203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68422" y="3244334"/>
                  <a:ext cx="594732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25BCDB22-8AE2-B8BC-2143-F44A03AF5EC1}"/>
                    </a:ext>
                  </a:extLst>
                </p:cNvPr>
                <p:cNvSpPr txBox="1"/>
                <p:nvPr/>
              </p:nvSpPr>
              <p:spPr>
                <a:xfrm>
                  <a:off x="4671182" y="3244334"/>
                  <a:ext cx="59473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zh-TW" sz="18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800" i="1" kern="10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1800" b="0" i="1" kern="100" smtClean="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25BCDB22-8AE2-B8BC-2143-F44A03AF5E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1182" y="3244334"/>
                  <a:ext cx="594732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" name="群組 9">
            <a:extLst>
              <a:ext uri="{FF2B5EF4-FFF2-40B4-BE49-F238E27FC236}">
                <a16:creationId xmlns:a16="http://schemas.microsoft.com/office/drawing/2014/main" id="{923D3609-1C5B-CDB6-9488-D0918A51C579}"/>
              </a:ext>
            </a:extLst>
          </p:cNvPr>
          <p:cNvGrpSpPr/>
          <p:nvPr/>
        </p:nvGrpSpPr>
        <p:grpSpPr>
          <a:xfrm>
            <a:off x="1505552" y="4085977"/>
            <a:ext cx="3969606" cy="1160498"/>
            <a:chOff x="1505552" y="1732460"/>
            <a:chExt cx="3969606" cy="1160498"/>
          </a:xfrm>
        </p:grpSpPr>
        <p:sp>
          <p:nvSpPr>
            <p:cNvPr id="12" name="圓角矩形 11">
              <a:extLst>
                <a:ext uri="{FF2B5EF4-FFF2-40B4-BE49-F238E27FC236}">
                  <a16:creationId xmlns:a16="http://schemas.microsoft.com/office/drawing/2014/main" id="{BDA3D4E3-8CCA-00DB-EE8A-7FEC67A3676F}"/>
                </a:ext>
              </a:extLst>
            </p:cNvPr>
            <p:cNvSpPr/>
            <p:nvPr/>
          </p:nvSpPr>
          <p:spPr>
            <a:xfrm>
              <a:off x="1505552" y="2165558"/>
              <a:ext cx="914400" cy="725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b="1" dirty="0">
                  <a:solidFill>
                    <a:schemeClr val="tx1"/>
                  </a:solidFill>
                </a:rPr>
                <a:t>50</a:t>
              </a:r>
              <a:endParaRPr kumimoji="1" lang="zh-TW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圓角矩形 12">
              <a:extLst>
                <a:ext uri="{FF2B5EF4-FFF2-40B4-BE49-F238E27FC236}">
                  <a16:creationId xmlns:a16="http://schemas.microsoft.com/office/drawing/2014/main" id="{36CD9D24-0F1C-7016-9D4A-510C992DC1EB}"/>
                </a:ext>
              </a:extLst>
            </p:cNvPr>
            <p:cNvSpPr/>
            <p:nvPr/>
          </p:nvSpPr>
          <p:spPr>
            <a:xfrm>
              <a:off x="3008450" y="2162696"/>
              <a:ext cx="914400" cy="725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b="1" dirty="0">
                  <a:solidFill>
                    <a:srgbClr val="FF0000"/>
                  </a:solidFill>
                </a:rPr>
                <a:t>-</a:t>
              </a:r>
              <a:r>
                <a:rPr kumimoji="1" lang="en-US" altLang="zh-TW" sz="2400" b="1" dirty="0">
                  <a:solidFill>
                    <a:schemeClr val="tx1"/>
                  </a:solidFill>
                </a:rPr>
                <a:t>25</a:t>
              </a:r>
              <a:endParaRPr kumimoji="1" lang="zh-TW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14" name="圓角矩形 13">
              <a:extLst>
                <a:ext uri="{FF2B5EF4-FFF2-40B4-BE49-F238E27FC236}">
                  <a16:creationId xmlns:a16="http://schemas.microsoft.com/office/drawing/2014/main" id="{B8B67A6E-FF84-7C91-34E3-B9B48CD93C00}"/>
                </a:ext>
              </a:extLst>
            </p:cNvPr>
            <p:cNvSpPr/>
            <p:nvPr/>
          </p:nvSpPr>
          <p:spPr>
            <a:xfrm>
              <a:off x="4511348" y="2166989"/>
              <a:ext cx="914400" cy="725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b="1" dirty="0">
                  <a:solidFill>
                    <a:schemeClr val="tx1"/>
                  </a:solidFill>
                </a:rPr>
                <a:t>25</a:t>
              </a:r>
              <a:endParaRPr kumimoji="1" lang="zh-TW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F3E637E6-1914-194B-21B2-148DD1394FDD}"/>
                </a:ext>
              </a:extLst>
            </p:cNvPr>
            <p:cNvSpPr txBox="1"/>
            <p:nvPr/>
          </p:nvSpPr>
          <p:spPr>
            <a:xfrm>
              <a:off x="1505552" y="1735516"/>
              <a:ext cx="10128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Class_0</a:t>
              </a:r>
              <a:endParaRPr kumimoji="1" lang="zh-TW" altLang="en-US" dirty="0"/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8279AA3F-2A9D-ABB1-C186-02D9090B1FA9}"/>
                </a:ext>
              </a:extLst>
            </p:cNvPr>
            <p:cNvSpPr txBox="1"/>
            <p:nvPr/>
          </p:nvSpPr>
          <p:spPr>
            <a:xfrm>
              <a:off x="3000353" y="1732460"/>
              <a:ext cx="10128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Class_1</a:t>
              </a:r>
              <a:endParaRPr kumimoji="1" lang="zh-TW" altLang="en-US" dirty="0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93D3500B-4651-4CAC-8D15-0E4AEA6D4D54}"/>
                </a:ext>
              </a:extLst>
            </p:cNvPr>
            <p:cNvSpPr txBox="1"/>
            <p:nvPr/>
          </p:nvSpPr>
          <p:spPr>
            <a:xfrm>
              <a:off x="4462284" y="1732460"/>
              <a:ext cx="10128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Class_2</a:t>
              </a:r>
              <a:endParaRPr kumimoji="1" lang="zh-TW" altLang="en-US" dirty="0"/>
            </a:p>
          </p:txBody>
        </p:sp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8AB2E75B-A5D2-1FDC-FD28-893EAB3C1194}"/>
              </a:ext>
            </a:extLst>
          </p:cNvPr>
          <p:cNvGrpSpPr/>
          <p:nvPr/>
        </p:nvGrpSpPr>
        <p:grpSpPr>
          <a:xfrm>
            <a:off x="1665386" y="5181543"/>
            <a:ext cx="3600528" cy="369332"/>
            <a:chOff x="1665386" y="3244334"/>
            <a:chExt cx="3600528" cy="3693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文字方塊 19">
                  <a:extLst>
                    <a:ext uri="{FF2B5EF4-FFF2-40B4-BE49-F238E27FC236}">
                      <a16:creationId xmlns:a16="http://schemas.microsoft.com/office/drawing/2014/main" id="{28ABC443-923D-F239-609B-40C64EB74C95}"/>
                    </a:ext>
                  </a:extLst>
                </p:cNvPr>
                <p:cNvSpPr txBox="1"/>
                <p:nvPr/>
              </p:nvSpPr>
              <p:spPr>
                <a:xfrm>
                  <a:off x="1665386" y="3244334"/>
                  <a:ext cx="59473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zh-TW" sz="18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800" i="1" kern="10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1800" b="0" i="1" kern="100" smtClean="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20" name="文字方塊 19">
                  <a:extLst>
                    <a:ext uri="{FF2B5EF4-FFF2-40B4-BE49-F238E27FC236}">
                      <a16:creationId xmlns:a16="http://schemas.microsoft.com/office/drawing/2014/main" id="{28ABC443-923D-F239-609B-40C64EB74C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5386" y="3244334"/>
                  <a:ext cx="59473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文字方塊 29">
                  <a:extLst>
                    <a:ext uri="{FF2B5EF4-FFF2-40B4-BE49-F238E27FC236}">
                      <a16:creationId xmlns:a16="http://schemas.microsoft.com/office/drawing/2014/main" id="{1486B326-3350-5B3F-E58B-DAF2C9B9FC68}"/>
                    </a:ext>
                  </a:extLst>
                </p:cNvPr>
                <p:cNvSpPr txBox="1"/>
                <p:nvPr/>
              </p:nvSpPr>
              <p:spPr>
                <a:xfrm>
                  <a:off x="3168422" y="3244334"/>
                  <a:ext cx="59473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zh-TW" sz="18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800" i="1" kern="10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1800" b="0" i="1" kern="100" smtClean="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30" name="文字方塊 29">
                  <a:extLst>
                    <a:ext uri="{FF2B5EF4-FFF2-40B4-BE49-F238E27FC236}">
                      <a16:creationId xmlns:a16="http://schemas.microsoft.com/office/drawing/2014/main" id="{1486B326-3350-5B3F-E58B-DAF2C9B9F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68422" y="3244334"/>
                  <a:ext cx="59473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165E06C9-17A1-A602-A091-A47155EAAE9F}"/>
                    </a:ext>
                  </a:extLst>
                </p:cNvPr>
                <p:cNvSpPr txBox="1"/>
                <p:nvPr/>
              </p:nvSpPr>
              <p:spPr>
                <a:xfrm>
                  <a:off x="4671182" y="3244334"/>
                  <a:ext cx="59473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zh-TW" sz="18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800" i="1" kern="10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1800" b="0" i="1" kern="100" smtClean="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165E06C9-17A1-A602-A091-A47155EAA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1182" y="3244334"/>
                  <a:ext cx="59473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117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08089-5BBF-2D58-59D7-30BF0E75F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7625354-C033-C852-1D4B-16B9C556A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19" name="標題 1">
            <a:extLst>
              <a:ext uri="{FF2B5EF4-FFF2-40B4-BE49-F238E27FC236}">
                <a16:creationId xmlns:a16="http://schemas.microsoft.com/office/drawing/2014/main" id="{C6D5C354-862C-5EE6-F7AC-DEB6A51FCE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/>
          <a:p>
            <a:r>
              <a:rPr kumimoji="1" lang="en-US" altLang="zh-TW" dirty="0" err="1"/>
              <a:t>Softmax</a:t>
            </a:r>
            <a:r>
              <a:rPr kumimoji="1" lang="zh-TW" altLang="en-US" dirty="0"/>
              <a:t> 帶來大者恆大的效應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F7A55914-9371-92DD-50A9-74576E589BC1}"/>
              </a:ext>
            </a:extLst>
          </p:cNvPr>
          <p:cNvGraphicFramePr>
            <a:graphicFrameLocks noGrp="1"/>
          </p:cNvGraphicFramePr>
          <p:nvPr/>
        </p:nvGraphicFramePr>
        <p:xfrm>
          <a:off x="716517" y="2041472"/>
          <a:ext cx="8128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0">
                  <a:extLst>
                    <a:ext uri="{9D8B030D-6E8A-4147-A177-3AD203B41FA5}">
                      <a16:colId xmlns:a16="http://schemas.microsoft.com/office/drawing/2014/main" val="32838622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import torch</a:t>
                      </a:r>
                    </a:p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from </a:t>
                      </a:r>
                      <a:r>
                        <a:rPr lang="en-US" altLang="zh-TW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torch.nn.functional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import </a:t>
                      </a:r>
                      <a:r>
                        <a:rPr lang="en-US" altLang="zh-TW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softmax</a:t>
                      </a:r>
                      <a:endParaRPr lang="en-US" altLang="zh-TW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altLang="zh-TW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logits = </a:t>
                      </a:r>
                      <a:r>
                        <a:rPr lang="en-US" altLang="zh-TW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torch.tensor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([50, 25, 25], </a:t>
                      </a:r>
                      <a:r>
                        <a:rPr lang="en-US" altLang="zh-TW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dtype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=torch.float32)</a:t>
                      </a:r>
                    </a:p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print(</a:t>
                      </a:r>
                      <a:r>
                        <a:rPr lang="en-US" altLang="zh-TW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softmax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(logits, dim=0))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2263589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3EB0C326-0E88-3E54-E08F-AAB49D69E1E4}"/>
              </a:ext>
            </a:extLst>
          </p:cNvPr>
          <p:cNvSpPr txBox="1"/>
          <p:nvPr/>
        </p:nvSpPr>
        <p:spPr>
          <a:xfrm>
            <a:off x="716517" y="378714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tensor([1.0000e+00, 1.3888e-11, 1.3888e-11])</a:t>
            </a:r>
            <a:endParaRPr lang="zh-TW" altLang="en-US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998CAD7-CA85-EDAA-0F6F-422018FC332B}"/>
              </a:ext>
            </a:extLst>
          </p:cNvPr>
          <p:cNvSpPr txBox="1"/>
          <p:nvPr/>
        </p:nvSpPr>
        <p:spPr>
          <a:xfrm>
            <a:off x="716517" y="4817003"/>
            <a:ext cx="812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dirty="0">
                <a:solidFill>
                  <a:schemeClr val="accent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logits = </a:t>
            </a:r>
            <a:r>
              <a:rPr lang="en" altLang="zh-TW" dirty="0" err="1">
                <a:solidFill>
                  <a:schemeClr val="accent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torch.tensor</a:t>
            </a:r>
            <a:r>
              <a:rPr lang="en" altLang="zh-TW" dirty="0">
                <a:solidFill>
                  <a:schemeClr val="accent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([5, 2, 2], </a:t>
            </a:r>
            <a:r>
              <a:rPr lang="en" altLang="zh-TW" dirty="0" err="1">
                <a:solidFill>
                  <a:schemeClr val="accent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dtype</a:t>
            </a:r>
            <a:r>
              <a:rPr lang="en" altLang="zh-TW" dirty="0">
                <a:solidFill>
                  <a:schemeClr val="accent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=torch.float32)</a:t>
            </a:r>
          </a:p>
          <a:p>
            <a:r>
              <a:rPr lang="en" altLang="zh-TW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tensor([0.9094, 0.0453, 0.0453])</a:t>
            </a:r>
            <a:endParaRPr lang="zh-TW" altLang="en-US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62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C8D65F-6934-D458-B2CB-FD5A83929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如何對一個模型輸出值取機率值 </a:t>
            </a:r>
            <a:r>
              <a:rPr kumimoji="1" lang="en-US" altLang="zh-TW" dirty="0"/>
              <a:t>(0~1)</a:t>
            </a:r>
            <a:r>
              <a:rPr kumimoji="1" lang="zh-TW" altLang="en-US" dirty="0"/>
              <a:t>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F5DF40-DFDE-F303-B916-A452529FE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B459544-E819-10EF-3DDC-050776395554}"/>
              </a:ext>
            </a:extLst>
          </p:cNvPr>
          <p:cNvSpPr txBox="1"/>
          <p:nvPr/>
        </p:nvSpPr>
        <p:spPr>
          <a:xfrm>
            <a:off x="653144" y="1835870"/>
            <a:ext cx="10918370" cy="5784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Sigmoid</a:t>
            </a:r>
            <a:r>
              <a:rPr kumimoji="1" lang="en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function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FED12CED-561C-6903-2D88-45A35304BCA4}"/>
                  </a:ext>
                </a:extLst>
              </p:cNvPr>
              <p:cNvSpPr txBox="1"/>
              <p:nvPr/>
            </p:nvSpPr>
            <p:spPr>
              <a:xfrm>
                <a:off x="181803" y="4413002"/>
                <a:ext cx="4813169" cy="6756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en-US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Sigmoid</m:t>
                      </m:r>
                      <m:r>
                        <a:rPr lang="en-US" altLang="zh-TW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TW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TW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zh-TW" altLang="en-US" sz="20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zh-TW" altLang="en-US" sz="20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FED12CED-561C-6903-2D88-45A35304BC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803" y="4413002"/>
                <a:ext cx="4813169" cy="675698"/>
              </a:xfrm>
              <a:prstGeom prst="rect">
                <a:avLst/>
              </a:prstGeom>
              <a:blipFill>
                <a:blip r:embed="rId3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1FD61350-C43D-9B0D-5910-94D8392BF7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8618" y="1835870"/>
            <a:ext cx="4450310" cy="4450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370DAF01-0685-E4DF-E3D4-E7015E47779E}"/>
              </a:ext>
            </a:extLst>
          </p:cNvPr>
          <p:cNvSpPr/>
          <p:nvPr/>
        </p:nvSpPr>
        <p:spPr>
          <a:xfrm>
            <a:off x="1112364" y="2979559"/>
            <a:ext cx="1368044" cy="72955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Neural Network</a:t>
            </a:r>
            <a:endParaRPr kumimoji="1" lang="zh-TW" altLang="en-US" dirty="0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83E431D7-12A5-A596-56C0-6BC8CCCF5F89}"/>
              </a:ext>
            </a:extLst>
          </p:cNvPr>
          <p:cNvSpPr/>
          <p:nvPr/>
        </p:nvSpPr>
        <p:spPr>
          <a:xfrm>
            <a:off x="3046541" y="3169941"/>
            <a:ext cx="348792" cy="34879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A6FE3E78-20BB-BB2E-D762-DDA4C30E2971}"/>
              </a:ext>
            </a:extLst>
          </p:cNvPr>
          <p:cNvCxnSpPr>
            <a:cxnSpLocks/>
            <a:stCxn id="8" idx="3"/>
            <a:endCxn id="9" idx="2"/>
          </p:cNvCxnSpPr>
          <p:nvPr/>
        </p:nvCxnSpPr>
        <p:spPr>
          <a:xfrm flipV="1">
            <a:off x="2480408" y="3344337"/>
            <a:ext cx="566133" cy="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A79D4A09-5F09-4A19-3F25-79B2D350A916}"/>
              </a:ext>
            </a:extLst>
          </p:cNvPr>
          <p:cNvCxnSpPr/>
          <p:nvPr/>
        </p:nvCxnSpPr>
        <p:spPr>
          <a:xfrm flipV="1">
            <a:off x="2793175" y="3483455"/>
            <a:ext cx="0" cy="92997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500B733-6258-1823-5970-49C6FB8693FF}"/>
              </a:ext>
            </a:extLst>
          </p:cNvPr>
          <p:cNvSpPr txBox="1"/>
          <p:nvPr/>
        </p:nvSpPr>
        <p:spPr>
          <a:xfrm>
            <a:off x="6645429" y="6415560"/>
            <a:ext cx="39675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dirty="0"/>
              <a:t>Figure source: https://</a:t>
            </a:r>
            <a:r>
              <a:rPr kumimoji="1" lang="en-US" altLang="zh-TW" sz="1200" dirty="0" err="1"/>
              <a:t>zh.wikipedia.org</a:t>
            </a:r>
            <a:r>
              <a:rPr kumimoji="1" lang="en-US" altLang="zh-TW" sz="1200" dirty="0"/>
              <a:t>/</a:t>
            </a:r>
            <a:r>
              <a:rPr kumimoji="1" lang="en-US" altLang="zh-TW" sz="1200" dirty="0" err="1"/>
              <a:t>zh-tw</a:t>
            </a:r>
            <a:r>
              <a:rPr kumimoji="1" lang="en-US" altLang="zh-TW" sz="1200" dirty="0"/>
              <a:t>/S</a:t>
            </a:r>
            <a:r>
              <a:rPr kumimoji="1" lang="zh-TW" altLang="en-US" sz="1200" dirty="0"/>
              <a:t>型函數</a:t>
            </a: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01D2B22F-401B-C7D3-7C20-B91B0E77D1A5}"/>
              </a:ext>
            </a:extLst>
          </p:cNvPr>
          <p:cNvSpPr/>
          <p:nvPr/>
        </p:nvSpPr>
        <p:spPr>
          <a:xfrm>
            <a:off x="3922451" y="2958958"/>
            <a:ext cx="1824010" cy="76990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000" dirty="0">
                <a:solidFill>
                  <a:schemeClr val="tx1"/>
                </a:solidFill>
              </a:rPr>
              <a:t>&gt; 0.5 </a:t>
            </a:r>
            <a:r>
              <a:rPr lang="zh-TW" altLang="en-US" sz="2000" dirty="0">
                <a:solidFill>
                  <a:schemeClr val="tx1"/>
                </a:solidFill>
              </a:rPr>
              <a:t>是貓，否則不是貓</a:t>
            </a:r>
            <a:endParaRPr lang="en" altLang="zh-TW" sz="2000" dirty="0">
              <a:solidFill>
                <a:schemeClr val="tx1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53A8ACF-ADA1-EC15-0445-B7F1343910DD}"/>
              </a:ext>
            </a:extLst>
          </p:cNvPr>
          <p:cNvSpPr txBox="1"/>
          <p:nvPr/>
        </p:nvSpPr>
        <p:spPr>
          <a:xfrm>
            <a:off x="3767431" y="2470801"/>
            <a:ext cx="2134050" cy="497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假設閾值為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0.5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464C87C-DD68-81A1-DA01-CF78D76E3F41}"/>
              </a:ext>
            </a:extLst>
          </p:cNvPr>
          <p:cNvSpPr txBox="1"/>
          <p:nvPr/>
        </p:nvSpPr>
        <p:spPr>
          <a:xfrm>
            <a:off x="1430137" y="5885642"/>
            <a:ext cx="43109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FF0000"/>
                </a:solidFill>
              </a:rPr>
              <a:t>注意！</a:t>
            </a:r>
            <a:r>
              <a:rPr kumimoji="1" lang="en-US" altLang="zh-TW" dirty="0">
                <a:solidFill>
                  <a:srgbClr val="FF0000"/>
                </a:solidFill>
              </a:rPr>
              <a:t>sigmoid</a:t>
            </a:r>
            <a:r>
              <a:rPr kumimoji="1" lang="zh-TW" altLang="en-US" dirty="0">
                <a:solidFill>
                  <a:srgbClr val="FF0000"/>
                </a:solidFill>
              </a:rPr>
              <a:t> 只需要</a:t>
            </a:r>
            <a:r>
              <a:rPr kumimoji="1" lang="en-US" altLang="zh-TW" dirty="0">
                <a:solidFill>
                  <a:srgbClr val="FF0000"/>
                </a:solidFill>
              </a:rPr>
              <a:t>1</a:t>
            </a:r>
            <a:r>
              <a:rPr kumimoji="1" lang="zh-TW" altLang="en-US" dirty="0">
                <a:solidFill>
                  <a:srgbClr val="FF0000"/>
                </a:solidFill>
              </a:rPr>
              <a:t>個數值就能計算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073CF0E9-BDDE-20A7-3C86-FBD11F46F900}"/>
                  </a:ext>
                </a:extLst>
              </p:cNvPr>
              <p:cNvSpPr txBox="1"/>
              <p:nvPr/>
            </p:nvSpPr>
            <p:spPr>
              <a:xfrm>
                <a:off x="3931580" y="4345586"/>
                <a:ext cx="2216652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TW" dirty="0"/>
                  <a:t>x</a:t>
                </a:r>
                <a:r>
                  <a:rPr kumimoji="1" lang="zh-TW" altLang="en-US" dirty="0"/>
                  <a:t>代表</a:t>
                </a:r>
                <a:r>
                  <a:rPr kumimoji="1" lang="en-US" altLang="zh-TW" dirty="0"/>
                  <a:t>logit</a:t>
                </a:r>
              </a:p>
              <a:p>
                <a:r>
                  <a:rPr kumimoji="1" lang="en-US" altLang="zh-TW" dirty="0"/>
                  <a:t>x</a:t>
                </a:r>
                <a:r>
                  <a:rPr kumimoji="1" lang="zh-TW" altLang="en-US" dirty="0"/>
                  <a:t>很大代表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zh-TW" altLang="en-US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zh-TW" alt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zh-TW" altLang="en-US" sz="1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TW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</m:oMath>
                </a14:m>
                <a:r>
                  <a:rPr kumimoji="1" lang="zh-TW" altLang="en-US" dirty="0"/>
                  <a:t>很小</a:t>
                </a:r>
                <a:endParaRPr kumimoji="1" lang="en-US" altLang="zh-TW" dirty="0"/>
              </a:p>
              <a:p>
                <a:r>
                  <a:rPr kumimoji="1" lang="en-US" altLang="zh-TW" dirty="0"/>
                  <a:t>-&gt;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zh-TW" altLang="en-US" sz="1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Sigmoid</m:t>
                    </m:r>
                    <m:r>
                      <a:rPr lang="en-US" altLang="zh-TW" sz="1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TW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TW" sz="1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kumimoji="1" lang="zh-TW" altLang="en-US" dirty="0"/>
                  <a:t>很大</a:t>
                </a:r>
                <a:endParaRPr kumimoji="1" lang="en-US" altLang="zh-TW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073CF0E9-BDDE-20A7-3C86-FBD11F46F9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580" y="4345586"/>
                <a:ext cx="2216652" cy="923330"/>
              </a:xfrm>
              <a:prstGeom prst="rect">
                <a:avLst/>
              </a:prstGeom>
              <a:blipFill>
                <a:blip r:embed="rId5"/>
                <a:stretch>
                  <a:fillRect l="-2273" t="-5479" b="-958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679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8" grpId="0" animBg="1"/>
      <p:bldP spid="9" grpId="0" animBg="1"/>
      <p:bldP spid="13" grpId="0"/>
      <p:bldP spid="16" grpId="0" animBg="1"/>
      <p:bldP spid="3" grpId="0"/>
      <p:bldP spid="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D5A1B-0F51-E9CA-4AEF-AC4C69E18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RNN </a:t>
            </a:r>
            <a:r>
              <a:rPr kumimoji="1" lang="zh-TW" altLang="en-US" dirty="0"/>
              <a:t>使用 </a:t>
            </a:r>
            <a:r>
              <a:rPr kumimoji="1" lang="en-US" altLang="zh-TW" dirty="0"/>
              <a:t>tanh</a:t>
            </a:r>
            <a:r>
              <a:rPr kumimoji="1" lang="zh-TW" altLang="en-US" dirty="0"/>
              <a:t> </a:t>
            </a:r>
            <a:r>
              <a:rPr kumimoji="1" lang="en-US" altLang="zh-TW" dirty="0"/>
              <a:t>(hyperbolic tangent)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3F2388B-2704-0153-7905-08CD0FC47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6" name="圖片 5" descr="一張含有 行, 繪圖, 文字, 圖表 的圖片&#10;&#10;自動產生的描述">
            <a:extLst>
              <a:ext uri="{FF2B5EF4-FFF2-40B4-BE49-F238E27FC236}">
                <a16:creationId xmlns:a16="http://schemas.microsoft.com/office/drawing/2014/main" id="{9ECE83C7-6D97-E3BC-B1E9-7D8DC766C9B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00" r="24605"/>
          <a:stretch/>
        </p:blipFill>
        <p:spPr>
          <a:xfrm>
            <a:off x="3443788" y="2307915"/>
            <a:ext cx="5304423" cy="2609503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A8145B50-7366-79AE-6EFA-AC8A27877320}"/>
              </a:ext>
            </a:extLst>
          </p:cNvPr>
          <p:cNvSpPr txBox="1"/>
          <p:nvPr/>
        </p:nvSpPr>
        <p:spPr>
          <a:xfrm>
            <a:off x="1648153" y="6459622"/>
            <a:ext cx="88956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dirty="0" err="1"/>
              <a:t>Softmax</a:t>
            </a:r>
            <a:r>
              <a:rPr kumimoji="1" lang="en-US" altLang="zh-TW" sz="1200" dirty="0"/>
              <a:t>: https://</a:t>
            </a:r>
            <a:r>
              <a:rPr kumimoji="1" lang="en-US" altLang="zh-TW" sz="1200" dirty="0" err="1"/>
              <a:t>datascience.stackexchange.com</a:t>
            </a:r>
            <a:r>
              <a:rPr kumimoji="1" lang="en-US" altLang="zh-TW" sz="1200" dirty="0"/>
              <a:t>/questions/57005/why-there-is-no-exact-picture-of-</a:t>
            </a:r>
            <a:r>
              <a:rPr kumimoji="1" lang="en-US" altLang="zh-TW" sz="1200" dirty="0" err="1"/>
              <a:t>softmax</a:t>
            </a:r>
            <a:r>
              <a:rPr kumimoji="1" lang="en-US" altLang="zh-TW" sz="1200" dirty="0"/>
              <a:t>-activation-function</a:t>
            </a:r>
            <a:endParaRPr kumimoji="1" lang="zh-TW" altLang="en-US" sz="12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3C613E6-26CD-545C-DC84-F2645E6ECFF4}"/>
              </a:ext>
            </a:extLst>
          </p:cNvPr>
          <p:cNvSpPr txBox="1"/>
          <p:nvPr/>
        </p:nvSpPr>
        <p:spPr>
          <a:xfrm>
            <a:off x="2376446" y="5213072"/>
            <a:ext cx="81674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RNN </a:t>
            </a:r>
            <a:r>
              <a:rPr kumimoji="1" lang="zh-TW" altLang="en-US" dirty="0"/>
              <a:t>經常使用</a:t>
            </a:r>
            <a:r>
              <a:rPr kumimoji="1" lang="en-US" altLang="zh-TW" dirty="0"/>
              <a:t> tanh</a:t>
            </a:r>
            <a:r>
              <a:rPr kumimoji="1" lang="zh-TW" altLang="en-US" dirty="0"/>
              <a:t> 的原因：</a:t>
            </a:r>
            <a:endParaRPr kumimoji="1" lang="en-US" altLang="zh-TW" dirty="0"/>
          </a:p>
          <a:p>
            <a:r>
              <a:rPr kumimoji="1" lang="en-US" altLang="zh-TW" dirty="0"/>
              <a:t>RNN </a:t>
            </a:r>
            <a:r>
              <a:rPr kumimoji="1" lang="zh-TW" altLang="en-US" dirty="0"/>
              <a:t>作為序列模型，需要在多個時間步維持梯度，</a:t>
            </a:r>
            <a:r>
              <a:rPr kumimoji="1" lang="en-US" altLang="zh-TW" dirty="0"/>
              <a:t>tanh </a:t>
            </a:r>
            <a:r>
              <a:rPr kumimoji="1" lang="zh-TW" altLang="en-US" dirty="0"/>
              <a:t>的數值在 </a:t>
            </a:r>
            <a:r>
              <a:rPr kumimoji="1" lang="en-US" altLang="zh-TW" dirty="0"/>
              <a:t>-1 </a:t>
            </a:r>
            <a:r>
              <a:rPr kumimoji="1" lang="zh-TW" altLang="en-US" dirty="0"/>
              <a:t>到 </a:t>
            </a:r>
            <a:r>
              <a:rPr kumimoji="1" lang="en-US" altLang="zh-TW" dirty="0"/>
              <a:t>1</a:t>
            </a:r>
            <a:r>
              <a:rPr kumimoji="1" lang="zh-TW" altLang="en-US" dirty="0"/>
              <a:t> 之間，有助於梯度不會太大或太小 </a:t>
            </a:r>
            <a:r>
              <a:rPr kumimoji="1" lang="en-US" altLang="zh-TW" dirty="0"/>
              <a:t>(Sigmoid </a:t>
            </a:r>
            <a:r>
              <a:rPr kumimoji="1" lang="zh-TW" altLang="en-US" dirty="0"/>
              <a:t>的數值是 </a:t>
            </a:r>
            <a:r>
              <a:rPr kumimoji="1" lang="en-US" altLang="zh-TW" dirty="0"/>
              <a:t>0 </a:t>
            </a:r>
            <a:r>
              <a:rPr kumimoji="1" lang="zh-TW" altLang="en-US" dirty="0"/>
              <a:t>到 </a:t>
            </a:r>
            <a:r>
              <a:rPr kumimoji="1" lang="en-US" altLang="zh-TW" dirty="0"/>
              <a:t>1 </a:t>
            </a:r>
            <a:r>
              <a:rPr kumimoji="1" lang="zh-TW" altLang="en-US" dirty="0"/>
              <a:t>之間</a:t>
            </a:r>
            <a:r>
              <a:rPr kumimoji="1" lang="en-US" altLang="zh-TW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31D88DAB-9C59-FA52-053F-91B030E249B9}"/>
                  </a:ext>
                </a:extLst>
              </p:cNvPr>
              <p:cNvSpPr txBox="1"/>
              <p:nvPr/>
            </p:nvSpPr>
            <p:spPr>
              <a:xfrm>
                <a:off x="8405091" y="1408260"/>
                <a:ext cx="3426691" cy="6050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en-US" sz="160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tanh</m:t>
                      </m:r>
                      <m:d>
                        <m:dPr>
                          <m:ctrlPr>
                            <a:rPr lang="zh-TW" alt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zh-TW" altLang="en-US" sz="16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zh-TW" altLang="en-US" sz="16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sinh</m:t>
                          </m:r>
                          <m:d>
                            <m:dPr>
                              <m:ctrlP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zh-TW" altLang="en-US" sz="16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cosh</m:t>
                          </m:r>
                          <m:d>
                            <m:dPr>
                              <m:ctrlP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  <m:r>
                        <a:rPr lang="zh-TW" altLang="en-US" sz="16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  <m:r>
                            <a:rPr lang="zh-TW" altLang="en-US" sz="16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zh-TW" altLang="en-US" sz="16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  <m:r>
                            <a:rPr lang="zh-TW" altLang="en-US" sz="16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zh-TW" altLang="en-US" sz="16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31D88DAB-9C59-FA52-053F-91B030E249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5091" y="1408260"/>
                <a:ext cx="3426691" cy="6050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51144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kumimoji="1" lang="en" altLang="zh-TW" dirty="0"/>
              <a:t>Activation functions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啟動函數</a:t>
            </a:r>
            <a:r>
              <a:rPr kumimoji="1" lang="en-US" altLang="zh-TW" dirty="0"/>
              <a:t>)</a:t>
            </a:r>
            <a:endParaRPr lang="en-US" altLang="zh-TW" dirty="0">
              <a:latin typeface="Calibri" panose="020F0502020204030204" pitchFamily="34" charset="0"/>
              <a:ea typeface="新細明體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35</a:t>
            </a:fld>
            <a:endParaRPr lang="zh-TW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6238CB8F-DDB0-1A82-0242-89C08D0D8364}"/>
              </a:ext>
            </a:extLst>
          </p:cNvPr>
          <p:cNvGraphicFramePr>
            <a:graphicFrameLocks noGrp="1"/>
          </p:cNvGraphicFramePr>
          <p:nvPr/>
        </p:nvGraphicFramePr>
        <p:xfrm>
          <a:off x="1084305" y="1739209"/>
          <a:ext cx="10023390" cy="45492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3677">
                  <a:extLst>
                    <a:ext uri="{9D8B030D-6E8A-4147-A177-3AD203B41FA5}">
                      <a16:colId xmlns:a16="http://schemas.microsoft.com/office/drawing/2014/main" val="2028444795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628897152"/>
                    </a:ext>
                  </a:extLst>
                </a:gridCol>
                <a:gridCol w="6607999">
                  <a:extLst>
                    <a:ext uri="{9D8B030D-6E8A-4147-A177-3AD203B41FA5}">
                      <a16:colId xmlns:a16="http://schemas.microsoft.com/office/drawing/2014/main" val="2303579333"/>
                    </a:ext>
                  </a:extLst>
                </a:gridCol>
              </a:tblGrid>
              <a:tr h="525883">
                <a:tc>
                  <a:txBody>
                    <a:bodyPr/>
                    <a:lstStyle/>
                    <a:p>
                      <a:endParaRPr lang="zh-TW" altLang="en-US" sz="2800" b="0" i="0" dirty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800" b="0" i="0" u="none" strike="noStrike" noProof="0" dirty="0">
                          <a:solidFill>
                            <a:srgbClr val="FFFFFF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值的範圍</a:t>
                      </a:r>
                      <a:endParaRPr lang="zh-TW" sz="2800" b="0" i="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800" b="0" i="0" u="none" strike="noStrike" noProof="0" dirty="0">
                          <a:solidFill>
                            <a:srgbClr val="FFFFFF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使用情境</a:t>
                      </a:r>
                      <a:endParaRPr lang="zh-TW" sz="2800" b="0" i="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2292386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r>
                        <a:rPr lang="zh-TW" altLang="en-US" sz="2400" b="0" i="0">
                          <a:latin typeface="Calibri" panose="020F0502020204030204" pitchFamily="34" charset="0"/>
                        </a:rPr>
                        <a:t>softmax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000" b="0" i="0">
                          <a:latin typeface="Calibri" panose="020F0502020204030204" pitchFamily="34" charset="0"/>
                        </a:rPr>
                        <a:t>[0, 1]</a:t>
                      </a:r>
                    </a:p>
                    <a:p>
                      <a:pPr lvl="0">
                        <a:buNone/>
                      </a:pPr>
                      <a:r>
                        <a:rPr lang="zh-TW" altLang="en-US" sz="2000" b="0" i="0">
                          <a:latin typeface="Calibri" panose="020F0502020204030204" pitchFamily="34" charset="0"/>
                        </a:rPr>
                        <a:t>(sum up to 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需要讓多個值產生相加為一的機率值的時候，常用於建立分類任務模型時計算 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cross-entropy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loss</a:t>
                      </a:r>
                      <a:endParaRPr lang="en-US" sz="2000" b="0" i="0" dirty="0">
                        <a:solidFill>
                          <a:schemeClr val="tx1"/>
                        </a:solidFill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9433758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r>
                        <a:rPr lang="zh-TW" altLang="en-US" sz="2400" b="0" i="0" dirty="0">
                          <a:latin typeface="Calibri" panose="020F0502020204030204" pitchFamily="34" charset="0"/>
                        </a:rPr>
                        <a:t>sigmoid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sz="20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[0, 1]</a:t>
                      </a:r>
                      <a:endParaRPr lang="zh-TW" sz="2000" b="0" i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需要讓單一值產生機率值的時候，常用於建立二元分類任務模型時計算 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binary cross-entropy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loss</a:t>
                      </a:r>
                      <a:endParaRPr lang="en-US" altLang="zh-TW" sz="2000" b="0" i="0" dirty="0">
                        <a:solidFill>
                          <a:schemeClr val="tx1"/>
                        </a:solidFill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9661318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r>
                        <a:rPr lang="zh-TW" altLang="en-US" sz="2400" b="0" i="0">
                          <a:latin typeface="Calibri" panose="020F0502020204030204" pitchFamily="34" charset="0"/>
                        </a:rPr>
                        <a:t>tanh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sz="20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[</a:t>
                      </a:r>
                      <a:r>
                        <a:rPr lang="en-US" altLang="zh-TW" sz="2000" b="0" i="0" u="none" strike="noStrike" noProof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-1</a:t>
                      </a:r>
                      <a:r>
                        <a:rPr lang="zh-TW" sz="20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, 1]</a:t>
                      </a:r>
                      <a:endParaRPr lang="zh-TW" sz="2000" b="0" i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常用於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LSTM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等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RNN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模型中，主要為引入非線性轉換。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tanh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的值是對稱的，以零為中心，在有些訓練條件下和</a:t>
                      </a:r>
                      <a:r>
                        <a:rPr lang="en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sigmoid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相比較不會梯度消失</a:t>
                      </a:r>
                      <a:endParaRPr lang="zh-TW" sz="2000" b="0" i="0" dirty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2769396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r>
                        <a:rPr lang="zh-TW" altLang="en-US" sz="2400" b="0" i="0" dirty="0">
                          <a:latin typeface="Calibri" panose="020F0502020204030204" pitchFamily="34" charset="0"/>
                        </a:rPr>
                        <a:t>ReLU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sz="2000" b="0" i="0" u="none" strike="noStrike" noProof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[0,</a:t>
                      </a:r>
                      <a:r>
                        <a:rPr lang="zh-TW" altLang="en-US" sz="2000" b="0" i="0" u="none" strike="noStrike" noProof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 </a:t>
                      </a:r>
                      <a:r>
                        <a:rPr lang="zh-TW" altLang="en-US" sz="2000" b="0" i="0" u="none" strike="noStrike" noProof="0" dirty="0">
                          <a:solidFill>
                            <a:srgbClr val="00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正值</a:t>
                      </a:r>
                      <a:r>
                        <a:rPr lang="zh-TW" sz="2000" b="0" i="0" u="none" strike="noStrike" noProof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]</a:t>
                      </a:r>
                      <a:endParaRPr lang="zh-TW" sz="2000" b="0" i="0" dirty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常用於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CNN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MLP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等模型中，主要為引入非線性轉換。計算簡單，在許多任務收斂快</a:t>
                      </a:r>
                      <a:endParaRPr lang="zh-TW" altLang="zh-TW" sz="2000" b="0" i="0" dirty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88953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15375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6CCE480-BB59-D897-B720-E36EBD340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為什麼我們通常不用</a:t>
            </a:r>
            <a:r>
              <a:rPr kumimoji="1" lang="en-US" altLang="zh-TW" dirty="0"/>
              <a:t> MLP</a:t>
            </a:r>
            <a:r>
              <a:rPr kumimoji="1" lang="zh-TW" altLang="en-US" dirty="0"/>
              <a:t> 來做</a:t>
            </a:r>
            <a:r>
              <a:rPr kumimoji="1" lang="en-US" altLang="zh-TW" dirty="0"/>
              <a:t> NLP</a:t>
            </a:r>
            <a:r>
              <a:rPr kumimoji="1" lang="zh-TW" altLang="en-US" dirty="0"/>
              <a:t>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96889D3-E3C5-9819-D430-A7AB2F3E5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9" name="內容版面配置區 2">
            <a:extLst>
              <a:ext uri="{FF2B5EF4-FFF2-40B4-BE49-F238E27FC236}">
                <a16:creationId xmlns:a16="http://schemas.microsoft.com/office/drawing/2014/main" id="{7E637542-EAD8-917B-4C49-93DDBB67D240}"/>
              </a:ext>
            </a:extLst>
          </p:cNvPr>
          <p:cNvSpPr>
            <a:spLocks noGrp="1"/>
          </p:cNvSpPr>
          <p:nvPr/>
        </p:nvSpPr>
        <p:spPr>
          <a:xfrm>
            <a:off x="720435" y="1970425"/>
            <a:ext cx="10771909" cy="4023360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zh-TW" sz="2400" dirty="0">
                <a:latin typeface="Calibri" panose="020F0502020204030204" pitchFamily="34" charset="0"/>
                <a:ea typeface="+mn-lt"/>
                <a:cs typeface="+mn-lt"/>
              </a:rPr>
              <a:t>1. </a:t>
            </a:r>
            <a:r>
              <a:rPr lang="zh-TW" altLang="en-US" sz="2400" b="1" dirty="0">
                <a:latin typeface="Calibri" panose="020F0502020204030204" pitchFamily="34" charset="0"/>
                <a:ea typeface="+mn-lt"/>
                <a:cs typeface="+mn-lt"/>
              </a:rPr>
              <a:t>無法處理序列順序</a:t>
            </a:r>
          </a:p>
          <a:p>
            <a:pPr lvl="1">
              <a:lnSpc>
                <a:spcPct val="150000"/>
              </a:lnSpc>
            </a:pPr>
            <a:r>
              <a:rPr lang="en-US" sz="2200" dirty="0">
                <a:latin typeface="Calibri" panose="020F0502020204030204" pitchFamily="34" charset="0"/>
                <a:ea typeface="+mn-lt"/>
                <a:cs typeface="+mn-lt"/>
              </a:rPr>
              <a:t>MLP </a:t>
            </a:r>
            <a:r>
              <a:rPr lang="zh-TW" altLang="en-US" sz="2200" dirty="0">
                <a:latin typeface="Calibri" panose="020F0502020204030204" pitchFamily="34" charset="0"/>
                <a:ea typeface="+mn-lt"/>
                <a:cs typeface="+mn-lt"/>
              </a:rPr>
              <a:t>不會記住序列的前後順序</a:t>
            </a:r>
            <a:r>
              <a:rPr lang="en-US" altLang="zh-TW" sz="2200" dirty="0">
                <a:latin typeface="Calibri" panose="020F0502020204030204" pitchFamily="34" charset="0"/>
                <a:ea typeface="+mn-lt"/>
                <a:cs typeface="+mn-lt"/>
              </a:rPr>
              <a:t> (</a:t>
            </a:r>
            <a:r>
              <a:rPr lang="zh-TW" altLang="en-US" sz="2200" dirty="0">
                <a:latin typeface="Calibri" panose="020F0502020204030204" pitchFamily="34" charset="0"/>
                <a:ea typeface="+mn-lt"/>
                <a:cs typeface="+mn-lt"/>
              </a:rPr>
              <a:t>上下文關係</a:t>
            </a:r>
            <a:r>
              <a:rPr lang="en-US" altLang="zh-TW" sz="2200" dirty="0">
                <a:latin typeface="Calibri" panose="020F0502020204030204" pitchFamily="34" charset="0"/>
                <a:ea typeface="+mn-lt"/>
                <a:cs typeface="+mn-lt"/>
              </a:rPr>
              <a:t>)</a:t>
            </a:r>
            <a:r>
              <a:rPr lang="zh-TW" altLang="en-US" sz="2200" dirty="0">
                <a:latin typeface="Calibri" panose="020F0502020204030204" pitchFamily="34" charset="0"/>
                <a:ea typeface="+mn-lt"/>
                <a:cs typeface="+mn-lt"/>
              </a:rPr>
              <a:t>，但語言的順序非常重要。</a:t>
            </a:r>
            <a:endParaRPr lang="en-US" altLang="zh-TW" sz="2200" dirty="0">
              <a:latin typeface="Calibri" panose="020F0502020204030204" pitchFamily="34" charset="0"/>
              <a:ea typeface="+mn-lt"/>
              <a:cs typeface="+mn-lt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zh-TW" sz="2400" dirty="0">
                <a:latin typeface="Calibri" panose="020F0502020204030204" pitchFamily="34" charset="0"/>
                <a:ea typeface="+mn-lt"/>
                <a:cs typeface="+mn-lt"/>
              </a:rPr>
              <a:t>2. </a:t>
            </a:r>
            <a:r>
              <a:rPr lang="zh-TW" altLang="en-US" sz="2400" b="1" dirty="0">
                <a:latin typeface="Calibri" panose="020F0502020204030204" pitchFamily="34" charset="0"/>
                <a:ea typeface="+mn-lt"/>
                <a:cs typeface="+mn-lt"/>
              </a:rPr>
              <a:t>輸入長度必須固定</a:t>
            </a:r>
            <a:endParaRPr lang="en-US" altLang="zh-TW" sz="2400" b="1" dirty="0">
              <a:latin typeface="Calibri" panose="020F0502020204030204" pitchFamily="34" charset="0"/>
              <a:ea typeface="+mn-lt"/>
              <a:cs typeface="+mn-lt"/>
            </a:endParaRPr>
          </a:p>
          <a:p>
            <a:pPr lvl="1">
              <a:lnSpc>
                <a:spcPct val="150000"/>
              </a:lnSpc>
            </a:pPr>
            <a:r>
              <a:rPr lang="en-US" altLang="zh-TW" sz="2000" dirty="0">
                <a:latin typeface="Calibri" panose="020F0502020204030204" pitchFamily="34" charset="0"/>
                <a:ea typeface="+mn-lt"/>
                <a:cs typeface="+mn-lt"/>
              </a:rPr>
              <a:t>MLP </a:t>
            </a:r>
            <a:r>
              <a:rPr lang="zh-TW" altLang="en-US" sz="2000" dirty="0">
                <a:latin typeface="Calibri" panose="020F0502020204030204" pitchFamily="34" charset="0"/>
                <a:ea typeface="+mn-lt"/>
                <a:cs typeface="+mn-lt"/>
              </a:rPr>
              <a:t>需要固定長度的輸入，但句子的長度通常不同。</a:t>
            </a:r>
            <a:endParaRPr lang="en-US" altLang="zh-TW" sz="2400" dirty="0">
              <a:ea typeface="Calibri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1404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4F1A4A-CD25-CA33-D24D-3378C19FC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RNNs for Sequence Classification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280EE0A-14CB-26DA-AFB0-AC82E2310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CB04E54-D2BC-8D8D-50F0-461FD07E0978}"/>
              </a:ext>
            </a:extLst>
          </p:cNvPr>
          <p:cNvSpPr/>
          <p:nvPr/>
        </p:nvSpPr>
        <p:spPr>
          <a:xfrm>
            <a:off x="3068697" y="5154877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D690842-2CE2-E937-C171-AA4EC12DB334}"/>
              </a:ext>
            </a:extLst>
          </p:cNvPr>
          <p:cNvSpPr/>
          <p:nvPr/>
        </p:nvSpPr>
        <p:spPr>
          <a:xfrm>
            <a:off x="4831783" y="5154877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0CEE7C6-F0A2-9CC7-3EC1-6F5250ECDFDE}"/>
              </a:ext>
            </a:extLst>
          </p:cNvPr>
          <p:cNvSpPr/>
          <p:nvPr/>
        </p:nvSpPr>
        <p:spPr>
          <a:xfrm>
            <a:off x="6594869" y="5154877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AE84988-8F7F-FD67-2DBD-AE6DA97211BF}"/>
              </a:ext>
            </a:extLst>
          </p:cNvPr>
          <p:cNvSpPr/>
          <p:nvPr/>
        </p:nvSpPr>
        <p:spPr>
          <a:xfrm>
            <a:off x="8357955" y="5154877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04A82676-3DD9-5CBC-80CA-998E95154332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4268323" y="5394972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BB0ACD56-077F-C9B2-46F1-8C47271DCC9A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6031409" y="5394972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B7431EB4-9D29-2322-F02E-987531213755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7794495" y="5394972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DE69DE4D-7AD4-BDC8-682F-B93B3563AD5C}"/>
              </a:ext>
            </a:extLst>
          </p:cNvPr>
          <p:cNvCxnSpPr>
            <a:cxnSpLocks/>
          </p:cNvCxnSpPr>
          <p:nvPr/>
        </p:nvCxnSpPr>
        <p:spPr>
          <a:xfrm>
            <a:off x="2505237" y="5394972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F696ABF9-E315-977F-25E7-16CF78C0B9DA}"/>
              </a:ext>
            </a:extLst>
          </p:cNvPr>
          <p:cNvCxnSpPr>
            <a:cxnSpLocks/>
            <a:stCxn id="8" idx="0"/>
            <a:endCxn id="21" idx="2"/>
          </p:cNvCxnSpPr>
          <p:nvPr/>
        </p:nvCxnSpPr>
        <p:spPr>
          <a:xfrm flipV="1">
            <a:off x="8957768" y="4626194"/>
            <a:ext cx="1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31526BA0-669D-C4F9-1455-B37469D8E0CE}"/>
              </a:ext>
            </a:extLst>
          </p:cNvPr>
          <p:cNvSpPr txBox="1"/>
          <p:nvPr/>
        </p:nvSpPr>
        <p:spPr>
          <a:xfrm>
            <a:off x="8665813" y="4164529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h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5DE4E141-BAE7-A865-A4F5-A4A6E33CD0AF}"/>
              </a:ext>
            </a:extLst>
          </p:cNvPr>
          <p:cNvSpPr txBox="1"/>
          <p:nvPr/>
        </p:nvSpPr>
        <p:spPr>
          <a:xfrm>
            <a:off x="8665813" y="620451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x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5A4C08DF-E5D4-5563-EC2D-830A92791D61}"/>
              </a:ext>
            </a:extLst>
          </p:cNvPr>
          <p:cNvCxnSpPr>
            <a:cxnSpLocks/>
            <a:stCxn id="22" idx="0"/>
            <a:endCxn id="8" idx="2"/>
          </p:cNvCxnSpPr>
          <p:nvPr/>
        </p:nvCxnSpPr>
        <p:spPr>
          <a:xfrm flipH="1" flipV="1">
            <a:off x="8957768" y="5635067"/>
            <a:ext cx="1" cy="56944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8278D5D3-B09A-98A1-EBDC-D046681C4D7D}"/>
              </a:ext>
            </a:extLst>
          </p:cNvPr>
          <p:cNvSpPr txBox="1"/>
          <p:nvPr/>
        </p:nvSpPr>
        <p:spPr>
          <a:xfrm>
            <a:off x="6902726" y="620451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cxnSp>
        <p:nvCxnSpPr>
          <p:cNvPr id="30" name="直線箭頭接點 29">
            <a:extLst>
              <a:ext uri="{FF2B5EF4-FFF2-40B4-BE49-F238E27FC236}">
                <a16:creationId xmlns:a16="http://schemas.microsoft.com/office/drawing/2014/main" id="{B8526637-2BD6-AFB8-4391-FFB61B9883C9}"/>
              </a:ext>
            </a:extLst>
          </p:cNvPr>
          <p:cNvCxnSpPr>
            <a:cxnSpLocks/>
            <a:stCxn id="29" idx="0"/>
            <a:endCxn id="7" idx="2"/>
          </p:cNvCxnSpPr>
          <p:nvPr/>
        </p:nvCxnSpPr>
        <p:spPr>
          <a:xfrm flipV="1">
            <a:off x="7194682" y="5635067"/>
            <a:ext cx="0" cy="56944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B97E4E5F-2C7B-BD7A-2851-B62968EE1DCC}"/>
              </a:ext>
            </a:extLst>
          </p:cNvPr>
          <p:cNvSpPr txBox="1"/>
          <p:nvPr/>
        </p:nvSpPr>
        <p:spPr>
          <a:xfrm>
            <a:off x="5139640" y="6204509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F19E2494-222B-0814-C4BF-47AA2F14D440}"/>
              </a:ext>
            </a:extLst>
          </p:cNvPr>
          <p:cNvCxnSpPr>
            <a:cxnSpLocks/>
            <a:stCxn id="33" idx="0"/>
            <a:endCxn id="6" idx="2"/>
          </p:cNvCxnSpPr>
          <p:nvPr/>
        </p:nvCxnSpPr>
        <p:spPr>
          <a:xfrm flipV="1">
            <a:off x="5431596" y="5635067"/>
            <a:ext cx="0" cy="56944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F02BE93E-143E-F494-E2A5-B4CE3879C16C}"/>
              </a:ext>
            </a:extLst>
          </p:cNvPr>
          <p:cNvSpPr txBox="1"/>
          <p:nvPr/>
        </p:nvSpPr>
        <p:spPr>
          <a:xfrm>
            <a:off x="3376553" y="6204508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cxnSp>
        <p:nvCxnSpPr>
          <p:cNvPr id="39" name="直線箭頭接點 38">
            <a:extLst>
              <a:ext uri="{FF2B5EF4-FFF2-40B4-BE49-F238E27FC236}">
                <a16:creationId xmlns:a16="http://schemas.microsoft.com/office/drawing/2014/main" id="{88B6814A-3C7F-EA84-8719-15E95A77055B}"/>
              </a:ext>
            </a:extLst>
          </p:cNvPr>
          <p:cNvCxnSpPr>
            <a:cxnSpLocks/>
            <a:stCxn id="38" idx="0"/>
            <a:endCxn id="5" idx="2"/>
          </p:cNvCxnSpPr>
          <p:nvPr/>
        </p:nvCxnSpPr>
        <p:spPr>
          <a:xfrm flipV="1">
            <a:off x="3668509" y="5635067"/>
            <a:ext cx="1" cy="5694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17DF49CA-6CF6-7DB4-1B70-36AB7E8DEECD}"/>
              </a:ext>
            </a:extLst>
          </p:cNvPr>
          <p:cNvSpPr/>
          <p:nvPr/>
        </p:nvSpPr>
        <p:spPr>
          <a:xfrm>
            <a:off x="8277740" y="3240904"/>
            <a:ext cx="1359016" cy="3983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FFN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44" name="直線箭頭接點 43">
            <a:extLst>
              <a:ext uri="{FF2B5EF4-FFF2-40B4-BE49-F238E27FC236}">
                <a16:creationId xmlns:a16="http://schemas.microsoft.com/office/drawing/2014/main" id="{8DEDAD73-EC07-22D1-87E5-E42F9A81A3E2}"/>
              </a:ext>
            </a:extLst>
          </p:cNvPr>
          <p:cNvCxnSpPr>
            <a:cxnSpLocks/>
            <a:stCxn id="21" idx="0"/>
            <a:endCxn id="43" idx="2"/>
          </p:cNvCxnSpPr>
          <p:nvPr/>
        </p:nvCxnSpPr>
        <p:spPr>
          <a:xfrm flipH="1" flipV="1">
            <a:off x="8957248" y="3639224"/>
            <a:ext cx="521" cy="52530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>
            <a:extLst>
              <a:ext uri="{FF2B5EF4-FFF2-40B4-BE49-F238E27FC236}">
                <a16:creationId xmlns:a16="http://schemas.microsoft.com/office/drawing/2014/main" id="{B4FCB8DC-5CE4-68DE-E83C-2089B15BC849}"/>
              </a:ext>
            </a:extLst>
          </p:cNvPr>
          <p:cNvSpPr/>
          <p:nvPr/>
        </p:nvSpPr>
        <p:spPr>
          <a:xfrm>
            <a:off x="5783975" y="1778024"/>
            <a:ext cx="1778957" cy="98298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Classifier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8DB77B57-3C2D-E26B-7DE1-110F78D5A9CE}"/>
              </a:ext>
            </a:extLst>
          </p:cNvPr>
          <p:cNvCxnSpPr/>
          <p:nvPr/>
        </p:nvCxnSpPr>
        <p:spPr>
          <a:xfrm>
            <a:off x="4991124" y="2292481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0AC2D424-C201-5977-592C-BE24E500C28A}"/>
              </a:ext>
            </a:extLst>
          </p:cNvPr>
          <p:cNvCxnSpPr>
            <a:cxnSpLocks/>
          </p:cNvCxnSpPr>
          <p:nvPr/>
        </p:nvCxnSpPr>
        <p:spPr>
          <a:xfrm>
            <a:off x="7688932" y="2292481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18A97ED-564C-956B-F4FB-E36700E98E54}"/>
              </a:ext>
            </a:extLst>
          </p:cNvPr>
          <p:cNvSpPr txBox="1"/>
          <p:nvPr/>
        </p:nvSpPr>
        <p:spPr>
          <a:xfrm>
            <a:off x="8520426" y="1835928"/>
            <a:ext cx="1116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Positive</a:t>
            </a:r>
            <a:endParaRPr kumimoji="1"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5D059DD-6255-2747-EC02-C7018CC56B9B}"/>
              </a:ext>
            </a:extLst>
          </p:cNvPr>
          <p:cNvSpPr txBox="1"/>
          <p:nvPr/>
        </p:nvSpPr>
        <p:spPr>
          <a:xfrm>
            <a:off x="8520427" y="2333202"/>
            <a:ext cx="11163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Negative</a:t>
            </a:r>
            <a:endParaRPr kumimoji="1" lang="zh-TW" altLang="en-US" dirty="0"/>
          </a:p>
        </p:txBody>
      </p:sp>
      <p:pic>
        <p:nvPicPr>
          <p:cNvPr id="16" name="圖形 15" descr="核取方塊 (打勾) 以實心填滿">
            <a:extLst>
              <a:ext uri="{FF2B5EF4-FFF2-40B4-BE49-F238E27FC236}">
                <a16:creationId xmlns:a16="http://schemas.microsoft.com/office/drawing/2014/main" id="{2B1EF158-498D-B7E8-0BA1-E32A351FB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01303" y="2236038"/>
            <a:ext cx="625345" cy="625345"/>
          </a:xfrm>
          <a:prstGeom prst="rect">
            <a:avLst/>
          </a:prstGeom>
        </p:spPr>
      </p:pic>
      <p:sp>
        <p:nvSpPr>
          <p:cNvPr id="18" name="圓角矩形 17">
            <a:extLst>
              <a:ext uri="{FF2B5EF4-FFF2-40B4-BE49-F238E27FC236}">
                <a16:creationId xmlns:a16="http://schemas.microsoft.com/office/drawing/2014/main" id="{A3653BC2-A605-A5A9-2A10-3170798F91BB}"/>
              </a:ext>
            </a:extLst>
          </p:cNvPr>
          <p:cNvSpPr/>
          <p:nvPr/>
        </p:nvSpPr>
        <p:spPr>
          <a:xfrm>
            <a:off x="1306119" y="1869404"/>
            <a:ext cx="3638711" cy="83132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" altLang="zh-TW" dirty="0">
                <a:solidFill>
                  <a:schemeClr val="tx1"/>
                </a:solidFill>
              </a:rPr>
              <a:t>This movie was awful. The ending was absolutely horrible.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37406DC4-AE6C-9997-C6CA-B7A3AEF2F03B}"/>
              </a:ext>
            </a:extLst>
          </p:cNvPr>
          <p:cNvSpPr txBox="1"/>
          <p:nvPr/>
        </p:nvSpPr>
        <p:spPr>
          <a:xfrm>
            <a:off x="1869071" y="5154877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0</a:t>
            </a:r>
            <a:endParaRPr kumimoji="1" lang="zh-TW" altLang="en-US" sz="2400" baseline="-25000" dirty="0"/>
          </a:p>
        </p:txBody>
      </p:sp>
    </p:spTree>
    <p:extLst>
      <p:ext uri="{BB962C8B-B14F-4D97-AF65-F5344CB8AC3E}">
        <p14:creationId xmlns:p14="http://schemas.microsoft.com/office/powerpoint/2010/main" val="2529433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21" grpId="0"/>
      <p:bldP spid="22" grpId="0"/>
      <p:bldP spid="29" grpId="0"/>
      <p:bldP spid="33" grpId="0"/>
      <p:bldP spid="38" grpId="0"/>
      <p:bldP spid="43" grpId="0" animBg="1"/>
      <p:bldP spid="20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61315F-68DD-4B1F-3898-F4FF0036B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Stacked RNNs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25BEBBB-8956-2CBE-8FC6-E6363F98F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139F1EA3-DCD1-E1C6-28AF-B160338CAED2}"/>
              </a:ext>
            </a:extLst>
          </p:cNvPr>
          <p:cNvSpPr>
            <a:spLocks noGrp="1"/>
          </p:cNvSpPr>
          <p:nvPr/>
        </p:nvSpPr>
        <p:spPr>
          <a:xfrm>
            <a:off x="947079" y="1724532"/>
            <a:ext cx="10297841" cy="832242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-114300">
              <a:buFont typeface="Wingdings" panose="020F0502020204030204" pitchFamily="34" charset="0"/>
              <a:buChar char="Ø"/>
            </a:pPr>
            <a:r>
              <a:rPr lang="en-US" sz="2400" dirty="0">
                <a:latin typeface="Calibri" panose="020F0502020204030204" pitchFamily="34" charset="0"/>
                <a:cs typeface="Calibri"/>
              </a:rPr>
              <a:t> Stacked RNNs consist of multiple networks where the output of one layer serves as the input to a subsequent layer</a:t>
            </a:r>
            <a:endParaRPr lang="en-US" sz="2400" dirty="0">
              <a:latin typeface="Calibri" panose="020F0502020204030204" pitchFamily="34" charset="0"/>
              <a:ea typeface="Calibri"/>
              <a:cs typeface="Calibr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FADE890-7F31-7463-BB34-D1992FEC2054}"/>
              </a:ext>
            </a:extLst>
          </p:cNvPr>
          <p:cNvSpPr/>
          <p:nvPr/>
        </p:nvSpPr>
        <p:spPr>
          <a:xfrm>
            <a:off x="3132668" y="529035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2F15898-C5E6-5EFF-B1A7-3B133523ED59}"/>
              </a:ext>
            </a:extLst>
          </p:cNvPr>
          <p:cNvSpPr/>
          <p:nvPr/>
        </p:nvSpPr>
        <p:spPr>
          <a:xfrm>
            <a:off x="4901090" y="529035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153EBBE-43B2-FA23-4802-966E7670ACCE}"/>
              </a:ext>
            </a:extLst>
          </p:cNvPr>
          <p:cNvSpPr/>
          <p:nvPr/>
        </p:nvSpPr>
        <p:spPr>
          <a:xfrm>
            <a:off x="6664176" y="529035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CE69C72-BFED-51F8-D58A-006F5963DAB0}"/>
              </a:ext>
            </a:extLst>
          </p:cNvPr>
          <p:cNvSpPr/>
          <p:nvPr/>
        </p:nvSpPr>
        <p:spPr>
          <a:xfrm>
            <a:off x="8427261" y="528907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29722590-2315-45D0-DA1F-7BBF5CBEFE14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4332294" y="5457250"/>
            <a:ext cx="56879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81054336-85B2-1455-7B5E-55CA68A34FF0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6100716" y="5457250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C208E556-2178-954B-B3A5-BE8A51DB550C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 flipV="1">
            <a:off x="7863802" y="5455970"/>
            <a:ext cx="563459" cy="128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5064B7A5-A0A1-9744-5765-5C7CFCB688C8}"/>
              </a:ext>
            </a:extLst>
          </p:cNvPr>
          <p:cNvCxnSpPr>
            <a:cxnSpLocks/>
            <a:stCxn id="11" idx="0"/>
            <a:endCxn id="24" idx="2"/>
          </p:cNvCxnSpPr>
          <p:nvPr/>
        </p:nvCxnSpPr>
        <p:spPr>
          <a:xfrm flipV="1">
            <a:off x="9027074" y="4784180"/>
            <a:ext cx="1" cy="50489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7D0B0CFD-A6EC-C33F-D84D-95A8BDD54AA0}"/>
              </a:ext>
            </a:extLst>
          </p:cNvPr>
          <p:cNvSpPr txBox="1"/>
          <p:nvPr/>
        </p:nvSpPr>
        <p:spPr>
          <a:xfrm>
            <a:off x="8735120" y="614008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x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5B65EABD-BAB4-0076-7312-D22702B77170}"/>
              </a:ext>
            </a:extLst>
          </p:cNvPr>
          <p:cNvCxnSpPr>
            <a:cxnSpLocks/>
            <a:stCxn id="16" idx="0"/>
            <a:endCxn id="11" idx="2"/>
          </p:cNvCxnSpPr>
          <p:nvPr/>
        </p:nvCxnSpPr>
        <p:spPr>
          <a:xfrm flipH="1" flipV="1">
            <a:off x="9027074" y="5622866"/>
            <a:ext cx="2" cy="51721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A01986B4-8CF0-4FB7-55C9-57BA6812CAE9}"/>
              </a:ext>
            </a:extLst>
          </p:cNvPr>
          <p:cNvSpPr txBox="1"/>
          <p:nvPr/>
        </p:nvSpPr>
        <p:spPr>
          <a:xfrm>
            <a:off x="6972033" y="614008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0D2F46A3-6AF2-88BE-F448-C79A214EADD4}"/>
              </a:ext>
            </a:extLst>
          </p:cNvPr>
          <p:cNvCxnSpPr>
            <a:cxnSpLocks/>
            <a:stCxn id="18" idx="0"/>
            <a:endCxn id="10" idx="2"/>
          </p:cNvCxnSpPr>
          <p:nvPr/>
        </p:nvCxnSpPr>
        <p:spPr>
          <a:xfrm flipV="1">
            <a:off x="7263989" y="5624146"/>
            <a:ext cx="0" cy="51593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38F8391-293E-E638-B707-287DD88032B2}"/>
              </a:ext>
            </a:extLst>
          </p:cNvPr>
          <p:cNvSpPr txBox="1"/>
          <p:nvPr/>
        </p:nvSpPr>
        <p:spPr>
          <a:xfrm>
            <a:off x="5208947" y="6140079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00DB7FE2-FA8B-7F3E-1528-29EACAD01557}"/>
              </a:ext>
            </a:extLst>
          </p:cNvPr>
          <p:cNvCxnSpPr>
            <a:cxnSpLocks/>
            <a:stCxn id="20" idx="0"/>
            <a:endCxn id="9" idx="2"/>
          </p:cNvCxnSpPr>
          <p:nvPr/>
        </p:nvCxnSpPr>
        <p:spPr>
          <a:xfrm flipV="1">
            <a:off x="5500903" y="5624146"/>
            <a:ext cx="0" cy="5159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420D7778-8F03-C04A-A52E-50147286C9E3}"/>
              </a:ext>
            </a:extLst>
          </p:cNvPr>
          <p:cNvSpPr txBox="1"/>
          <p:nvPr/>
        </p:nvSpPr>
        <p:spPr>
          <a:xfrm>
            <a:off x="3440525" y="6133461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94CDF928-7001-5F3C-C76F-9CFD32ACD42F}"/>
              </a:ext>
            </a:extLst>
          </p:cNvPr>
          <p:cNvCxnSpPr>
            <a:cxnSpLocks/>
            <a:stCxn id="22" idx="0"/>
            <a:endCxn id="8" idx="2"/>
          </p:cNvCxnSpPr>
          <p:nvPr/>
        </p:nvCxnSpPr>
        <p:spPr>
          <a:xfrm flipV="1">
            <a:off x="3732481" y="5624146"/>
            <a:ext cx="0" cy="50931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5A05CD5D-0848-46A6-49B1-0DB6A5FB5929}"/>
              </a:ext>
            </a:extLst>
          </p:cNvPr>
          <p:cNvSpPr/>
          <p:nvPr/>
        </p:nvSpPr>
        <p:spPr>
          <a:xfrm>
            <a:off x="8427262" y="4450388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7806D59-2F9D-F7FA-05DC-07AE32B02797}"/>
              </a:ext>
            </a:extLst>
          </p:cNvPr>
          <p:cNvSpPr/>
          <p:nvPr/>
        </p:nvSpPr>
        <p:spPr>
          <a:xfrm>
            <a:off x="8427261" y="360111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48" name="直線箭頭接點 47">
            <a:extLst>
              <a:ext uri="{FF2B5EF4-FFF2-40B4-BE49-F238E27FC236}">
                <a16:creationId xmlns:a16="http://schemas.microsoft.com/office/drawing/2014/main" id="{70EF2197-25E1-60DC-E460-D195E23B4D7A}"/>
              </a:ext>
            </a:extLst>
          </p:cNvPr>
          <p:cNvCxnSpPr>
            <a:cxnSpLocks/>
            <a:stCxn id="24" idx="0"/>
            <a:endCxn id="25" idx="2"/>
          </p:cNvCxnSpPr>
          <p:nvPr/>
        </p:nvCxnSpPr>
        <p:spPr>
          <a:xfrm flipH="1" flipV="1">
            <a:off x="9027074" y="3934906"/>
            <a:ext cx="1" cy="51548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箭頭接點 50">
            <a:extLst>
              <a:ext uri="{FF2B5EF4-FFF2-40B4-BE49-F238E27FC236}">
                <a16:creationId xmlns:a16="http://schemas.microsoft.com/office/drawing/2014/main" id="{5B112679-4D72-BF2B-D41C-E6683343C5A4}"/>
              </a:ext>
            </a:extLst>
          </p:cNvPr>
          <p:cNvCxnSpPr>
            <a:cxnSpLocks/>
            <a:endCxn id="52" idx="2"/>
          </p:cNvCxnSpPr>
          <p:nvPr/>
        </p:nvCxnSpPr>
        <p:spPr>
          <a:xfrm flipV="1">
            <a:off x="7263988" y="4784180"/>
            <a:ext cx="1" cy="50274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矩形 51">
            <a:extLst>
              <a:ext uri="{FF2B5EF4-FFF2-40B4-BE49-F238E27FC236}">
                <a16:creationId xmlns:a16="http://schemas.microsoft.com/office/drawing/2014/main" id="{880A1D79-279E-3F13-4ABD-9BE8E9D36E83}"/>
              </a:ext>
            </a:extLst>
          </p:cNvPr>
          <p:cNvSpPr/>
          <p:nvPr/>
        </p:nvSpPr>
        <p:spPr>
          <a:xfrm>
            <a:off x="6664176" y="4450388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830A2A26-8179-BCC6-2732-C12B1DE3EF23}"/>
              </a:ext>
            </a:extLst>
          </p:cNvPr>
          <p:cNvSpPr/>
          <p:nvPr/>
        </p:nvSpPr>
        <p:spPr>
          <a:xfrm>
            <a:off x="6664175" y="360111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54" name="直線箭頭接點 53">
            <a:extLst>
              <a:ext uri="{FF2B5EF4-FFF2-40B4-BE49-F238E27FC236}">
                <a16:creationId xmlns:a16="http://schemas.microsoft.com/office/drawing/2014/main" id="{BF2E1FEE-E307-C68B-E2D2-D88BE750FD67}"/>
              </a:ext>
            </a:extLst>
          </p:cNvPr>
          <p:cNvCxnSpPr>
            <a:cxnSpLocks/>
            <a:stCxn id="52" idx="0"/>
            <a:endCxn id="53" idx="2"/>
          </p:cNvCxnSpPr>
          <p:nvPr/>
        </p:nvCxnSpPr>
        <p:spPr>
          <a:xfrm flipH="1" flipV="1">
            <a:off x="7263988" y="3934906"/>
            <a:ext cx="1" cy="51548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線箭頭接點 62">
            <a:extLst>
              <a:ext uri="{FF2B5EF4-FFF2-40B4-BE49-F238E27FC236}">
                <a16:creationId xmlns:a16="http://schemas.microsoft.com/office/drawing/2014/main" id="{BFD9A776-4673-07DA-522D-B7AD1A38DC22}"/>
              </a:ext>
            </a:extLst>
          </p:cNvPr>
          <p:cNvCxnSpPr>
            <a:cxnSpLocks/>
            <a:stCxn id="9" idx="0"/>
            <a:endCxn id="64" idx="2"/>
          </p:cNvCxnSpPr>
          <p:nvPr/>
        </p:nvCxnSpPr>
        <p:spPr>
          <a:xfrm flipV="1">
            <a:off x="5500903" y="4784180"/>
            <a:ext cx="0" cy="50617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矩形 63">
            <a:extLst>
              <a:ext uri="{FF2B5EF4-FFF2-40B4-BE49-F238E27FC236}">
                <a16:creationId xmlns:a16="http://schemas.microsoft.com/office/drawing/2014/main" id="{E1932E26-9905-61C0-3601-04F1EB8BCE04}"/>
              </a:ext>
            </a:extLst>
          </p:cNvPr>
          <p:cNvSpPr/>
          <p:nvPr/>
        </p:nvSpPr>
        <p:spPr>
          <a:xfrm>
            <a:off x="4901090" y="4450388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ACD60F5A-1527-3584-43F5-F6FD11B6D951}"/>
              </a:ext>
            </a:extLst>
          </p:cNvPr>
          <p:cNvSpPr/>
          <p:nvPr/>
        </p:nvSpPr>
        <p:spPr>
          <a:xfrm>
            <a:off x="4901089" y="3602826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66" name="直線箭頭接點 65">
            <a:extLst>
              <a:ext uri="{FF2B5EF4-FFF2-40B4-BE49-F238E27FC236}">
                <a16:creationId xmlns:a16="http://schemas.microsoft.com/office/drawing/2014/main" id="{922A6CB1-B43D-CD48-31EF-5DD44838F1C2}"/>
              </a:ext>
            </a:extLst>
          </p:cNvPr>
          <p:cNvCxnSpPr>
            <a:cxnSpLocks/>
            <a:stCxn id="64" idx="0"/>
            <a:endCxn id="65" idx="2"/>
          </p:cNvCxnSpPr>
          <p:nvPr/>
        </p:nvCxnSpPr>
        <p:spPr>
          <a:xfrm flipH="1" flipV="1">
            <a:off x="5500902" y="3936618"/>
            <a:ext cx="1" cy="51377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線箭頭接點 66">
            <a:extLst>
              <a:ext uri="{FF2B5EF4-FFF2-40B4-BE49-F238E27FC236}">
                <a16:creationId xmlns:a16="http://schemas.microsoft.com/office/drawing/2014/main" id="{2DF8BDA7-9599-AF9D-10E6-F6770239D62A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3732480" y="4784180"/>
            <a:ext cx="1" cy="51721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 67">
            <a:extLst>
              <a:ext uri="{FF2B5EF4-FFF2-40B4-BE49-F238E27FC236}">
                <a16:creationId xmlns:a16="http://schemas.microsoft.com/office/drawing/2014/main" id="{83A980C3-929E-B985-848C-34990EB63E2F}"/>
              </a:ext>
            </a:extLst>
          </p:cNvPr>
          <p:cNvSpPr/>
          <p:nvPr/>
        </p:nvSpPr>
        <p:spPr>
          <a:xfrm>
            <a:off x="3132668" y="4450388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4A12A7B8-F094-1A7B-614F-FCF4B566840A}"/>
              </a:ext>
            </a:extLst>
          </p:cNvPr>
          <p:cNvSpPr/>
          <p:nvPr/>
        </p:nvSpPr>
        <p:spPr>
          <a:xfrm>
            <a:off x="3138004" y="3602826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70" name="直線箭頭接點 69">
            <a:extLst>
              <a:ext uri="{FF2B5EF4-FFF2-40B4-BE49-F238E27FC236}">
                <a16:creationId xmlns:a16="http://schemas.microsoft.com/office/drawing/2014/main" id="{0D7C7665-87EB-FC21-B3A7-123736EA5778}"/>
              </a:ext>
            </a:extLst>
          </p:cNvPr>
          <p:cNvCxnSpPr>
            <a:cxnSpLocks/>
            <a:stCxn id="68" idx="0"/>
            <a:endCxn id="69" idx="2"/>
          </p:cNvCxnSpPr>
          <p:nvPr/>
        </p:nvCxnSpPr>
        <p:spPr>
          <a:xfrm flipV="1">
            <a:off x="3732481" y="3936618"/>
            <a:ext cx="5336" cy="51377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線箭頭接點 85">
            <a:extLst>
              <a:ext uri="{FF2B5EF4-FFF2-40B4-BE49-F238E27FC236}">
                <a16:creationId xmlns:a16="http://schemas.microsoft.com/office/drawing/2014/main" id="{B7BFF876-899D-4981-A64A-EC9BAE1B4F18}"/>
              </a:ext>
            </a:extLst>
          </p:cNvPr>
          <p:cNvCxnSpPr>
            <a:cxnSpLocks/>
            <a:stCxn id="52" idx="3"/>
            <a:endCxn id="24" idx="1"/>
          </p:cNvCxnSpPr>
          <p:nvPr/>
        </p:nvCxnSpPr>
        <p:spPr>
          <a:xfrm>
            <a:off x="7863802" y="4617284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線箭頭接點 88">
            <a:extLst>
              <a:ext uri="{FF2B5EF4-FFF2-40B4-BE49-F238E27FC236}">
                <a16:creationId xmlns:a16="http://schemas.microsoft.com/office/drawing/2014/main" id="{A7EF3B4E-598A-9E43-DEA4-1175312A99E0}"/>
              </a:ext>
            </a:extLst>
          </p:cNvPr>
          <p:cNvCxnSpPr>
            <a:cxnSpLocks/>
            <a:stCxn id="53" idx="3"/>
            <a:endCxn id="25" idx="1"/>
          </p:cNvCxnSpPr>
          <p:nvPr/>
        </p:nvCxnSpPr>
        <p:spPr>
          <a:xfrm>
            <a:off x="7863801" y="3768010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線箭頭接點 91">
            <a:extLst>
              <a:ext uri="{FF2B5EF4-FFF2-40B4-BE49-F238E27FC236}">
                <a16:creationId xmlns:a16="http://schemas.microsoft.com/office/drawing/2014/main" id="{B103EAA7-9540-1E72-444F-8E2027CAFB3F}"/>
              </a:ext>
            </a:extLst>
          </p:cNvPr>
          <p:cNvCxnSpPr>
            <a:cxnSpLocks/>
            <a:stCxn id="65" idx="3"/>
            <a:endCxn id="53" idx="1"/>
          </p:cNvCxnSpPr>
          <p:nvPr/>
        </p:nvCxnSpPr>
        <p:spPr>
          <a:xfrm flipV="1">
            <a:off x="6100715" y="3768010"/>
            <a:ext cx="563460" cy="171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線箭頭接點 104">
            <a:extLst>
              <a:ext uri="{FF2B5EF4-FFF2-40B4-BE49-F238E27FC236}">
                <a16:creationId xmlns:a16="http://schemas.microsoft.com/office/drawing/2014/main" id="{4E3E13A6-142E-CDEE-CDC4-6CB06991D9DC}"/>
              </a:ext>
            </a:extLst>
          </p:cNvPr>
          <p:cNvCxnSpPr>
            <a:cxnSpLocks/>
            <a:stCxn id="69" idx="3"/>
            <a:endCxn id="65" idx="1"/>
          </p:cNvCxnSpPr>
          <p:nvPr/>
        </p:nvCxnSpPr>
        <p:spPr>
          <a:xfrm>
            <a:off x="4337630" y="3769722"/>
            <a:ext cx="56345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0D896BCC-FF55-D206-0C2A-1CCF7400FE8A}"/>
              </a:ext>
            </a:extLst>
          </p:cNvPr>
          <p:cNvSpPr txBox="1"/>
          <p:nvPr/>
        </p:nvSpPr>
        <p:spPr>
          <a:xfrm>
            <a:off x="8735119" y="255677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h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F019D950-8710-C0FC-BF5D-4967599D1128}"/>
              </a:ext>
            </a:extLst>
          </p:cNvPr>
          <p:cNvSpPr txBox="1"/>
          <p:nvPr/>
        </p:nvSpPr>
        <p:spPr>
          <a:xfrm>
            <a:off x="6972032" y="255677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89EFA3DF-97E4-2D9E-D5E0-C7B31DF8AA61}"/>
              </a:ext>
            </a:extLst>
          </p:cNvPr>
          <p:cNvSpPr txBox="1"/>
          <p:nvPr/>
        </p:nvSpPr>
        <p:spPr>
          <a:xfrm>
            <a:off x="5208946" y="2556774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1307C686-EF6A-37FE-DA83-06B5AC4858EC}"/>
              </a:ext>
            </a:extLst>
          </p:cNvPr>
          <p:cNvSpPr txBox="1"/>
          <p:nvPr/>
        </p:nvSpPr>
        <p:spPr>
          <a:xfrm>
            <a:off x="3440525" y="2574007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cxnSp>
        <p:nvCxnSpPr>
          <p:cNvPr id="125" name="直線箭頭接點 124">
            <a:extLst>
              <a:ext uri="{FF2B5EF4-FFF2-40B4-BE49-F238E27FC236}">
                <a16:creationId xmlns:a16="http://schemas.microsoft.com/office/drawing/2014/main" id="{E7B97303-35CC-2323-3CB0-FCAFA88E949E}"/>
              </a:ext>
            </a:extLst>
          </p:cNvPr>
          <p:cNvCxnSpPr>
            <a:cxnSpLocks/>
          </p:cNvCxnSpPr>
          <p:nvPr/>
        </p:nvCxnSpPr>
        <p:spPr>
          <a:xfrm flipH="1" flipV="1">
            <a:off x="9027072" y="3089729"/>
            <a:ext cx="2" cy="51721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線箭頭接點 125">
            <a:extLst>
              <a:ext uri="{FF2B5EF4-FFF2-40B4-BE49-F238E27FC236}">
                <a16:creationId xmlns:a16="http://schemas.microsoft.com/office/drawing/2014/main" id="{449E76F4-52C8-A4A7-E3A9-4C73E91A1CBE}"/>
              </a:ext>
            </a:extLst>
          </p:cNvPr>
          <p:cNvCxnSpPr>
            <a:cxnSpLocks/>
          </p:cNvCxnSpPr>
          <p:nvPr/>
        </p:nvCxnSpPr>
        <p:spPr>
          <a:xfrm flipV="1">
            <a:off x="7263987" y="3091009"/>
            <a:ext cx="0" cy="51593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直線箭頭接點 126">
            <a:extLst>
              <a:ext uri="{FF2B5EF4-FFF2-40B4-BE49-F238E27FC236}">
                <a16:creationId xmlns:a16="http://schemas.microsoft.com/office/drawing/2014/main" id="{47D74C32-9043-ACF5-DCAD-03AEB15F8562}"/>
              </a:ext>
            </a:extLst>
          </p:cNvPr>
          <p:cNvCxnSpPr>
            <a:cxnSpLocks/>
          </p:cNvCxnSpPr>
          <p:nvPr/>
        </p:nvCxnSpPr>
        <p:spPr>
          <a:xfrm flipV="1">
            <a:off x="5500901" y="3091009"/>
            <a:ext cx="0" cy="5159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直線箭頭接點 127">
            <a:extLst>
              <a:ext uri="{FF2B5EF4-FFF2-40B4-BE49-F238E27FC236}">
                <a16:creationId xmlns:a16="http://schemas.microsoft.com/office/drawing/2014/main" id="{1F5B4794-13EB-F5B7-27DF-6154B1790164}"/>
              </a:ext>
            </a:extLst>
          </p:cNvPr>
          <p:cNvCxnSpPr>
            <a:cxnSpLocks/>
          </p:cNvCxnSpPr>
          <p:nvPr/>
        </p:nvCxnSpPr>
        <p:spPr>
          <a:xfrm flipV="1">
            <a:off x="3732479" y="3091009"/>
            <a:ext cx="0" cy="50931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B7D7F992-B1FC-C445-15C0-ED5F9F6EDE82}"/>
              </a:ext>
            </a:extLst>
          </p:cNvPr>
          <p:cNvSpPr txBox="1"/>
          <p:nvPr/>
        </p:nvSpPr>
        <p:spPr>
          <a:xfrm>
            <a:off x="9626885" y="3583344"/>
            <a:ext cx="1359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RNN layer3</a:t>
            </a:r>
            <a:endParaRPr kumimoji="1" lang="zh-TW" altLang="en-US" dirty="0"/>
          </a:p>
        </p:txBody>
      </p:sp>
      <p:sp>
        <p:nvSpPr>
          <p:cNvPr id="136" name="文字方塊 135">
            <a:extLst>
              <a:ext uri="{FF2B5EF4-FFF2-40B4-BE49-F238E27FC236}">
                <a16:creationId xmlns:a16="http://schemas.microsoft.com/office/drawing/2014/main" id="{93FB47C8-C8D6-A5CE-7490-2CC9EBA56B3D}"/>
              </a:ext>
            </a:extLst>
          </p:cNvPr>
          <p:cNvSpPr txBox="1"/>
          <p:nvPr/>
        </p:nvSpPr>
        <p:spPr>
          <a:xfrm>
            <a:off x="9626885" y="4429477"/>
            <a:ext cx="1359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RNN layer2</a:t>
            </a:r>
            <a:endParaRPr kumimoji="1" lang="zh-TW" altLang="en-US" dirty="0"/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D9D6176B-3B42-F1DE-857C-E270894C1808}"/>
              </a:ext>
            </a:extLst>
          </p:cNvPr>
          <p:cNvSpPr txBox="1"/>
          <p:nvPr/>
        </p:nvSpPr>
        <p:spPr>
          <a:xfrm>
            <a:off x="9621550" y="5271304"/>
            <a:ext cx="1359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RNN layer1</a:t>
            </a:r>
            <a:endParaRPr kumimoji="1" lang="zh-TW" altLang="en-US" dirty="0"/>
          </a:p>
        </p:txBody>
      </p:sp>
      <p:cxnSp>
        <p:nvCxnSpPr>
          <p:cNvPr id="3" name="直線箭頭接點 2">
            <a:extLst>
              <a:ext uri="{FF2B5EF4-FFF2-40B4-BE49-F238E27FC236}">
                <a16:creationId xmlns:a16="http://schemas.microsoft.com/office/drawing/2014/main" id="{E9740CDA-82AC-30A4-37AD-8ADED7472F23}"/>
              </a:ext>
            </a:extLst>
          </p:cNvPr>
          <p:cNvCxnSpPr>
            <a:cxnSpLocks/>
            <a:stCxn id="68" idx="3"/>
            <a:endCxn id="64" idx="1"/>
          </p:cNvCxnSpPr>
          <p:nvPr/>
        </p:nvCxnSpPr>
        <p:spPr>
          <a:xfrm>
            <a:off x="4332294" y="4617284"/>
            <a:ext cx="56879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0A26B1F0-6676-EFE4-94B9-B2581F61C4CF}"/>
              </a:ext>
            </a:extLst>
          </p:cNvPr>
          <p:cNvCxnSpPr>
            <a:cxnSpLocks/>
            <a:stCxn id="64" idx="3"/>
            <a:endCxn id="52" idx="1"/>
          </p:cNvCxnSpPr>
          <p:nvPr/>
        </p:nvCxnSpPr>
        <p:spPr>
          <a:xfrm>
            <a:off x="6100716" y="4617284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5D8A9945-FB4B-9949-0964-FEB608FE8F1E}"/>
              </a:ext>
            </a:extLst>
          </p:cNvPr>
          <p:cNvCxnSpPr>
            <a:cxnSpLocks/>
          </p:cNvCxnSpPr>
          <p:nvPr/>
        </p:nvCxnSpPr>
        <p:spPr>
          <a:xfrm>
            <a:off x="2446689" y="5419066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B31C290B-E58B-3D01-F062-CC01738F0464}"/>
              </a:ext>
            </a:extLst>
          </p:cNvPr>
          <p:cNvCxnSpPr>
            <a:cxnSpLocks/>
          </p:cNvCxnSpPr>
          <p:nvPr/>
        </p:nvCxnSpPr>
        <p:spPr>
          <a:xfrm>
            <a:off x="2449905" y="4626546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33CE7EE1-DE9E-8818-FB5B-4865AFFF2BEB}"/>
              </a:ext>
            </a:extLst>
          </p:cNvPr>
          <p:cNvCxnSpPr>
            <a:cxnSpLocks/>
          </p:cNvCxnSpPr>
          <p:nvPr/>
        </p:nvCxnSpPr>
        <p:spPr>
          <a:xfrm>
            <a:off x="2446689" y="3766349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E665BE1-DD0F-3AF7-08E5-A1ABD959E1E4}"/>
                  </a:ext>
                </a:extLst>
              </p:cNvPr>
              <p:cNvSpPr txBox="1"/>
              <p:nvPr/>
            </p:nvSpPr>
            <p:spPr>
              <a:xfrm>
                <a:off x="1810523" y="3526254"/>
                <a:ext cx="583911" cy="483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kumimoji="1" lang="zh-TW" altLang="en-US" sz="2400" baseline="-250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E665BE1-DD0F-3AF7-08E5-A1ABD959E1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0523" y="3526254"/>
                <a:ext cx="583911" cy="483594"/>
              </a:xfrm>
              <a:prstGeom prst="rect">
                <a:avLst/>
              </a:prstGeom>
              <a:blipFill>
                <a:blip r:embed="rId2"/>
                <a:stretch>
                  <a:fillRect b="-25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B616322B-626E-2950-BE98-707DA6D1B102}"/>
                  </a:ext>
                </a:extLst>
              </p:cNvPr>
              <p:cNvSpPr txBox="1"/>
              <p:nvPr/>
            </p:nvSpPr>
            <p:spPr>
              <a:xfrm>
                <a:off x="1810523" y="4352612"/>
                <a:ext cx="583911" cy="483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400" baseline="-250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B616322B-626E-2950-BE98-707DA6D1B1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0523" y="4352612"/>
                <a:ext cx="583911" cy="483594"/>
              </a:xfrm>
              <a:prstGeom prst="rect">
                <a:avLst/>
              </a:prstGeom>
              <a:blipFill>
                <a:blip r:embed="rId3"/>
                <a:stretch>
                  <a:fillRect b="-25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79E836FB-6F91-8D2F-4DF5-C176872A9C86}"/>
                  </a:ext>
                </a:extLst>
              </p:cNvPr>
              <p:cNvSpPr txBox="1"/>
              <p:nvPr/>
            </p:nvSpPr>
            <p:spPr>
              <a:xfrm>
                <a:off x="1810522" y="5178970"/>
                <a:ext cx="583911" cy="483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400" baseline="-25000" dirty="0"/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79E836FB-6F91-8D2F-4DF5-C176872A9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0522" y="5178970"/>
                <a:ext cx="583911" cy="483594"/>
              </a:xfrm>
              <a:prstGeom prst="rect">
                <a:avLst/>
              </a:prstGeom>
              <a:blipFill>
                <a:blip r:embed="rId4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04632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FEA7DB-9BFE-98EA-C99C-61DB3C399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Bidirectional RNNs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37818D3-2611-275D-A019-8CD30EA03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7ACA7B9-2B33-7783-B244-DF114DD31823}"/>
              </a:ext>
            </a:extLst>
          </p:cNvPr>
          <p:cNvSpPr/>
          <p:nvPr/>
        </p:nvSpPr>
        <p:spPr>
          <a:xfrm>
            <a:off x="2127491" y="455867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71C1198-6143-65FB-3F06-68FEC3F561A9}"/>
              </a:ext>
            </a:extLst>
          </p:cNvPr>
          <p:cNvSpPr/>
          <p:nvPr/>
        </p:nvSpPr>
        <p:spPr>
          <a:xfrm>
            <a:off x="4224122" y="455867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5D96B68-7265-74F6-81F7-41BBFAAC41BD}"/>
              </a:ext>
            </a:extLst>
          </p:cNvPr>
          <p:cNvSpPr/>
          <p:nvPr/>
        </p:nvSpPr>
        <p:spPr>
          <a:xfrm>
            <a:off x="6418282" y="455867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24B7050-481E-9D17-E2EC-2263657736E1}"/>
              </a:ext>
            </a:extLst>
          </p:cNvPr>
          <p:cNvSpPr/>
          <p:nvPr/>
        </p:nvSpPr>
        <p:spPr>
          <a:xfrm>
            <a:off x="8679292" y="455867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78019C5F-DE98-2E93-7213-96BD3BFE696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327117" y="4798771"/>
            <a:ext cx="8970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1EC21411-0260-540C-A09B-25BB89F30013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5423748" y="4798771"/>
            <a:ext cx="99453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169217D9-069D-A4D9-84CB-F0413D99A095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7617908" y="4798771"/>
            <a:ext cx="1061384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9604787E-66F7-1209-CE81-B09144F61DCC}"/>
              </a:ext>
            </a:extLst>
          </p:cNvPr>
          <p:cNvSpPr/>
          <p:nvPr/>
        </p:nvSpPr>
        <p:spPr>
          <a:xfrm>
            <a:off x="3194291" y="362050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0B18EE8-8BB9-0726-E6BD-A14F0B99B80D}"/>
              </a:ext>
            </a:extLst>
          </p:cNvPr>
          <p:cNvSpPr/>
          <p:nvPr/>
        </p:nvSpPr>
        <p:spPr>
          <a:xfrm>
            <a:off x="5267304" y="362050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93648DD-F2DF-3AFB-091E-B6C4B26FC601}"/>
              </a:ext>
            </a:extLst>
          </p:cNvPr>
          <p:cNvSpPr/>
          <p:nvPr/>
        </p:nvSpPr>
        <p:spPr>
          <a:xfrm>
            <a:off x="7340317" y="362050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B765485-9E43-97BD-9CF1-177B3CE61900}"/>
              </a:ext>
            </a:extLst>
          </p:cNvPr>
          <p:cNvSpPr/>
          <p:nvPr/>
        </p:nvSpPr>
        <p:spPr>
          <a:xfrm>
            <a:off x="9413329" y="362050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38E8E03A-046B-1135-9BC2-F4594F72547D}"/>
              </a:ext>
            </a:extLst>
          </p:cNvPr>
          <p:cNvCxnSpPr>
            <a:cxnSpLocks/>
            <a:stCxn id="17" idx="1"/>
            <a:endCxn id="16" idx="3"/>
          </p:cNvCxnSpPr>
          <p:nvPr/>
        </p:nvCxnSpPr>
        <p:spPr>
          <a:xfrm flipH="1">
            <a:off x="4393917" y="3860602"/>
            <a:ext cx="87338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70403AAA-997A-1B88-B464-44CB56730950}"/>
              </a:ext>
            </a:extLst>
          </p:cNvPr>
          <p:cNvCxnSpPr>
            <a:cxnSpLocks/>
            <a:stCxn id="18" idx="1"/>
            <a:endCxn id="17" idx="3"/>
          </p:cNvCxnSpPr>
          <p:nvPr/>
        </p:nvCxnSpPr>
        <p:spPr>
          <a:xfrm flipH="1">
            <a:off x="6466930" y="3860602"/>
            <a:ext cx="87338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43291A05-F6FE-2A43-D07F-0139066553D9}"/>
              </a:ext>
            </a:extLst>
          </p:cNvPr>
          <p:cNvCxnSpPr>
            <a:cxnSpLocks/>
            <a:stCxn id="19" idx="1"/>
            <a:endCxn id="18" idx="3"/>
          </p:cNvCxnSpPr>
          <p:nvPr/>
        </p:nvCxnSpPr>
        <p:spPr>
          <a:xfrm flipH="1">
            <a:off x="8539943" y="3860602"/>
            <a:ext cx="873386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A4425D8D-C21F-FF46-F3C6-1E46623108D5}"/>
              </a:ext>
            </a:extLst>
          </p:cNvPr>
          <p:cNvSpPr txBox="1"/>
          <p:nvPr/>
        </p:nvSpPr>
        <p:spPr>
          <a:xfrm>
            <a:off x="788517" y="4614105"/>
            <a:ext cx="1199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Forward RNN</a:t>
            </a:r>
            <a:endParaRPr kumimoji="1" lang="zh-TW" altLang="en-US" b="1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4DD01FF9-72D7-A229-3A25-98EC40B9FE43}"/>
              </a:ext>
            </a:extLst>
          </p:cNvPr>
          <p:cNvSpPr txBox="1"/>
          <p:nvPr/>
        </p:nvSpPr>
        <p:spPr>
          <a:xfrm>
            <a:off x="10564630" y="3682762"/>
            <a:ext cx="13120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Backward RNN</a:t>
            </a:r>
            <a:endParaRPr kumimoji="1" lang="zh-TW" altLang="en-US" b="1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313C36E6-9841-794C-F03D-F5D654C5345F}"/>
              </a:ext>
            </a:extLst>
          </p:cNvPr>
          <p:cNvSpPr txBox="1"/>
          <p:nvPr/>
        </p:nvSpPr>
        <p:spPr>
          <a:xfrm>
            <a:off x="9721186" y="560830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x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A278DC68-2C3C-C53F-B10B-4601F724F894}"/>
              </a:ext>
            </a:extLst>
          </p:cNvPr>
          <p:cNvSpPr txBox="1"/>
          <p:nvPr/>
        </p:nvSpPr>
        <p:spPr>
          <a:xfrm>
            <a:off x="7648174" y="560830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58690A82-E595-56B3-94DA-172101EA4FD0}"/>
              </a:ext>
            </a:extLst>
          </p:cNvPr>
          <p:cNvSpPr txBox="1"/>
          <p:nvPr/>
        </p:nvSpPr>
        <p:spPr>
          <a:xfrm>
            <a:off x="5573257" y="560830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27FC95F6-68F2-F31C-BD5A-F460C18612C4}"/>
              </a:ext>
            </a:extLst>
          </p:cNvPr>
          <p:cNvSpPr txBox="1"/>
          <p:nvPr/>
        </p:nvSpPr>
        <p:spPr>
          <a:xfrm>
            <a:off x="3502148" y="5608308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420437F5-811A-16F9-34D8-4075215DD4A5}"/>
              </a:ext>
            </a:extLst>
          </p:cNvPr>
          <p:cNvCxnSpPr>
            <a:cxnSpLocks/>
            <a:stCxn id="28" idx="0"/>
            <a:endCxn id="9" idx="2"/>
          </p:cNvCxnSpPr>
          <p:nvPr/>
        </p:nvCxnSpPr>
        <p:spPr>
          <a:xfrm flipH="1" flipV="1">
            <a:off x="2727304" y="5038866"/>
            <a:ext cx="1066800" cy="56944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8A939648-C955-6A4B-3354-5859DD8B64CB}"/>
              </a:ext>
            </a:extLst>
          </p:cNvPr>
          <p:cNvCxnSpPr>
            <a:cxnSpLocks/>
            <a:stCxn id="28" idx="0"/>
            <a:endCxn id="16" idx="2"/>
          </p:cNvCxnSpPr>
          <p:nvPr/>
        </p:nvCxnSpPr>
        <p:spPr>
          <a:xfrm flipV="1">
            <a:off x="3794104" y="4100697"/>
            <a:ext cx="0" cy="150761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D189140E-E82A-83CD-F1BD-861BCFFA7705}"/>
              </a:ext>
            </a:extLst>
          </p:cNvPr>
          <p:cNvCxnSpPr>
            <a:cxnSpLocks/>
            <a:stCxn id="27" idx="0"/>
            <a:endCxn id="17" idx="2"/>
          </p:cNvCxnSpPr>
          <p:nvPr/>
        </p:nvCxnSpPr>
        <p:spPr>
          <a:xfrm flipV="1">
            <a:off x="5865213" y="4100697"/>
            <a:ext cx="1904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線箭頭接點 54">
            <a:extLst>
              <a:ext uri="{FF2B5EF4-FFF2-40B4-BE49-F238E27FC236}">
                <a16:creationId xmlns:a16="http://schemas.microsoft.com/office/drawing/2014/main" id="{6ACC4A81-0BFC-86B1-E6E3-5983FD13E16D}"/>
              </a:ext>
            </a:extLst>
          </p:cNvPr>
          <p:cNvCxnSpPr>
            <a:cxnSpLocks/>
            <a:stCxn id="26" idx="0"/>
            <a:endCxn id="18" idx="2"/>
          </p:cNvCxnSpPr>
          <p:nvPr/>
        </p:nvCxnSpPr>
        <p:spPr>
          <a:xfrm flipV="1">
            <a:off x="7940130" y="4100697"/>
            <a:ext cx="0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箭頭接點 57">
            <a:extLst>
              <a:ext uri="{FF2B5EF4-FFF2-40B4-BE49-F238E27FC236}">
                <a16:creationId xmlns:a16="http://schemas.microsoft.com/office/drawing/2014/main" id="{3EF20300-7352-41BB-BCD8-D2A3EB62BC0F}"/>
              </a:ext>
            </a:extLst>
          </p:cNvPr>
          <p:cNvCxnSpPr>
            <a:cxnSpLocks/>
            <a:stCxn id="25" idx="0"/>
            <a:endCxn id="19" idx="2"/>
          </p:cNvCxnSpPr>
          <p:nvPr/>
        </p:nvCxnSpPr>
        <p:spPr>
          <a:xfrm flipV="1">
            <a:off x="10013142" y="4100697"/>
            <a:ext cx="0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線箭頭接點 65">
            <a:extLst>
              <a:ext uri="{FF2B5EF4-FFF2-40B4-BE49-F238E27FC236}">
                <a16:creationId xmlns:a16="http://schemas.microsoft.com/office/drawing/2014/main" id="{1F10ECF2-6D5C-B55C-40D5-0385E342DAFA}"/>
              </a:ext>
            </a:extLst>
          </p:cNvPr>
          <p:cNvCxnSpPr>
            <a:cxnSpLocks/>
            <a:stCxn id="27" idx="0"/>
            <a:endCxn id="10" idx="2"/>
          </p:cNvCxnSpPr>
          <p:nvPr/>
        </p:nvCxnSpPr>
        <p:spPr>
          <a:xfrm flipH="1" flipV="1">
            <a:off x="4823935" y="5038866"/>
            <a:ext cx="1041278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線箭頭接點 68">
            <a:extLst>
              <a:ext uri="{FF2B5EF4-FFF2-40B4-BE49-F238E27FC236}">
                <a16:creationId xmlns:a16="http://schemas.microsoft.com/office/drawing/2014/main" id="{00C4854B-F6C3-D554-1C75-48F660617EBD}"/>
              </a:ext>
            </a:extLst>
          </p:cNvPr>
          <p:cNvCxnSpPr>
            <a:cxnSpLocks/>
            <a:stCxn id="26" idx="0"/>
            <a:endCxn id="11" idx="2"/>
          </p:cNvCxnSpPr>
          <p:nvPr/>
        </p:nvCxnSpPr>
        <p:spPr>
          <a:xfrm flipH="1" flipV="1">
            <a:off x="7018095" y="5038866"/>
            <a:ext cx="922035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線箭頭接點 71">
            <a:extLst>
              <a:ext uri="{FF2B5EF4-FFF2-40B4-BE49-F238E27FC236}">
                <a16:creationId xmlns:a16="http://schemas.microsoft.com/office/drawing/2014/main" id="{85ECDAC0-9F46-88F8-BBB8-EE6913A3D1C1}"/>
              </a:ext>
            </a:extLst>
          </p:cNvPr>
          <p:cNvCxnSpPr>
            <a:cxnSpLocks/>
            <a:stCxn id="25" idx="0"/>
            <a:endCxn id="12" idx="2"/>
          </p:cNvCxnSpPr>
          <p:nvPr/>
        </p:nvCxnSpPr>
        <p:spPr>
          <a:xfrm flipH="1" flipV="1">
            <a:off x="9279105" y="5038866"/>
            <a:ext cx="734037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矩形 74">
            <a:extLst>
              <a:ext uri="{FF2B5EF4-FFF2-40B4-BE49-F238E27FC236}">
                <a16:creationId xmlns:a16="http://schemas.microsoft.com/office/drawing/2014/main" id="{20D8FA6B-F6DD-701C-258E-5AB18FF2F553}"/>
              </a:ext>
            </a:extLst>
          </p:cNvPr>
          <p:cNvSpPr/>
          <p:nvPr/>
        </p:nvSpPr>
        <p:spPr>
          <a:xfrm>
            <a:off x="3327117" y="2822074"/>
            <a:ext cx="437360" cy="1818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F8412829-7500-F1F7-40EE-7F9E42E0960B}"/>
              </a:ext>
            </a:extLst>
          </p:cNvPr>
          <p:cNvSpPr/>
          <p:nvPr/>
        </p:nvSpPr>
        <p:spPr>
          <a:xfrm>
            <a:off x="2889757" y="2822074"/>
            <a:ext cx="437360" cy="181844"/>
          </a:xfrm>
          <a:prstGeom prst="rect">
            <a:avLst/>
          </a:prstGeom>
          <a:solidFill>
            <a:srgbClr val="FDE7D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4D01559E-DC87-8DC6-BA7E-50A232E4AC03}"/>
              </a:ext>
            </a:extLst>
          </p:cNvPr>
          <p:cNvSpPr/>
          <p:nvPr/>
        </p:nvSpPr>
        <p:spPr>
          <a:xfrm>
            <a:off x="5308789" y="2821390"/>
            <a:ext cx="437360" cy="1818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D88461A3-9E49-630F-4A36-96DE2399716D}"/>
              </a:ext>
            </a:extLst>
          </p:cNvPr>
          <p:cNvSpPr/>
          <p:nvPr/>
        </p:nvSpPr>
        <p:spPr>
          <a:xfrm>
            <a:off x="4871429" y="2821390"/>
            <a:ext cx="437360" cy="181844"/>
          </a:xfrm>
          <a:prstGeom prst="rect">
            <a:avLst/>
          </a:prstGeom>
          <a:solidFill>
            <a:srgbClr val="FDE7D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D742D94D-B319-9497-7AA2-25A42AD87A9B}"/>
              </a:ext>
            </a:extLst>
          </p:cNvPr>
          <p:cNvSpPr/>
          <p:nvPr/>
        </p:nvSpPr>
        <p:spPr>
          <a:xfrm>
            <a:off x="7340317" y="2817951"/>
            <a:ext cx="437360" cy="1818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A31A46EB-DF3E-F685-7A7C-60A501D50000}"/>
              </a:ext>
            </a:extLst>
          </p:cNvPr>
          <p:cNvSpPr/>
          <p:nvPr/>
        </p:nvSpPr>
        <p:spPr>
          <a:xfrm>
            <a:off x="6902957" y="2817951"/>
            <a:ext cx="437360" cy="181844"/>
          </a:xfrm>
          <a:prstGeom prst="rect">
            <a:avLst/>
          </a:prstGeom>
          <a:solidFill>
            <a:srgbClr val="FDE7D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1B9B476E-B80C-1F60-AE94-5899EB2B9BD1}"/>
              </a:ext>
            </a:extLst>
          </p:cNvPr>
          <p:cNvSpPr/>
          <p:nvPr/>
        </p:nvSpPr>
        <p:spPr>
          <a:xfrm>
            <a:off x="9339471" y="2821220"/>
            <a:ext cx="437360" cy="1818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E8FC7A4E-FF66-AFC1-292C-31EA1C455F56}"/>
              </a:ext>
            </a:extLst>
          </p:cNvPr>
          <p:cNvSpPr/>
          <p:nvPr/>
        </p:nvSpPr>
        <p:spPr>
          <a:xfrm>
            <a:off x="8902111" y="2821220"/>
            <a:ext cx="437360" cy="181844"/>
          </a:xfrm>
          <a:prstGeom prst="rect">
            <a:avLst/>
          </a:prstGeom>
          <a:solidFill>
            <a:srgbClr val="FDE7D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83" name="直線箭頭接點 82">
            <a:extLst>
              <a:ext uri="{FF2B5EF4-FFF2-40B4-BE49-F238E27FC236}">
                <a16:creationId xmlns:a16="http://schemas.microsoft.com/office/drawing/2014/main" id="{C5DF0D29-74DA-CE0E-DEB6-834E618E51A1}"/>
              </a:ext>
            </a:extLst>
          </p:cNvPr>
          <p:cNvCxnSpPr>
            <a:cxnSpLocks/>
            <a:stCxn id="9" idx="0"/>
            <a:endCxn id="76" idx="2"/>
          </p:cNvCxnSpPr>
          <p:nvPr/>
        </p:nvCxnSpPr>
        <p:spPr>
          <a:xfrm flipV="1">
            <a:off x="2727304" y="3003918"/>
            <a:ext cx="381133" cy="155475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線箭頭接點 85">
            <a:extLst>
              <a:ext uri="{FF2B5EF4-FFF2-40B4-BE49-F238E27FC236}">
                <a16:creationId xmlns:a16="http://schemas.microsoft.com/office/drawing/2014/main" id="{6950F7FB-43F2-047D-0BAB-88517C6E707D}"/>
              </a:ext>
            </a:extLst>
          </p:cNvPr>
          <p:cNvCxnSpPr>
            <a:cxnSpLocks/>
            <a:stCxn id="16" idx="0"/>
            <a:endCxn id="75" idx="2"/>
          </p:cNvCxnSpPr>
          <p:nvPr/>
        </p:nvCxnSpPr>
        <p:spPr>
          <a:xfrm flipH="1" flipV="1">
            <a:off x="3545797" y="3003918"/>
            <a:ext cx="248307" cy="6165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767B2FBE-D26B-6C69-97AA-1ED5D41D2878}"/>
              </a:ext>
            </a:extLst>
          </p:cNvPr>
          <p:cNvSpPr txBox="1"/>
          <p:nvPr/>
        </p:nvSpPr>
        <p:spPr>
          <a:xfrm>
            <a:off x="599398" y="2721385"/>
            <a:ext cx="183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>
                <a:solidFill>
                  <a:srgbClr val="0070C0"/>
                </a:solidFill>
              </a:rPr>
              <a:t>Concatenation</a:t>
            </a:r>
            <a:endParaRPr kumimoji="1" lang="zh-TW" altLang="en-US" b="1" dirty="0">
              <a:solidFill>
                <a:srgbClr val="0070C0"/>
              </a:solidFill>
            </a:endParaRPr>
          </a:p>
        </p:txBody>
      </p:sp>
      <p:cxnSp>
        <p:nvCxnSpPr>
          <p:cNvPr id="90" name="直線箭頭接點 89">
            <a:extLst>
              <a:ext uri="{FF2B5EF4-FFF2-40B4-BE49-F238E27FC236}">
                <a16:creationId xmlns:a16="http://schemas.microsoft.com/office/drawing/2014/main" id="{6652BA09-5BAB-500A-D9FA-A3042683AE7C}"/>
              </a:ext>
            </a:extLst>
          </p:cNvPr>
          <p:cNvCxnSpPr>
            <a:cxnSpLocks/>
            <a:stCxn id="10" idx="0"/>
            <a:endCxn id="78" idx="2"/>
          </p:cNvCxnSpPr>
          <p:nvPr/>
        </p:nvCxnSpPr>
        <p:spPr>
          <a:xfrm flipV="1">
            <a:off x="4823935" y="3003234"/>
            <a:ext cx="266174" cy="155544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線箭頭接點 92">
            <a:extLst>
              <a:ext uri="{FF2B5EF4-FFF2-40B4-BE49-F238E27FC236}">
                <a16:creationId xmlns:a16="http://schemas.microsoft.com/office/drawing/2014/main" id="{5F124A8B-1D19-A80B-3717-62AAFE201CDE}"/>
              </a:ext>
            </a:extLst>
          </p:cNvPr>
          <p:cNvCxnSpPr>
            <a:cxnSpLocks/>
            <a:stCxn id="17" idx="0"/>
            <a:endCxn id="77" idx="2"/>
          </p:cNvCxnSpPr>
          <p:nvPr/>
        </p:nvCxnSpPr>
        <p:spPr>
          <a:xfrm flipH="1" flipV="1">
            <a:off x="5527469" y="3003234"/>
            <a:ext cx="339648" cy="61727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線箭頭接點 95">
            <a:extLst>
              <a:ext uri="{FF2B5EF4-FFF2-40B4-BE49-F238E27FC236}">
                <a16:creationId xmlns:a16="http://schemas.microsoft.com/office/drawing/2014/main" id="{7F30CCF6-85B2-691D-98A2-51BEBD2A0920}"/>
              </a:ext>
            </a:extLst>
          </p:cNvPr>
          <p:cNvCxnSpPr>
            <a:cxnSpLocks/>
            <a:stCxn id="18" idx="0"/>
            <a:endCxn id="79" idx="2"/>
          </p:cNvCxnSpPr>
          <p:nvPr/>
        </p:nvCxnSpPr>
        <p:spPr>
          <a:xfrm flipH="1" flipV="1">
            <a:off x="7558997" y="2999795"/>
            <a:ext cx="381133" cy="62071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線箭頭接點 98">
            <a:extLst>
              <a:ext uri="{FF2B5EF4-FFF2-40B4-BE49-F238E27FC236}">
                <a16:creationId xmlns:a16="http://schemas.microsoft.com/office/drawing/2014/main" id="{2B115BEF-3CAF-1CEF-E250-3841445F1B99}"/>
              </a:ext>
            </a:extLst>
          </p:cNvPr>
          <p:cNvCxnSpPr>
            <a:cxnSpLocks/>
            <a:stCxn id="11" idx="0"/>
            <a:endCxn id="80" idx="2"/>
          </p:cNvCxnSpPr>
          <p:nvPr/>
        </p:nvCxnSpPr>
        <p:spPr>
          <a:xfrm flipV="1">
            <a:off x="7018095" y="2999795"/>
            <a:ext cx="103542" cy="15588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線箭頭接點 101">
            <a:extLst>
              <a:ext uri="{FF2B5EF4-FFF2-40B4-BE49-F238E27FC236}">
                <a16:creationId xmlns:a16="http://schemas.microsoft.com/office/drawing/2014/main" id="{33EC3196-8F8E-255B-76B5-8BCC0473BD30}"/>
              </a:ext>
            </a:extLst>
          </p:cNvPr>
          <p:cNvCxnSpPr>
            <a:cxnSpLocks/>
            <a:stCxn id="12" idx="0"/>
            <a:endCxn id="82" idx="2"/>
          </p:cNvCxnSpPr>
          <p:nvPr/>
        </p:nvCxnSpPr>
        <p:spPr>
          <a:xfrm flipH="1" flipV="1">
            <a:off x="9120791" y="3003064"/>
            <a:ext cx="158314" cy="155561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線箭頭接點 104">
            <a:extLst>
              <a:ext uri="{FF2B5EF4-FFF2-40B4-BE49-F238E27FC236}">
                <a16:creationId xmlns:a16="http://schemas.microsoft.com/office/drawing/2014/main" id="{C8A000F9-8311-CC55-A13A-EE31603F4569}"/>
              </a:ext>
            </a:extLst>
          </p:cNvPr>
          <p:cNvCxnSpPr>
            <a:cxnSpLocks/>
            <a:stCxn id="19" idx="0"/>
            <a:endCxn id="81" idx="2"/>
          </p:cNvCxnSpPr>
          <p:nvPr/>
        </p:nvCxnSpPr>
        <p:spPr>
          <a:xfrm flipH="1" flipV="1">
            <a:off x="9558151" y="3003064"/>
            <a:ext cx="454991" cy="61744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D002A8B1-5D7C-CE14-C45C-8F4CB37375AE}"/>
              </a:ext>
            </a:extLst>
          </p:cNvPr>
          <p:cNvSpPr txBox="1"/>
          <p:nvPr/>
        </p:nvSpPr>
        <p:spPr>
          <a:xfrm>
            <a:off x="3035161" y="2305264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05C281C9-102B-9BC1-D64A-AD6538E6A7D2}"/>
              </a:ext>
            </a:extLst>
          </p:cNvPr>
          <p:cNvSpPr txBox="1"/>
          <p:nvPr/>
        </p:nvSpPr>
        <p:spPr>
          <a:xfrm>
            <a:off x="5012116" y="230516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7306B0FF-BF23-0DFD-B766-020163F5BFB7}"/>
              </a:ext>
            </a:extLst>
          </p:cNvPr>
          <p:cNvSpPr txBox="1"/>
          <p:nvPr/>
        </p:nvSpPr>
        <p:spPr>
          <a:xfrm>
            <a:off x="7049283" y="230516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FB60800A-80FE-01E4-6B26-A36A733C334F}"/>
              </a:ext>
            </a:extLst>
          </p:cNvPr>
          <p:cNvSpPr txBox="1"/>
          <p:nvPr/>
        </p:nvSpPr>
        <p:spPr>
          <a:xfrm>
            <a:off x="9038128" y="2310566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h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sp>
        <p:nvSpPr>
          <p:cNvPr id="112" name="向右箭號 111">
            <a:extLst>
              <a:ext uri="{FF2B5EF4-FFF2-40B4-BE49-F238E27FC236}">
                <a16:creationId xmlns:a16="http://schemas.microsoft.com/office/drawing/2014/main" id="{19945ACD-1C37-BC07-7115-24F49869A8B9}"/>
              </a:ext>
            </a:extLst>
          </p:cNvPr>
          <p:cNvSpPr/>
          <p:nvPr/>
        </p:nvSpPr>
        <p:spPr>
          <a:xfrm rot="10800000">
            <a:off x="11061292" y="3372488"/>
            <a:ext cx="260059" cy="310274"/>
          </a:xfrm>
          <a:prstGeom prst="right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13" name="向右箭號 112">
            <a:extLst>
              <a:ext uri="{FF2B5EF4-FFF2-40B4-BE49-F238E27FC236}">
                <a16:creationId xmlns:a16="http://schemas.microsoft.com/office/drawing/2014/main" id="{C89F3CBE-01DF-EFF6-8819-40504FAF075E}"/>
              </a:ext>
            </a:extLst>
          </p:cNvPr>
          <p:cNvSpPr/>
          <p:nvPr/>
        </p:nvSpPr>
        <p:spPr>
          <a:xfrm>
            <a:off x="1304848" y="4328998"/>
            <a:ext cx="260059" cy="310274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ACCC5F56-0609-51B0-EBF4-2673028AE4ED}"/>
                  </a:ext>
                </a:extLst>
              </p:cNvPr>
              <p:cNvSpPr txBox="1"/>
              <p:nvPr/>
            </p:nvSpPr>
            <p:spPr>
              <a:xfrm>
                <a:off x="9785646" y="1453153"/>
                <a:ext cx="2085080" cy="5188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sepChr m:val=";"/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acc>
                        </m:e>
                        <m:e>
                          <m:groupChr>
                            <m:groupChrPr>
                              <m:chr m:val="←"/>
                              <m:pos m:val="top"/>
                              <m:vertJc m:val="bot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</m:e>
                      </m:d>
                    </m:oMath>
                  </m:oMathPara>
                </a14:m>
                <a:endParaRPr lang="zh-TW" altLang="en-US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ACCC5F56-0609-51B0-EBF4-2673028AE4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85646" y="1453153"/>
                <a:ext cx="2085080" cy="51886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994965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FEA7DB-9BFE-98EA-C99C-61DB3C399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" altLang="zh-TW" dirty="0"/>
              <a:t>Bidirectional RNNs for Sequence Classification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37818D3-2611-275D-A019-8CD30EA03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7ACA7B9-2B33-7783-B244-DF114DD31823}"/>
              </a:ext>
            </a:extLst>
          </p:cNvPr>
          <p:cNvSpPr/>
          <p:nvPr/>
        </p:nvSpPr>
        <p:spPr>
          <a:xfrm>
            <a:off x="2127491" y="501696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71C1198-6143-65FB-3F06-68FEC3F561A9}"/>
              </a:ext>
            </a:extLst>
          </p:cNvPr>
          <p:cNvSpPr/>
          <p:nvPr/>
        </p:nvSpPr>
        <p:spPr>
          <a:xfrm>
            <a:off x="4224122" y="501696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5D96B68-7265-74F6-81F7-41BBFAAC41BD}"/>
              </a:ext>
            </a:extLst>
          </p:cNvPr>
          <p:cNvSpPr/>
          <p:nvPr/>
        </p:nvSpPr>
        <p:spPr>
          <a:xfrm>
            <a:off x="6418282" y="501696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24B7050-481E-9D17-E2EC-2263657736E1}"/>
              </a:ext>
            </a:extLst>
          </p:cNvPr>
          <p:cNvSpPr/>
          <p:nvPr/>
        </p:nvSpPr>
        <p:spPr>
          <a:xfrm>
            <a:off x="8679292" y="501696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78019C5F-DE98-2E93-7213-96BD3BFE696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327117" y="5257061"/>
            <a:ext cx="8970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1EC21411-0260-540C-A09B-25BB89F30013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5423748" y="5257061"/>
            <a:ext cx="99453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169217D9-069D-A4D9-84CB-F0413D99A095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7617908" y="5257061"/>
            <a:ext cx="1061384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9604787E-66F7-1209-CE81-B09144F61DCC}"/>
              </a:ext>
            </a:extLst>
          </p:cNvPr>
          <p:cNvSpPr/>
          <p:nvPr/>
        </p:nvSpPr>
        <p:spPr>
          <a:xfrm>
            <a:off x="3194291" y="407879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0B18EE8-8BB9-0726-E6BD-A14F0B99B80D}"/>
              </a:ext>
            </a:extLst>
          </p:cNvPr>
          <p:cNvSpPr/>
          <p:nvPr/>
        </p:nvSpPr>
        <p:spPr>
          <a:xfrm>
            <a:off x="5267304" y="407879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93648DD-F2DF-3AFB-091E-B6C4B26FC601}"/>
              </a:ext>
            </a:extLst>
          </p:cNvPr>
          <p:cNvSpPr/>
          <p:nvPr/>
        </p:nvSpPr>
        <p:spPr>
          <a:xfrm>
            <a:off x="7340317" y="407879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B765485-9E43-97BD-9CF1-177B3CE61900}"/>
              </a:ext>
            </a:extLst>
          </p:cNvPr>
          <p:cNvSpPr/>
          <p:nvPr/>
        </p:nvSpPr>
        <p:spPr>
          <a:xfrm>
            <a:off x="9413329" y="407879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38E8E03A-046B-1135-9BC2-F4594F72547D}"/>
              </a:ext>
            </a:extLst>
          </p:cNvPr>
          <p:cNvCxnSpPr>
            <a:cxnSpLocks/>
            <a:stCxn id="17" idx="1"/>
            <a:endCxn id="16" idx="3"/>
          </p:cNvCxnSpPr>
          <p:nvPr/>
        </p:nvCxnSpPr>
        <p:spPr>
          <a:xfrm flipH="1">
            <a:off x="4393917" y="4318892"/>
            <a:ext cx="87338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70403AAA-997A-1B88-B464-44CB56730950}"/>
              </a:ext>
            </a:extLst>
          </p:cNvPr>
          <p:cNvCxnSpPr>
            <a:cxnSpLocks/>
            <a:stCxn id="18" idx="1"/>
            <a:endCxn id="17" idx="3"/>
          </p:cNvCxnSpPr>
          <p:nvPr/>
        </p:nvCxnSpPr>
        <p:spPr>
          <a:xfrm flipH="1">
            <a:off x="6466930" y="4318892"/>
            <a:ext cx="87338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43291A05-F6FE-2A43-D07F-0139066553D9}"/>
              </a:ext>
            </a:extLst>
          </p:cNvPr>
          <p:cNvCxnSpPr>
            <a:cxnSpLocks/>
            <a:stCxn id="19" idx="1"/>
            <a:endCxn id="18" idx="3"/>
          </p:cNvCxnSpPr>
          <p:nvPr/>
        </p:nvCxnSpPr>
        <p:spPr>
          <a:xfrm flipH="1">
            <a:off x="8539943" y="4318892"/>
            <a:ext cx="873386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313C36E6-9841-794C-F03D-F5D654C5345F}"/>
              </a:ext>
            </a:extLst>
          </p:cNvPr>
          <p:cNvSpPr txBox="1"/>
          <p:nvPr/>
        </p:nvSpPr>
        <p:spPr>
          <a:xfrm>
            <a:off x="9721186" y="606659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x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A278DC68-2C3C-C53F-B10B-4601F724F894}"/>
              </a:ext>
            </a:extLst>
          </p:cNvPr>
          <p:cNvSpPr txBox="1"/>
          <p:nvPr/>
        </p:nvSpPr>
        <p:spPr>
          <a:xfrm>
            <a:off x="7648174" y="606659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58690A82-E595-56B3-94DA-172101EA4FD0}"/>
              </a:ext>
            </a:extLst>
          </p:cNvPr>
          <p:cNvSpPr txBox="1"/>
          <p:nvPr/>
        </p:nvSpPr>
        <p:spPr>
          <a:xfrm>
            <a:off x="5573257" y="606659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27FC95F6-68F2-F31C-BD5A-F460C18612C4}"/>
              </a:ext>
            </a:extLst>
          </p:cNvPr>
          <p:cNvSpPr txBox="1"/>
          <p:nvPr/>
        </p:nvSpPr>
        <p:spPr>
          <a:xfrm>
            <a:off x="3502148" y="6066598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420437F5-811A-16F9-34D8-4075215DD4A5}"/>
              </a:ext>
            </a:extLst>
          </p:cNvPr>
          <p:cNvCxnSpPr>
            <a:cxnSpLocks/>
            <a:stCxn id="28" idx="0"/>
            <a:endCxn id="9" idx="2"/>
          </p:cNvCxnSpPr>
          <p:nvPr/>
        </p:nvCxnSpPr>
        <p:spPr>
          <a:xfrm flipH="1" flipV="1">
            <a:off x="2727304" y="5497156"/>
            <a:ext cx="1066800" cy="56944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8A939648-C955-6A4B-3354-5859DD8B64CB}"/>
              </a:ext>
            </a:extLst>
          </p:cNvPr>
          <p:cNvCxnSpPr>
            <a:cxnSpLocks/>
            <a:stCxn id="28" idx="0"/>
            <a:endCxn id="16" idx="2"/>
          </p:cNvCxnSpPr>
          <p:nvPr/>
        </p:nvCxnSpPr>
        <p:spPr>
          <a:xfrm flipV="1">
            <a:off x="3794104" y="4558987"/>
            <a:ext cx="0" cy="150761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D189140E-E82A-83CD-F1BD-861BCFFA7705}"/>
              </a:ext>
            </a:extLst>
          </p:cNvPr>
          <p:cNvCxnSpPr>
            <a:cxnSpLocks/>
            <a:stCxn id="27" idx="0"/>
            <a:endCxn id="17" idx="2"/>
          </p:cNvCxnSpPr>
          <p:nvPr/>
        </p:nvCxnSpPr>
        <p:spPr>
          <a:xfrm flipV="1">
            <a:off x="5865213" y="4558987"/>
            <a:ext cx="1904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線箭頭接點 54">
            <a:extLst>
              <a:ext uri="{FF2B5EF4-FFF2-40B4-BE49-F238E27FC236}">
                <a16:creationId xmlns:a16="http://schemas.microsoft.com/office/drawing/2014/main" id="{6ACC4A81-0BFC-86B1-E6E3-5983FD13E16D}"/>
              </a:ext>
            </a:extLst>
          </p:cNvPr>
          <p:cNvCxnSpPr>
            <a:cxnSpLocks/>
            <a:stCxn id="26" idx="0"/>
            <a:endCxn id="18" idx="2"/>
          </p:cNvCxnSpPr>
          <p:nvPr/>
        </p:nvCxnSpPr>
        <p:spPr>
          <a:xfrm flipV="1">
            <a:off x="7940130" y="4558987"/>
            <a:ext cx="0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箭頭接點 57">
            <a:extLst>
              <a:ext uri="{FF2B5EF4-FFF2-40B4-BE49-F238E27FC236}">
                <a16:creationId xmlns:a16="http://schemas.microsoft.com/office/drawing/2014/main" id="{3EF20300-7352-41BB-BCD8-D2A3EB62BC0F}"/>
              </a:ext>
            </a:extLst>
          </p:cNvPr>
          <p:cNvCxnSpPr>
            <a:cxnSpLocks/>
            <a:stCxn id="25" idx="0"/>
            <a:endCxn id="19" idx="2"/>
          </p:cNvCxnSpPr>
          <p:nvPr/>
        </p:nvCxnSpPr>
        <p:spPr>
          <a:xfrm flipV="1">
            <a:off x="10013142" y="4558987"/>
            <a:ext cx="0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線箭頭接點 65">
            <a:extLst>
              <a:ext uri="{FF2B5EF4-FFF2-40B4-BE49-F238E27FC236}">
                <a16:creationId xmlns:a16="http://schemas.microsoft.com/office/drawing/2014/main" id="{1F10ECF2-6D5C-B55C-40D5-0385E342DAFA}"/>
              </a:ext>
            </a:extLst>
          </p:cNvPr>
          <p:cNvCxnSpPr>
            <a:cxnSpLocks/>
            <a:stCxn id="27" idx="0"/>
            <a:endCxn id="10" idx="2"/>
          </p:cNvCxnSpPr>
          <p:nvPr/>
        </p:nvCxnSpPr>
        <p:spPr>
          <a:xfrm flipH="1" flipV="1">
            <a:off x="4823935" y="5497156"/>
            <a:ext cx="1041278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線箭頭接點 68">
            <a:extLst>
              <a:ext uri="{FF2B5EF4-FFF2-40B4-BE49-F238E27FC236}">
                <a16:creationId xmlns:a16="http://schemas.microsoft.com/office/drawing/2014/main" id="{00C4854B-F6C3-D554-1C75-48F660617EBD}"/>
              </a:ext>
            </a:extLst>
          </p:cNvPr>
          <p:cNvCxnSpPr>
            <a:cxnSpLocks/>
            <a:stCxn id="26" idx="0"/>
            <a:endCxn id="11" idx="2"/>
          </p:cNvCxnSpPr>
          <p:nvPr/>
        </p:nvCxnSpPr>
        <p:spPr>
          <a:xfrm flipH="1" flipV="1">
            <a:off x="7018095" y="5497156"/>
            <a:ext cx="922035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線箭頭接點 71">
            <a:extLst>
              <a:ext uri="{FF2B5EF4-FFF2-40B4-BE49-F238E27FC236}">
                <a16:creationId xmlns:a16="http://schemas.microsoft.com/office/drawing/2014/main" id="{85ECDAC0-9F46-88F8-BBB8-EE6913A3D1C1}"/>
              </a:ext>
            </a:extLst>
          </p:cNvPr>
          <p:cNvCxnSpPr>
            <a:cxnSpLocks/>
            <a:stCxn id="25" idx="0"/>
            <a:endCxn id="12" idx="2"/>
          </p:cNvCxnSpPr>
          <p:nvPr/>
        </p:nvCxnSpPr>
        <p:spPr>
          <a:xfrm flipH="1" flipV="1">
            <a:off x="9279105" y="5497156"/>
            <a:ext cx="734037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4D01559E-DC87-8DC6-BA7E-50A232E4AC03}"/>
              </a:ext>
            </a:extLst>
          </p:cNvPr>
          <p:cNvSpPr/>
          <p:nvPr/>
        </p:nvSpPr>
        <p:spPr>
          <a:xfrm>
            <a:off x="6580735" y="3262681"/>
            <a:ext cx="437360" cy="1818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D88461A3-9E49-630F-4A36-96DE2399716D}"/>
              </a:ext>
            </a:extLst>
          </p:cNvPr>
          <p:cNvSpPr/>
          <p:nvPr/>
        </p:nvSpPr>
        <p:spPr>
          <a:xfrm>
            <a:off x="6143375" y="3262681"/>
            <a:ext cx="437360" cy="181844"/>
          </a:xfrm>
          <a:prstGeom prst="rect">
            <a:avLst/>
          </a:prstGeom>
          <a:solidFill>
            <a:srgbClr val="FDE7D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767B2FBE-D26B-6C69-97AA-1ED5D41D2878}"/>
              </a:ext>
            </a:extLst>
          </p:cNvPr>
          <p:cNvSpPr txBox="1"/>
          <p:nvPr/>
        </p:nvSpPr>
        <p:spPr>
          <a:xfrm>
            <a:off x="4224122" y="3159759"/>
            <a:ext cx="18245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>
                <a:solidFill>
                  <a:srgbClr val="0070C0"/>
                </a:solidFill>
              </a:rPr>
              <a:t>Concatenation</a:t>
            </a:r>
            <a:endParaRPr kumimoji="1" lang="zh-TW" altLang="en-US" b="1" dirty="0">
              <a:solidFill>
                <a:srgbClr val="0070C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8E445A2-C5F8-6EC3-472D-C3B815DE72E3}"/>
              </a:ext>
            </a:extLst>
          </p:cNvPr>
          <p:cNvSpPr>
            <a:spLocks noGrp="1"/>
          </p:cNvSpPr>
          <p:nvPr/>
        </p:nvSpPr>
        <p:spPr>
          <a:xfrm>
            <a:off x="999823" y="1621348"/>
            <a:ext cx="10185934" cy="1161144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20F0502020204030204" pitchFamily="34" charset="0"/>
              <a:buChar char="Ø"/>
            </a:pPr>
            <a:r>
              <a:rPr lang="zh-TW" altLang="en-US" dirty="0">
                <a:latin typeface="Calibri" panose="020F0502020204030204" pitchFamily="34" charset="0"/>
                <a:ea typeface="新細明體"/>
                <a:cs typeface="Calibri"/>
              </a:rPr>
              <a:t> </a:t>
            </a:r>
            <a:r>
              <a:rPr lang="zh-TW" altLang="en-US" dirty="0">
                <a:latin typeface="Calibri" panose="020F0502020204030204" pitchFamily="34" charset="0"/>
                <a:ea typeface="新細明體"/>
                <a:cs typeface="+mn-lt"/>
              </a:rPr>
              <a:t>The final hidden units from the forward and backward passes are combined to represent the entire sequence.</a:t>
            </a:r>
          </a:p>
          <a:p>
            <a:pPr>
              <a:buFont typeface="Wingdings" panose="020F0502020204030204" pitchFamily="34" charset="0"/>
              <a:buChar char="Ø"/>
            </a:pPr>
            <a:r>
              <a:rPr lang="zh-TW" altLang="en-US" dirty="0">
                <a:latin typeface="Calibri" panose="020F0502020204030204" pitchFamily="34" charset="0"/>
                <a:ea typeface="新細明體"/>
                <a:cs typeface="+mn-lt"/>
              </a:rPr>
              <a:t> This combined representation serves as input to the subsequent classifier.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58EA05F-2F20-7E97-AE94-0FF472504077}"/>
              </a:ext>
            </a:extLst>
          </p:cNvPr>
          <p:cNvSpPr/>
          <p:nvPr/>
        </p:nvSpPr>
        <p:spPr>
          <a:xfrm>
            <a:off x="6092790" y="2945642"/>
            <a:ext cx="1002912" cy="27245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Linear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8" name="曲線接點 7">
            <a:extLst>
              <a:ext uri="{FF2B5EF4-FFF2-40B4-BE49-F238E27FC236}">
                <a16:creationId xmlns:a16="http://schemas.microsoft.com/office/drawing/2014/main" id="{2DAE21A6-3210-2B52-68EF-82CA013ED4A6}"/>
              </a:ext>
            </a:extLst>
          </p:cNvPr>
          <p:cNvCxnSpPr>
            <a:stCxn id="16" idx="1"/>
            <a:endCxn id="77" idx="2"/>
          </p:cNvCxnSpPr>
          <p:nvPr/>
        </p:nvCxnSpPr>
        <p:spPr>
          <a:xfrm rot="10800000" flipH="1">
            <a:off x="3194291" y="3444526"/>
            <a:ext cx="3605124" cy="874367"/>
          </a:xfrm>
          <a:prstGeom prst="curvedConnector4">
            <a:avLst>
              <a:gd name="adj1" fmla="val -6341"/>
              <a:gd name="adj2" fmla="val 6373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曲線接點 29">
            <a:extLst>
              <a:ext uri="{FF2B5EF4-FFF2-40B4-BE49-F238E27FC236}">
                <a16:creationId xmlns:a16="http://schemas.microsoft.com/office/drawing/2014/main" id="{5389942F-9FC4-9DE4-9DE7-D7C11A51A718}"/>
              </a:ext>
            </a:extLst>
          </p:cNvPr>
          <p:cNvCxnSpPr>
            <a:cxnSpLocks/>
            <a:stCxn id="12" idx="0"/>
            <a:endCxn id="78" idx="2"/>
          </p:cNvCxnSpPr>
          <p:nvPr/>
        </p:nvCxnSpPr>
        <p:spPr>
          <a:xfrm rot="16200000" flipV="1">
            <a:off x="7034360" y="2772221"/>
            <a:ext cx="1572441" cy="2917050"/>
          </a:xfrm>
          <a:prstGeom prst="curvedConnector3">
            <a:avLst>
              <a:gd name="adj1" fmla="val 8147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802E415A-388C-ACB4-7499-A09ECB7C7FBD}"/>
              </a:ext>
            </a:extLst>
          </p:cNvPr>
          <p:cNvSpPr txBox="1"/>
          <p:nvPr/>
        </p:nvSpPr>
        <p:spPr>
          <a:xfrm>
            <a:off x="836842" y="5326030"/>
            <a:ext cx="1199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Forward RNN</a:t>
            </a:r>
            <a:endParaRPr kumimoji="1" lang="zh-TW" altLang="en-US" b="1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FC82A90-9605-EAAF-E512-8EF7DAE508AA}"/>
              </a:ext>
            </a:extLst>
          </p:cNvPr>
          <p:cNvSpPr txBox="1"/>
          <p:nvPr/>
        </p:nvSpPr>
        <p:spPr>
          <a:xfrm>
            <a:off x="10612955" y="4394687"/>
            <a:ext cx="13120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Backward RNN</a:t>
            </a:r>
            <a:endParaRPr kumimoji="1" lang="zh-TW" altLang="en-US" b="1" dirty="0"/>
          </a:p>
        </p:txBody>
      </p:sp>
      <p:sp>
        <p:nvSpPr>
          <p:cNvPr id="31" name="向右箭號 30">
            <a:extLst>
              <a:ext uri="{FF2B5EF4-FFF2-40B4-BE49-F238E27FC236}">
                <a16:creationId xmlns:a16="http://schemas.microsoft.com/office/drawing/2014/main" id="{0FD79B47-93DC-51B9-A184-F7512DA13CEC}"/>
              </a:ext>
            </a:extLst>
          </p:cNvPr>
          <p:cNvSpPr/>
          <p:nvPr/>
        </p:nvSpPr>
        <p:spPr>
          <a:xfrm rot="10800000">
            <a:off x="11109617" y="4084413"/>
            <a:ext cx="260059" cy="310274"/>
          </a:xfrm>
          <a:prstGeom prst="right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向右箭號 32">
            <a:extLst>
              <a:ext uri="{FF2B5EF4-FFF2-40B4-BE49-F238E27FC236}">
                <a16:creationId xmlns:a16="http://schemas.microsoft.com/office/drawing/2014/main" id="{7326A244-0090-7841-B14C-CA9FB8750978}"/>
              </a:ext>
            </a:extLst>
          </p:cNvPr>
          <p:cNvSpPr/>
          <p:nvPr/>
        </p:nvSpPr>
        <p:spPr>
          <a:xfrm>
            <a:off x="1353173" y="5040923"/>
            <a:ext cx="260059" cy="310274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94C104B0-1739-A600-72DF-BEAB75CAAC24}"/>
                  </a:ext>
                </a:extLst>
              </p:cNvPr>
              <p:cNvSpPr txBox="1"/>
              <p:nvPr/>
            </p:nvSpPr>
            <p:spPr>
              <a:xfrm>
                <a:off x="6799415" y="3098272"/>
                <a:ext cx="2580019" cy="5188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d>
                            <m:dPr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𝑠𝑒𝑞</m:t>
                              </m:r>
                            </m:e>
                          </m:d>
                        </m:sup>
                      </m:sSup>
                      <m:r>
                        <a:rPr lang="zh-TW" altLang="en-US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sepChr m:val=";"/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acc>
                        </m:e>
                        <m:e>
                          <m:groupChr>
                            <m:groupChrPr>
                              <m:chr m:val="←"/>
                              <m:pos m:val="top"/>
                              <m:vertJc m:val="bot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zh-TW" altLang="en-US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groupChr>
                        </m:e>
                      </m:d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94C104B0-1739-A600-72DF-BEAB75CAAC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9415" y="3098272"/>
                <a:ext cx="2580019" cy="5188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67950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A75F9E-E326-0B03-B985-126A93FE5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Shortage of standard RNNs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F0B3A6-1D0D-D622-EF10-40B948BAA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E8EA168-4520-D661-F154-DE6155C1C494}"/>
              </a:ext>
            </a:extLst>
          </p:cNvPr>
          <p:cNvSpPr txBox="1"/>
          <p:nvPr/>
        </p:nvSpPr>
        <p:spPr>
          <a:xfrm>
            <a:off x="653143" y="1868198"/>
            <a:ext cx="10918370" cy="22510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Gradient vanishing (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梯度消失</a:t>
            </a:r>
            <a:r>
              <a:rPr kumimoji="1" lang="en-US" altLang="zh-TW" sz="2400" dirty="0"/>
              <a:t>) problem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Long-term dependencies cannot be handled.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RNNs can only remember local relationships.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This is result from </a:t>
            </a:r>
            <a:r>
              <a:rPr kumimoji="1" lang="en-US" altLang="zh-TW" sz="2400" dirty="0">
                <a:solidFill>
                  <a:srgbClr val="FF0000"/>
                </a:solidFill>
              </a:rPr>
              <a:t>back-propagation through-time (BPTT) </a:t>
            </a:r>
            <a:r>
              <a:rPr kumimoji="1" lang="en-US" altLang="zh-TW" sz="2400" dirty="0"/>
              <a:t>during training.</a:t>
            </a:r>
          </a:p>
        </p:txBody>
      </p:sp>
    </p:spTree>
    <p:extLst>
      <p:ext uri="{BB962C8B-B14F-4D97-AF65-F5344CB8AC3E}">
        <p14:creationId xmlns:p14="http://schemas.microsoft.com/office/powerpoint/2010/main" val="9345575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31F1E6-BC4D-83CB-7EB2-9B69AA2A6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(Calculus) Chain Rule - 1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253EAA-ED79-65AB-6116-EB20C5353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FF4F9656-CC21-57EC-B847-9FE7461E9080}"/>
              </a:ext>
            </a:extLst>
          </p:cNvPr>
          <p:cNvSpPr/>
          <p:nvPr/>
        </p:nvSpPr>
        <p:spPr>
          <a:xfrm>
            <a:off x="380727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4DDA954D-F9ED-0A19-3F67-EBBBEFFE5565}"/>
              </a:ext>
            </a:extLst>
          </p:cNvPr>
          <p:cNvSpPr/>
          <p:nvPr/>
        </p:nvSpPr>
        <p:spPr>
          <a:xfrm>
            <a:off x="557130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63083251-F113-1702-DB34-D6ACEBFCB67F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>
            <a:off x="4378779" y="2512967"/>
            <a:ext cx="1192530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橢圓 8">
            <a:extLst>
              <a:ext uri="{FF2B5EF4-FFF2-40B4-BE49-F238E27FC236}">
                <a16:creationId xmlns:a16="http://schemas.microsoft.com/office/drawing/2014/main" id="{3ABF0E73-6286-B7C8-E5EE-38924A222A35}"/>
              </a:ext>
            </a:extLst>
          </p:cNvPr>
          <p:cNvSpPr/>
          <p:nvPr/>
        </p:nvSpPr>
        <p:spPr>
          <a:xfrm>
            <a:off x="733533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0BC100AF-C181-FB43-F9FA-8E89397D67AC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>
            <a:off x="6142809" y="2512967"/>
            <a:ext cx="1192530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E6C588-5C81-520F-E3E4-78EFC5916832}"/>
                  </a:ext>
                </a:extLst>
              </p:cNvPr>
              <p:cNvSpPr txBox="1"/>
              <p:nvPr/>
            </p:nvSpPr>
            <p:spPr>
              <a:xfrm>
                <a:off x="7455626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E6C588-5C81-520F-E3E4-78EFC5916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626" y="2227217"/>
                <a:ext cx="330926" cy="523220"/>
              </a:xfrm>
              <a:prstGeom prst="rect">
                <a:avLst/>
              </a:prstGeom>
              <a:blipFill>
                <a:blip r:embed="rId3"/>
                <a:stretch>
                  <a:fillRect r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9888ABA3-201D-2CFF-1044-027AED13583E}"/>
                  </a:ext>
                </a:extLst>
              </p:cNvPr>
              <p:cNvSpPr txBox="1"/>
              <p:nvPr/>
            </p:nvSpPr>
            <p:spPr>
              <a:xfrm>
                <a:off x="5679820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9888ABA3-201D-2CFF-1044-027AED135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820" y="2227217"/>
                <a:ext cx="330926" cy="523220"/>
              </a:xfrm>
              <a:prstGeom prst="rect">
                <a:avLst/>
              </a:prstGeom>
              <a:blipFill>
                <a:blip r:embed="rId4"/>
                <a:stretch>
                  <a:fillRect l="-11111" r="-25926" b="-95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1EC9AE-4E91-1D2C-B4D5-03F23F507833}"/>
                  </a:ext>
                </a:extLst>
              </p:cNvPr>
              <p:cNvSpPr txBox="1"/>
              <p:nvPr/>
            </p:nvSpPr>
            <p:spPr>
              <a:xfrm>
                <a:off x="3915790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1EC9AE-4E91-1D2C-B4D5-03F23F507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5790" y="2227217"/>
                <a:ext cx="330926" cy="523220"/>
              </a:xfrm>
              <a:prstGeom prst="rect">
                <a:avLst/>
              </a:prstGeom>
              <a:blipFill>
                <a:blip r:embed="rId5"/>
                <a:stretch>
                  <a:fillRect r="-74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25CBEF5-F25E-6D26-928F-E4C19C228398}"/>
                  </a:ext>
                </a:extLst>
              </p:cNvPr>
              <p:cNvSpPr txBox="1"/>
              <p:nvPr/>
            </p:nvSpPr>
            <p:spPr>
              <a:xfrm>
                <a:off x="4800997" y="3436241"/>
                <a:ext cx="2088572" cy="9839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25CBEF5-F25E-6D26-928F-E4C19C2283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0997" y="3436241"/>
                <a:ext cx="2088572" cy="983987"/>
              </a:xfrm>
              <a:prstGeom prst="rect">
                <a:avLst/>
              </a:prstGeom>
              <a:blipFill>
                <a:blip r:embed="rId6"/>
                <a:stretch>
                  <a:fillRect b="-115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8E615BB-1033-EB7F-6934-81855B4CABCC}"/>
                  </a:ext>
                </a:extLst>
              </p:cNvPr>
              <p:cNvSpPr txBox="1"/>
              <p:nvPr/>
            </p:nvSpPr>
            <p:spPr>
              <a:xfrm>
                <a:off x="636815" y="4586251"/>
                <a:ext cx="10918370" cy="8237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zh-TW" alt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num>
                      <m:den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𝑑𝑥</m:t>
                        </m:r>
                      </m:den>
                    </m:f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代表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對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的影響，但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的變化會影響到</a:t>
                </a:r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1" lang="zh-TW" altLang="en-US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，接著</a:t>
                </a:r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影響到</a:t>
                </a:r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zh-TW" altLang="zh-TW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8E615BB-1033-EB7F-6934-81855B4CAB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815" y="4586251"/>
                <a:ext cx="10918370" cy="823752"/>
              </a:xfrm>
              <a:prstGeom prst="rect">
                <a:avLst/>
              </a:prstGeom>
              <a:blipFill>
                <a:blip r:embed="rId7"/>
                <a:stretch>
                  <a:fillRect l="-696"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F8366A21-F41F-2EF1-9CFD-FFC3F56262BB}"/>
              </a:ext>
            </a:extLst>
          </p:cNvPr>
          <p:cNvCxnSpPr/>
          <p:nvPr/>
        </p:nvCxnSpPr>
        <p:spPr>
          <a:xfrm>
            <a:off x="4547062" y="5320146"/>
            <a:ext cx="2576945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E65E9297-9B1D-ABFA-85C5-AF372B50588B}"/>
              </a:ext>
            </a:extLst>
          </p:cNvPr>
          <p:cNvCxnSpPr>
            <a:cxnSpLocks/>
          </p:cNvCxnSpPr>
          <p:nvPr/>
        </p:nvCxnSpPr>
        <p:spPr>
          <a:xfrm>
            <a:off x="6327075" y="4414687"/>
            <a:ext cx="41199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接點 27">
            <a:extLst>
              <a:ext uri="{FF2B5EF4-FFF2-40B4-BE49-F238E27FC236}">
                <a16:creationId xmlns:a16="http://schemas.microsoft.com/office/drawing/2014/main" id="{36ABBA12-0426-B696-A2A9-226CF67BA239}"/>
              </a:ext>
            </a:extLst>
          </p:cNvPr>
          <p:cNvCxnSpPr>
            <a:cxnSpLocks/>
          </p:cNvCxnSpPr>
          <p:nvPr/>
        </p:nvCxnSpPr>
        <p:spPr>
          <a:xfrm>
            <a:off x="8120893" y="5320146"/>
            <a:ext cx="1455369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B88C01CE-E6B9-447B-EFAE-4A546921EDD6}"/>
              </a:ext>
            </a:extLst>
          </p:cNvPr>
          <p:cNvCxnSpPr>
            <a:cxnSpLocks/>
          </p:cNvCxnSpPr>
          <p:nvPr/>
        </p:nvCxnSpPr>
        <p:spPr>
          <a:xfrm>
            <a:off x="5835534" y="4414687"/>
            <a:ext cx="422514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3D153F7E-1C18-25CA-A4C4-9B14FBAD00A0}"/>
                  </a:ext>
                </a:extLst>
              </p:cNvPr>
              <p:cNvSpPr txBox="1"/>
              <p:nvPr/>
            </p:nvSpPr>
            <p:spPr>
              <a:xfrm>
                <a:off x="3729020" y="1765552"/>
                <a:ext cx="72801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zh-TW" sz="2400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Δ</m:t>
                      </m:r>
                      <m:r>
                        <a:rPr lang="en-US" altLang="zh-TW" sz="2400" i="1" kern="10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𝑥</m:t>
                      </m:r>
                    </m:oMath>
                  </m:oMathPara>
                </a14:m>
                <a:endParaRPr lang="zh-TW" altLang="zh-TW" sz="2400" kern="100" dirty="0"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3D153F7E-1C18-25CA-A4C4-9B14FBAD00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9020" y="1765552"/>
                <a:ext cx="728017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F254C936-24E8-C5AA-9650-CD82955C5DA7}"/>
                  </a:ext>
                </a:extLst>
              </p:cNvPr>
              <p:cNvSpPr txBox="1"/>
              <p:nvPr/>
            </p:nvSpPr>
            <p:spPr>
              <a:xfrm>
                <a:off x="7257080" y="1765552"/>
                <a:ext cx="72801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zh-TW" sz="2400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Δ</m:t>
                      </m:r>
                      <m:r>
                        <a:rPr lang="en-US" altLang="zh-TW" sz="2400" b="0" i="1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𝑧</m:t>
                      </m:r>
                    </m:oMath>
                  </m:oMathPara>
                </a14:m>
                <a:endParaRPr lang="zh-TW" altLang="zh-TW" sz="2400" kern="100" dirty="0"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F254C936-24E8-C5AA-9650-CD82955C5D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7080" y="1765552"/>
                <a:ext cx="728017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5714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  <p:bldP spid="3" grpId="0"/>
      <p:bldP spid="8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31F1E6-BC4D-83CB-7EB2-9B69AA2A6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(Calculus) Chain Rule  - 2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253EAA-ED79-65AB-6116-EB20C5353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FF4F9656-CC21-57EC-B847-9FE7461E9080}"/>
              </a:ext>
            </a:extLst>
          </p:cNvPr>
          <p:cNvSpPr/>
          <p:nvPr/>
        </p:nvSpPr>
        <p:spPr>
          <a:xfrm>
            <a:off x="380727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4DDA954D-F9ED-0A19-3F67-EBBBEFFE5565}"/>
              </a:ext>
            </a:extLst>
          </p:cNvPr>
          <p:cNvSpPr/>
          <p:nvPr/>
        </p:nvSpPr>
        <p:spPr>
          <a:xfrm>
            <a:off x="5571309" y="186037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63083251-F113-1702-DB34-D6ACEBFCB67F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4378779" y="2146129"/>
            <a:ext cx="1192530" cy="366838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橢圓 8">
            <a:extLst>
              <a:ext uri="{FF2B5EF4-FFF2-40B4-BE49-F238E27FC236}">
                <a16:creationId xmlns:a16="http://schemas.microsoft.com/office/drawing/2014/main" id="{3ABF0E73-6286-B7C8-E5EE-38924A222A35}"/>
              </a:ext>
            </a:extLst>
          </p:cNvPr>
          <p:cNvSpPr/>
          <p:nvPr/>
        </p:nvSpPr>
        <p:spPr>
          <a:xfrm>
            <a:off x="733533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0BC100AF-C181-FB43-F9FA-8E89397D67AC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>
            <a:off x="6142809" y="2146129"/>
            <a:ext cx="1192530" cy="366838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E6C588-5C81-520F-E3E4-78EFC5916832}"/>
                  </a:ext>
                </a:extLst>
              </p:cNvPr>
              <p:cNvSpPr txBox="1"/>
              <p:nvPr/>
            </p:nvSpPr>
            <p:spPr>
              <a:xfrm>
                <a:off x="7455626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E6C588-5C81-520F-E3E4-78EFC5916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626" y="2227217"/>
                <a:ext cx="330926" cy="523220"/>
              </a:xfrm>
              <a:prstGeom prst="rect">
                <a:avLst/>
              </a:prstGeom>
              <a:blipFill>
                <a:blip r:embed="rId3"/>
                <a:stretch>
                  <a:fillRect r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9888ABA3-201D-2CFF-1044-027AED13583E}"/>
                  </a:ext>
                </a:extLst>
              </p:cNvPr>
              <p:cNvSpPr txBox="1"/>
              <p:nvPr/>
            </p:nvSpPr>
            <p:spPr>
              <a:xfrm>
                <a:off x="5630611" y="1854245"/>
                <a:ext cx="41618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zh-TW" alt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9888ABA3-201D-2CFF-1044-027AED135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0611" y="1854245"/>
                <a:ext cx="416180" cy="523220"/>
              </a:xfrm>
              <a:prstGeom prst="rect">
                <a:avLst/>
              </a:prstGeom>
              <a:blipFill>
                <a:blip r:embed="rId4"/>
                <a:stretch>
                  <a:fillRect r="-117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1EC9AE-4E91-1D2C-B4D5-03F23F507833}"/>
                  </a:ext>
                </a:extLst>
              </p:cNvPr>
              <p:cNvSpPr txBox="1"/>
              <p:nvPr/>
            </p:nvSpPr>
            <p:spPr>
              <a:xfrm>
                <a:off x="3915790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1EC9AE-4E91-1D2C-B4D5-03F23F507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5790" y="2227217"/>
                <a:ext cx="330926" cy="523220"/>
              </a:xfrm>
              <a:prstGeom prst="rect">
                <a:avLst/>
              </a:prstGeom>
              <a:blipFill>
                <a:blip r:embed="rId5"/>
                <a:stretch>
                  <a:fillRect r="-74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25CBEF5-F25E-6D26-928F-E4C19C228398}"/>
                  </a:ext>
                </a:extLst>
              </p:cNvPr>
              <p:cNvSpPr txBox="1"/>
              <p:nvPr/>
            </p:nvSpPr>
            <p:spPr>
              <a:xfrm>
                <a:off x="3807279" y="3639911"/>
                <a:ext cx="3979273" cy="9103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zh-TW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zh-TW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zh-TW" sz="2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zh-TW" sz="2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25CBEF5-F25E-6D26-928F-E4C19C2283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7279" y="3639911"/>
                <a:ext cx="3979273" cy="910377"/>
              </a:xfrm>
              <a:prstGeom prst="rect">
                <a:avLst/>
              </a:prstGeom>
              <a:blipFill>
                <a:blip r:embed="rId6"/>
                <a:stretch>
                  <a:fillRect b="-68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8E615BB-1033-EB7F-6934-81855B4CABCC}"/>
                  </a:ext>
                </a:extLst>
              </p:cNvPr>
              <p:cNvSpPr txBox="1"/>
              <p:nvPr/>
            </p:nvSpPr>
            <p:spPr>
              <a:xfrm>
                <a:off x="636815" y="4653601"/>
                <a:ext cx="10918370" cy="13847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zh-TW" alt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num>
                      <m:den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𝑑𝑥</m:t>
                        </m:r>
                      </m:den>
                    </m:f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代表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對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的影響</a:t>
                </a:r>
                <a:endParaRPr kumimoji="1" lang="en-US" altLang="zh-TW" sz="2400" dirty="0">
                  <a:solidFill>
                    <a:schemeClr val="tx1"/>
                  </a:solidFill>
                  <a:latin typeface="Calibri" panose="020F0502020204030204" pitchFamily="34" charset="0"/>
                  <a:ea typeface="Microsoft JhengHei" panose="020B0604030504040204" pitchFamily="34" charset="-120"/>
                  <a:cs typeface="Calibri" panose="020F050202020403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但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的變化</a:t>
                </a:r>
                <a:r>
                  <a:rPr kumimoji="1"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由</a:t>
                </a:r>
                <a:r>
                  <a:rPr kumimoji="1" lang="en-US" altLang="zh-TW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TW" sz="2400" b="0" i="1" smtClean="0">
                        <a:latin typeface="Cambria Math" panose="02040503050406030204" pitchFamily="18" charset="0"/>
                        <a:ea typeface="Microsoft JhengHei" panose="020B0604030504040204" pitchFamily="34" charset="-120"/>
                        <a:cs typeface="Calibri" panose="020F0502020204030204" pitchFamily="34" charset="0"/>
                      </a:rPr>
                      <m:t>𝑚</m:t>
                    </m:r>
                  </m:oMath>
                </a14:m>
                <a:r>
                  <a:rPr lang="en-US" altLang="zh-TW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r>
                  <a:rPr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和</a:t>
                </a:r>
                <a:r>
                  <a:rPr lang="en-US" altLang="zh-TW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altLang="zh-TW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r>
                  <a:rPr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共同影響</a:t>
                </a:r>
                <a:endParaRPr lang="zh-TW" altLang="zh-TW" sz="2400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8E615BB-1033-EB7F-6934-81855B4CAB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815" y="4653601"/>
                <a:ext cx="10918370" cy="1384738"/>
              </a:xfrm>
              <a:prstGeom prst="rect">
                <a:avLst/>
              </a:prstGeom>
              <a:blipFill>
                <a:blip r:embed="rId7"/>
                <a:stretch>
                  <a:fillRect l="-696"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橢圓 10">
            <a:extLst>
              <a:ext uri="{FF2B5EF4-FFF2-40B4-BE49-F238E27FC236}">
                <a16:creationId xmlns:a16="http://schemas.microsoft.com/office/drawing/2014/main" id="{01E5E915-1BA4-4D7B-96E5-4D2B8571B92C}"/>
              </a:ext>
            </a:extLst>
          </p:cNvPr>
          <p:cNvSpPr/>
          <p:nvPr/>
        </p:nvSpPr>
        <p:spPr>
          <a:xfrm>
            <a:off x="5571309" y="2678514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3E04C673-8D0D-5530-4525-B85F481BEB24}"/>
              </a:ext>
            </a:extLst>
          </p:cNvPr>
          <p:cNvCxnSpPr>
            <a:cxnSpLocks/>
          </p:cNvCxnSpPr>
          <p:nvPr/>
        </p:nvCxnSpPr>
        <p:spPr>
          <a:xfrm>
            <a:off x="4378779" y="2593126"/>
            <a:ext cx="1192530" cy="366838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50D44577-B8B6-0DCB-3EA6-DE1EA34D3A6D}"/>
              </a:ext>
            </a:extLst>
          </p:cNvPr>
          <p:cNvCxnSpPr>
            <a:cxnSpLocks/>
          </p:cNvCxnSpPr>
          <p:nvPr/>
        </p:nvCxnSpPr>
        <p:spPr>
          <a:xfrm flipV="1">
            <a:off x="6142809" y="2593126"/>
            <a:ext cx="1192530" cy="366838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DCAD5B5A-9989-38F0-AF3C-16833273D11D}"/>
                  </a:ext>
                </a:extLst>
              </p:cNvPr>
              <p:cNvSpPr txBox="1"/>
              <p:nvPr/>
            </p:nvSpPr>
            <p:spPr>
              <a:xfrm>
                <a:off x="5679820" y="2678514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zh-TW" altLang="en-US" sz="28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DCAD5B5A-9989-38F0-AF3C-16833273D1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820" y="2678514"/>
                <a:ext cx="330926" cy="523220"/>
              </a:xfrm>
              <a:prstGeom prst="rect">
                <a:avLst/>
              </a:prstGeom>
              <a:blipFill>
                <a:blip r:embed="rId8"/>
                <a:stretch>
                  <a:fillRect r="-148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861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手繪多邊形 48">
            <a:extLst>
              <a:ext uri="{FF2B5EF4-FFF2-40B4-BE49-F238E27FC236}">
                <a16:creationId xmlns:a16="http://schemas.microsoft.com/office/drawing/2014/main" id="{06BA3B57-0A13-A05E-0EF8-CC69E4FC9343}"/>
              </a:ext>
            </a:extLst>
          </p:cNvPr>
          <p:cNvSpPr/>
          <p:nvPr/>
        </p:nvSpPr>
        <p:spPr>
          <a:xfrm>
            <a:off x="2368296" y="1591056"/>
            <a:ext cx="6181344" cy="2378741"/>
          </a:xfrm>
          <a:custGeom>
            <a:avLst/>
            <a:gdLst>
              <a:gd name="connsiteX0" fmla="*/ 5961888 w 6181344"/>
              <a:gd name="connsiteY0" fmla="*/ 2350008 h 2378741"/>
              <a:gd name="connsiteX1" fmla="*/ 5961888 w 6181344"/>
              <a:gd name="connsiteY1" fmla="*/ 2350008 h 2378741"/>
              <a:gd name="connsiteX2" fmla="*/ 5769864 w 6181344"/>
              <a:gd name="connsiteY2" fmla="*/ 2368296 h 2378741"/>
              <a:gd name="connsiteX3" fmla="*/ 4123944 w 6181344"/>
              <a:gd name="connsiteY3" fmla="*/ 2368296 h 2378741"/>
              <a:gd name="connsiteX4" fmla="*/ 3227832 w 6181344"/>
              <a:gd name="connsiteY4" fmla="*/ 2350008 h 2378741"/>
              <a:gd name="connsiteX5" fmla="*/ 3017520 w 6181344"/>
              <a:gd name="connsiteY5" fmla="*/ 2340864 h 2378741"/>
              <a:gd name="connsiteX6" fmla="*/ 2267712 w 6181344"/>
              <a:gd name="connsiteY6" fmla="*/ 2322576 h 2378741"/>
              <a:gd name="connsiteX7" fmla="*/ 2066544 w 6181344"/>
              <a:gd name="connsiteY7" fmla="*/ 2313432 h 2378741"/>
              <a:gd name="connsiteX8" fmla="*/ 1792224 w 6181344"/>
              <a:gd name="connsiteY8" fmla="*/ 2286000 h 2378741"/>
              <a:gd name="connsiteX9" fmla="*/ 1636776 w 6181344"/>
              <a:gd name="connsiteY9" fmla="*/ 2276856 h 2378741"/>
              <a:gd name="connsiteX10" fmla="*/ 1426464 w 6181344"/>
              <a:gd name="connsiteY10" fmla="*/ 2258568 h 2378741"/>
              <a:gd name="connsiteX11" fmla="*/ 1344168 w 6181344"/>
              <a:gd name="connsiteY11" fmla="*/ 2249424 h 2378741"/>
              <a:gd name="connsiteX12" fmla="*/ 1115568 w 6181344"/>
              <a:gd name="connsiteY12" fmla="*/ 2231136 h 2378741"/>
              <a:gd name="connsiteX13" fmla="*/ 987552 w 6181344"/>
              <a:gd name="connsiteY13" fmla="*/ 2212848 h 2378741"/>
              <a:gd name="connsiteX14" fmla="*/ 777240 w 6181344"/>
              <a:gd name="connsiteY14" fmla="*/ 2194560 h 2378741"/>
              <a:gd name="connsiteX15" fmla="*/ 640080 w 6181344"/>
              <a:gd name="connsiteY15" fmla="*/ 2176272 h 2378741"/>
              <a:gd name="connsiteX16" fmla="*/ 594360 w 6181344"/>
              <a:gd name="connsiteY16" fmla="*/ 2167128 h 2378741"/>
              <a:gd name="connsiteX17" fmla="*/ 429768 w 6181344"/>
              <a:gd name="connsiteY17" fmla="*/ 2148840 h 2378741"/>
              <a:gd name="connsiteX18" fmla="*/ 301752 w 6181344"/>
              <a:gd name="connsiteY18" fmla="*/ 2121408 h 2378741"/>
              <a:gd name="connsiteX19" fmla="*/ 265176 w 6181344"/>
              <a:gd name="connsiteY19" fmla="*/ 2112264 h 2378741"/>
              <a:gd name="connsiteX20" fmla="*/ 210312 w 6181344"/>
              <a:gd name="connsiteY20" fmla="*/ 2093976 h 2378741"/>
              <a:gd name="connsiteX21" fmla="*/ 173736 w 6181344"/>
              <a:gd name="connsiteY21" fmla="*/ 2057400 h 2378741"/>
              <a:gd name="connsiteX22" fmla="*/ 109728 w 6181344"/>
              <a:gd name="connsiteY22" fmla="*/ 2002536 h 2378741"/>
              <a:gd name="connsiteX23" fmla="*/ 54864 w 6181344"/>
              <a:gd name="connsiteY23" fmla="*/ 1901952 h 2378741"/>
              <a:gd name="connsiteX24" fmla="*/ 27432 w 6181344"/>
              <a:gd name="connsiteY24" fmla="*/ 1828800 h 2378741"/>
              <a:gd name="connsiteX25" fmla="*/ 0 w 6181344"/>
              <a:gd name="connsiteY25" fmla="*/ 1719072 h 2378741"/>
              <a:gd name="connsiteX26" fmla="*/ 9144 w 6181344"/>
              <a:gd name="connsiteY26" fmla="*/ 1563624 h 2378741"/>
              <a:gd name="connsiteX27" fmla="*/ 27432 w 6181344"/>
              <a:gd name="connsiteY27" fmla="*/ 1490472 h 2378741"/>
              <a:gd name="connsiteX28" fmla="*/ 54864 w 6181344"/>
              <a:gd name="connsiteY28" fmla="*/ 1453896 h 2378741"/>
              <a:gd name="connsiteX29" fmla="*/ 192024 w 6181344"/>
              <a:gd name="connsiteY29" fmla="*/ 1408176 h 2378741"/>
              <a:gd name="connsiteX30" fmla="*/ 292608 w 6181344"/>
              <a:gd name="connsiteY30" fmla="*/ 1380744 h 2378741"/>
              <a:gd name="connsiteX31" fmla="*/ 521208 w 6181344"/>
              <a:gd name="connsiteY31" fmla="*/ 1371600 h 2378741"/>
              <a:gd name="connsiteX32" fmla="*/ 1133856 w 6181344"/>
              <a:gd name="connsiteY32" fmla="*/ 1362456 h 2378741"/>
              <a:gd name="connsiteX33" fmla="*/ 2029968 w 6181344"/>
              <a:gd name="connsiteY33" fmla="*/ 1335024 h 2378741"/>
              <a:gd name="connsiteX34" fmla="*/ 2642616 w 6181344"/>
              <a:gd name="connsiteY34" fmla="*/ 1316736 h 2378741"/>
              <a:gd name="connsiteX35" fmla="*/ 2724912 w 6181344"/>
              <a:gd name="connsiteY35" fmla="*/ 1307592 h 2378741"/>
              <a:gd name="connsiteX36" fmla="*/ 2999232 w 6181344"/>
              <a:gd name="connsiteY36" fmla="*/ 1298448 h 2378741"/>
              <a:gd name="connsiteX37" fmla="*/ 4315968 w 6181344"/>
              <a:gd name="connsiteY37" fmla="*/ 1289304 h 2378741"/>
              <a:gd name="connsiteX38" fmla="*/ 4343400 w 6181344"/>
              <a:gd name="connsiteY38" fmla="*/ 1280160 h 2378741"/>
              <a:gd name="connsiteX39" fmla="*/ 4379976 w 6181344"/>
              <a:gd name="connsiteY39" fmla="*/ 1225296 h 2378741"/>
              <a:gd name="connsiteX40" fmla="*/ 4398264 w 6181344"/>
              <a:gd name="connsiteY40" fmla="*/ 1161288 h 2378741"/>
              <a:gd name="connsiteX41" fmla="*/ 4434840 w 6181344"/>
              <a:gd name="connsiteY41" fmla="*/ 1088136 h 2378741"/>
              <a:gd name="connsiteX42" fmla="*/ 4443984 w 6181344"/>
              <a:gd name="connsiteY42" fmla="*/ 1051560 h 2378741"/>
              <a:gd name="connsiteX43" fmla="*/ 4462272 w 6181344"/>
              <a:gd name="connsiteY43" fmla="*/ 987552 h 2378741"/>
              <a:gd name="connsiteX44" fmla="*/ 4471416 w 6181344"/>
              <a:gd name="connsiteY44" fmla="*/ 923544 h 2378741"/>
              <a:gd name="connsiteX45" fmla="*/ 4489704 w 6181344"/>
              <a:gd name="connsiteY45" fmla="*/ 859536 h 2378741"/>
              <a:gd name="connsiteX46" fmla="*/ 4507992 w 6181344"/>
              <a:gd name="connsiteY46" fmla="*/ 786384 h 2378741"/>
              <a:gd name="connsiteX47" fmla="*/ 4535424 w 6181344"/>
              <a:gd name="connsiteY47" fmla="*/ 667512 h 2378741"/>
              <a:gd name="connsiteX48" fmla="*/ 4553712 w 6181344"/>
              <a:gd name="connsiteY48" fmla="*/ 612648 h 2378741"/>
              <a:gd name="connsiteX49" fmla="*/ 4590288 w 6181344"/>
              <a:gd name="connsiteY49" fmla="*/ 466344 h 2378741"/>
              <a:gd name="connsiteX50" fmla="*/ 4608576 w 6181344"/>
              <a:gd name="connsiteY50" fmla="*/ 411480 h 2378741"/>
              <a:gd name="connsiteX51" fmla="*/ 4617720 w 6181344"/>
              <a:gd name="connsiteY51" fmla="*/ 356616 h 2378741"/>
              <a:gd name="connsiteX52" fmla="*/ 4672584 w 6181344"/>
              <a:gd name="connsiteY52" fmla="*/ 210312 h 2378741"/>
              <a:gd name="connsiteX53" fmla="*/ 4690872 w 6181344"/>
              <a:gd name="connsiteY53" fmla="*/ 164592 h 2378741"/>
              <a:gd name="connsiteX54" fmla="*/ 4718304 w 6181344"/>
              <a:gd name="connsiteY54" fmla="*/ 82296 h 2378741"/>
              <a:gd name="connsiteX55" fmla="*/ 4754880 w 6181344"/>
              <a:gd name="connsiteY55" fmla="*/ 64008 h 2378741"/>
              <a:gd name="connsiteX56" fmla="*/ 4892040 w 6181344"/>
              <a:gd name="connsiteY56" fmla="*/ 27432 h 2378741"/>
              <a:gd name="connsiteX57" fmla="*/ 5010912 w 6181344"/>
              <a:gd name="connsiteY57" fmla="*/ 9144 h 2378741"/>
              <a:gd name="connsiteX58" fmla="*/ 5056632 w 6181344"/>
              <a:gd name="connsiteY58" fmla="*/ 0 h 2378741"/>
              <a:gd name="connsiteX59" fmla="*/ 5193792 w 6181344"/>
              <a:gd name="connsiteY59" fmla="*/ 18288 h 2378741"/>
              <a:gd name="connsiteX60" fmla="*/ 5239512 w 6181344"/>
              <a:gd name="connsiteY60" fmla="*/ 27432 h 2378741"/>
              <a:gd name="connsiteX61" fmla="*/ 5376672 w 6181344"/>
              <a:gd name="connsiteY61" fmla="*/ 64008 h 2378741"/>
              <a:gd name="connsiteX62" fmla="*/ 5431536 w 6181344"/>
              <a:gd name="connsiteY62" fmla="*/ 91440 h 2378741"/>
              <a:gd name="connsiteX63" fmla="*/ 5477256 w 6181344"/>
              <a:gd name="connsiteY63" fmla="*/ 118872 h 2378741"/>
              <a:gd name="connsiteX64" fmla="*/ 5559552 w 6181344"/>
              <a:gd name="connsiteY64" fmla="*/ 164592 h 2378741"/>
              <a:gd name="connsiteX65" fmla="*/ 5586984 w 6181344"/>
              <a:gd name="connsiteY65" fmla="*/ 182880 h 2378741"/>
              <a:gd name="connsiteX66" fmla="*/ 5641848 w 6181344"/>
              <a:gd name="connsiteY66" fmla="*/ 246888 h 2378741"/>
              <a:gd name="connsiteX67" fmla="*/ 5751576 w 6181344"/>
              <a:gd name="connsiteY67" fmla="*/ 338328 h 2378741"/>
              <a:gd name="connsiteX68" fmla="*/ 5824728 w 6181344"/>
              <a:gd name="connsiteY68" fmla="*/ 475488 h 2378741"/>
              <a:gd name="connsiteX69" fmla="*/ 5916168 w 6181344"/>
              <a:gd name="connsiteY69" fmla="*/ 676656 h 2378741"/>
              <a:gd name="connsiteX70" fmla="*/ 6007608 w 6181344"/>
              <a:gd name="connsiteY70" fmla="*/ 950976 h 2378741"/>
              <a:gd name="connsiteX71" fmla="*/ 6080760 w 6181344"/>
              <a:gd name="connsiteY71" fmla="*/ 1161288 h 2378741"/>
              <a:gd name="connsiteX72" fmla="*/ 6117336 w 6181344"/>
              <a:gd name="connsiteY72" fmla="*/ 1316736 h 2378741"/>
              <a:gd name="connsiteX73" fmla="*/ 6135624 w 6181344"/>
              <a:gd name="connsiteY73" fmla="*/ 1362456 h 2378741"/>
              <a:gd name="connsiteX74" fmla="*/ 6163056 w 6181344"/>
              <a:gd name="connsiteY74" fmla="*/ 1481328 h 2378741"/>
              <a:gd name="connsiteX75" fmla="*/ 6172200 w 6181344"/>
              <a:gd name="connsiteY75" fmla="*/ 1508760 h 2378741"/>
              <a:gd name="connsiteX76" fmla="*/ 6181344 w 6181344"/>
              <a:gd name="connsiteY76" fmla="*/ 1572768 h 2378741"/>
              <a:gd name="connsiteX77" fmla="*/ 6135624 w 6181344"/>
              <a:gd name="connsiteY77" fmla="*/ 1883664 h 2378741"/>
              <a:gd name="connsiteX78" fmla="*/ 6099048 w 6181344"/>
              <a:gd name="connsiteY78" fmla="*/ 1965960 h 2378741"/>
              <a:gd name="connsiteX79" fmla="*/ 6080760 w 6181344"/>
              <a:gd name="connsiteY79" fmla="*/ 2075688 h 2378741"/>
              <a:gd name="connsiteX80" fmla="*/ 6071616 w 6181344"/>
              <a:gd name="connsiteY80" fmla="*/ 2112264 h 2378741"/>
              <a:gd name="connsiteX81" fmla="*/ 6062472 w 6181344"/>
              <a:gd name="connsiteY81" fmla="*/ 2157984 h 2378741"/>
              <a:gd name="connsiteX82" fmla="*/ 6044184 w 6181344"/>
              <a:gd name="connsiteY82" fmla="*/ 2194560 h 2378741"/>
              <a:gd name="connsiteX83" fmla="*/ 6035040 w 6181344"/>
              <a:gd name="connsiteY83" fmla="*/ 2221992 h 2378741"/>
              <a:gd name="connsiteX84" fmla="*/ 6016752 w 6181344"/>
              <a:gd name="connsiteY84" fmla="*/ 2249424 h 2378741"/>
              <a:gd name="connsiteX85" fmla="*/ 6007608 w 6181344"/>
              <a:gd name="connsiteY85" fmla="*/ 2276856 h 2378741"/>
              <a:gd name="connsiteX86" fmla="*/ 5989320 w 6181344"/>
              <a:gd name="connsiteY86" fmla="*/ 2304288 h 2378741"/>
              <a:gd name="connsiteX87" fmla="*/ 5961888 w 6181344"/>
              <a:gd name="connsiteY87" fmla="*/ 2350008 h 2378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</a:cxnLst>
            <a:rect l="l" t="t" r="r" b="b"/>
            <a:pathLst>
              <a:path w="6181344" h="2378741">
                <a:moveTo>
                  <a:pt x="5961888" y="2350008"/>
                </a:moveTo>
                <a:lnTo>
                  <a:pt x="5961888" y="2350008"/>
                </a:lnTo>
                <a:cubicBezTo>
                  <a:pt x="5897880" y="2356104"/>
                  <a:pt x="5834079" y="2365031"/>
                  <a:pt x="5769864" y="2368296"/>
                </a:cubicBezTo>
                <a:cubicBezTo>
                  <a:pt x="5320315" y="2391154"/>
                  <a:pt x="4303249" y="2369559"/>
                  <a:pt x="4123944" y="2368296"/>
                </a:cubicBezTo>
                <a:lnTo>
                  <a:pt x="3227832" y="2350008"/>
                </a:lnTo>
                <a:cubicBezTo>
                  <a:pt x="3157701" y="2347670"/>
                  <a:pt x="3087660" y="2342927"/>
                  <a:pt x="3017520" y="2340864"/>
                </a:cubicBezTo>
                <a:cubicBezTo>
                  <a:pt x="2538669" y="2326780"/>
                  <a:pt x="2705835" y="2337428"/>
                  <a:pt x="2267712" y="2322576"/>
                </a:cubicBezTo>
                <a:cubicBezTo>
                  <a:pt x="2200625" y="2320302"/>
                  <a:pt x="2133600" y="2316480"/>
                  <a:pt x="2066544" y="2313432"/>
                </a:cubicBezTo>
                <a:lnTo>
                  <a:pt x="1792224" y="2286000"/>
                </a:lnTo>
                <a:cubicBezTo>
                  <a:pt x="1740450" y="2282302"/>
                  <a:pt x="1688592" y="2279904"/>
                  <a:pt x="1636776" y="2276856"/>
                </a:cubicBezTo>
                <a:cubicBezTo>
                  <a:pt x="1483473" y="2257693"/>
                  <a:pt x="1652815" y="2277431"/>
                  <a:pt x="1426464" y="2258568"/>
                </a:cubicBezTo>
                <a:cubicBezTo>
                  <a:pt x="1398959" y="2256276"/>
                  <a:pt x="1371662" y="2251850"/>
                  <a:pt x="1344168" y="2249424"/>
                </a:cubicBezTo>
                <a:lnTo>
                  <a:pt x="1115568" y="2231136"/>
                </a:lnTo>
                <a:cubicBezTo>
                  <a:pt x="1065244" y="2222749"/>
                  <a:pt x="1040956" y="2217934"/>
                  <a:pt x="987552" y="2212848"/>
                </a:cubicBezTo>
                <a:cubicBezTo>
                  <a:pt x="864880" y="2201165"/>
                  <a:pt x="887612" y="2207805"/>
                  <a:pt x="777240" y="2194560"/>
                </a:cubicBezTo>
                <a:cubicBezTo>
                  <a:pt x="731444" y="2189064"/>
                  <a:pt x="685694" y="2183114"/>
                  <a:pt x="640080" y="2176272"/>
                </a:cubicBezTo>
                <a:cubicBezTo>
                  <a:pt x="624710" y="2173967"/>
                  <a:pt x="609771" y="2169138"/>
                  <a:pt x="594360" y="2167128"/>
                </a:cubicBezTo>
                <a:cubicBezTo>
                  <a:pt x="539622" y="2159988"/>
                  <a:pt x="484632" y="2154936"/>
                  <a:pt x="429768" y="2148840"/>
                </a:cubicBezTo>
                <a:cubicBezTo>
                  <a:pt x="311843" y="2115147"/>
                  <a:pt x="419967" y="2142902"/>
                  <a:pt x="301752" y="2121408"/>
                </a:cubicBezTo>
                <a:cubicBezTo>
                  <a:pt x="289387" y="2119160"/>
                  <a:pt x="277213" y="2115875"/>
                  <a:pt x="265176" y="2112264"/>
                </a:cubicBezTo>
                <a:cubicBezTo>
                  <a:pt x="246712" y="2106725"/>
                  <a:pt x="210312" y="2093976"/>
                  <a:pt x="210312" y="2093976"/>
                </a:cubicBezTo>
                <a:cubicBezTo>
                  <a:pt x="198120" y="2081784"/>
                  <a:pt x="186712" y="2068754"/>
                  <a:pt x="173736" y="2057400"/>
                </a:cubicBezTo>
                <a:cubicBezTo>
                  <a:pt x="136478" y="2024799"/>
                  <a:pt x="139737" y="2038546"/>
                  <a:pt x="109728" y="2002536"/>
                </a:cubicBezTo>
                <a:cubicBezTo>
                  <a:pt x="88847" y="1977478"/>
                  <a:pt x="65274" y="1922773"/>
                  <a:pt x="54864" y="1901952"/>
                </a:cubicBezTo>
                <a:cubicBezTo>
                  <a:pt x="24204" y="1840632"/>
                  <a:pt x="46107" y="1891050"/>
                  <a:pt x="27432" y="1828800"/>
                </a:cubicBezTo>
                <a:cubicBezTo>
                  <a:pt x="262" y="1738234"/>
                  <a:pt x="15217" y="1810372"/>
                  <a:pt x="0" y="1719072"/>
                </a:cubicBezTo>
                <a:cubicBezTo>
                  <a:pt x="3048" y="1667256"/>
                  <a:pt x="2960" y="1615160"/>
                  <a:pt x="9144" y="1563624"/>
                </a:cubicBezTo>
                <a:cubicBezTo>
                  <a:pt x="12139" y="1538669"/>
                  <a:pt x="12351" y="1510580"/>
                  <a:pt x="27432" y="1490472"/>
                </a:cubicBezTo>
                <a:cubicBezTo>
                  <a:pt x="36576" y="1478280"/>
                  <a:pt x="41632" y="1461457"/>
                  <a:pt x="54864" y="1453896"/>
                </a:cubicBezTo>
                <a:cubicBezTo>
                  <a:pt x="118441" y="1417566"/>
                  <a:pt x="138034" y="1424373"/>
                  <a:pt x="192024" y="1408176"/>
                </a:cubicBezTo>
                <a:cubicBezTo>
                  <a:pt x="225774" y="1398051"/>
                  <a:pt x="256895" y="1383125"/>
                  <a:pt x="292608" y="1380744"/>
                </a:cubicBezTo>
                <a:cubicBezTo>
                  <a:pt x="368700" y="1375671"/>
                  <a:pt x="444965" y="1373257"/>
                  <a:pt x="521208" y="1371600"/>
                </a:cubicBezTo>
                <a:lnTo>
                  <a:pt x="1133856" y="1362456"/>
                </a:lnTo>
                <a:cubicBezTo>
                  <a:pt x="1663981" y="1334555"/>
                  <a:pt x="1365360" y="1346101"/>
                  <a:pt x="2029968" y="1335024"/>
                </a:cubicBezTo>
                <a:cubicBezTo>
                  <a:pt x="2567242" y="1308160"/>
                  <a:pt x="1655814" y="1351979"/>
                  <a:pt x="2642616" y="1316736"/>
                </a:cubicBezTo>
                <a:cubicBezTo>
                  <a:pt x="2670199" y="1315751"/>
                  <a:pt x="2697347" y="1309006"/>
                  <a:pt x="2724912" y="1307592"/>
                </a:cubicBezTo>
                <a:cubicBezTo>
                  <a:pt x="2816283" y="1302906"/>
                  <a:pt x="2907747" y="1299500"/>
                  <a:pt x="2999232" y="1298448"/>
                </a:cubicBezTo>
                <a:lnTo>
                  <a:pt x="4315968" y="1289304"/>
                </a:lnTo>
                <a:cubicBezTo>
                  <a:pt x="4325112" y="1286256"/>
                  <a:pt x="4336584" y="1286976"/>
                  <a:pt x="4343400" y="1280160"/>
                </a:cubicBezTo>
                <a:cubicBezTo>
                  <a:pt x="4358942" y="1264618"/>
                  <a:pt x="4379976" y="1225296"/>
                  <a:pt x="4379976" y="1225296"/>
                </a:cubicBezTo>
                <a:cubicBezTo>
                  <a:pt x="4383856" y="1209776"/>
                  <a:pt x="4390976" y="1177321"/>
                  <a:pt x="4398264" y="1161288"/>
                </a:cubicBezTo>
                <a:cubicBezTo>
                  <a:pt x="4409545" y="1136469"/>
                  <a:pt x="4428228" y="1114584"/>
                  <a:pt x="4434840" y="1088136"/>
                </a:cubicBezTo>
                <a:cubicBezTo>
                  <a:pt x="4437888" y="1075944"/>
                  <a:pt x="4440677" y="1063684"/>
                  <a:pt x="4443984" y="1051560"/>
                </a:cubicBezTo>
                <a:cubicBezTo>
                  <a:pt x="4449823" y="1030152"/>
                  <a:pt x="4457623" y="1009249"/>
                  <a:pt x="4462272" y="987552"/>
                </a:cubicBezTo>
                <a:cubicBezTo>
                  <a:pt x="4466788" y="966478"/>
                  <a:pt x="4466900" y="944618"/>
                  <a:pt x="4471416" y="923544"/>
                </a:cubicBezTo>
                <a:cubicBezTo>
                  <a:pt x="4476065" y="901847"/>
                  <a:pt x="4483987" y="880977"/>
                  <a:pt x="4489704" y="859536"/>
                </a:cubicBezTo>
                <a:cubicBezTo>
                  <a:pt x="4496180" y="835250"/>
                  <a:pt x="4502340" y="810875"/>
                  <a:pt x="4507992" y="786384"/>
                </a:cubicBezTo>
                <a:cubicBezTo>
                  <a:pt x="4525140" y="712074"/>
                  <a:pt x="4508393" y="762119"/>
                  <a:pt x="4535424" y="667512"/>
                </a:cubicBezTo>
                <a:cubicBezTo>
                  <a:pt x="4540720" y="648976"/>
                  <a:pt x="4548745" y="631274"/>
                  <a:pt x="4553712" y="612648"/>
                </a:cubicBezTo>
                <a:cubicBezTo>
                  <a:pt x="4594998" y="457826"/>
                  <a:pt x="4549921" y="597536"/>
                  <a:pt x="4590288" y="466344"/>
                </a:cubicBezTo>
                <a:cubicBezTo>
                  <a:pt x="4595957" y="447919"/>
                  <a:pt x="4603901" y="430182"/>
                  <a:pt x="4608576" y="411480"/>
                </a:cubicBezTo>
                <a:cubicBezTo>
                  <a:pt x="4613073" y="393493"/>
                  <a:pt x="4612099" y="374283"/>
                  <a:pt x="4617720" y="356616"/>
                </a:cubicBezTo>
                <a:cubicBezTo>
                  <a:pt x="4633512" y="306984"/>
                  <a:pt x="4654042" y="258984"/>
                  <a:pt x="4672584" y="210312"/>
                </a:cubicBezTo>
                <a:cubicBezTo>
                  <a:pt x="4678427" y="194973"/>
                  <a:pt x="4685681" y="180164"/>
                  <a:pt x="4690872" y="164592"/>
                </a:cubicBezTo>
                <a:cubicBezTo>
                  <a:pt x="4700016" y="137160"/>
                  <a:pt x="4692441" y="95228"/>
                  <a:pt x="4718304" y="82296"/>
                </a:cubicBezTo>
                <a:cubicBezTo>
                  <a:pt x="4730496" y="76200"/>
                  <a:pt x="4741882" y="68113"/>
                  <a:pt x="4754880" y="64008"/>
                </a:cubicBezTo>
                <a:cubicBezTo>
                  <a:pt x="4800001" y="49759"/>
                  <a:pt x="4845773" y="37346"/>
                  <a:pt x="4892040" y="27432"/>
                </a:cubicBezTo>
                <a:cubicBezTo>
                  <a:pt x="4931240" y="19032"/>
                  <a:pt x="4971367" y="15735"/>
                  <a:pt x="5010912" y="9144"/>
                </a:cubicBezTo>
                <a:cubicBezTo>
                  <a:pt x="5026242" y="6589"/>
                  <a:pt x="5041392" y="3048"/>
                  <a:pt x="5056632" y="0"/>
                </a:cubicBezTo>
                <a:cubicBezTo>
                  <a:pt x="5131168" y="8282"/>
                  <a:pt x="5129293" y="6561"/>
                  <a:pt x="5193792" y="18288"/>
                </a:cubicBezTo>
                <a:cubicBezTo>
                  <a:pt x="5209083" y="21068"/>
                  <a:pt x="5224434" y="23663"/>
                  <a:pt x="5239512" y="27432"/>
                </a:cubicBezTo>
                <a:cubicBezTo>
                  <a:pt x="5285417" y="38908"/>
                  <a:pt x="5334350" y="42847"/>
                  <a:pt x="5376672" y="64008"/>
                </a:cubicBezTo>
                <a:cubicBezTo>
                  <a:pt x="5394960" y="73152"/>
                  <a:pt x="5413586" y="81649"/>
                  <a:pt x="5431536" y="91440"/>
                </a:cubicBezTo>
                <a:cubicBezTo>
                  <a:pt x="5447139" y="99951"/>
                  <a:pt x="5461360" y="110924"/>
                  <a:pt x="5477256" y="118872"/>
                </a:cubicBezTo>
                <a:cubicBezTo>
                  <a:pt x="5573823" y="167156"/>
                  <a:pt x="5386565" y="49267"/>
                  <a:pt x="5559552" y="164592"/>
                </a:cubicBezTo>
                <a:cubicBezTo>
                  <a:pt x="5568696" y="170688"/>
                  <a:pt x="5579832" y="174536"/>
                  <a:pt x="5586984" y="182880"/>
                </a:cubicBezTo>
                <a:cubicBezTo>
                  <a:pt x="5605272" y="204216"/>
                  <a:pt x="5621199" y="227828"/>
                  <a:pt x="5641848" y="246888"/>
                </a:cubicBezTo>
                <a:cubicBezTo>
                  <a:pt x="5728417" y="326798"/>
                  <a:pt x="5683187" y="256261"/>
                  <a:pt x="5751576" y="338328"/>
                </a:cubicBezTo>
                <a:cubicBezTo>
                  <a:pt x="5816564" y="416314"/>
                  <a:pt x="5783986" y="384950"/>
                  <a:pt x="5824728" y="475488"/>
                </a:cubicBezTo>
                <a:cubicBezTo>
                  <a:pt x="5882344" y="603522"/>
                  <a:pt x="5873981" y="556123"/>
                  <a:pt x="5916168" y="676656"/>
                </a:cubicBezTo>
                <a:cubicBezTo>
                  <a:pt x="5948009" y="767631"/>
                  <a:pt x="5976461" y="859761"/>
                  <a:pt x="6007608" y="950976"/>
                </a:cubicBezTo>
                <a:cubicBezTo>
                  <a:pt x="6020742" y="989439"/>
                  <a:pt x="6072475" y="1124005"/>
                  <a:pt x="6080760" y="1161288"/>
                </a:cubicBezTo>
                <a:cubicBezTo>
                  <a:pt x="6087660" y="1192340"/>
                  <a:pt x="6107295" y="1284101"/>
                  <a:pt x="6117336" y="1316736"/>
                </a:cubicBezTo>
                <a:cubicBezTo>
                  <a:pt x="6122163" y="1332424"/>
                  <a:pt x="6130797" y="1346768"/>
                  <a:pt x="6135624" y="1362456"/>
                </a:cubicBezTo>
                <a:cubicBezTo>
                  <a:pt x="6165970" y="1461081"/>
                  <a:pt x="6143858" y="1404534"/>
                  <a:pt x="6163056" y="1481328"/>
                </a:cubicBezTo>
                <a:cubicBezTo>
                  <a:pt x="6165394" y="1490679"/>
                  <a:pt x="6169152" y="1499616"/>
                  <a:pt x="6172200" y="1508760"/>
                </a:cubicBezTo>
                <a:cubicBezTo>
                  <a:pt x="6175248" y="1530096"/>
                  <a:pt x="6181344" y="1551215"/>
                  <a:pt x="6181344" y="1572768"/>
                </a:cubicBezTo>
                <a:cubicBezTo>
                  <a:pt x="6181344" y="1678694"/>
                  <a:pt x="6171010" y="1783404"/>
                  <a:pt x="6135624" y="1883664"/>
                </a:cubicBezTo>
                <a:cubicBezTo>
                  <a:pt x="6122239" y="1921588"/>
                  <a:pt x="6106004" y="1931180"/>
                  <a:pt x="6099048" y="1965960"/>
                </a:cubicBezTo>
                <a:cubicBezTo>
                  <a:pt x="6091776" y="2002320"/>
                  <a:pt x="6089753" y="2039715"/>
                  <a:pt x="6080760" y="2075688"/>
                </a:cubicBezTo>
                <a:cubicBezTo>
                  <a:pt x="6077712" y="2087880"/>
                  <a:pt x="6074342" y="2099996"/>
                  <a:pt x="6071616" y="2112264"/>
                </a:cubicBezTo>
                <a:cubicBezTo>
                  <a:pt x="6068245" y="2127436"/>
                  <a:pt x="6067387" y="2143240"/>
                  <a:pt x="6062472" y="2157984"/>
                </a:cubicBezTo>
                <a:cubicBezTo>
                  <a:pt x="6058161" y="2170916"/>
                  <a:pt x="6049554" y="2182031"/>
                  <a:pt x="6044184" y="2194560"/>
                </a:cubicBezTo>
                <a:cubicBezTo>
                  <a:pt x="6040387" y="2203419"/>
                  <a:pt x="6039351" y="2213371"/>
                  <a:pt x="6035040" y="2221992"/>
                </a:cubicBezTo>
                <a:cubicBezTo>
                  <a:pt x="6030125" y="2231822"/>
                  <a:pt x="6021667" y="2239594"/>
                  <a:pt x="6016752" y="2249424"/>
                </a:cubicBezTo>
                <a:cubicBezTo>
                  <a:pt x="6012441" y="2258045"/>
                  <a:pt x="6011919" y="2268235"/>
                  <a:pt x="6007608" y="2276856"/>
                </a:cubicBezTo>
                <a:cubicBezTo>
                  <a:pt x="6002693" y="2286686"/>
                  <a:pt x="5994974" y="2294864"/>
                  <a:pt x="5989320" y="2304288"/>
                </a:cubicBezTo>
                <a:lnTo>
                  <a:pt x="5961888" y="2350008"/>
                </a:lnTo>
                <a:close/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4F5FC9B7-CC0C-7CCE-E81C-756CC63E0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TW" sz="4400" dirty="0"/>
              <a:t>Back-propagation through-time (BPTT) </a:t>
            </a:r>
            <a:endParaRPr kumimoji="1" lang="zh-TW" altLang="en-US" sz="4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9DD70D-9B0E-9582-A8DA-61F769CB8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B2492BC9-9008-FEB7-9C8B-18CC02B71A66}"/>
              </a:ext>
            </a:extLst>
          </p:cNvPr>
          <p:cNvSpPr/>
          <p:nvPr/>
        </p:nvSpPr>
        <p:spPr>
          <a:xfrm>
            <a:off x="3496942" y="305184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5E1AB5F0-B1CB-7FDD-C574-6CC28AABB6E0}"/>
                  </a:ext>
                </a:extLst>
              </p:cNvPr>
              <p:cNvSpPr txBox="1"/>
              <p:nvPr/>
            </p:nvSpPr>
            <p:spPr>
              <a:xfrm>
                <a:off x="3595162" y="3124724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5E1AB5F0-B1CB-7FDD-C574-6CC28AABB6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5162" y="3124724"/>
                <a:ext cx="322139" cy="400110"/>
              </a:xfrm>
              <a:prstGeom prst="rect">
                <a:avLst/>
              </a:prstGeom>
              <a:blipFill>
                <a:blip r:embed="rId3"/>
                <a:stretch>
                  <a:fillRect r="-230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橢圓 6">
            <a:extLst>
              <a:ext uri="{FF2B5EF4-FFF2-40B4-BE49-F238E27FC236}">
                <a16:creationId xmlns:a16="http://schemas.microsoft.com/office/drawing/2014/main" id="{958123D1-85FB-B851-C044-C0FB66B0AFE4}"/>
              </a:ext>
            </a:extLst>
          </p:cNvPr>
          <p:cNvSpPr/>
          <p:nvPr/>
        </p:nvSpPr>
        <p:spPr>
          <a:xfrm>
            <a:off x="5305755" y="305184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11A16960-FEE2-0BE3-3FDE-F3783B685DEB}"/>
                  </a:ext>
                </a:extLst>
              </p:cNvPr>
              <p:cNvSpPr txBox="1"/>
              <p:nvPr/>
            </p:nvSpPr>
            <p:spPr>
              <a:xfrm>
                <a:off x="5403975" y="3124724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11A16960-FEE2-0BE3-3FDE-F3783B685D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3975" y="3124724"/>
                <a:ext cx="322139" cy="400110"/>
              </a:xfrm>
              <a:prstGeom prst="rect">
                <a:avLst/>
              </a:prstGeom>
              <a:blipFill>
                <a:blip r:embed="rId4"/>
                <a:stretch>
                  <a:fillRect r="-230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橢圓 8">
            <a:extLst>
              <a:ext uri="{FF2B5EF4-FFF2-40B4-BE49-F238E27FC236}">
                <a16:creationId xmlns:a16="http://schemas.microsoft.com/office/drawing/2014/main" id="{B382B813-3C65-1C7E-F422-96B153ACB827}"/>
              </a:ext>
            </a:extLst>
          </p:cNvPr>
          <p:cNvSpPr/>
          <p:nvPr/>
        </p:nvSpPr>
        <p:spPr>
          <a:xfrm>
            <a:off x="7114568" y="305184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BC6C5ADA-983C-4D57-7F58-D032975A31CF}"/>
                  </a:ext>
                </a:extLst>
              </p:cNvPr>
              <p:cNvSpPr txBox="1"/>
              <p:nvPr/>
            </p:nvSpPr>
            <p:spPr>
              <a:xfrm>
                <a:off x="7212788" y="3124724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BC6C5ADA-983C-4D57-7F58-D032975A3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2788" y="3124724"/>
                <a:ext cx="322139" cy="400110"/>
              </a:xfrm>
              <a:prstGeom prst="rect">
                <a:avLst/>
              </a:prstGeom>
              <a:blipFill>
                <a:blip r:embed="rId5"/>
                <a:stretch>
                  <a:fillRect r="-222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753828C1-3F4F-208D-52DE-53B84E92D199}"/>
                  </a:ext>
                </a:extLst>
              </p:cNvPr>
              <p:cNvSpPr txBox="1"/>
              <p:nvPr/>
            </p:nvSpPr>
            <p:spPr>
              <a:xfrm>
                <a:off x="7239248" y="4558783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753828C1-3F4F-208D-52DE-53B84E92D1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248" y="4558783"/>
                <a:ext cx="322139" cy="400110"/>
              </a:xfrm>
              <a:prstGeom prst="rect">
                <a:avLst/>
              </a:prstGeom>
              <a:blipFill>
                <a:blip r:embed="rId6"/>
                <a:stretch>
                  <a:fillRect r="-1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52908AA-75AE-E757-BB7A-1D6D88ACD64F}"/>
                  </a:ext>
                </a:extLst>
              </p:cNvPr>
              <p:cNvSpPr txBox="1"/>
              <p:nvPr/>
            </p:nvSpPr>
            <p:spPr>
              <a:xfrm>
                <a:off x="5403974" y="4558783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52908AA-75AE-E757-BB7A-1D6D88ACD6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3974" y="4558783"/>
                <a:ext cx="322139" cy="400110"/>
              </a:xfrm>
              <a:prstGeom prst="rect">
                <a:avLst/>
              </a:prstGeom>
              <a:blipFill>
                <a:blip r:embed="rId7"/>
                <a:stretch>
                  <a:fillRect r="-230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AB06668-33C9-8408-D0AC-38F670121040}"/>
                  </a:ext>
                </a:extLst>
              </p:cNvPr>
              <p:cNvSpPr txBox="1"/>
              <p:nvPr/>
            </p:nvSpPr>
            <p:spPr>
              <a:xfrm>
                <a:off x="3595162" y="4558783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AB06668-33C9-8408-D0AC-38F6701210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5162" y="4558783"/>
                <a:ext cx="322139" cy="400110"/>
              </a:xfrm>
              <a:prstGeom prst="rect">
                <a:avLst/>
              </a:prstGeom>
              <a:blipFill>
                <a:blip r:embed="rId8"/>
                <a:stretch>
                  <a:fillRect r="-1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73AA2A4A-AEB9-503F-12B6-148982191450}"/>
              </a:ext>
            </a:extLst>
          </p:cNvPr>
          <p:cNvCxnSpPr>
            <a:cxnSpLocks/>
          </p:cNvCxnSpPr>
          <p:nvPr/>
        </p:nvCxnSpPr>
        <p:spPr>
          <a:xfrm flipV="1">
            <a:off x="7417383" y="3782215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DE9E92DE-5C68-2CE8-7E89-49C90CE91E68}"/>
              </a:ext>
            </a:extLst>
          </p:cNvPr>
          <p:cNvCxnSpPr>
            <a:cxnSpLocks/>
          </p:cNvCxnSpPr>
          <p:nvPr/>
        </p:nvCxnSpPr>
        <p:spPr>
          <a:xfrm flipV="1">
            <a:off x="5591082" y="3782215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7AB933B7-3EBC-4D2A-35C6-A972FBBFB1DC}"/>
              </a:ext>
            </a:extLst>
          </p:cNvPr>
          <p:cNvCxnSpPr>
            <a:cxnSpLocks/>
          </p:cNvCxnSpPr>
          <p:nvPr/>
        </p:nvCxnSpPr>
        <p:spPr>
          <a:xfrm flipV="1">
            <a:off x="3772275" y="3782215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FC3EC2BB-D7CA-979E-1130-A609F9FBEC22}"/>
                  </a:ext>
                </a:extLst>
              </p:cNvPr>
              <p:cNvSpPr txBox="1"/>
              <p:nvPr/>
            </p:nvSpPr>
            <p:spPr>
              <a:xfrm>
                <a:off x="7359095" y="3968770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FC3EC2BB-D7CA-979E-1130-A609F9FBE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9095" y="3968770"/>
                <a:ext cx="653945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09D52467-B91B-ADEB-438C-D71F839636E5}"/>
                  </a:ext>
                </a:extLst>
              </p:cNvPr>
              <p:cNvSpPr txBox="1"/>
              <p:nvPr/>
            </p:nvSpPr>
            <p:spPr>
              <a:xfrm>
                <a:off x="5494172" y="3968770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09D52467-B91B-ADEB-438C-D71F839636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4172" y="3968770"/>
                <a:ext cx="653945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CE95E52F-C7CA-C26B-0B38-E59336B2ABFF}"/>
                  </a:ext>
                </a:extLst>
              </p:cNvPr>
              <p:cNvSpPr txBox="1"/>
              <p:nvPr/>
            </p:nvSpPr>
            <p:spPr>
              <a:xfrm>
                <a:off x="3667872" y="3949817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CE95E52F-C7CA-C26B-0B38-E59336B2AB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872" y="3949817"/>
                <a:ext cx="653945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8F308BCD-D23B-A692-B127-A9720397E8BD}"/>
              </a:ext>
            </a:extLst>
          </p:cNvPr>
          <p:cNvCxnSpPr>
            <a:cxnSpLocks/>
          </p:cNvCxnSpPr>
          <p:nvPr/>
        </p:nvCxnSpPr>
        <p:spPr>
          <a:xfrm>
            <a:off x="4321817" y="3340097"/>
            <a:ext cx="77483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DEDC3B2A-4805-3B4E-AFB4-4A0D34BB4557}"/>
              </a:ext>
            </a:extLst>
          </p:cNvPr>
          <p:cNvCxnSpPr>
            <a:cxnSpLocks/>
          </p:cNvCxnSpPr>
          <p:nvPr/>
        </p:nvCxnSpPr>
        <p:spPr>
          <a:xfrm>
            <a:off x="6148117" y="3337599"/>
            <a:ext cx="77483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026DF3A1-46AA-727A-04A0-C81F4E0252E2}"/>
                  </a:ext>
                </a:extLst>
              </p:cNvPr>
              <p:cNvSpPr txBox="1"/>
              <p:nvPr/>
            </p:nvSpPr>
            <p:spPr>
              <a:xfrm>
                <a:off x="4373948" y="2940058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026DF3A1-46AA-727A-04A0-C81F4E0252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3948" y="2940058"/>
                <a:ext cx="653945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AE9084AC-E075-A537-022C-E9F6EFB6FD47}"/>
                  </a:ext>
                </a:extLst>
              </p:cNvPr>
              <p:cNvSpPr txBox="1"/>
              <p:nvPr/>
            </p:nvSpPr>
            <p:spPr>
              <a:xfrm>
                <a:off x="6152580" y="2968267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AE9084AC-E075-A537-022C-E9F6EFB6FD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580" y="2968267"/>
                <a:ext cx="653945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F2947BFF-72AF-BB63-813A-05A1AD84F7F1}"/>
                  </a:ext>
                </a:extLst>
              </p:cNvPr>
              <p:cNvSpPr txBox="1"/>
              <p:nvPr/>
            </p:nvSpPr>
            <p:spPr>
              <a:xfrm>
                <a:off x="3595162" y="1657740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F2947BFF-72AF-BB63-813A-05A1AD84F7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5162" y="1657740"/>
                <a:ext cx="322139" cy="400110"/>
              </a:xfrm>
              <a:prstGeom prst="rect">
                <a:avLst/>
              </a:prstGeom>
              <a:blipFill>
                <a:blip r:embed="rId14"/>
                <a:stretch>
                  <a:fillRect r="-19231" b="-30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直線箭頭接點 29">
            <a:extLst>
              <a:ext uri="{FF2B5EF4-FFF2-40B4-BE49-F238E27FC236}">
                <a16:creationId xmlns:a16="http://schemas.microsoft.com/office/drawing/2014/main" id="{D18BBE8D-C594-6B07-D86D-D51128FAE89A}"/>
              </a:ext>
            </a:extLst>
          </p:cNvPr>
          <p:cNvCxnSpPr>
            <a:cxnSpLocks/>
          </p:cNvCxnSpPr>
          <p:nvPr/>
        </p:nvCxnSpPr>
        <p:spPr>
          <a:xfrm flipV="1">
            <a:off x="3769121" y="2179604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2341323-B3DB-9968-0A7E-714180CB7526}"/>
                  </a:ext>
                </a:extLst>
              </p:cNvPr>
              <p:cNvSpPr txBox="1"/>
              <p:nvPr/>
            </p:nvSpPr>
            <p:spPr>
              <a:xfrm>
                <a:off x="3667871" y="2347206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2341323-B3DB-9968-0A7E-714180CB75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871" y="2347206"/>
                <a:ext cx="653945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4841784E-BC0A-16B3-BD02-EF6992792131}"/>
                  </a:ext>
                </a:extLst>
              </p:cNvPr>
              <p:cNvSpPr txBox="1"/>
              <p:nvPr/>
            </p:nvSpPr>
            <p:spPr>
              <a:xfrm>
                <a:off x="5421463" y="1656125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4841784E-BC0A-16B3-BD02-EF69927921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1463" y="1656125"/>
                <a:ext cx="322139" cy="400110"/>
              </a:xfrm>
              <a:prstGeom prst="rect">
                <a:avLst/>
              </a:prstGeom>
              <a:blipFill>
                <a:blip r:embed="rId16"/>
                <a:stretch>
                  <a:fillRect r="-18519" b="-6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直線箭頭接點 32">
            <a:extLst>
              <a:ext uri="{FF2B5EF4-FFF2-40B4-BE49-F238E27FC236}">
                <a16:creationId xmlns:a16="http://schemas.microsoft.com/office/drawing/2014/main" id="{C618F6AE-2255-2F86-0362-F00F681EFEB2}"/>
              </a:ext>
            </a:extLst>
          </p:cNvPr>
          <p:cNvCxnSpPr>
            <a:cxnSpLocks/>
          </p:cNvCxnSpPr>
          <p:nvPr/>
        </p:nvCxnSpPr>
        <p:spPr>
          <a:xfrm flipV="1">
            <a:off x="5595422" y="2177989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C1CE6CDF-C338-DD1C-B3F8-AB523AC637BF}"/>
                  </a:ext>
                </a:extLst>
              </p:cNvPr>
              <p:cNvSpPr txBox="1"/>
              <p:nvPr/>
            </p:nvSpPr>
            <p:spPr>
              <a:xfrm>
                <a:off x="5494172" y="2345591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C1CE6CDF-C338-DD1C-B3F8-AB523AC637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4172" y="2345591"/>
                <a:ext cx="653945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1DA3EFCA-76EA-9CE9-EC17-6EF65BD477AB}"/>
                  </a:ext>
                </a:extLst>
              </p:cNvPr>
              <p:cNvSpPr txBox="1"/>
              <p:nvPr/>
            </p:nvSpPr>
            <p:spPr>
              <a:xfrm>
                <a:off x="7247763" y="1656125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1DA3EFCA-76EA-9CE9-EC17-6EF65BD47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7763" y="1656125"/>
                <a:ext cx="322139" cy="400110"/>
              </a:xfrm>
              <a:prstGeom prst="rect">
                <a:avLst/>
              </a:prstGeom>
              <a:blipFill>
                <a:blip r:embed="rId18"/>
                <a:stretch>
                  <a:fillRect r="-18519" b="-6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83861EAB-CE56-FE7A-C714-4B90ECC9DE98}"/>
              </a:ext>
            </a:extLst>
          </p:cNvPr>
          <p:cNvCxnSpPr>
            <a:cxnSpLocks/>
          </p:cNvCxnSpPr>
          <p:nvPr/>
        </p:nvCxnSpPr>
        <p:spPr>
          <a:xfrm flipV="1">
            <a:off x="7421722" y="2177989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A0CA0E70-68D3-FE08-F6EC-11A2E05A3D8D}"/>
                  </a:ext>
                </a:extLst>
              </p:cNvPr>
              <p:cNvSpPr txBox="1"/>
              <p:nvPr/>
            </p:nvSpPr>
            <p:spPr>
              <a:xfrm>
                <a:off x="7320472" y="2345591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A0CA0E70-68D3-FE08-F6EC-11A2E05A3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0472" y="2345591"/>
                <a:ext cx="653945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E831FF79-601D-59A0-1063-EC73EEB9E1E0}"/>
                  </a:ext>
                </a:extLst>
              </p:cNvPr>
              <p:cNvSpPr txBox="1"/>
              <p:nvPr/>
            </p:nvSpPr>
            <p:spPr>
              <a:xfrm>
                <a:off x="876616" y="5246364"/>
                <a:ext cx="2999802" cy="8577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den>
                      </m:f>
                      <m:r>
                        <a:rPr lang="zh-TW" altLang="en-US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den>
                      </m:f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E831FF79-601D-59A0-1063-EC73EEB9E1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616" y="5246364"/>
                <a:ext cx="2999802" cy="857735"/>
              </a:xfrm>
              <a:prstGeom prst="rect">
                <a:avLst/>
              </a:prstGeom>
              <a:blipFill>
                <a:blip r:embed="rId20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B903FB53-C4D5-994A-8D12-8E358223C42E}"/>
                  </a:ext>
                </a:extLst>
              </p:cNvPr>
              <p:cNvSpPr txBox="1"/>
              <p:nvPr/>
            </p:nvSpPr>
            <p:spPr>
              <a:xfrm>
                <a:off x="7395910" y="5246364"/>
                <a:ext cx="4043994" cy="8577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den>
                      </m:f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B903FB53-C4D5-994A-8D12-8E358223C4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5910" y="5246364"/>
                <a:ext cx="4043994" cy="857735"/>
              </a:xfrm>
              <a:prstGeom prst="rect">
                <a:avLst/>
              </a:prstGeom>
              <a:blipFill>
                <a:blip r:embed="rId21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E8A0ED53-58F8-BFE5-16DB-8BEDBE8F82B5}"/>
                  </a:ext>
                </a:extLst>
              </p:cNvPr>
              <p:cNvSpPr txBox="1"/>
              <p:nvPr/>
            </p:nvSpPr>
            <p:spPr>
              <a:xfrm>
                <a:off x="4129792" y="5246365"/>
                <a:ext cx="3266118" cy="8577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den>
                      </m:f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E8A0ED53-58F8-BFE5-16DB-8BEDBE8F82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9792" y="5246365"/>
                <a:ext cx="3266118" cy="857735"/>
              </a:xfrm>
              <a:prstGeom prst="rect">
                <a:avLst/>
              </a:prstGeom>
              <a:blipFill>
                <a:blip r:embed="rId22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直線箭頭接點 43">
            <a:extLst>
              <a:ext uri="{FF2B5EF4-FFF2-40B4-BE49-F238E27FC236}">
                <a16:creationId xmlns:a16="http://schemas.microsoft.com/office/drawing/2014/main" id="{66C8C57D-3271-5100-D8D4-B6B71B44519A}"/>
              </a:ext>
            </a:extLst>
          </p:cNvPr>
          <p:cNvCxnSpPr>
            <a:cxnSpLocks/>
          </p:cNvCxnSpPr>
          <p:nvPr/>
        </p:nvCxnSpPr>
        <p:spPr>
          <a:xfrm>
            <a:off x="2482098" y="3351349"/>
            <a:ext cx="77483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19701861-C850-5E8B-7141-C20E5157D6DF}"/>
                  </a:ext>
                </a:extLst>
              </p:cNvPr>
              <p:cNvSpPr txBox="1"/>
              <p:nvPr/>
            </p:nvSpPr>
            <p:spPr>
              <a:xfrm>
                <a:off x="2534229" y="2951310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19701861-C850-5E8B-7141-C20E5157D6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4229" y="2951310"/>
                <a:ext cx="653945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手繪多邊形 45">
            <a:extLst>
              <a:ext uri="{FF2B5EF4-FFF2-40B4-BE49-F238E27FC236}">
                <a16:creationId xmlns:a16="http://schemas.microsoft.com/office/drawing/2014/main" id="{12C96C7D-81E5-E747-BF26-716F8772567E}"/>
              </a:ext>
            </a:extLst>
          </p:cNvPr>
          <p:cNvSpPr/>
          <p:nvPr/>
        </p:nvSpPr>
        <p:spPr>
          <a:xfrm>
            <a:off x="6003561" y="1697691"/>
            <a:ext cx="2248524" cy="2049850"/>
          </a:xfrm>
          <a:custGeom>
            <a:avLst/>
            <a:gdLst>
              <a:gd name="connsiteX0" fmla="*/ 0 w 2248524"/>
              <a:gd name="connsiteY0" fmla="*/ 1585155 h 2049850"/>
              <a:gd name="connsiteX1" fmla="*/ 0 w 2248524"/>
              <a:gd name="connsiteY1" fmla="*/ 1585155 h 2049850"/>
              <a:gd name="connsiteX2" fmla="*/ 14990 w 2248524"/>
              <a:gd name="connsiteY2" fmla="*/ 1442748 h 2049850"/>
              <a:gd name="connsiteX3" fmla="*/ 29980 w 2248524"/>
              <a:gd name="connsiteY3" fmla="*/ 1367798 h 2049850"/>
              <a:gd name="connsiteX4" fmla="*/ 52465 w 2248524"/>
              <a:gd name="connsiteY4" fmla="*/ 1292847 h 2049850"/>
              <a:gd name="connsiteX5" fmla="*/ 67455 w 2248524"/>
              <a:gd name="connsiteY5" fmla="*/ 1270361 h 2049850"/>
              <a:gd name="connsiteX6" fmla="*/ 74950 w 2248524"/>
              <a:gd name="connsiteY6" fmla="*/ 1247876 h 2049850"/>
              <a:gd name="connsiteX7" fmla="*/ 89941 w 2248524"/>
              <a:gd name="connsiteY7" fmla="*/ 1232886 h 2049850"/>
              <a:gd name="connsiteX8" fmla="*/ 112426 w 2248524"/>
              <a:gd name="connsiteY8" fmla="*/ 1217896 h 2049850"/>
              <a:gd name="connsiteX9" fmla="*/ 164891 w 2248524"/>
              <a:gd name="connsiteY9" fmla="*/ 1202906 h 2049850"/>
              <a:gd name="connsiteX10" fmla="*/ 209862 w 2248524"/>
              <a:gd name="connsiteY10" fmla="*/ 1187916 h 2049850"/>
              <a:gd name="connsiteX11" fmla="*/ 277318 w 2248524"/>
              <a:gd name="connsiteY11" fmla="*/ 1172925 h 2049850"/>
              <a:gd name="connsiteX12" fmla="*/ 374754 w 2248524"/>
              <a:gd name="connsiteY12" fmla="*/ 1157935 h 2049850"/>
              <a:gd name="connsiteX13" fmla="*/ 457200 w 2248524"/>
              <a:gd name="connsiteY13" fmla="*/ 1142945 h 2049850"/>
              <a:gd name="connsiteX14" fmla="*/ 629587 w 2248524"/>
              <a:gd name="connsiteY14" fmla="*/ 1135450 h 2049850"/>
              <a:gd name="connsiteX15" fmla="*/ 734518 w 2248524"/>
              <a:gd name="connsiteY15" fmla="*/ 1127955 h 2049850"/>
              <a:gd name="connsiteX16" fmla="*/ 914400 w 2248524"/>
              <a:gd name="connsiteY16" fmla="*/ 1105470 h 2049850"/>
              <a:gd name="connsiteX17" fmla="*/ 936885 w 2248524"/>
              <a:gd name="connsiteY17" fmla="*/ 1097975 h 2049850"/>
              <a:gd name="connsiteX18" fmla="*/ 951875 w 2248524"/>
              <a:gd name="connsiteY18" fmla="*/ 1082984 h 2049850"/>
              <a:gd name="connsiteX19" fmla="*/ 974360 w 2248524"/>
              <a:gd name="connsiteY19" fmla="*/ 1038014 h 2049850"/>
              <a:gd name="connsiteX20" fmla="*/ 981855 w 2248524"/>
              <a:gd name="connsiteY20" fmla="*/ 978053 h 2049850"/>
              <a:gd name="connsiteX21" fmla="*/ 996846 w 2248524"/>
              <a:gd name="connsiteY21" fmla="*/ 783181 h 2049850"/>
              <a:gd name="connsiteX22" fmla="*/ 1004341 w 2248524"/>
              <a:gd name="connsiteY22" fmla="*/ 715725 h 2049850"/>
              <a:gd name="connsiteX23" fmla="*/ 1011836 w 2248524"/>
              <a:gd name="connsiteY23" fmla="*/ 633279 h 2049850"/>
              <a:gd name="connsiteX24" fmla="*/ 1019331 w 2248524"/>
              <a:gd name="connsiteY24" fmla="*/ 460893 h 2049850"/>
              <a:gd name="connsiteX25" fmla="*/ 1034321 w 2248524"/>
              <a:gd name="connsiteY25" fmla="*/ 370952 h 2049850"/>
              <a:gd name="connsiteX26" fmla="*/ 1041816 w 2248524"/>
              <a:gd name="connsiteY26" fmla="*/ 325981 h 2049850"/>
              <a:gd name="connsiteX27" fmla="*/ 1071796 w 2248524"/>
              <a:gd name="connsiteY27" fmla="*/ 251030 h 2049850"/>
              <a:gd name="connsiteX28" fmla="*/ 1086787 w 2248524"/>
              <a:gd name="connsiteY28" fmla="*/ 228545 h 2049850"/>
              <a:gd name="connsiteX29" fmla="*/ 1124262 w 2248524"/>
              <a:gd name="connsiteY29" fmla="*/ 161089 h 2049850"/>
              <a:gd name="connsiteX30" fmla="*/ 1184223 w 2248524"/>
              <a:gd name="connsiteY30" fmla="*/ 108624 h 2049850"/>
              <a:gd name="connsiteX31" fmla="*/ 1229193 w 2248524"/>
              <a:gd name="connsiteY31" fmla="*/ 93634 h 2049850"/>
              <a:gd name="connsiteX32" fmla="*/ 1244183 w 2248524"/>
              <a:gd name="connsiteY32" fmla="*/ 78643 h 2049850"/>
              <a:gd name="connsiteX33" fmla="*/ 1326629 w 2248524"/>
              <a:gd name="connsiteY33" fmla="*/ 48663 h 2049850"/>
              <a:gd name="connsiteX34" fmla="*/ 1349114 w 2248524"/>
              <a:gd name="connsiteY34" fmla="*/ 33673 h 2049850"/>
              <a:gd name="connsiteX35" fmla="*/ 1461541 w 2248524"/>
              <a:gd name="connsiteY35" fmla="*/ 11188 h 2049850"/>
              <a:gd name="connsiteX36" fmla="*/ 1596452 w 2248524"/>
              <a:gd name="connsiteY36" fmla="*/ 11188 h 2049850"/>
              <a:gd name="connsiteX37" fmla="*/ 1686393 w 2248524"/>
              <a:gd name="connsiteY37" fmla="*/ 41168 h 2049850"/>
              <a:gd name="connsiteX38" fmla="*/ 1708878 w 2248524"/>
              <a:gd name="connsiteY38" fmla="*/ 48663 h 2049850"/>
              <a:gd name="connsiteX39" fmla="*/ 1821305 w 2248524"/>
              <a:gd name="connsiteY39" fmla="*/ 71148 h 2049850"/>
              <a:gd name="connsiteX40" fmla="*/ 1881265 w 2248524"/>
              <a:gd name="connsiteY40" fmla="*/ 131109 h 2049850"/>
              <a:gd name="connsiteX41" fmla="*/ 1971206 w 2248524"/>
              <a:gd name="connsiteY41" fmla="*/ 213555 h 2049850"/>
              <a:gd name="connsiteX42" fmla="*/ 2008682 w 2248524"/>
              <a:gd name="connsiteY42" fmla="*/ 258525 h 2049850"/>
              <a:gd name="connsiteX43" fmla="*/ 2016177 w 2248524"/>
              <a:gd name="connsiteY43" fmla="*/ 281011 h 2049850"/>
              <a:gd name="connsiteX44" fmla="*/ 2046157 w 2248524"/>
              <a:gd name="connsiteY44" fmla="*/ 348466 h 2049850"/>
              <a:gd name="connsiteX45" fmla="*/ 2061147 w 2248524"/>
              <a:gd name="connsiteY45" fmla="*/ 400932 h 2049850"/>
              <a:gd name="connsiteX46" fmla="*/ 2083632 w 2248524"/>
              <a:gd name="connsiteY46" fmla="*/ 453398 h 2049850"/>
              <a:gd name="connsiteX47" fmla="*/ 2098623 w 2248524"/>
              <a:gd name="connsiteY47" fmla="*/ 505863 h 2049850"/>
              <a:gd name="connsiteX48" fmla="*/ 2113613 w 2248524"/>
              <a:gd name="connsiteY48" fmla="*/ 558329 h 2049850"/>
              <a:gd name="connsiteX49" fmla="*/ 2128603 w 2248524"/>
              <a:gd name="connsiteY49" fmla="*/ 610794 h 2049850"/>
              <a:gd name="connsiteX50" fmla="*/ 2136098 w 2248524"/>
              <a:gd name="connsiteY50" fmla="*/ 633279 h 2049850"/>
              <a:gd name="connsiteX51" fmla="*/ 2151088 w 2248524"/>
              <a:gd name="connsiteY51" fmla="*/ 708230 h 2049850"/>
              <a:gd name="connsiteX52" fmla="*/ 2166078 w 2248524"/>
              <a:gd name="connsiteY52" fmla="*/ 790676 h 2049850"/>
              <a:gd name="connsiteX53" fmla="*/ 2173573 w 2248524"/>
              <a:gd name="connsiteY53" fmla="*/ 850637 h 2049850"/>
              <a:gd name="connsiteX54" fmla="*/ 2188564 w 2248524"/>
              <a:gd name="connsiteY54" fmla="*/ 933083 h 2049850"/>
              <a:gd name="connsiteX55" fmla="*/ 2203554 w 2248524"/>
              <a:gd name="connsiteY55" fmla="*/ 1120460 h 2049850"/>
              <a:gd name="connsiteX56" fmla="*/ 2211049 w 2248524"/>
              <a:gd name="connsiteY56" fmla="*/ 1195411 h 2049850"/>
              <a:gd name="connsiteX57" fmla="*/ 2218544 w 2248524"/>
              <a:gd name="connsiteY57" fmla="*/ 1232886 h 2049850"/>
              <a:gd name="connsiteX58" fmla="*/ 2226039 w 2248524"/>
              <a:gd name="connsiteY58" fmla="*/ 1277857 h 2049850"/>
              <a:gd name="connsiteX59" fmla="*/ 2233534 w 2248524"/>
              <a:gd name="connsiteY59" fmla="*/ 1375293 h 2049850"/>
              <a:gd name="connsiteX60" fmla="*/ 2241029 w 2248524"/>
              <a:gd name="connsiteY60" fmla="*/ 1442748 h 2049850"/>
              <a:gd name="connsiteX61" fmla="*/ 2248524 w 2248524"/>
              <a:gd name="connsiteY61" fmla="*/ 1562670 h 2049850"/>
              <a:gd name="connsiteX62" fmla="*/ 2241029 w 2248524"/>
              <a:gd name="connsiteY62" fmla="*/ 1877463 h 2049850"/>
              <a:gd name="connsiteX63" fmla="*/ 2233534 w 2248524"/>
              <a:gd name="connsiteY63" fmla="*/ 1937424 h 2049850"/>
              <a:gd name="connsiteX64" fmla="*/ 2226039 w 2248524"/>
              <a:gd name="connsiteY64" fmla="*/ 1959909 h 2049850"/>
              <a:gd name="connsiteX65" fmla="*/ 2203554 w 2248524"/>
              <a:gd name="connsiteY65" fmla="*/ 1974899 h 2049850"/>
              <a:gd name="connsiteX66" fmla="*/ 2181069 w 2248524"/>
              <a:gd name="connsiteY66" fmla="*/ 1997384 h 2049850"/>
              <a:gd name="connsiteX67" fmla="*/ 2151088 w 2248524"/>
              <a:gd name="connsiteY67" fmla="*/ 2004879 h 2049850"/>
              <a:gd name="connsiteX68" fmla="*/ 2031167 w 2248524"/>
              <a:gd name="connsiteY68" fmla="*/ 2019870 h 2049850"/>
              <a:gd name="connsiteX69" fmla="*/ 1963711 w 2248524"/>
              <a:gd name="connsiteY69" fmla="*/ 2034860 h 2049850"/>
              <a:gd name="connsiteX70" fmla="*/ 1798819 w 2248524"/>
              <a:gd name="connsiteY70" fmla="*/ 2049850 h 2049850"/>
              <a:gd name="connsiteX71" fmla="*/ 1588957 w 2248524"/>
              <a:gd name="connsiteY71" fmla="*/ 2042355 h 2049850"/>
              <a:gd name="connsiteX72" fmla="*/ 1558977 w 2248524"/>
              <a:gd name="connsiteY72" fmla="*/ 2034860 h 2049850"/>
              <a:gd name="connsiteX73" fmla="*/ 1371600 w 2248524"/>
              <a:gd name="connsiteY73" fmla="*/ 2027365 h 2049850"/>
              <a:gd name="connsiteX74" fmla="*/ 1311639 w 2248524"/>
              <a:gd name="connsiteY74" fmla="*/ 2019870 h 2049850"/>
              <a:gd name="connsiteX75" fmla="*/ 1259173 w 2248524"/>
              <a:gd name="connsiteY75" fmla="*/ 2012375 h 2049850"/>
              <a:gd name="connsiteX76" fmla="*/ 1101777 w 2248524"/>
              <a:gd name="connsiteY76" fmla="*/ 2004879 h 2049850"/>
              <a:gd name="connsiteX77" fmla="*/ 981855 w 2248524"/>
              <a:gd name="connsiteY77" fmla="*/ 1997384 h 2049850"/>
              <a:gd name="connsiteX78" fmla="*/ 824459 w 2248524"/>
              <a:gd name="connsiteY78" fmla="*/ 1982394 h 2049850"/>
              <a:gd name="connsiteX79" fmla="*/ 479685 w 2248524"/>
              <a:gd name="connsiteY79" fmla="*/ 1959909 h 2049850"/>
              <a:gd name="connsiteX80" fmla="*/ 367259 w 2248524"/>
              <a:gd name="connsiteY80" fmla="*/ 1944919 h 2049850"/>
              <a:gd name="connsiteX81" fmla="*/ 277318 w 2248524"/>
              <a:gd name="connsiteY81" fmla="*/ 1937424 h 2049850"/>
              <a:gd name="connsiteX82" fmla="*/ 209862 w 2248524"/>
              <a:gd name="connsiteY82" fmla="*/ 1914939 h 2049850"/>
              <a:gd name="connsiteX83" fmla="*/ 187377 w 2248524"/>
              <a:gd name="connsiteY83" fmla="*/ 1907443 h 2049850"/>
              <a:gd name="connsiteX84" fmla="*/ 164891 w 2248524"/>
              <a:gd name="connsiteY84" fmla="*/ 1899948 h 2049850"/>
              <a:gd name="connsiteX85" fmla="*/ 119921 w 2248524"/>
              <a:gd name="connsiteY85" fmla="*/ 1869968 h 2049850"/>
              <a:gd name="connsiteX86" fmla="*/ 82446 w 2248524"/>
              <a:gd name="connsiteY86" fmla="*/ 1832493 h 2049850"/>
              <a:gd name="connsiteX87" fmla="*/ 44970 w 2248524"/>
              <a:gd name="connsiteY87" fmla="*/ 1765037 h 2049850"/>
              <a:gd name="connsiteX88" fmla="*/ 14990 w 2248524"/>
              <a:gd name="connsiteY88" fmla="*/ 1727561 h 2049850"/>
              <a:gd name="connsiteX89" fmla="*/ 0 w 2248524"/>
              <a:gd name="connsiteY89" fmla="*/ 1585155 h 2049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248524" h="2049850">
                <a:moveTo>
                  <a:pt x="0" y="1585155"/>
                </a:moveTo>
                <a:lnTo>
                  <a:pt x="0" y="1585155"/>
                </a:lnTo>
                <a:cubicBezTo>
                  <a:pt x="4997" y="1537686"/>
                  <a:pt x="3413" y="1489054"/>
                  <a:pt x="14990" y="1442748"/>
                </a:cubicBezTo>
                <a:cubicBezTo>
                  <a:pt x="32398" y="1373115"/>
                  <a:pt x="11604" y="1459678"/>
                  <a:pt x="29980" y="1367798"/>
                </a:cubicBezTo>
                <a:cubicBezTo>
                  <a:pt x="32973" y="1352834"/>
                  <a:pt x="47001" y="1301043"/>
                  <a:pt x="52465" y="1292847"/>
                </a:cubicBezTo>
                <a:cubicBezTo>
                  <a:pt x="57462" y="1285352"/>
                  <a:pt x="63427" y="1278418"/>
                  <a:pt x="67455" y="1270361"/>
                </a:cubicBezTo>
                <a:cubicBezTo>
                  <a:pt x="70988" y="1263295"/>
                  <a:pt x="70885" y="1254650"/>
                  <a:pt x="74950" y="1247876"/>
                </a:cubicBezTo>
                <a:cubicBezTo>
                  <a:pt x="78586" y="1241817"/>
                  <a:pt x="84423" y="1237300"/>
                  <a:pt x="89941" y="1232886"/>
                </a:cubicBezTo>
                <a:cubicBezTo>
                  <a:pt x="96975" y="1227259"/>
                  <a:pt x="104369" y="1221924"/>
                  <a:pt x="112426" y="1217896"/>
                </a:cubicBezTo>
                <a:cubicBezTo>
                  <a:pt x="125020" y="1211599"/>
                  <a:pt x="152884" y="1206508"/>
                  <a:pt x="164891" y="1202906"/>
                </a:cubicBezTo>
                <a:cubicBezTo>
                  <a:pt x="180026" y="1198366"/>
                  <a:pt x="194533" y="1191749"/>
                  <a:pt x="209862" y="1187916"/>
                </a:cubicBezTo>
                <a:cubicBezTo>
                  <a:pt x="236821" y="1181175"/>
                  <a:pt x="248762" y="1177684"/>
                  <a:pt x="277318" y="1172925"/>
                </a:cubicBezTo>
                <a:cubicBezTo>
                  <a:pt x="320509" y="1165727"/>
                  <a:pt x="333278" y="1166230"/>
                  <a:pt x="374754" y="1157935"/>
                </a:cubicBezTo>
                <a:cubicBezTo>
                  <a:pt x="418665" y="1149153"/>
                  <a:pt x="400038" y="1146756"/>
                  <a:pt x="457200" y="1142945"/>
                </a:cubicBezTo>
                <a:cubicBezTo>
                  <a:pt x="514589" y="1139119"/>
                  <a:pt x="572154" y="1138554"/>
                  <a:pt x="629587" y="1135450"/>
                </a:cubicBezTo>
                <a:cubicBezTo>
                  <a:pt x="664602" y="1133557"/>
                  <a:pt x="699541" y="1130453"/>
                  <a:pt x="734518" y="1127955"/>
                </a:cubicBezTo>
                <a:cubicBezTo>
                  <a:pt x="864305" y="1109414"/>
                  <a:pt x="804292" y="1116481"/>
                  <a:pt x="914400" y="1105470"/>
                </a:cubicBezTo>
                <a:cubicBezTo>
                  <a:pt x="921895" y="1102972"/>
                  <a:pt x="930111" y="1102040"/>
                  <a:pt x="936885" y="1097975"/>
                </a:cubicBezTo>
                <a:cubicBezTo>
                  <a:pt x="942944" y="1094339"/>
                  <a:pt x="947461" y="1088502"/>
                  <a:pt x="951875" y="1082984"/>
                </a:cubicBezTo>
                <a:cubicBezTo>
                  <a:pt x="968480" y="1062227"/>
                  <a:pt x="966443" y="1061764"/>
                  <a:pt x="974360" y="1038014"/>
                </a:cubicBezTo>
                <a:cubicBezTo>
                  <a:pt x="976858" y="1018027"/>
                  <a:pt x="979851" y="998096"/>
                  <a:pt x="981855" y="978053"/>
                </a:cubicBezTo>
                <a:cubicBezTo>
                  <a:pt x="992163" y="874967"/>
                  <a:pt x="987321" y="892710"/>
                  <a:pt x="996846" y="783181"/>
                </a:cubicBezTo>
                <a:cubicBezTo>
                  <a:pt x="998806" y="760642"/>
                  <a:pt x="1002090" y="738236"/>
                  <a:pt x="1004341" y="715725"/>
                </a:cubicBezTo>
                <a:cubicBezTo>
                  <a:pt x="1007087" y="688267"/>
                  <a:pt x="1009338" y="660761"/>
                  <a:pt x="1011836" y="633279"/>
                </a:cubicBezTo>
                <a:cubicBezTo>
                  <a:pt x="1014334" y="575817"/>
                  <a:pt x="1015743" y="518297"/>
                  <a:pt x="1019331" y="460893"/>
                </a:cubicBezTo>
                <a:cubicBezTo>
                  <a:pt x="1023193" y="399101"/>
                  <a:pt x="1021245" y="410180"/>
                  <a:pt x="1034321" y="370952"/>
                </a:cubicBezTo>
                <a:cubicBezTo>
                  <a:pt x="1036819" y="355962"/>
                  <a:pt x="1038130" y="340724"/>
                  <a:pt x="1041816" y="325981"/>
                </a:cubicBezTo>
                <a:cubicBezTo>
                  <a:pt x="1048640" y="298686"/>
                  <a:pt x="1058013" y="275150"/>
                  <a:pt x="1071796" y="251030"/>
                </a:cubicBezTo>
                <a:cubicBezTo>
                  <a:pt x="1076265" y="243209"/>
                  <a:pt x="1081790" y="236040"/>
                  <a:pt x="1086787" y="228545"/>
                </a:cubicBezTo>
                <a:cubicBezTo>
                  <a:pt x="1099979" y="188969"/>
                  <a:pt x="1089900" y="212633"/>
                  <a:pt x="1124262" y="161089"/>
                </a:cubicBezTo>
                <a:cubicBezTo>
                  <a:pt x="1141750" y="134856"/>
                  <a:pt x="1146747" y="121116"/>
                  <a:pt x="1184223" y="108624"/>
                </a:cubicBezTo>
                <a:lnTo>
                  <a:pt x="1229193" y="93634"/>
                </a:lnTo>
                <a:cubicBezTo>
                  <a:pt x="1234190" y="88637"/>
                  <a:pt x="1238006" y="82075"/>
                  <a:pt x="1244183" y="78643"/>
                </a:cubicBezTo>
                <a:cubicBezTo>
                  <a:pt x="1280376" y="58536"/>
                  <a:pt x="1292126" y="57289"/>
                  <a:pt x="1326629" y="48663"/>
                </a:cubicBezTo>
                <a:cubicBezTo>
                  <a:pt x="1334124" y="43666"/>
                  <a:pt x="1340882" y="37331"/>
                  <a:pt x="1349114" y="33673"/>
                </a:cubicBezTo>
                <a:cubicBezTo>
                  <a:pt x="1393403" y="13989"/>
                  <a:pt x="1410087" y="16905"/>
                  <a:pt x="1461541" y="11188"/>
                </a:cubicBezTo>
                <a:cubicBezTo>
                  <a:pt x="1516291" y="-2500"/>
                  <a:pt x="1512731" y="-4912"/>
                  <a:pt x="1596452" y="11188"/>
                </a:cubicBezTo>
                <a:cubicBezTo>
                  <a:pt x="1627485" y="17156"/>
                  <a:pt x="1656413" y="31175"/>
                  <a:pt x="1686393" y="41168"/>
                </a:cubicBezTo>
                <a:cubicBezTo>
                  <a:pt x="1693888" y="43666"/>
                  <a:pt x="1701085" y="47364"/>
                  <a:pt x="1708878" y="48663"/>
                </a:cubicBezTo>
                <a:cubicBezTo>
                  <a:pt x="1806612" y="64952"/>
                  <a:pt x="1769985" y="54042"/>
                  <a:pt x="1821305" y="71148"/>
                </a:cubicBezTo>
                <a:cubicBezTo>
                  <a:pt x="1841292" y="91135"/>
                  <a:pt x="1859193" y="113452"/>
                  <a:pt x="1881265" y="131109"/>
                </a:cubicBezTo>
                <a:cubicBezTo>
                  <a:pt x="1938055" y="176540"/>
                  <a:pt x="1907427" y="149776"/>
                  <a:pt x="1971206" y="213555"/>
                </a:cubicBezTo>
                <a:cubicBezTo>
                  <a:pt x="2000061" y="242411"/>
                  <a:pt x="1987811" y="227220"/>
                  <a:pt x="2008682" y="258525"/>
                </a:cubicBezTo>
                <a:cubicBezTo>
                  <a:pt x="2011180" y="266020"/>
                  <a:pt x="2013065" y="273749"/>
                  <a:pt x="2016177" y="281011"/>
                </a:cubicBezTo>
                <a:cubicBezTo>
                  <a:pt x="2035767" y="326722"/>
                  <a:pt x="2028724" y="296165"/>
                  <a:pt x="2046157" y="348466"/>
                </a:cubicBezTo>
                <a:cubicBezTo>
                  <a:pt x="2051909" y="365721"/>
                  <a:pt x="2055030" y="383803"/>
                  <a:pt x="2061147" y="400932"/>
                </a:cubicBezTo>
                <a:cubicBezTo>
                  <a:pt x="2067546" y="418851"/>
                  <a:pt x="2077232" y="435479"/>
                  <a:pt x="2083632" y="453398"/>
                </a:cubicBezTo>
                <a:cubicBezTo>
                  <a:pt x="2089749" y="470527"/>
                  <a:pt x="2093396" y="488442"/>
                  <a:pt x="2098623" y="505863"/>
                </a:cubicBezTo>
                <a:cubicBezTo>
                  <a:pt x="2127333" y="601557"/>
                  <a:pt x="2080788" y="437970"/>
                  <a:pt x="2113613" y="558329"/>
                </a:cubicBezTo>
                <a:cubicBezTo>
                  <a:pt x="2118399" y="575876"/>
                  <a:pt x="2123377" y="593373"/>
                  <a:pt x="2128603" y="610794"/>
                </a:cubicBezTo>
                <a:cubicBezTo>
                  <a:pt x="2130873" y="618361"/>
                  <a:pt x="2134322" y="625581"/>
                  <a:pt x="2136098" y="633279"/>
                </a:cubicBezTo>
                <a:cubicBezTo>
                  <a:pt x="2141827" y="658105"/>
                  <a:pt x="2146899" y="683098"/>
                  <a:pt x="2151088" y="708230"/>
                </a:cubicBezTo>
                <a:cubicBezTo>
                  <a:pt x="2165213" y="792980"/>
                  <a:pt x="2149997" y="742434"/>
                  <a:pt x="2166078" y="790676"/>
                </a:cubicBezTo>
                <a:cubicBezTo>
                  <a:pt x="2168576" y="810663"/>
                  <a:pt x="2170261" y="830769"/>
                  <a:pt x="2173573" y="850637"/>
                </a:cubicBezTo>
                <a:cubicBezTo>
                  <a:pt x="2189729" y="947566"/>
                  <a:pt x="2172110" y="784995"/>
                  <a:pt x="2188564" y="933083"/>
                </a:cubicBezTo>
                <a:cubicBezTo>
                  <a:pt x="2197084" y="1009766"/>
                  <a:pt x="2196824" y="1039704"/>
                  <a:pt x="2203554" y="1120460"/>
                </a:cubicBezTo>
                <a:cubicBezTo>
                  <a:pt x="2205639" y="1145482"/>
                  <a:pt x="2207731" y="1170523"/>
                  <a:pt x="2211049" y="1195411"/>
                </a:cubicBezTo>
                <a:cubicBezTo>
                  <a:pt x="2212733" y="1208038"/>
                  <a:pt x="2216265" y="1220352"/>
                  <a:pt x="2218544" y="1232886"/>
                </a:cubicBezTo>
                <a:cubicBezTo>
                  <a:pt x="2221263" y="1247838"/>
                  <a:pt x="2223541" y="1262867"/>
                  <a:pt x="2226039" y="1277857"/>
                </a:cubicBezTo>
                <a:cubicBezTo>
                  <a:pt x="2228537" y="1310336"/>
                  <a:pt x="2230585" y="1342852"/>
                  <a:pt x="2233534" y="1375293"/>
                </a:cubicBezTo>
                <a:cubicBezTo>
                  <a:pt x="2235582" y="1397823"/>
                  <a:pt x="2239225" y="1420197"/>
                  <a:pt x="2241029" y="1442748"/>
                </a:cubicBezTo>
                <a:cubicBezTo>
                  <a:pt x="2244223" y="1482672"/>
                  <a:pt x="2246026" y="1522696"/>
                  <a:pt x="2248524" y="1562670"/>
                </a:cubicBezTo>
                <a:cubicBezTo>
                  <a:pt x="2246026" y="1667601"/>
                  <a:pt x="2245224" y="1772586"/>
                  <a:pt x="2241029" y="1877463"/>
                </a:cubicBezTo>
                <a:cubicBezTo>
                  <a:pt x="2240224" y="1897589"/>
                  <a:pt x="2237137" y="1917606"/>
                  <a:pt x="2233534" y="1937424"/>
                </a:cubicBezTo>
                <a:cubicBezTo>
                  <a:pt x="2232121" y="1945197"/>
                  <a:pt x="2230974" y="1953740"/>
                  <a:pt x="2226039" y="1959909"/>
                </a:cubicBezTo>
                <a:cubicBezTo>
                  <a:pt x="2220412" y="1966943"/>
                  <a:pt x="2210474" y="1969132"/>
                  <a:pt x="2203554" y="1974899"/>
                </a:cubicBezTo>
                <a:cubicBezTo>
                  <a:pt x="2195411" y="1981685"/>
                  <a:pt x="2190272" y="1992125"/>
                  <a:pt x="2181069" y="1997384"/>
                </a:cubicBezTo>
                <a:cubicBezTo>
                  <a:pt x="2172125" y="2002495"/>
                  <a:pt x="2160993" y="2002049"/>
                  <a:pt x="2151088" y="2004879"/>
                </a:cubicBezTo>
                <a:cubicBezTo>
                  <a:pt x="2085517" y="2023614"/>
                  <a:pt x="2186713" y="2007905"/>
                  <a:pt x="2031167" y="2019870"/>
                </a:cubicBezTo>
                <a:cubicBezTo>
                  <a:pt x="2001483" y="2029765"/>
                  <a:pt x="2002590" y="2030694"/>
                  <a:pt x="1963711" y="2034860"/>
                </a:cubicBezTo>
                <a:cubicBezTo>
                  <a:pt x="1908834" y="2040740"/>
                  <a:pt x="1798819" y="2049850"/>
                  <a:pt x="1798819" y="2049850"/>
                </a:cubicBezTo>
                <a:cubicBezTo>
                  <a:pt x="1728865" y="2047352"/>
                  <a:pt x="1658819" y="2046721"/>
                  <a:pt x="1588957" y="2042355"/>
                </a:cubicBezTo>
                <a:cubicBezTo>
                  <a:pt x="1578676" y="2041712"/>
                  <a:pt x="1569253" y="2035569"/>
                  <a:pt x="1558977" y="2034860"/>
                </a:cubicBezTo>
                <a:cubicBezTo>
                  <a:pt x="1496616" y="2030559"/>
                  <a:pt x="1434059" y="2029863"/>
                  <a:pt x="1371600" y="2027365"/>
                </a:cubicBezTo>
                <a:lnTo>
                  <a:pt x="1311639" y="2019870"/>
                </a:lnTo>
                <a:cubicBezTo>
                  <a:pt x="1294128" y="2017535"/>
                  <a:pt x="1276794" y="2013634"/>
                  <a:pt x="1259173" y="2012375"/>
                </a:cubicBezTo>
                <a:cubicBezTo>
                  <a:pt x="1206782" y="2008633"/>
                  <a:pt x="1154225" y="2007714"/>
                  <a:pt x="1101777" y="2004879"/>
                </a:cubicBezTo>
                <a:lnTo>
                  <a:pt x="981855" y="1997384"/>
                </a:lnTo>
                <a:cubicBezTo>
                  <a:pt x="871525" y="1981623"/>
                  <a:pt x="992966" y="1997713"/>
                  <a:pt x="824459" y="1982394"/>
                </a:cubicBezTo>
                <a:cubicBezTo>
                  <a:pt x="559091" y="1958270"/>
                  <a:pt x="808706" y="1972095"/>
                  <a:pt x="479685" y="1959909"/>
                </a:cubicBezTo>
                <a:cubicBezTo>
                  <a:pt x="446928" y="1955230"/>
                  <a:pt x="399543" y="1948147"/>
                  <a:pt x="367259" y="1944919"/>
                </a:cubicBezTo>
                <a:cubicBezTo>
                  <a:pt x="337324" y="1941926"/>
                  <a:pt x="307298" y="1939922"/>
                  <a:pt x="277318" y="1937424"/>
                </a:cubicBezTo>
                <a:lnTo>
                  <a:pt x="209862" y="1914939"/>
                </a:lnTo>
                <a:lnTo>
                  <a:pt x="187377" y="1907443"/>
                </a:lnTo>
                <a:lnTo>
                  <a:pt x="164891" y="1899948"/>
                </a:lnTo>
                <a:cubicBezTo>
                  <a:pt x="149901" y="1889955"/>
                  <a:pt x="129914" y="1884958"/>
                  <a:pt x="119921" y="1869968"/>
                </a:cubicBezTo>
                <a:cubicBezTo>
                  <a:pt x="99934" y="1839988"/>
                  <a:pt x="112426" y="1852480"/>
                  <a:pt x="82446" y="1832493"/>
                </a:cubicBezTo>
                <a:cubicBezTo>
                  <a:pt x="69252" y="1792916"/>
                  <a:pt x="79333" y="1816581"/>
                  <a:pt x="44970" y="1765037"/>
                </a:cubicBezTo>
                <a:cubicBezTo>
                  <a:pt x="26060" y="1736672"/>
                  <a:pt x="36349" y="1748922"/>
                  <a:pt x="14990" y="1727561"/>
                </a:cubicBezTo>
                <a:cubicBezTo>
                  <a:pt x="-2940" y="1637912"/>
                  <a:pt x="2498" y="1608889"/>
                  <a:pt x="0" y="1585155"/>
                </a:cubicBezTo>
                <a:close/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8" name="手繪多邊形 47">
            <a:extLst>
              <a:ext uri="{FF2B5EF4-FFF2-40B4-BE49-F238E27FC236}">
                <a16:creationId xmlns:a16="http://schemas.microsoft.com/office/drawing/2014/main" id="{E4C262A8-7B71-BF69-E15C-7304361B9BA9}"/>
              </a:ext>
            </a:extLst>
          </p:cNvPr>
          <p:cNvSpPr/>
          <p:nvPr/>
        </p:nvSpPr>
        <p:spPr>
          <a:xfrm>
            <a:off x="4174761" y="1611443"/>
            <a:ext cx="4512039" cy="2278505"/>
          </a:xfrm>
          <a:custGeom>
            <a:avLst/>
            <a:gdLst>
              <a:gd name="connsiteX0" fmla="*/ 2578308 w 4512039"/>
              <a:gd name="connsiteY0" fmla="*/ 2098623 h 2278505"/>
              <a:gd name="connsiteX1" fmla="*/ 2578308 w 4512039"/>
              <a:gd name="connsiteY1" fmla="*/ 2098623 h 2278505"/>
              <a:gd name="connsiteX2" fmla="*/ 2503357 w 4512039"/>
              <a:gd name="connsiteY2" fmla="*/ 2121108 h 2278505"/>
              <a:gd name="connsiteX3" fmla="*/ 2420911 w 4512039"/>
              <a:gd name="connsiteY3" fmla="*/ 2128603 h 2278505"/>
              <a:gd name="connsiteX4" fmla="*/ 2173573 w 4512039"/>
              <a:gd name="connsiteY4" fmla="*/ 2143593 h 2278505"/>
              <a:gd name="connsiteX5" fmla="*/ 1558977 w 4512039"/>
              <a:gd name="connsiteY5" fmla="*/ 2136098 h 2278505"/>
              <a:gd name="connsiteX6" fmla="*/ 1206708 w 4512039"/>
              <a:gd name="connsiteY6" fmla="*/ 2121108 h 2278505"/>
              <a:gd name="connsiteX7" fmla="*/ 809469 w 4512039"/>
              <a:gd name="connsiteY7" fmla="*/ 2113613 h 2278505"/>
              <a:gd name="connsiteX8" fmla="*/ 517160 w 4512039"/>
              <a:gd name="connsiteY8" fmla="*/ 2091127 h 2278505"/>
              <a:gd name="connsiteX9" fmla="*/ 344773 w 4512039"/>
              <a:gd name="connsiteY9" fmla="*/ 2076137 h 2278505"/>
              <a:gd name="connsiteX10" fmla="*/ 262328 w 4512039"/>
              <a:gd name="connsiteY10" fmla="*/ 2061147 h 2278505"/>
              <a:gd name="connsiteX11" fmla="*/ 239842 w 4512039"/>
              <a:gd name="connsiteY11" fmla="*/ 2053652 h 2278505"/>
              <a:gd name="connsiteX12" fmla="*/ 164891 w 4512039"/>
              <a:gd name="connsiteY12" fmla="*/ 2038662 h 2278505"/>
              <a:gd name="connsiteX13" fmla="*/ 127416 w 4512039"/>
              <a:gd name="connsiteY13" fmla="*/ 2023672 h 2278505"/>
              <a:gd name="connsiteX14" fmla="*/ 82446 w 4512039"/>
              <a:gd name="connsiteY14" fmla="*/ 2008682 h 2278505"/>
              <a:gd name="connsiteX15" fmla="*/ 59960 w 4512039"/>
              <a:gd name="connsiteY15" fmla="*/ 1978701 h 2278505"/>
              <a:gd name="connsiteX16" fmla="*/ 44970 w 4512039"/>
              <a:gd name="connsiteY16" fmla="*/ 1948721 h 2278505"/>
              <a:gd name="connsiteX17" fmla="*/ 29980 w 4512039"/>
              <a:gd name="connsiteY17" fmla="*/ 1926236 h 2278505"/>
              <a:gd name="connsiteX18" fmla="*/ 14990 w 4512039"/>
              <a:gd name="connsiteY18" fmla="*/ 1881265 h 2278505"/>
              <a:gd name="connsiteX19" fmla="*/ 7495 w 4512039"/>
              <a:gd name="connsiteY19" fmla="*/ 1858780 h 2278505"/>
              <a:gd name="connsiteX20" fmla="*/ 0 w 4512039"/>
              <a:gd name="connsiteY20" fmla="*/ 1828800 h 2278505"/>
              <a:gd name="connsiteX21" fmla="*/ 7495 w 4512039"/>
              <a:gd name="connsiteY21" fmla="*/ 1626432 h 2278505"/>
              <a:gd name="connsiteX22" fmla="*/ 14990 w 4512039"/>
              <a:gd name="connsiteY22" fmla="*/ 1588957 h 2278505"/>
              <a:gd name="connsiteX23" fmla="*/ 22485 w 4512039"/>
              <a:gd name="connsiteY23" fmla="*/ 1521501 h 2278505"/>
              <a:gd name="connsiteX24" fmla="*/ 29980 w 4512039"/>
              <a:gd name="connsiteY24" fmla="*/ 1499016 h 2278505"/>
              <a:gd name="connsiteX25" fmla="*/ 67455 w 4512039"/>
              <a:gd name="connsiteY25" fmla="*/ 1401580 h 2278505"/>
              <a:gd name="connsiteX26" fmla="*/ 104931 w 4512039"/>
              <a:gd name="connsiteY26" fmla="*/ 1364105 h 2278505"/>
              <a:gd name="connsiteX27" fmla="*/ 149901 w 4512039"/>
              <a:gd name="connsiteY27" fmla="*/ 1356609 h 2278505"/>
              <a:gd name="connsiteX28" fmla="*/ 764498 w 4512039"/>
              <a:gd name="connsiteY28" fmla="*/ 1349114 h 2278505"/>
              <a:gd name="connsiteX29" fmla="*/ 876924 w 4512039"/>
              <a:gd name="connsiteY29" fmla="*/ 1341619 h 2278505"/>
              <a:gd name="connsiteX30" fmla="*/ 906905 w 4512039"/>
              <a:gd name="connsiteY30" fmla="*/ 1334124 h 2278505"/>
              <a:gd name="connsiteX31" fmla="*/ 989350 w 4512039"/>
              <a:gd name="connsiteY31" fmla="*/ 1326629 h 2278505"/>
              <a:gd name="connsiteX32" fmla="*/ 1056806 w 4512039"/>
              <a:gd name="connsiteY32" fmla="*/ 1319134 h 2278505"/>
              <a:gd name="connsiteX33" fmla="*/ 1191718 w 4512039"/>
              <a:gd name="connsiteY33" fmla="*/ 1304144 h 2278505"/>
              <a:gd name="connsiteX34" fmla="*/ 1221698 w 4512039"/>
              <a:gd name="connsiteY34" fmla="*/ 1296649 h 2278505"/>
              <a:gd name="connsiteX35" fmla="*/ 1341619 w 4512039"/>
              <a:gd name="connsiteY35" fmla="*/ 1281659 h 2278505"/>
              <a:gd name="connsiteX36" fmla="*/ 1716373 w 4512039"/>
              <a:gd name="connsiteY36" fmla="*/ 1259173 h 2278505"/>
              <a:gd name="connsiteX37" fmla="*/ 1866275 w 4512039"/>
              <a:gd name="connsiteY37" fmla="*/ 1251678 h 2278505"/>
              <a:gd name="connsiteX38" fmla="*/ 2016177 w 4512039"/>
              <a:gd name="connsiteY38" fmla="*/ 1236688 h 2278505"/>
              <a:gd name="connsiteX39" fmla="*/ 2218544 w 4512039"/>
              <a:gd name="connsiteY39" fmla="*/ 1229193 h 2278505"/>
              <a:gd name="connsiteX40" fmla="*/ 2300990 w 4512039"/>
              <a:gd name="connsiteY40" fmla="*/ 1221698 h 2278505"/>
              <a:gd name="connsiteX41" fmla="*/ 2488367 w 4512039"/>
              <a:gd name="connsiteY41" fmla="*/ 1214203 h 2278505"/>
              <a:gd name="connsiteX42" fmla="*/ 2533337 w 4512039"/>
              <a:gd name="connsiteY42" fmla="*/ 1206708 h 2278505"/>
              <a:gd name="connsiteX43" fmla="*/ 2578308 w 4512039"/>
              <a:gd name="connsiteY43" fmla="*/ 1191718 h 2278505"/>
              <a:gd name="connsiteX44" fmla="*/ 2623278 w 4512039"/>
              <a:gd name="connsiteY44" fmla="*/ 1131757 h 2278505"/>
              <a:gd name="connsiteX45" fmla="*/ 2653259 w 4512039"/>
              <a:gd name="connsiteY45" fmla="*/ 1026826 h 2278505"/>
              <a:gd name="connsiteX46" fmla="*/ 2660754 w 4512039"/>
              <a:gd name="connsiteY46" fmla="*/ 974360 h 2278505"/>
              <a:gd name="connsiteX47" fmla="*/ 2653259 w 4512039"/>
              <a:gd name="connsiteY47" fmla="*/ 929390 h 2278505"/>
              <a:gd name="connsiteX48" fmla="*/ 2645764 w 4512039"/>
              <a:gd name="connsiteY48" fmla="*/ 906905 h 2278505"/>
              <a:gd name="connsiteX49" fmla="*/ 2623278 w 4512039"/>
              <a:gd name="connsiteY49" fmla="*/ 899409 h 2278505"/>
              <a:gd name="connsiteX50" fmla="*/ 2623278 w 4512039"/>
              <a:gd name="connsiteY50" fmla="*/ 749508 h 2278505"/>
              <a:gd name="connsiteX51" fmla="*/ 2653259 w 4512039"/>
              <a:gd name="connsiteY51" fmla="*/ 629587 h 2278505"/>
              <a:gd name="connsiteX52" fmla="*/ 2668249 w 4512039"/>
              <a:gd name="connsiteY52" fmla="*/ 577121 h 2278505"/>
              <a:gd name="connsiteX53" fmla="*/ 2675744 w 4512039"/>
              <a:gd name="connsiteY53" fmla="*/ 547141 h 2278505"/>
              <a:gd name="connsiteX54" fmla="*/ 2705724 w 4512039"/>
              <a:gd name="connsiteY54" fmla="*/ 479685 h 2278505"/>
              <a:gd name="connsiteX55" fmla="*/ 2735705 w 4512039"/>
              <a:gd name="connsiteY55" fmla="*/ 382249 h 2278505"/>
              <a:gd name="connsiteX56" fmla="*/ 2758190 w 4512039"/>
              <a:gd name="connsiteY56" fmla="*/ 329783 h 2278505"/>
              <a:gd name="connsiteX57" fmla="*/ 2788170 w 4512039"/>
              <a:gd name="connsiteY57" fmla="*/ 284813 h 2278505"/>
              <a:gd name="connsiteX58" fmla="*/ 2825646 w 4512039"/>
              <a:gd name="connsiteY58" fmla="*/ 239842 h 2278505"/>
              <a:gd name="connsiteX59" fmla="*/ 2848131 w 4512039"/>
              <a:gd name="connsiteY59" fmla="*/ 232347 h 2278505"/>
              <a:gd name="connsiteX60" fmla="*/ 2923082 w 4512039"/>
              <a:gd name="connsiteY60" fmla="*/ 172387 h 2278505"/>
              <a:gd name="connsiteX61" fmla="*/ 2953062 w 4512039"/>
              <a:gd name="connsiteY61" fmla="*/ 149901 h 2278505"/>
              <a:gd name="connsiteX62" fmla="*/ 3005528 w 4512039"/>
              <a:gd name="connsiteY62" fmla="*/ 97436 h 2278505"/>
              <a:gd name="connsiteX63" fmla="*/ 3028013 w 4512039"/>
              <a:gd name="connsiteY63" fmla="*/ 82446 h 2278505"/>
              <a:gd name="connsiteX64" fmla="*/ 3043003 w 4512039"/>
              <a:gd name="connsiteY64" fmla="*/ 67455 h 2278505"/>
              <a:gd name="connsiteX65" fmla="*/ 3065488 w 4512039"/>
              <a:gd name="connsiteY65" fmla="*/ 59960 h 2278505"/>
              <a:gd name="connsiteX66" fmla="*/ 3087973 w 4512039"/>
              <a:gd name="connsiteY66" fmla="*/ 44970 h 2278505"/>
              <a:gd name="connsiteX67" fmla="*/ 3110459 w 4512039"/>
              <a:gd name="connsiteY67" fmla="*/ 37475 h 2278505"/>
              <a:gd name="connsiteX68" fmla="*/ 3140439 w 4512039"/>
              <a:gd name="connsiteY68" fmla="*/ 22485 h 2278505"/>
              <a:gd name="connsiteX69" fmla="*/ 3192905 w 4512039"/>
              <a:gd name="connsiteY69" fmla="*/ 7495 h 2278505"/>
              <a:gd name="connsiteX70" fmla="*/ 3260360 w 4512039"/>
              <a:gd name="connsiteY70" fmla="*/ 0 h 2278505"/>
              <a:gd name="connsiteX71" fmla="*/ 3717560 w 4512039"/>
              <a:gd name="connsiteY71" fmla="*/ 7495 h 2278505"/>
              <a:gd name="connsiteX72" fmla="*/ 3747541 w 4512039"/>
              <a:gd name="connsiteY72" fmla="*/ 14990 h 2278505"/>
              <a:gd name="connsiteX73" fmla="*/ 3822491 w 4512039"/>
              <a:gd name="connsiteY73" fmla="*/ 37475 h 2278505"/>
              <a:gd name="connsiteX74" fmla="*/ 3844977 w 4512039"/>
              <a:gd name="connsiteY74" fmla="*/ 52465 h 2278505"/>
              <a:gd name="connsiteX75" fmla="*/ 3874957 w 4512039"/>
              <a:gd name="connsiteY75" fmla="*/ 59960 h 2278505"/>
              <a:gd name="connsiteX76" fmla="*/ 3912432 w 4512039"/>
              <a:gd name="connsiteY76" fmla="*/ 89941 h 2278505"/>
              <a:gd name="connsiteX77" fmla="*/ 3987383 w 4512039"/>
              <a:gd name="connsiteY77" fmla="*/ 134911 h 2278505"/>
              <a:gd name="connsiteX78" fmla="*/ 4039849 w 4512039"/>
              <a:gd name="connsiteY78" fmla="*/ 179882 h 2278505"/>
              <a:gd name="connsiteX79" fmla="*/ 4069829 w 4512039"/>
              <a:gd name="connsiteY79" fmla="*/ 209862 h 2278505"/>
              <a:gd name="connsiteX80" fmla="*/ 4099809 w 4512039"/>
              <a:gd name="connsiteY80" fmla="*/ 232347 h 2278505"/>
              <a:gd name="connsiteX81" fmla="*/ 4122295 w 4512039"/>
              <a:gd name="connsiteY81" fmla="*/ 254832 h 2278505"/>
              <a:gd name="connsiteX82" fmla="*/ 4152275 w 4512039"/>
              <a:gd name="connsiteY82" fmla="*/ 277318 h 2278505"/>
              <a:gd name="connsiteX83" fmla="*/ 4167265 w 4512039"/>
              <a:gd name="connsiteY83" fmla="*/ 299803 h 2278505"/>
              <a:gd name="connsiteX84" fmla="*/ 4197246 w 4512039"/>
              <a:gd name="connsiteY84" fmla="*/ 329783 h 2278505"/>
              <a:gd name="connsiteX85" fmla="*/ 4249711 w 4512039"/>
              <a:gd name="connsiteY85" fmla="*/ 404734 h 2278505"/>
              <a:gd name="connsiteX86" fmla="*/ 4294682 w 4512039"/>
              <a:gd name="connsiteY86" fmla="*/ 464695 h 2278505"/>
              <a:gd name="connsiteX87" fmla="*/ 4332157 w 4512039"/>
              <a:gd name="connsiteY87" fmla="*/ 532150 h 2278505"/>
              <a:gd name="connsiteX88" fmla="*/ 4339652 w 4512039"/>
              <a:gd name="connsiteY88" fmla="*/ 554636 h 2278505"/>
              <a:gd name="connsiteX89" fmla="*/ 4384623 w 4512039"/>
              <a:gd name="connsiteY89" fmla="*/ 637082 h 2278505"/>
              <a:gd name="connsiteX90" fmla="*/ 4422098 w 4512039"/>
              <a:gd name="connsiteY90" fmla="*/ 704537 h 2278505"/>
              <a:gd name="connsiteX91" fmla="*/ 4429593 w 4512039"/>
              <a:gd name="connsiteY91" fmla="*/ 742013 h 2278505"/>
              <a:gd name="connsiteX92" fmla="*/ 4444583 w 4512039"/>
              <a:gd name="connsiteY92" fmla="*/ 771993 h 2278505"/>
              <a:gd name="connsiteX93" fmla="*/ 4452078 w 4512039"/>
              <a:gd name="connsiteY93" fmla="*/ 816964 h 2278505"/>
              <a:gd name="connsiteX94" fmla="*/ 4474564 w 4512039"/>
              <a:gd name="connsiteY94" fmla="*/ 891914 h 2278505"/>
              <a:gd name="connsiteX95" fmla="*/ 4482059 w 4512039"/>
              <a:gd name="connsiteY95" fmla="*/ 944380 h 2278505"/>
              <a:gd name="connsiteX96" fmla="*/ 4489554 w 4512039"/>
              <a:gd name="connsiteY96" fmla="*/ 981855 h 2278505"/>
              <a:gd name="connsiteX97" fmla="*/ 4497049 w 4512039"/>
              <a:gd name="connsiteY97" fmla="*/ 1086787 h 2278505"/>
              <a:gd name="connsiteX98" fmla="*/ 4504544 w 4512039"/>
              <a:gd name="connsiteY98" fmla="*/ 1214203 h 2278505"/>
              <a:gd name="connsiteX99" fmla="*/ 4512039 w 4512039"/>
              <a:gd name="connsiteY99" fmla="*/ 1326629 h 2278505"/>
              <a:gd name="connsiteX100" fmla="*/ 4504544 w 4512039"/>
              <a:gd name="connsiteY100" fmla="*/ 1588957 h 2278505"/>
              <a:gd name="connsiteX101" fmla="*/ 4497049 w 4512039"/>
              <a:gd name="connsiteY101" fmla="*/ 1618937 h 2278505"/>
              <a:gd name="connsiteX102" fmla="*/ 4489554 w 4512039"/>
              <a:gd name="connsiteY102" fmla="*/ 1671403 h 2278505"/>
              <a:gd name="connsiteX103" fmla="*/ 4474564 w 4512039"/>
              <a:gd name="connsiteY103" fmla="*/ 1723868 h 2278505"/>
              <a:gd name="connsiteX104" fmla="*/ 4459573 w 4512039"/>
              <a:gd name="connsiteY104" fmla="*/ 1753849 h 2278505"/>
              <a:gd name="connsiteX105" fmla="*/ 4437088 w 4512039"/>
              <a:gd name="connsiteY105" fmla="*/ 1828800 h 2278505"/>
              <a:gd name="connsiteX106" fmla="*/ 4407108 w 4512039"/>
              <a:gd name="connsiteY106" fmla="*/ 1866275 h 2278505"/>
              <a:gd name="connsiteX107" fmla="*/ 4392118 w 4512039"/>
              <a:gd name="connsiteY107" fmla="*/ 1903750 h 2278505"/>
              <a:gd name="connsiteX108" fmla="*/ 4332157 w 4512039"/>
              <a:gd name="connsiteY108" fmla="*/ 1986196 h 2278505"/>
              <a:gd name="connsiteX109" fmla="*/ 4317167 w 4512039"/>
              <a:gd name="connsiteY109" fmla="*/ 2008682 h 2278505"/>
              <a:gd name="connsiteX110" fmla="*/ 4294682 w 4512039"/>
              <a:gd name="connsiteY110" fmla="*/ 2031167 h 2278505"/>
              <a:gd name="connsiteX111" fmla="*/ 4279691 w 4512039"/>
              <a:gd name="connsiteY111" fmla="*/ 2053652 h 2278505"/>
              <a:gd name="connsiteX112" fmla="*/ 4227226 w 4512039"/>
              <a:gd name="connsiteY112" fmla="*/ 2106118 h 2278505"/>
              <a:gd name="connsiteX113" fmla="*/ 4197246 w 4512039"/>
              <a:gd name="connsiteY113" fmla="*/ 2136098 h 2278505"/>
              <a:gd name="connsiteX114" fmla="*/ 4122295 w 4512039"/>
              <a:gd name="connsiteY114" fmla="*/ 2188564 h 2278505"/>
              <a:gd name="connsiteX115" fmla="*/ 4092314 w 4512039"/>
              <a:gd name="connsiteY115" fmla="*/ 2203554 h 2278505"/>
              <a:gd name="connsiteX116" fmla="*/ 4047344 w 4512039"/>
              <a:gd name="connsiteY116" fmla="*/ 2218544 h 2278505"/>
              <a:gd name="connsiteX117" fmla="*/ 3987383 w 4512039"/>
              <a:gd name="connsiteY117" fmla="*/ 2241029 h 2278505"/>
              <a:gd name="connsiteX118" fmla="*/ 3949908 w 4512039"/>
              <a:gd name="connsiteY118" fmla="*/ 2248524 h 2278505"/>
              <a:gd name="connsiteX119" fmla="*/ 3919928 w 4512039"/>
              <a:gd name="connsiteY119" fmla="*/ 2256019 h 2278505"/>
              <a:gd name="connsiteX120" fmla="*/ 3762531 w 4512039"/>
              <a:gd name="connsiteY120" fmla="*/ 2271009 h 2278505"/>
              <a:gd name="connsiteX121" fmla="*/ 3627619 w 4512039"/>
              <a:gd name="connsiteY121" fmla="*/ 2278505 h 2278505"/>
              <a:gd name="connsiteX122" fmla="*/ 3267855 w 4512039"/>
              <a:gd name="connsiteY122" fmla="*/ 2263514 h 2278505"/>
              <a:gd name="connsiteX123" fmla="*/ 3222885 w 4512039"/>
              <a:gd name="connsiteY123" fmla="*/ 2256019 h 2278505"/>
              <a:gd name="connsiteX124" fmla="*/ 3155429 w 4512039"/>
              <a:gd name="connsiteY124" fmla="*/ 2248524 h 2278505"/>
              <a:gd name="connsiteX125" fmla="*/ 2990537 w 4512039"/>
              <a:gd name="connsiteY125" fmla="*/ 2226039 h 2278505"/>
              <a:gd name="connsiteX126" fmla="*/ 2810655 w 4512039"/>
              <a:gd name="connsiteY126" fmla="*/ 2203554 h 2278505"/>
              <a:gd name="connsiteX127" fmla="*/ 2690734 w 4512039"/>
              <a:gd name="connsiteY127" fmla="*/ 2188564 h 2278505"/>
              <a:gd name="connsiteX128" fmla="*/ 2630773 w 4512039"/>
              <a:gd name="connsiteY128" fmla="*/ 2158583 h 2278505"/>
              <a:gd name="connsiteX129" fmla="*/ 2608288 w 4512039"/>
              <a:gd name="connsiteY129" fmla="*/ 2151088 h 2278505"/>
              <a:gd name="connsiteX130" fmla="*/ 2585803 w 4512039"/>
              <a:gd name="connsiteY130" fmla="*/ 2143593 h 2278505"/>
              <a:gd name="connsiteX131" fmla="*/ 2578308 w 4512039"/>
              <a:gd name="connsiteY131" fmla="*/ 2098623 h 2278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</a:cxnLst>
            <a:rect l="l" t="t" r="r" b="b"/>
            <a:pathLst>
              <a:path w="4512039" h="2278505">
                <a:moveTo>
                  <a:pt x="2578308" y="2098623"/>
                </a:moveTo>
                <a:lnTo>
                  <a:pt x="2578308" y="2098623"/>
                </a:lnTo>
                <a:cubicBezTo>
                  <a:pt x="2553324" y="2106118"/>
                  <a:pt x="2528980" y="2116227"/>
                  <a:pt x="2503357" y="2121108"/>
                </a:cubicBezTo>
                <a:cubicBezTo>
                  <a:pt x="2476249" y="2126271"/>
                  <a:pt x="2448411" y="2126311"/>
                  <a:pt x="2420911" y="2128603"/>
                </a:cubicBezTo>
                <a:cubicBezTo>
                  <a:pt x="2301923" y="2138519"/>
                  <a:pt x="2312498" y="2136647"/>
                  <a:pt x="2173573" y="2143593"/>
                </a:cubicBezTo>
                <a:lnTo>
                  <a:pt x="1558977" y="2136098"/>
                </a:lnTo>
                <a:cubicBezTo>
                  <a:pt x="1441480" y="2133366"/>
                  <a:pt x="1324216" y="2123325"/>
                  <a:pt x="1206708" y="2121108"/>
                </a:cubicBezTo>
                <a:lnTo>
                  <a:pt x="809469" y="2113613"/>
                </a:lnTo>
                <a:cubicBezTo>
                  <a:pt x="567062" y="2096896"/>
                  <a:pt x="664375" y="2105850"/>
                  <a:pt x="517160" y="2091127"/>
                </a:cubicBezTo>
                <a:cubicBezTo>
                  <a:pt x="430615" y="2069491"/>
                  <a:pt x="545685" y="2096228"/>
                  <a:pt x="344773" y="2076137"/>
                </a:cubicBezTo>
                <a:cubicBezTo>
                  <a:pt x="316979" y="2073358"/>
                  <a:pt x="289640" y="2067000"/>
                  <a:pt x="262328" y="2061147"/>
                </a:cubicBezTo>
                <a:cubicBezTo>
                  <a:pt x="254603" y="2059492"/>
                  <a:pt x="247540" y="2055429"/>
                  <a:pt x="239842" y="2053652"/>
                </a:cubicBezTo>
                <a:cubicBezTo>
                  <a:pt x="215016" y="2047923"/>
                  <a:pt x="164891" y="2038662"/>
                  <a:pt x="164891" y="2038662"/>
                </a:cubicBezTo>
                <a:cubicBezTo>
                  <a:pt x="152399" y="2033665"/>
                  <a:pt x="140060" y="2028270"/>
                  <a:pt x="127416" y="2023672"/>
                </a:cubicBezTo>
                <a:cubicBezTo>
                  <a:pt x="112566" y="2018272"/>
                  <a:pt x="82446" y="2008682"/>
                  <a:pt x="82446" y="2008682"/>
                </a:cubicBezTo>
                <a:cubicBezTo>
                  <a:pt x="74951" y="1998688"/>
                  <a:pt x="66581" y="1989294"/>
                  <a:pt x="59960" y="1978701"/>
                </a:cubicBezTo>
                <a:cubicBezTo>
                  <a:pt x="54038" y="1969226"/>
                  <a:pt x="50513" y="1958422"/>
                  <a:pt x="44970" y="1948721"/>
                </a:cubicBezTo>
                <a:cubicBezTo>
                  <a:pt x="40501" y="1940900"/>
                  <a:pt x="34977" y="1933731"/>
                  <a:pt x="29980" y="1926236"/>
                </a:cubicBezTo>
                <a:lnTo>
                  <a:pt x="14990" y="1881265"/>
                </a:lnTo>
                <a:cubicBezTo>
                  <a:pt x="12492" y="1873770"/>
                  <a:pt x="9411" y="1866445"/>
                  <a:pt x="7495" y="1858780"/>
                </a:cubicBezTo>
                <a:lnTo>
                  <a:pt x="0" y="1828800"/>
                </a:lnTo>
                <a:cubicBezTo>
                  <a:pt x="2498" y="1761344"/>
                  <a:pt x="3284" y="1693803"/>
                  <a:pt x="7495" y="1626432"/>
                </a:cubicBezTo>
                <a:cubicBezTo>
                  <a:pt x="8290" y="1613718"/>
                  <a:pt x="13188" y="1601568"/>
                  <a:pt x="14990" y="1588957"/>
                </a:cubicBezTo>
                <a:cubicBezTo>
                  <a:pt x="18189" y="1566561"/>
                  <a:pt x="18766" y="1543817"/>
                  <a:pt x="22485" y="1521501"/>
                </a:cubicBezTo>
                <a:cubicBezTo>
                  <a:pt x="23784" y="1513708"/>
                  <a:pt x="27810" y="1506612"/>
                  <a:pt x="29980" y="1499016"/>
                </a:cubicBezTo>
                <a:cubicBezTo>
                  <a:pt x="39563" y="1465477"/>
                  <a:pt x="43606" y="1428835"/>
                  <a:pt x="67455" y="1401580"/>
                </a:cubicBezTo>
                <a:cubicBezTo>
                  <a:pt x="79088" y="1388285"/>
                  <a:pt x="87505" y="1367010"/>
                  <a:pt x="104931" y="1364105"/>
                </a:cubicBezTo>
                <a:cubicBezTo>
                  <a:pt x="119921" y="1361606"/>
                  <a:pt x="134708" y="1356954"/>
                  <a:pt x="149901" y="1356609"/>
                </a:cubicBezTo>
                <a:cubicBezTo>
                  <a:pt x="354729" y="1351954"/>
                  <a:pt x="559632" y="1351612"/>
                  <a:pt x="764498" y="1349114"/>
                </a:cubicBezTo>
                <a:cubicBezTo>
                  <a:pt x="801973" y="1346616"/>
                  <a:pt x="839572" y="1345551"/>
                  <a:pt x="876924" y="1341619"/>
                </a:cubicBezTo>
                <a:cubicBezTo>
                  <a:pt x="887169" y="1340541"/>
                  <a:pt x="896694" y="1335485"/>
                  <a:pt x="906905" y="1334124"/>
                </a:cubicBezTo>
                <a:cubicBezTo>
                  <a:pt x="934258" y="1330477"/>
                  <a:pt x="961892" y="1329375"/>
                  <a:pt x="989350" y="1326629"/>
                </a:cubicBezTo>
                <a:cubicBezTo>
                  <a:pt x="1011861" y="1324378"/>
                  <a:pt x="1034321" y="1321632"/>
                  <a:pt x="1056806" y="1319134"/>
                </a:cubicBezTo>
                <a:cubicBezTo>
                  <a:pt x="1130476" y="1300717"/>
                  <a:pt x="1043594" y="1320602"/>
                  <a:pt x="1191718" y="1304144"/>
                </a:cubicBezTo>
                <a:cubicBezTo>
                  <a:pt x="1201956" y="1303006"/>
                  <a:pt x="1211563" y="1298492"/>
                  <a:pt x="1221698" y="1296649"/>
                </a:cubicBezTo>
                <a:cubicBezTo>
                  <a:pt x="1250354" y="1291439"/>
                  <a:pt x="1315778" y="1284082"/>
                  <a:pt x="1341619" y="1281659"/>
                </a:cubicBezTo>
                <a:cubicBezTo>
                  <a:pt x="1573400" y="1259929"/>
                  <a:pt x="1465558" y="1269846"/>
                  <a:pt x="1716373" y="1259173"/>
                </a:cubicBezTo>
                <a:cubicBezTo>
                  <a:pt x="1766358" y="1257046"/>
                  <a:pt x="1816385" y="1255420"/>
                  <a:pt x="1866275" y="1251678"/>
                </a:cubicBezTo>
                <a:cubicBezTo>
                  <a:pt x="1916351" y="1247922"/>
                  <a:pt x="1965995" y="1238547"/>
                  <a:pt x="2016177" y="1236688"/>
                </a:cubicBezTo>
                <a:lnTo>
                  <a:pt x="2218544" y="1229193"/>
                </a:lnTo>
                <a:cubicBezTo>
                  <a:pt x="2246026" y="1226695"/>
                  <a:pt x="2273437" y="1223229"/>
                  <a:pt x="2300990" y="1221698"/>
                </a:cubicBezTo>
                <a:cubicBezTo>
                  <a:pt x="2363403" y="1218231"/>
                  <a:pt x="2425988" y="1218227"/>
                  <a:pt x="2488367" y="1214203"/>
                </a:cubicBezTo>
                <a:cubicBezTo>
                  <a:pt x="2503532" y="1213225"/>
                  <a:pt x="2518594" y="1210394"/>
                  <a:pt x="2533337" y="1206708"/>
                </a:cubicBezTo>
                <a:cubicBezTo>
                  <a:pt x="2548666" y="1202876"/>
                  <a:pt x="2578308" y="1191718"/>
                  <a:pt x="2578308" y="1191718"/>
                </a:cubicBezTo>
                <a:cubicBezTo>
                  <a:pt x="2596064" y="1173961"/>
                  <a:pt x="2614803" y="1157180"/>
                  <a:pt x="2623278" y="1131757"/>
                </a:cubicBezTo>
                <a:cubicBezTo>
                  <a:pt x="2633958" y="1099719"/>
                  <a:pt x="2648553" y="1059772"/>
                  <a:pt x="2653259" y="1026826"/>
                </a:cubicBezTo>
                <a:lnTo>
                  <a:pt x="2660754" y="974360"/>
                </a:lnTo>
                <a:cubicBezTo>
                  <a:pt x="2658256" y="959370"/>
                  <a:pt x="2656556" y="944225"/>
                  <a:pt x="2653259" y="929390"/>
                </a:cubicBezTo>
                <a:cubicBezTo>
                  <a:pt x="2651545" y="921678"/>
                  <a:pt x="2651350" y="912491"/>
                  <a:pt x="2645764" y="906905"/>
                </a:cubicBezTo>
                <a:cubicBezTo>
                  <a:pt x="2640177" y="901318"/>
                  <a:pt x="2630773" y="901908"/>
                  <a:pt x="2623278" y="899409"/>
                </a:cubicBezTo>
                <a:cubicBezTo>
                  <a:pt x="2602822" y="838040"/>
                  <a:pt x="2612666" y="876852"/>
                  <a:pt x="2623278" y="749508"/>
                </a:cubicBezTo>
                <a:cubicBezTo>
                  <a:pt x="2629962" y="669301"/>
                  <a:pt x="2630771" y="719540"/>
                  <a:pt x="2653259" y="629587"/>
                </a:cubicBezTo>
                <a:cubicBezTo>
                  <a:pt x="2676686" y="535874"/>
                  <a:pt x="2646747" y="652379"/>
                  <a:pt x="2668249" y="577121"/>
                </a:cubicBezTo>
                <a:cubicBezTo>
                  <a:pt x="2671079" y="567216"/>
                  <a:pt x="2672487" y="556913"/>
                  <a:pt x="2675744" y="547141"/>
                </a:cubicBezTo>
                <a:cubicBezTo>
                  <a:pt x="2685315" y="518429"/>
                  <a:pt x="2692663" y="505806"/>
                  <a:pt x="2705724" y="479685"/>
                </a:cubicBezTo>
                <a:cubicBezTo>
                  <a:pt x="2722481" y="395901"/>
                  <a:pt x="2706580" y="425933"/>
                  <a:pt x="2735705" y="382249"/>
                </a:cubicBezTo>
                <a:cubicBezTo>
                  <a:pt x="2743458" y="358989"/>
                  <a:pt x="2744298" y="352936"/>
                  <a:pt x="2758190" y="329783"/>
                </a:cubicBezTo>
                <a:cubicBezTo>
                  <a:pt x="2767459" y="314335"/>
                  <a:pt x="2778177" y="299803"/>
                  <a:pt x="2788170" y="284813"/>
                </a:cubicBezTo>
                <a:cubicBezTo>
                  <a:pt x="2799233" y="268219"/>
                  <a:pt x="2808330" y="251386"/>
                  <a:pt x="2825646" y="239842"/>
                </a:cubicBezTo>
                <a:cubicBezTo>
                  <a:pt x="2832220" y="235460"/>
                  <a:pt x="2840636" y="234845"/>
                  <a:pt x="2848131" y="232347"/>
                </a:cubicBezTo>
                <a:lnTo>
                  <a:pt x="2923082" y="172387"/>
                </a:lnTo>
                <a:cubicBezTo>
                  <a:pt x="2932905" y="164669"/>
                  <a:pt x="2944229" y="158734"/>
                  <a:pt x="2953062" y="149901"/>
                </a:cubicBezTo>
                <a:cubicBezTo>
                  <a:pt x="2970551" y="132413"/>
                  <a:pt x="2984949" y="111155"/>
                  <a:pt x="3005528" y="97436"/>
                </a:cubicBezTo>
                <a:cubicBezTo>
                  <a:pt x="3013023" y="92439"/>
                  <a:pt x="3020979" y="88073"/>
                  <a:pt x="3028013" y="82446"/>
                </a:cubicBezTo>
                <a:cubicBezTo>
                  <a:pt x="3033531" y="78031"/>
                  <a:pt x="3036944" y="71091"/>
                  <a:pt x="3043003" y="67455"/>
                </a:cubicBezTo>
                <a:cubicBezTo>
                  <a:pt x="3049777" y="63390"/>
                  <a:pt x="3058422" y="63493"/>
                  <a:pt x="3065488" y="59960"/>
                </a:cubicBezTo>
                <a:cubicBezTo>
                  <a:pt x="3073545" y="55932"/>
                  <a:pt x="3079916" y="48998"/>
                  <a:pt x="3087973" y="44970"/>
                </a:cubicBezTo>
                <a:cubicBezTo>
                  <a:pt x="3095040" y="41437"/>
                  <a:pt x="3103197" y="40587"/>
                  <a:pt x="3110459" y="37475"/>
                </a:cubicBezTo>
                <a:cubicBezTo>
                  <a:pt x="3120729" y="33074"/>
                  <a:pt x="3130169" y="26886"/>
                  <a:pt x="3140439" y="22485"/>
                </a:cubicBezTo>
                <a:cubicBezTo>
                  <a:pt x="3151410" y="17783"/>
                  <a:pt x="3183015" y="9017"/>
                  <a:pt x="3192905" y="7495"/>
                </a:cubicBezTo>
                <a:cubicBezTo>
                  <a:pt x="3215265" y="4055"/>
                  <a:pt x="3237875" y="2498"/>
                  <a:pt x="3260360" y="0"/>
                </a:cubicBezTo>
                <a:lnTo>
                  <a:pt x="3717560" y="7495"/>
                </a:lnTo>
                <a:cubicBezTo>
                  <a:pt x="3727856" y="7812"/>
                  <a:pt x="3737674" y="12030"/>
                  <a:pt x="3747541" y="14990"/>
                </a:cubicBezTo>
                <a:cubicBezTo>
                  <a:pt x="3838785" y="42363"/>
                  <a:pt x="3753385" y="20199"/>
                  <a:pt x="3822491" y="37475"/>
                </a:cubicBezTo>
                <a:cubicBezTo>
                  <a:pt x="3829986" y="42472"/>
                  <a:pt x="3836697" y="48917"/>
                  <a:pt x="3844977" y="52465"/>
                </a:cubicBezTo>
                <a:cubicBezTo>
                  <a:pt x="3854445" y="56523"/>
                  <a:pt x="3865952" y="54957"/>
                  <a:pt x="3874957" y="59960"/>
                </a:cubicBezTo>
                <a:cubicBezTo>
                  <a:pt x="3888941" y="67729"/>
                  <a:pt x="3899121" y="81067"/>
                  <a:pt x="3912432" y="89941"/>
                </a:cubicBezTo>
                <a:cubicBezTo>
                  <a:pt x="3947925" y="113603"/>
                  <a:pt x="3950212" y="97741"/>
                  <a:pt x="3987383" y="134911"/>
                </a:cubicBezTo>
                <a:cubicBezTo>
                  <a:pt x="4051348" y="198873"/>
                  <a:pt x="3962916" y="112564"/>
                  <a:pt x="4039849" y="179882"/>
                </a:cubicBezTo>
                <a:cubicBezTo>
                  <a:pt x="4050485" y="189189"/>
                  <a:pt x="4059193" y="200556"/>
                  <a:pt x="4069829" y="209862"/>
                </a:cubicBezTo>
                <a:cubicBezTo>
                  <a:pt x="4079230" y="218088"/>
                  <a:pt x="4090325" y="224218"/>
                  <a:pt x="4099809" y="232347"/>
                </a:cubicBezTo>
                <a:cubicBezTo>
                  <a:pt x="4107857" y="239245"/>
                  <a:pt x="4114247" y="247934"/>
                  <a:pt x="4122295" y="254832"/>
                </a:cubicBezTo>
                <a:cubicBezTo>
                  <a:pt x="4131780" y="262962"/>
                  <a:pt x="4143442" y="268485"/>
                  <a:pt x="4152275" y="277318"/>
                </a:cubicBezTo>
                <a:cubicBezTo>
                  <a:pt x="4158644" y="283688"/>
                  <a:pt x="4161403" y="292964"/>
                  <a:pt x="4167265" y="299803"/>
                </a:cubicBezTo>
                <a:cubicBezTo>
                  <a:pt x="4176463" y="310533"/>
                  <a:pt x="4187939" y="319147"/>
                  <a:pt x="4197246" y="329783"/>
                </a:cubicBezTo>
                <a:cubicBezTo>
                  <a:pt x="4231052" y="368418"/>
                  <a:pt x="4212064" y="357675"/>
                  <a:pt x="4249711" y="404734"/>
                </a:cubicBezTo>
                <a:cubicBezTo>
                  <a:pt x="4285318" y="449243"/>
                  <a:pt x="4270817" y="428899"/>
                  <a:pt x="4294682" y="464695"/>
                </a:cubicBezTo>
                <a:cubicBezTo>
                  <a:pt x="4309477" y="523874"/>
                  <a:pt x="4290431" y="465387"/>
                  <a:pt x="4332157" y="532150"/>
                </a:cubicBezTo>
                <a:cubicBezTo>
                  <a:pt x="4336344" y="538850"/>
                  <a:pt x="4336383" y="547443"/>
                  <a:pt x="4339652" y="554636"/>
                </a:cubicBezTo>
                <a:cubicBezTo>
                  <a:pt x="4363943" y="608078"/>
                  <a:pt x="4361154" y="601879"/>
                  <a:pt x="4384623" y="637082"/>
                </a:cubicBezTo>
                <a:cubicBezTo>
                  <a:pt x="4402965" y="692108"/>
                  <a:pt x="4388440" y="670879"/>
                  <a:pt x="4422098" y="704537"/>
                </a:cubicBezTo>
                <a:cubicBezTo>
                  <a:pt x="4424596" y="717029"/>
                  <a:pt x="4425565" y="729927"/>
                  <a:pt x="4429593" y="742013"/>
                </a:cubicBezTo>
                <a:cubicBezTo>
                  <a:pt x="4433126" y="752613"/>
                  <a:pt x="4441373" y="761291"/>
                  <a:pt x="4444583" y="771993"/>
                </a:cubicBezTo>
                <a:cubicBezTo>
                  <a:pt x="4448950" y="786549"/>
                  <a:pt x="4448661" y="802156"/>
                  <a:pt x="4452078" y="816964"/>
                </a:cubicBezTo>
                <a:cubicBezTo>
                  <a:pt x="4458511" y="844841"/>
                  <a:pt x="4465977" y="866154"/>
                  <a:pt x="4474564" y="891914"/>
                </a:cubicBezTo>
                <a:cubicBezTo>
                  <a:pt x="4477062" y="909403"/>
                  <a:pt x="4479155" y="926954"/>
                  <a:pt x="4482059" y="944380"/>
                </a:cubicBezTo>
                <a:cubicBezTo>
                  <a:pt x="4484153" y="956946"/>
                  <a:pt x="4488220" y="969186"/>
                  <a:pt x="4489554" y="981855"/>
                </a:cubicBezTo>
                <a:cubicBezTo>
                  <a:pt x="4493225" y="1016729"/>
                  <a:pt x="4494791" y="1051793"/>
                  <a:pt x="4497049" y="1086787"/>
                </a:cubicBezTo>
                <a:cubicBezTo>
                  <a:pt x="4499788" y="1129244"/>
                  <a:pt x="4501890" y="1171740"/>
                  <a:pt x="4504544" y="1214203"/>
                </a:cubicBezTo>
                <a:cubicBezTo>
                  <a:pt x="4506887" y="1251688"/>
                  <a:pt x="4509541" y="1289154"/>
                  <a:pt x="4512039" y="1326629"/>
                </a:cubicBezTo>
                <a:cubicBezTo>
                  <a:pt x="4509541" y="1414072"/>
                  <a:pt x="4509024" y="1501593"/>
                  <a:pt x="4504544" y="1588957"/>
                </a:cubicBezTo>
                <a:cubicBezTo>
                  <a:pt x="4504016" y="1599244"/>
                  <a:pt x="4498892" y="1608802"/>
                  <a:pt x="4497049" y="1618937"/>
                </a:cubicBezTo>
                <a:cubicBezTo>
                  <a:pt x="4493889" y="1636318"/>
                  <a:pt x="4492714" y="1654022"/>
                  <a:pt x="4489554" y="1671403"/>
                </a:cubicBezTo>
                <a:cubicBezTo>
                  <a:pt x="4487552" y="1682412"/>
                  <a:pt x="4479634" y="1712039"/>
                  <a:pt x="4474564" y="1723868"/>
                </a:cubicBezTo>
                <a:cubicBezTo>
                  <a:pt x="4470163" y="1734138"/>
                  <a:pt x="4464570" y="1743855"/>
                  <a:pt x="4459573" y="1753849"/>
                </a:cubicBezTo>
                <a:cubicBezTo>
                  <a:pt x="4454651" y="1773536"/>
                  <a:pt x="4445509" y="1813361"/>
                  <a:pt x="4437088" y="1828800"/>
                </a:cubicBezTo>
                <a:cubicBezTo>
                  <a:pt x="4429428" y="1842844"/>
                  <a:pt x="4415338" y="1852558"/>
                  <a:pt x="4407108" y="1866275"/>
                </a:cubicBezTo>
                <a:cubicBezTo>
                  <a:pt x="4400186" y="1877812"/>
                  <a:pt x="4398135" y="1891716"/>
                  <a:pt x="4392118" y="1903750"/>
                </a:cubicBezTo>
                <a:cubicBezTo>
                  <a:pt x="4370578" y="1946829"/>
                  <a:pt x="4364244" y="1944940"/>
                  <a:pt x="4332157" y="1986196"/>
                </a:cubicBezTo>
                <a:cubicBezTo>
                  <a:pt x="4326627" y="1993307"/>
                  <a:pt x="4322934" y="2001762"/>
                  <a:pt x="4317167" y="2008682"/>
                </a:cubicBezTo>
                <a:cubicBezTo>
                  <a:pt x="4310381" y="2016825"/>
                  <a:pt x="4301468" y="2023024"/>
                  <a:pt x="4294682" y="2031167"/>
                </a:cubicBezTo>
                <a:cubicBezTo>
                  <a:pt x="4288915" y="2038087"/>
                  <a:pt x="4285717" y="2046956"/>
                  <a:pt x="4279691" y="2053652"/>
                </a:cubicBezTo>
                <a:cubicBezTo>
                  <a:pt x="4263146" y="2072035"/>
                  <a:pt x="4244714" y="2088629"/>
                  <a:pt x="4227226" y="2106118"/>
                </a:cubicBezTo>
                <a:cubicBezTo>
                  <a:pt x="4217233" y="2116111"/>
                  <a:pt x="4208552" y="2127619"/>
                  <a:pt x="4197246" y="2136098"/>
                </a:cubicBezTo>
                <a:cubicBezTo>
                  <a:pt x="4178451" y="2150194"/>
                  <a:pt x="4140740" y="2179342"/>
                  <a:pt x="4122295" y="2188564"/>
                </a:cubicBezTo>
                <a:cubicBezTo>
                  <a:pt x="4112301" y="2193561"/>
                  <a:pt x="4102688" y="2199404"/>
                  <a:pt x="4092314" y="2203554"/>
                </a:cubicBezTo>
                <a:cubicBezTo>
                  <a:pt x="4077643" y="2209422"/>
                  <a:pt x="4062015" y="2212676"/>
                  <a:pt x="4047344" y="2218544"/>
                </a:cubicBezTo>
                <a:cubicBezTo>
                  <a:pt x="4035876" y="2223131"/>
                  <a:pt x="4003053" y="2237112"/>
                  <a:pt x="3987383" y="2241029"/>
                </a:cubicBezTo>
                <a:cubicBezTo>
                  <a:pt x="3975024" y="2244119"/>
                  <a:pt x="3962344" y="2245761"/>
                  <a:pt x="3949908" y="2248524"/>
                </a:cubicBezTo>
                <a:cubicBezTo>
                  <a:pt x="3939852" y="2250759"/>
                  <a:pt x="3930063" y="2254176"/>
                  <a:pt x="3919928" y="2256019"/>
                </a:cubicBezTo>
                <a:cubicBezTo>
                  <a:pt x="3865835" y="2265854"/>
                  <a:pt x="3819409" y="2267454"/>
                  <a:pt x="3762531" y="2271009"/>
                </a:cubicBezTo>
                <a:lnTo>
                  <a:pt x="3627619" y="2278505"/>
                </a:lnTo>
                <a:cubicBezTo>
                  <a:pt x="3559752" y="2276164"/>
                  <a:pt x="3353488" y="2270365"/>
                  <a:pt x="3267855" y="2263514"/>
                </a:cubicBezTo>
                <a:cubicBezTo>
                  <a:pt x="3252707" y="2262302"/>
                  <a:pt x="3237948" y="2258027"/>
                  <a:pt x="3222885" y="2256019"/>
                </a:cubicBezTo>
                <a:cubicBezTo>
                  <a:pt x="3200460" y="2253029"/>
                  <a:pt x="3177914" y="2251022"/>
                  <a:pt x="3155429" y="2248524"/>
                </a:cubicBezTo>
                <a:cubicBezTo>
                  <a:pt x="3054428" y="2223274"/>
                  <a:pt x="3127969" y="2237989"/>
                  <a:pt x="2990537" y="2226039"/>
                </a:cubicBezTo>
                <a:cubicBezTo>
                  <a:pt x="2930266" y="2220798"/>
                  <a:pt x="2870751" y="2210231"/>
                  <a:pt x="2810655" y="2203554"/>
                </a:cubicBezTo>
                <a:cubicBezTo>
                  <a:pt x="2702569" y="2191545"/>
                  <a:pt x="2771375" y="2202004"/>
                  <a:pt x="2690734" y="2188564"/>
                </a:cubicBezTo>
                <a:cubicBezTo>
                  <a:pt x="2664571" y="2162399"/>
                  <a:pt x="2682448" y="2175808"/>
                  <a:pt x="2630773" y="2158583"/>
                </a:cubicBezTo>
                <a:lnTo>
                  <a:pt x="2608288" y="2151088"/>
                </a:lnTo>
                <a:cubicBezTo>
                  <a:pt x="2600793" y="2148590"/>
                  <a:pt x="2593703" y="2143593"/>
                  <a:pt x="2585803" y="2143593"/>
                </a:cubicBezTo>
                <a:lnTo>
                  <a:pt x="2578308" y="2098623"/>
                </a:lnTo>
                <a:close/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51" name="直線接點 50">
            <a:extLst>
              <a:ext uri="{FF2B5EF4-FFF2-40B4-BE49-F238E27FC236}">
                <a16:creationId xmlns:a16="http://schemas.microsoft.com/office/drawing/2014/main" id="{86408ABF-C40B-31FD-041A-32F922C9B919}"/>
              </a:ext>
            </a:extLst>
          </p:cNvPr>
          <p:cNvCxnSpPr/>
          <p:nvPr/>
        </p:nvCxnSpPr>
        <p:spPr>
          <a:xfrm>
            <a:off x="7866736" y="6131531"/>
            <a:ext cx="3346704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6317C4D0-551E-C5FC-548D-734D91A6876F}"/>
              </a:ext>
            </a:extLst>
          </p:cNvPr>
          <p:cNvSpPr txBox="1"/>
          <p:nvPr/>
        </p:nvSpPr>
        <p:spPr>
          <a:xfrm>
            <a:off x="8918296" y="6136457"/>
            <a:ext cx="12435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FF0000"/>
                </a:solidFill>
              </a:rPr>
              <a:t>(small)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70571448-4EB6-D4D2-4EE7-90C119D280CA}"/>
              </a:ext>
            </a:extLst>
          </p:cNvPr>
          <p:cNvGrpSpPr/>
          <p:nvPr/>
        </p:nvGrpSpPr>
        <p:grpSpPr>
          <a:xfrm>
            <a:off x="9074063" y="830059"/>
            <a:ext cx="2758259" cy="3831722"/>
            <a:chOff x="7322626" y="1829776"/>
            <a:chExt cx="3317876" cy="4569386"/>
          </a:xfrm>
        </p:grpSpPr>
        <p:grpSp>
          <p:nvGrpSpPr>
            <p:cNvPr id="3" name="群組 2">
              <a:extLst>
                <a:ext uri="{FF2B5EF4-FFF2-40B4-BE49-F238E27FC236}">
                  <a16:creationId xmlns:a16="http://schemas.microsoft.com/office/drawing/2014/main" id="{A4089874-23FA-E65A-4533-EA1AC293BDB3}"/>
                </a:ext>
              </a:extLst>
            </p:cNvPr>
            <p:cNvGrpSpPr/>
            <p:nvPr/>
          </p:nvGrpSpPr>
          <p:grpSpPr>
            <a:xfrm>
              <a:off x="7322626" y="5908968"/>
              <a:ext cx="895546" cy="490194"/>
              <a:chOff x="7654565" y="5128181"/>
              <a:chExt cx="895546" cy="490194"/>
            </a:xfrm>
          </p:grpSpPr>
          <p:sp>
            <p:nvSpPr>
              <p:cNvPr id="15" name="圓角矩形 14">
                <a:extLst>
                  <a:ext uri="{FF2B5EF4-FFF2-40B4-BE49-F238E27FC236}">
                    <a16:creationId xmlns:a16="http://schemas.microsoft.com/office/drawing/2014/main" id="{248A531F-E4B2-4382-0448-4A663E6430FF}"/>
                  </a:ext>
                </a:extLst>
              </p:cNvPr>
              <p:cNvSpPr/>
              <p:nvPr/>
            </p:nvSpPr>
            <p:spPr>
              <a:xfrm>
                <a:off x="7654565" y="5128181"/>
                <a:ext cx="895546" cy="49019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文字方塊 15">
                    <a:extLst>
                      <a:ext uri="{FF2B5EF4-FFF2-40B4-BE49-F238E27FC236}">
                        <a16:creationId xmlns:a16="http://schemas.microsoft.com/office/drawing/2014/main" id="{875987AE-E79B-378D-3D97-22DDDD0470B2}"/>
                      </a:ext>
                    </a:extLst>
                  </p:cNvPr>
                  <p:cNvSpPr txBox="1"/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000" i="1" smtClean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0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zh-TW" altLang="en-US" sz="2000" i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000" dirty="0"/>
                  </a:p>
                </p:txBody>
              </p:sp>
            </mc:Choice>
            <mc:Fallback xmlns="">
              <p:sp>
                <p:nvSpPr>
                  <p:cNvPr id="10" name="文字方塊 9">
                    <a:extLst>
                      <a:ext uri="{FF2B5EF4-FFF2-40B4-BE49-F238E27FC236}">
                        <a16:creationId xmlns:a16="http://schemas.microsoft.com/office/drawing/2014/main" id="{437BF961-E223-7FF5-8AE5-8E8E1FB67BF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群組 18">
              <a:extLst>
                <a:ext uri="{FF2B5EF4-FFF2-40B4-BE49-F238E27FC236}">
                  <a16:creationId xmlns:a16="http://schemas.microsoft.com/office/drawing/2014/main" id="{5E085CFE-EAE6-6726-8A79-587B4994E3B4}"/>
                </a:ext>
              </a:extLst>
            </p:cNvPr>
            <p:cNvGrpSpPr/>
            <p:nvPr/>
          </p:nvGrpSpPr>
          <p:grpSpPr>
            <a:xfrm>
              <a:off x="9744956" y="5908968"/>
              <a:ext cx="895546" cy="490194"/>
              <a:chOff x="7654565" y="5128181"/>
              <a:chExt cx="895546" cy="490194"/>
            </a:xfrm>
          </p:grpSpPr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EE6A7867-7ADA-FC34-EEB4-784E46FEB86C}"/>
                  </a:ext>
                </a:extLst>
              </p:cNvPr>
              <p:cNvSpPr/>
              <p:nvPr/>
            </p:nvSpPr>
            <p:spPr>
              <a:xfrm>
                <a:off x="7654565" y="5128181"/>
                <a:ext cx="895546" cy="49019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文字方塊 24">
                    <a:extLst>
                      <a:ext uri="{FF2B5EF4-FFF2-40B4-BE49-F238E27FC236}">
                        <a16:creationId xmlns:a16="http://schemas.microsoft.com/office/drawing/2014/main" id="{2E6E0BF3-C665-4CF6-4D45-C31EF78A475B}"/>
                      </a:ext>
                    </a:extLst>
                  </p:cNvPr>
                  <p:cNvSpPr txBox="1"/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0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5" name="文字方塊 14">
                    <a:extLst>
                      <a:ext uri="{FF2B5EF4-FFF2-40B4-BE49-F238E27FC236}">
                        <a16:creationId xmlns:a16="http://schemas.microsoft.com/office/drawing/2014/main" id="{16569C70-18FB-3D33-E97C-9C217BC077B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9" name="平行四邊形 38">
              <a:extLst>
                <a:ext uri="{FF2B5EF4-FFF2-40B4-BE49-F238E27FC236}">
                  <a16:creationId xmlns:a16="http://schemas.microsoft.com/office/drawing/2014/main" id="{9B5B57DB-FA13-6457-C00E-CA2FD3110C34}"/>
                </a:ext>
              </a:extLst>
            </p:cNvPr>
            <p:cNvSpPr/>
            <p:nvPr/>
          </p:nvSpPr>
          <p:spPr>
            <a:xfrm>
              <a:off x="7506447" y="4589215"/>
              <a:ext cx="1899503" cy="1219078"/>
            </a:xfrm>
            <a:prstGeom prst="parallelogram">
              <a:avLst>
                <a:gd name="adj" fmla="val 111555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41" name="不規則四邊形 40">
              <a:extLst>
                <a:ext uri="{FF2B5EF4-FFF2-40B4-BE49-F238E27FC236}">
                  <a16:creationId xmlns:a16="http://schemas.microsoft.com/office/drawing/2014/main" id="{E626C256-8492-168F-0F0F-F82960759296}"/>
                </a:ext>
              </a:extLst>
            </p:cNvPr>
            <p:cNvSpPr/>
            <p:nvPr/>
          </p:nvSpPr>
          <p:spPr>
            <a:xfrm>
              <a:off x="9896963" y="4589215"/>
              <a:ext cx="591437" cy="1219078"/>
            </a:xfrm>
            <a:prstGeom prst="trapezoid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字方塊 42">
                  <a:extLst>
                    <a:ext uri="{FF2B5EF4-FFF2-40B4-BE49-F238E27FC236}">
                      <a16:creationId xmlns:a16="http://schemas.microsoft.com/office/drawing/2014/main" id="{BC3B75ED-3CBD-9A55-30D1-2F3911B75C05}"/>
                    </a:ext>
                  </a:extLst>
                </p:cNvPr>
                <p:cNvSpPr txBox="1"/>
                <p:nvPr/>
              </p:nvSpPr>
              <p:spPr>
                <a:xfrm>
                  <a:off x="8188712" y="5014088"/>
                  <a:ext cx="534971" cy="47713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3" name="文字方塊 42">
                  <a:extLst>
                    <a:ext uri="{FF2B5EF4-FFF2-40B4-BE49-F238E27FC236}">
                      <a16:creationId xmlns:a16="http://schemas.microsoft.com/office/drawing/2014/main" id="{BC3B75ED-3CBD-9A55-30D1-2F3911B75C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88712" y="5014088"/>
                  <a:ext cx="534971" cy="477137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E7D17A71-6C84-BF09-4186-3CDB33047401}"/>
                    </a:ext>
                  </a:extLst>
                </p:cNvPr>
                <p:cNvSpPr txBox="1"/>
                <p:nvPr/>
              </p:nvSpPr>
              <p:spPr>
                <a:xfrm>
                  <a:off x="9955530" y="5014088"/>
                  <a:ext cx="534971" cy="47713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E7D17A71-6C84-BF09-4186-3CDB330474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55530" y="5014088"/>
                  <a:ext cx="534971" cy="477137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0" name="群組 49">
              <a:extLst>
                <a:ext uri="{FF2B5EF4-FFF2-40B4-BE49-F238E27FC236}">
                  <a16:creationId xmlns:a16="http://schemas.microsoft.com/office/drawing/2014/main" id="{DA042B52-9C49-BAD5-2666-C6DF86C56C0C}"/>
                </a:ext>
              </a:extLst>
            </p:cNvPr>
            <p:cNvGrpSpPr/>
            <p:nvPr/>
          </p:nvGrpSpPr>
          <p:grpSpPr>
            <a:xfrm>
              <a:off x="9228841" y="3745742"/>
              <a:ext cx="895546" cy="490194"/>
              <a:chOff x="7654565" y="5128181"/>
              <a:chExt cx="895546" cy="490194"/>
            </a:xfrm>
          </p:grpSpPr>
          <p:sp>
            <p:nvSpPr>
              <p:cNvPr id="53" name="圓角矩形 52">
                <a:extLst>
                  <a:ext uri="{FF2B5EF4-FFF2-40B4-BE49-F238E27FC236}">
                    <a16:creationId xmlns:a16="http://schemas.microsoft.com/office/drawing/2014/main" id="{D94076A1-BD24-9208-2D8B-FF1A81DAE770}"/>
                  </a:ext>
                </a:extLst>
              </p:cNvPr>
              <p:cNvSpPr/>
              <p:nvPr/>
            </p:nvSpPr>
            <p:spPr>
              <a:xfrm>
                <a:off x="7654565" y="5128181"/>
                <a:ext cx="895546" cy="49019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文字方塊 53">
                    <a:extLst>
                      <a:ext uri="{FF2B5EF4-FFF2-40B4-BE49-F238E27FC236}">
                        <a16:creationId xmlns:a16="http://schemas.microsoft.com/office/drawing/2014/main" id="{638ADBC1-5C35-B47B-F322-331544A8C033}"/>
                      </a:ext>
                    </a:extLst>
                  </p:cNvPr>
                  <p:cNvSpPr txBox="1"/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0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文字方塊 22">
                    <a:extLst>
                      <a:ext uri="{FF2B5EF4-FFF2-40B4-BE49-F238E27FC236}">
                        <a16:creationId xmlns:a16="http://schemas.microsoft.com/office/drawing/2014/main" id="{98142BF9-B217-9B3A-89B9-6761B9CADD2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5" name="文字方塊 54">
              <a:extLst>
                <a:ext uri="{FF2B5EF4-FFF2-40B4-BE49-F238E27FC236}">
                  <a16:creationId xmlns:a16="http://schemas.microsoft.com/office/drawing/2014/main" id="{CB096A02-77AC-5EF0-D888-905EECF9C925}"/>
                </a:ext>
              </a:extLst>
            </p:cNvPr>
            <p:cNvSpPr txBox="1"/>
            <p:nvPr/>
          </p:nvSpPr>
          <p:spPr>
            <a:xfrm>
              <a:off x="9514355" y="4250505"/>
              <a:ext cx="358218" cy="4616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kumimoji="1" lang="en-US" altLang="zh-TW" sz="2400" dirty="0"/>
                <a:t>+</a:t>
              </a:r>
              <a:endParaRPr kumimoji="1" lang="zh-TW" altLang="en-US" sz="2400" dirty="0"/>
            </a:p>
          </p:txBody>
        </p:sp>
        <p:sp>
          <p:nvSpPr>
            <p:cNvPr id="56" name="不規則四邊形 55">
              <a:extLst>
                <a:ext uri="{FF2B5EF4-FFF2-40B4-BE49-F238E27FC236}">
                  <a16:creationId xmlns:a16="http://schemas.microsoft.com/office/drawing/2014/main" id="{310E0187-45A9-D32F-D89B-A2A1D82BDB0C}"/>
                </a:ext>
              </a:extLst>
            </p:cNvPr>
            <p:cNvSpPr/>
            <p:nvPr/>
          </p:nvSpPr>
          <p:spPr>
            <a:xfrm flipV="1">
              <a:off x="9364093" y="2429840"/>
              <a:ext cx="591437" cy="1219078"/>
            </a:xfrm>
            <a:prstGeom prst="trapezoid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文字方塊 56">
                  <a:extLst>
                    <a:ext uri="{FF2B5EF4-FFF2-40B4-BE49-F238E27FC236}">
                      <a16:creationId xmlns:a16="http://schemas.microsoft.com/office/drawing/2014/main" id="{E066AEAF-6A9E-D66F-C898-1532E2A11B1C}"/>
                    </a:ext>
                  </a:extLst>
                </p:cNvPr>
                <p:cNvSpPr txBox="1"/>
                <p:nvPr/>
              </p:nvSpPr>
              <p:spPr>
                <a:xfrm>
                  <a:off x="9404473" y="2854713"/>
                  <a:ext cx="534971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57" name="文字方塊 56">
                  <a:extLst>
                    <a:ext uri="{FF2B5EF4-FFF2-40B4-BE49-F238E27FC236}">
                      <a16:creationId xmlns:a16="http://schemas.microsoft.com/office/drawing/2014/main" id="{E066AEAF-6A9E-D66F-C898-1532E2A11B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04473" y="2854713"/>
                  <a:ext cx="534971" cy="400110"/>
                </a:xfrm>
                <a:prstGeom prst="rect">
                  <a:avLst/>
                </a:prstGeom>
                <a:blipFill>
                  <a:blip r:embed="rId29"/>
                  <a:stretch>
                    <a:fillRect b="-107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8E54B37F-E80F-C544-569B-B8E600AB6423}"/>
                </a:ext>
              </a:extLst>
            </p:cNvPr>
            <p:cNvGrpSpPr/>
            <p:nvPr/>
          </p:nvGrpSpPr>
          <p:grpSpPr>
            <a:xfrm>
              <a:off x="9212038" y="1829776"/>
              <a:ext cx="895546" cy="490194"/>
              <a:chOff x="7654565" y="5128181"/>
              <a:chExt cx="895546" cy="490194"/>
            </a:xfrm>
          </p:grpSpPr>
          <p:sp>
            <p:nvSpPr>
              <p:cNvPr id="59" name="圓角矩形 58">
                <a:extLst>
                  <a:ext uri="{FF2B5EF4-FFF2-40B4-BE49-F238E27FC236}">
                    <a16:creationId xmlns:a16="http://schemas.microsoft.com/office/drawing/2014/main" id="{DA1D6A81-121F-1601-C7C3-0B2CFF9117B4}"/>
                  </a:ext>
                </a:extLst>
              </p:cNvPr>
              <p:cNvSpPr/>
              <p:nvPr/>
            </p:nvSpPr>
            <p:spPr>
              <a:xfrm>
                <a:off x="7654565" y="5128181"/>
                <a:ext cx="895546" cy="49019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文字方塊 59">
                    <a:extLst>
                      <a:ext uri="{FF2B5EF4-FFF2-40B4-BE49-F238E27FC236}">
                        <a16:creationId xmlns:a16="http://schemas.microsoft.com/office/drawing/2014/main" id="{6E81EB5E-D1FA-34DF-0620-74B599446A96}"/>
                      </a:ext>
                    </a:extLst>
                  </p:cNvPr>
                  <p:cNvSpPr txBox="1"/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0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9" name="文字方塊 28">
                    <a:extLst>
                      <a:ext uri="{FF2B5EF4-FFF2-40B4-BE49-F238E27FC236}">
                        <a16:creationId xmlns:a16="http://schemas.microsoft.com/office/drawing/2014/main" id="{10CF887D-6BA7-4674-B095-B5205D3938A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b="-3030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0C93AF0D-9A58-DC47-86B7-A84FA358453B}"/>
                  </a:ext>
                </a:extLst>
              </p:cNvPr>
              <p:cNvSpPr txBox="1"/>
              <p:nvPr/>
            </p:nvSpPr>
            <p:spPr>
              <a:xfrm>
                <a:off x="652298" y="1433858"/>
                <a:ext cx="3318394" cy="64633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tanh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𝑊</m:t>
                      </m:r>
                      <m:sSub>
                        <m:sSubPr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𝑈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zh-TW" altLang="en-US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𝑉</m:t>
                      </m:r>
                      <m:sSub>
                        <m:sSubPr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0C93AF0D-9A58-DC47-86B7-A84FA35845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298" y="1433858"/>
                <a:ext cx="3318394" cy="646331"/>
              </a:xfrm>
              <a:prstGeom prst="rect">
                <a:avLst/>
              </a:prstGeom>
              <a:blipFill>
                <a:blip r:embed="rId31"/>
                <a:stretch>
                  <a:fillRect b="-576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5538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 animBg="1"/>
      <p:bldP spid="11" grpId="0"/>
      <p:bldP spid="12" grpId="0"/>
      <p:bldP spid="13" grpId="0"/>
      <p:bldP spid="20" grpId="0"/>
      <p:bldP spid="21" grpId="0"/>
      <p:bldP spid="22" grpId="0"/>
      <p:bldP spid="29" grpId="0"/>
      <p:bldP spid="31" grpId="0"/>
      <p:bldP spid="32" grpId="0"/>
      <p:bldP spid="34" grpId="0"/>
      <p:bldP spid="38" grpId="0"/>
      <p:bldP spid="40" grpId="0"/>
      <p:bldP spid="42" grpId="0"/>
      <p:bldP spid="46" grpId="0" animBg="1"/>
      <p:bldP spid="46" grpId="1" animBg="1"/>
      <p:bldP spid="48" grpId="0" animBg="1"/>
      <p:bldP spid="48" grpId="1" animBg="1"/>
      <p:bldP spid="5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0899A1BE-3193-969D-A02F-23707A2CE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7200" dirty="0"/>
              <a:t>Long Short-Term Memory</a:t>
            </a:r>
            <a:endParaRPr lang="zh-TW" altLang="en-US" sz="7200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F0AF9683-5275-9108-5E85-B8E0BF3ACA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2400" dirty="0"/>
              <a:t>LSTM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813CA55-0D23-F48F-2D47-9DCA7E53B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775559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06DAFF-EF25-7C60-F8A7-D645792CF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Gate (</a:t>
            </a:r>
            <a:r>
              <a:rPr kumimoji="1" lang="zh-TW" altLang="en-US" dirty="0"/>
              <a:t>以 </a:t>
            </a:r>
            <a:r>
              <a:rPr kumimoji="1" lang="en-US" altLang="zh-TW" dirty="0"/>
              <a:t>Forget Gate</a:t>
            </a:r>
            <a:r>
              <a:rPr kumimoji="1" lang="zh-TW" altLang="en-US" dirty="0"/>
              <a:t> 為例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A427159-0A24-7661-03CD-C382259A58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sz="2400" dirty="0"/>
              <a:t>LSTM </a:t>
            </a:r>
            <a:r>
              <a:rPr kumimoji="1" lang="zh-TW" altLang="en-US" sz="2400" dirty="0"/>
              <a:t>新增了 </a:t>
            </a:r>
            <a:r>
              <a:rPr kumimoji="1" lang="en-US" altLang="zh-TW" sz="2400" dirty="0"/>
              <a:t>Cell State</a:t>
            </a:r>
            <a:endParaRPr kumimoji="1" lang="zh-TW" altLang="en-US"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711A0F3-0C25-504E-5884-07487A0BF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46</a:t>
            </a:fld>
            <a:endParaRPr lang="en-US" dirty="0"/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219036F8-D4BA-14A4-9DBB-B31AE2B163FE}"/>
              </a:ext>
            </a:extLst>
          </p:cNvPr>
          <p:cNvGrpSpPr/>
          <p:nvPr/>
        </p:nvGrpSpPr>
        <p:grpSpPr>
          <a:xfrm>
            <a:off x="4002682" y="3106243"/>
            <a:ext cx="895546" cy="490194"/>
            <a:chOff x="6296516" y="3745742"/>
            <a:chExt cx="895546" cy="490194"/>
          </a:xfrm>
        </p:grpSpPr>
        <p:sp>
          <p:nvSpPr>
            <p:cNvPr id="6" name="圓角矩形 5">
              <a:extLst>
                <a:ext uri="{FF2B5EF4-FFF2-40B4-BE49-F238E27FC236}">
                  <a16:creationId xmlns:a16="http://schemas.microsoft.com/office/drawing/2014/main" id="{70CAF97A-531D-98E7-94B9-37E653AABF2D}"/>
                </a:ext>
              </a:extLst>
            </p:cNvPr>
            <p:cNvSpPr/>
            <p:nvPr/>
          </p:nvSpPr>
          <p:spPr>
            <a:xfrm>
              <a:off x="6296516" y="3745742"/>
              <a:ext cx="895546" cy="49019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2D0B89FF-FCE6-4CB4-0CC4-4807693CE5DF}"/>
                    </a:ext>
                  </a:extLst>
                </p:cNvPr>
                <p:cNvSpPr txBox="1"/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文字方塊 8">
                  <a:extLst>
                    <a:ext uri="{FF2B5EF4-FFF2-40B4-BE49-F238E27FC236}">
                      <a16:creationId xmlns:a16="http://schemas.microsoft.com/office/drawing/2014/main" id="{56BDD262-890E-614C-BB79-7612BE56A3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77AB8FBD-645F-C26E-0DD4-13F18ADC61DE}"/>
              </a:ext>
            </a:extLst>
          </p:cNvPr>
          <p:cNvGrpSpPr/>
          <p:nvPr/>
        </p:nvGrpSpPr>
        <p:grpSpPr>
          <a:xfrm>
            <a:off x="5904521" y="4859652"/>
            <a:ext cx="895546" cy="490194"/>
            <a:chOff x="7654565" y="5128181"/>
            <a:chExt cx="895546" cy="490194"/>
          </a:xfrm>
        </p:grpSpPr>
        <p:sp>
          <p:nvSpPr>
            <p:cNvPr id="12" name="圓角矩形 11">
              <a:extLst>
                <a:ext uri="{FF2B5EF4-FFF2-40B4-BE49-F238E27FC236}">
                  <a16:creationId xmlns:a16="http://schemas.microsoft.com/office/drawing/2014/main" id="{CC7B8073-1DEC-E93E-DA8F-14D2C6F27D7A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4AEDA5CB-A793-8FB5-05B9-803F2BDCAC05}"/>
                </a:ext>
              </a:extLst>
            </p:cNvPr>
            <p:cNvSpPr txBox="1"/>
            <p:nvPr/>
          </p:nvSpPr>
          <p:spPr>
            <a:xfrm>
              <a:off x="7744801" y="5173223"/>
              <a:ext cx="781246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000" dirty="0">
                  <a:solidFill>
                    <a:schemeClr val="tx1"/>
                  </a:solidFill>
                </a:rPr>
                <a:t>New</a:t>
              </a:r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853AE5CC-5D73-4D67-5D2A-9BF6A9A4FFB1}"/>
              </a:ext>
            </a:extLst>
          </p:cNvPr>
          <p:cNvSpPr txBox="1"/>
          <p:nvPr/>
        </p:nvSpPr>
        <p:spPr>
          <a:xfrm>
            <a:off x="5742544" y="4481877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Sigmoid</a:t>
            </a:r>
            <a:endParaRPr kumimoji="1" lang="zh-TW" altLang="en-US" sz="1600" baseline="-250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F6D78F5-3D4E-E3A8-AA19-3871A18E4BF4}"/>
              </a:ext>
            </a:extLst>
          </p:cNvPr>
          <p:cNvSpPr txBox="1"/>
          <p:nvPr/>
        </p:nvSpPr>
        <p:spPr>
          <a:xfrm>
            <a:off x="4554543" y="2572825"/>
            <a:ext cx="1640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Forget Gate</a:t>
            </a:r>
            <a:endParaRPr kumimoji="1" lang="zh-TW" altLang="en-US" b="1" dirty="0"/>
          </a:p>
        </p:txBody>
      </p: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3FE32C39-CDBA-0918-EE26-4C51ECAD6D7E}"/>
              </a:ext>
            </a:extLst>
          </p:cNvPr>
          <p:cNvGrpSpPr/>
          <p:nvPr/>
        </p:nvGrpSpPr>
        <p:grpSpPr>
          <a:xfrm>
            <a:off x="5904521" y="3106243"/>
            <a:ext cx="895546" cy="490194"/>
            <a:chOff x="7654565" y="5128181"/>
            <a:chExt cx="895546" cy="490194"/>
          </a:xfrm>
        </p:grpSpPr>
        <p:sp>
          <p:nvSpPr>
            <p:cNvPr id="22" name="圓角矩形 21">
              <a:extLst>
                <a:ext uri="{FF2B5EF4-FFF2-40B4-BE49-F238E27FC236}">
                  <a16:creationId xmlns:a16="http://schemas.microsoft.com/office/drawing/2014/main" id="{CEEB171B-C7B8-1BF6-213F-2ECA3D8B3027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A0F84983-365A-2E15-BB70-52B0CFEEB24E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文字方塊 70">
                  <a:extLst>
                    <a:ext uri="{FF2B5EF4-FFF2-40B4-BE49-F238E27FC236}">
                      <a16:creationId xmlns:a16="http://schemas.microsoft.com/office/drawing/2014/main" id="{F047BA35-D2C6-A717-F697-C09375F96E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6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5CD69F1A-F81E-B17E-AB46-82A6C60FA068}"/>
              </a:ext>
            </a:extLst>
          </p:cNvPr>
          <p:cNvCxnSpPr>
            <a:cxnSpLocks/>
          </p:cNvCxnSpPr>
          <p:nvPr/>
        </p:nvCxnSpPr>
        <p:spPr>
          <a:xfrm flipV="1">
            <a:off x="6352294" y="3684777"/>
            <a:ext cx="0" cy="57614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38935FA0-4EE9-5124-9388-B7B5B46BF416}"/>
              </a:ext>
            </a:extLst>
          </p:cNvPr>
          <p:cNvCxnSpPr>
            <a:cxnSpLocks/>
          </p:cNvCxnSpPr>
          <p:nvPr/>
        </p:nvCxnSpPr>
        <p:spPr>
          <a:xfrm flipV="1">
            <a:off x="5007010" y="3379086"/>
            <a:ext cx="735533" cy="252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圓角矩形 28">
            <a:extLst>
              <a:ext uri="{FF2B5EF4-FFF2-40B4-BE49-F238E27FC236}">
                <a16:creationId xmlns:a16="http://schemas.microsoft.com/office/drawing/2014/main" id="{41A9EE3D-A29D-B18F-7884-11FAD6D13CCF}"/>
              </a:ext>
            </a:extLst>
          </p:cNvPr>
          <p:cNvSpPr/>
          <p:nvPr/>
        </p:nvSpPr>
        <p:spPr>
          <a:xfrm>
            <a:off x="5742543" y="4307292"/>
            <a:ext cx="1199627" cy="1311455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641832C2-0569-90C4-1FA5-59DADDE9253F}"/>
              </a:ext>
            </a:extLst>
          </p:cNvPr>
          <p:cNvSpPr txBox="1"/>
          <p:nvPr/>
        </p:nvSpPr>
        <p:spPr>
          <a:xfrm>
            <a:off x="7032406" y="4756083"/>
            <a:ext cx="33458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chemeClr val="accent1"/>
                </a:solidFill>
              </a:rPr>
              <a:t>經</a:t>
            </a:r>
            <a:r>
              <a:rPr kumimoji="1" lang="en-US" altLang="zh-TW" dirty="0">
                <a:solidFill>
                  <a:schemeClr val="accent1"/>
                </a:solidFill>
              </a:rPr>
              <a:t> Sigmoid</a:t>
            </a:r>
            <a:r>
              <a:rPr kumimoji="1" lang="zh-TW" altLang="en-US" dirty="0">
                <a:solidFill>
                  <a:schemeClr val="accent1"/>
                </a:solidFill>
              </a:rPr>
              <a:t> 之後產生一個比例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06FD2C33-9DC1-22A3-39C5-047B0371F16E}"/>
                  </a:ext>
                </a:extLst>
              </p:cNvPr>
              <p:cNvSpPr txBox="1"/>
              <p:nvPr/>
            </p:nvSpPr>
            <p:spPr>
              <a:xfrm>
                <a:off x="6800067" y="3167008"/>
                <a:ext cx="206260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zh-TW" altLang="zh-TW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zh-TW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06FD2C33-9DC1-22A3-39C5-047B0371F1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0067" y="3167008"/>
                <a:ext cx="2062608" cy="369332"/>
              </a:xfrm>
              <a:prstGeom prst="rect">
                <a:avLst/>
              </a:prstGeom>
              <a:blipFill>
                <a:blip r:embed="rId17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文字方塊 8">
            <a:extLst>
              <a:ext uri="{FF2B5EF4-FFF2-40B4-BE49-F238E27FC236}">
                <a16:creationId xmlns:a16="http://schemas.microsoft.com/office/drawing/2014/main" id="{1C8C929B-5A00-296F-726E-BC7DCCDB3B0E}"/>
              </a:ext>
            </a:extLst>
          </p:cNvPr>
          <p:cNvSpPr txBox="1"/>
          <p:nvPr/>
        </p:nvSpPr>
        <p:spPr>
          <a:xfrm>
            <a:off x="3561881" y="3616952"/>
            <a:ext cx="17769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Cell state</a:t>
            </a:r>
          </a:p>
          <a:p>
            <a:pPr algn="ctr"/>
            <a:r>
              <a:rPr kumimoji="1" lang="en-US" altLang="zh-TW" dirty="0"/>
              <a:t>(</a:t>
            </a:r>
            <a:r>
              <a:rPr kumimoji="1" lang="zh-TW" altLang="en-US" dirty="0"/>
              <a:t>類似</a:t>
            </a:r>
            <a:r>
              <a:rPr kumimoji="1" lang="zh-TW" altLang="en-US" b="1" dirty="0"/>
              <a:t>長期記憶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66127318-019A-CB8D-7E0F-ABB0E097F26C}"/>
                  </a:ext>
                </a:extLst>
              </p:cNvPr>
              <p:cNvSpPr txBox="1"/>
              <p:nvPr/>
            </p:nvSpPr>
            <p:spPr>
              <a:xfrm>
                <a:off x="6853156" y="4209085"/>
                <a:ext cx="265106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sigmoid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New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zh-TW" dirty="0"/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66127318-019A-CB8D-7E0F-ABB0E097F2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3156" y="4209085"/>
                <a:ext cx="2651061" cy="369332"/>
              </a:xfrm>
              <a:prstGeom prst="rect">
                <a:avLst/>
              </a:prstGeom>
              <a:blipFill>
                <a:blip r:embed="rId1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67290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9" grpId="0" animBg="1"/>
      <p:bldP spid="30" grpId="0"/>
      <p:bldP spid="8" grpId="0"/>
      <p:bldP spid="9" grpId="0"/>
      <p:bldP spid="10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>
                <a:ea typeface="新細明體"/>
                <a:cs typeface="Calibri" panose="020F0502020204030204" pitchFamily="34" charset="0"/>
              </a:rPr>
              <a:t>LSTM (Long Short-Term Memory)</a:t>
            </a:r>
            <a:endParaRPr lang="en-US" dirty="0">
              <a:solidFill>
                <a:srgbClr val="000000"/>
              </a:solidFill>
              <a:ea typeface="新細明體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47</a:t>
            </a:fld>
            <a:endParaRPr lang="zh-TW" altLang="en-US"/>
          </a:p>
        </p:txBody>
      </p: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2515E8C9-306B-7B9F-D5E0-A7AAC5771E6A}"/>
              </a:ext>
            </a:extLst>
          </p:cNvPr>
          <p:cNvGrpSpPr/>
          <p:nvPr/>
        </p:nvGrpSpPr>
        <p:grpSpPr>
          <a:xfrm>
            <a:off x="8177549" y="5906255"/>
            <a:ext cx="895546" cy="490194"/>
            <a:chOff x="7654565" y="5128181"/>
            <a:chExt cx="895546" cy="490194"/>
          </a:xfrm>
        </p:grpSpPr>
        <p:sp>
          <p:nvSpPr>
            <p:cNvPr id="6" name="圓角矩形 5">
              <a:extLst>
                <a:ext uri="{FF2B5EF4-FFF2-40B4-BE49-F238E27FC236}">
                  <a16:creationId xmlns:a16="http://schemas.microsoft.com/office/drawing/2014/main" id="{45C257AD-4C99-E577-98EA-D51A29F2CBD0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字方塊 9">
                  <a:extLst>
                    <a:ext uri="{FF2B5EF4-FFF2-40B4-BE49-F238E27FC236}">
                      <a16:creationId xmlns:a16="http://schemas.microsoft.com/office/drawing/2014/main" id="{437BF961-E223-7FF5-8AE5-8E8E1FB67BFF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10" name="文字方塊 9">
                  <a:extLst>
                    <a:ext uri="{FF2B5EF4-FFF2-40B4-BE49-F238E27FC236}">
                      <a16:creationId xmlns:a16="http://schemas.microsoft.com/office/drawing/2014/main" id="{437BF961-E223-7FF5-8AE5-8E8E1FB67B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34FECAE7-1810-BE48-8D54-8C40BC259CAA}"/>
              </a:ext>
            </a:extLst>
          </p:cNvPr>
          <p:cNvGrpSpPr/>
          <p:nvPr/>
        </p:nvGrpSpPr>
        <p:grpSpPr>
          <a:xfrm>
            <a:off x="10599879" y="5906255"/>
            <a:ext cx="895546" cy="490194"/>
            <a:chOff x="7654565" y="5128181"/>
            <a:chExt cx="895546" cy="490194"/>
          </a:xfrm>
        </p:grpSpPr>
        <p:sp>
          <p:nvSpPr>
            <p:cNvPr id="14" name="圓角矩形 13">
              <a:extLst>
                <a:ext uri="{FF2B5EF4-FFF2-40B4-BE49-F238E27FC236}">
                  <a16:creationId xmlns:a16="http://schemas.microsoft.com/office/drawing/2014/main" id="{C61AF627-DC7E-564C-3173-5C80BB5F2C92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16569C70-18FB-3D33-E97C-9C217BC077BD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16569C70-18FB-3D33-E97C-9C217BC077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平行四邊形 15">
            <a:extLst>
              <a:ext uri="{FF2B5EF4-FFF2-40B4-BE49-F238E27FC236}">
                <a16:creationId xmlns:a16="http://schemas.microsoft.com/office/drawing/2014/main" id="{D2B95F3D-4EDC-A8E4-8D26-EDF632B3DC95}"/>
              </a:ext>
            </a:extLst>
          </p:cNvPr>
          <p:cNvSpPr/>
          <p:nvPr/>
        </p:nvSpPr>
        <p:spPr>
          <a:xfrm>
            <a:off x="8361370" y="4586502"/>
            <a:ext cx="1899503" cy="1219078"/>
          </a:xfrm>
          <a:prstGeom prst="parallelogram">
            <a:avLst>
              <a:gd name="adj" fmla="val 11155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7" name="不規則四邊形 16">
            <a:extLst>
              <a:ext uri="{FF2B5EF4-FFF2-40B4-BE49-F238E27FC236}">
                <a16:creationId xmlns:a16="http://schemas.microsoft.com/office/drawing/2014/main" id="{E7C5DE91-8F95-026C-38EB-124DE91C10FE}"/>
              </a:ext>
            </a:extLst>
          </p:cNvPr>
          <p:cNvSpPr/>
          <p:nvPr/>
        </p:nvSpPr>
        <p:spPr>
          <a:xfrm>
            <a:off x="10751886" y="4586502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1691562C-E0BE-4770-4ACA-FF77F540F931}"/>
                  </a:ext>
                </a:extLst>
              </p:cNvPr>
              <p:cNvSpPr txBox="1"/>
              <p:nvPr/>
            </p:nvSpPr>
            <p:spPr>
              <a:xfrm>
                <a:off x="9043635" y="5011375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1691562C-E0BE-4770-4ACA-FF77F540F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3635" y="5011375"/>
                <a:ext cx="53497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78B011F4-484B-C972-3BE9-E10A9A597FA2}"/>
                  </a:ext>
                </a:extLst>
              </p:cNvPr>
              <p:cNvSpPr txBox="1"/>
              <p:nvPr/>
            </p:nvSpPr>
            <p:spPr>
              <a:xfrm>
                <a:off x="10810453" y="5011375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78B011F4-484B-C972-3BE9-E10A9A597F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0453" y="5011375"/>
                <a:ext cx="53497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文字方塊 23">
            <a:extLst>
              <a:ext uri="{FF2B5EF4-FFF2-40B4-BE49-F238E27FC236}">
                <a16:creationId xmlns:a16="http://schemas.microsoft.com/office/drawing/2014/main" id="{A68854A7-2EAC-4F9D-078D-32C2E4FBF3C0}"/>
              </a:ext>
            </a:extLst>
          </p:cNvPr>
          <p:cNvSpPr txBox="1"/>
          <p:nvPr/>
        </p:nvSpPr>
        <p:spPr>
          <a:xfrm>
            <a:off x="10369278" y="4247792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26BBC9C7-7452-BC24-5856-AF648742A217}"/>
              </a:ext>
            </a:extLst>
          </p:cNvPr>
          <p:cNvGrpSpPr/>
          <p:nvPr/>
        </p:nvGrpSpPr>
        <p:grpSpPr>
          <a:xfrm>
            <a:off x="478040" y="2355105"/>
            <a:ext cx="895546" cy="490194"/>
            <a:chOff x="6296516" y="3745742"/>
            <a:chExt cx="895546" cy="490194"/>
          </a:xfrm>
        </p:grpSpPr>
        <p:sp>
          <p:nvSpPr>
            <p:cNvPr id="8" name="圓角矩形 7">
              <a:extLst>
                <a:ext uri="{FF2B5EF4-FFF2-40B4-BE49-F238E27FC236}">
                  <a16:creationId xmlns:a16="http://schemas.microsoft.com/office/drawing/2014/main" id="{B3B3DADE-0222-61D2-B0A6-23AB22782023}"/>
                </a:ext>
              </a:extLst>
            </p:cNvPr>
            <p:cNvSpPr/>
            <p:nvPr/>
          </p:nvSpPr>
          <p:spPr>
            <a:xfrm>
              <a:off x="6296516" y="3745742"/>
              <a:ext cx="895546" cy="49019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字方塊 8">
                  <a:extLst>
                    <a:ext uri="{FF2B5EF4-FFF2-40B4-BE49-F238E27FC236}">
                      <a16:creationId xmlns:a16="http://schemas.microsoft.com/office/drawing/2014/main" id="{56BDD262-890E-614C-BB79-7612BE56A3D6}"/>
                    </a:ext>
                  </a:extLst>
                </p:cNvPr>
                <p:cNvSpPr txBox="1"/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文字方塊 8">
                  <a:extLst>
                    <a:ext uri="{FF2B5EF4-FFF2-40B4-BE49-F238E27FC236}">
                      <a16:creationId xmlns:a16="http://schemas.microsoft.com/office/drawing/2014/main" id="{56BDD262-890E-614C-BB79-7612BE56A3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18192864-286C-11AF-8FAF-4E56551CD72B}"/>
              </a:ext>
            </a:extLst>
          </p:cNvPr>
          <p:cNvGrpSpPr/>
          <p:nvPr/>
        </p:nvGrpSpPr>
        <p:grpSpPr>
          <a:xfrm>
            <a:off x="456814" y="5908968"/>
            <a:ext cx="895546" cy="490194"/>
            <a:chOff x="7654565" y="5128181"/>
            <a:chExt cx="895546" cy="490194"/>
          </a:xfrm>
        </p:grpSpPr>
        <p:sp>
          <p:nvSpPr>
            <p:cNvPr id="30" name="圓角矩形 29">
              <a:extLst>
                <a:ext uri="{FF2B5EF4-FFF2-40B4-BE49-F238E27FC236}">
                  <a16:creationId xmlns:a16="http://schemas.microsoft.com/office/drawing/2014/main" id="{BC6184F7-7835-2C46-A16E-85D3E668AACE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856FB362-47F2-8F08-E10B-6C49A4D47E5A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856FB362-47F2-8F08-E10B-6C49A4D47E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93679825-DDE6-7A6E-DF4B-984960F79D2E}"/>
              </a:ext>
            </a:extLst>
          </p:cNvPr>
          <p:cNvGrpSpPr/>
          <p:nvPr/>
        </p:nvGrpSpPr>
        <p:grpSpPr>
          <a:xfrm>
            <a:off x="2879144" y="5908968"/>
            <a:ext cx="895546" cy="490194"/>
            <a:chOff x="7654565" y="5128181"/>
            <a:chExt cx="895546" cy="490194"/>
          </a:xfrm>
        </p:grpSpPr>
        <p:sp>
          <p:nvSpPr>
            <p:cNvPr id="33" name="圓角矩形 32">
              <a:extLst>
                <a:ext uri="{FF2B5EF4-FFF2-40B4-BE49-F238E27FC236}">
                  <a16:creationId xmlns:a16="http://schemas.microsoft.com/office/drawing/2014/main" id="{83DDA9E4-7657-4539-0FBE-CE968E2A9DC8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文字方塊 33">
                  <a:extLst>
                    <a:ext uri="{FF2B5EF4-FFF2-40B4-BE49-F238E27FC236}">
                      <a16:creationId xmlns:a16="http://schemas.microsoft.com/office/drawing/2014/main" id="{30BA0380-63C8-E578-BCAF-E9FF9282C9BE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4" name="文字方塊 33">
                  <a:extLst>
                    <a:ext uri="{FF2B5EF4-FFF2-40B4-BE49-F238E27FC236}">
                      <a16:creationId xmlns:a16="http://schemas.microsoft.com/office/drawing/2014/main" id="{30BA0380-63C8-E578-BCAF-E9FF9282C9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5" name="平行四邊形 34">
            <a:extLst>
              <a:ext uri="{FF2B5EF4-FFF2-40B4-BE49-F238E27FC236}">
                <a16:creationId xmlns:a16="http://schemas.microsoft.com/office/drawing/2014/main" id="{DA15CC45-D6D3-3117-C049-54FDE4A0086E}"/>
              </a:ext>
            </a:extLst>
          </p:cNvPr>
          <p:cNvSpPr/>
          <p:nvPr/>
        </p:nvSpPr>
        <p:spPr>
          <a:xfrm>
            <a:off x="640635" y="4589215"/>
            <a:ext cx="1899503" cy="1219078"/>
          </a:xfrm>
          <a:prstGeom prst="parallelogram">
            <a:avLst>
              <a:gd name="adj" fmla="val 11155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36" name="不規則四邊形 35">
            <a:extLst>
              <a:ext uri="{FF2B5EF4-FFF2-40B4-BE49-F238E27FC236}">
                <a16:creationId xmlns:a16="http://schemas.microsoft.com/office/drawing/2014/main" id="{830F9BF4-6725-F242-BB36-923DD424480A}"/>
              </a:ext>
            </a:extLst>
          </p:cNvPr>
          <p:cNvSpPr/>
          <p:nvPr/>
        </p:nvSpPr>
        <p:spPr>
          <a:xfrm>
            <a:off x="3031151" y="4589215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8DBB4EDF-A2E2-F96E-1DA3-6E5E290A0DA4}"/>
                  </a:ext>
                </a:extLst>
              </p:cNvPr>
              <p:cNvSpPr txBox="1"/>
              <p:nvPr/>
            </p:nvSpPr>
            <p:spPr>
              <a:xfrm>
                <a:off x="1322900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altLang="zh-TW" sz="2000" b="0" i="1" baseline="30000" smtClean="0"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zh-TW" altLang="en-US" sz="2000" baseline="30000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8DBB4EDF-A2E2-F96E-1DA3-6E5E290A0D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2900" y="5014088"/>
                <a:ext cx="534971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8F75F565-A20F-2503-7F4D-985935D716D4}"/>
                  </a:ext>
                </a:extLst>
              </p:cNvPr>
              <p:cNvSpPr txBox="1"/>
              <p:nvPr/>
            </p:nvSpPr>
            <p:spPr>
              <a:xfrm>
                <a:off x="3089718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altLang="zh-TW" sz="2000" i="1" baseline="30000"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8F75F565-A20F-2503-7F4D-985935D71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9718" y="5014088"/>
                <a:ext cx="534971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文字方塊 41">
            <a:extLst>
              <a:ext uri="{FF2B5EF4-FFF2-40B4-BE49-F238E27FC236}">
                <a16:creationId xmlns:a16="http://schemas.microsoft.com/office/drawing/2014/main" id="{6D2ABB4D-6678-AAD4-09E0-5909E0D11E1A}"/>
              </a:ext>
            </a:extLst>
          </p:cNvPr>
          <p:cNvSpPr txBox="1"/>
          <p:nvPr/>
        </p:nvSpPr>
        <p:spPr>
          <a:xfrm>
            <a:off x="2648543" y="4250505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F93B7146-3CB3-3E36-7D26-E69CEEAA3723}"/>
              </a:ext>
            </a:extLst>
          </p:cNvPr>
          <p:cNvSpPr txBox="1"/>
          <p:nvPr/>
        </p:nvSpPr>
        <p:spPr>
          <a:xfrm>
            <a:off x="2217902" y="3730739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Sigmoid</a:t>
            </a:r>
            <a:endParaRPr kumimoji="1" lang="zh-TW" altLang="en-US" sz="1600" baseline="-25000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7D0A75EC-1761-AC91-AE39-DA4810515989}"/>
              </a:ext>
            </a:extLst>
          </p:cNvPr>
          <p:cNvSpPr txBox="1"/>
          <p:nvPr/>
        </p:nvSpPr>
        <p:spPr>
          <a:xfrm>
            <a:off x="1345592" y="6364975"/>
            <a:ext cx="1640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Forget Gate</a:t>
            </a:r>
            <a:endParaRPr kumimoji="1" lang="zh-TW" altLang="en-US" b="1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5375CC4F-7502-9AB9-4572-ED6DB06C8C67}"/>
              </a:ext>
            </a:extLst>
          </p:cNvPr>
          <p:cNvSpPr txBox="1"/>
          <p:nvPr/>
        </p:nvSpPr>
        <p:spPr>
          <a:xfrm>
            <a:off x="9948574" y="3706689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tanh</a:t>
            </a:r>
            <a:endParaRPr kumimoji="1" lang="zh-TW" altLang="en-US" sz="1600" dirty="0"/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875EF7FC-849B-6A01-E938-DCF44EBDCEC8}"/>
              </a:ext>
            </a:extLst>
          </p:cNvPr>
          <p:cNvSpPr txBox="1"/>
          <p:nvPr/>
        </p:nvSpPr>
        <p:spPr>
          <a:xfrm>
            <a:off x="9167386" y="6364975"/>
            <a:ext cx="14324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RNN Cell</a:t>
            </a:r>
            <a:endParaRPr kumimoji="1" lang="zh-TW" altLang="en-US" b="1" dirty="0"/>
          </a:p>
        </p:txBody>
      </p: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EED15B13-D357-7B87-6C54-E15F3CDAD237}"/>
              </a:ext>
            </a:extLst>
          </p:cNvPr>
          <p:cNvGrpSpPr/>
          <p:nvPr/>
        </p:nvGrpSpPr>
        <p:grpSpPr>
          <a:xfrm>
            <a:off x="4286512" y="5908968"/>
            <a:ext cx="895546" cy="490194"/>
            <a:chOff x="7654565" y="5128181"/>
            <a:chExt cx="895546" cy="490194"/>
          </a:xfrm>
        </p:grpSpPr>
        <p:sp>
          <p:nvSpPr>
            <p:cNvPr id="54" name="圓角矩形 53">
              <a:extLst>
                <a:ext uri="{FF2B5EF4-FFF2-40B4-BE49-F238E27FC236}">
                  <a16:creationId xmlns:a16="http://schemas.microsoft.com/office/drawing/2014/main" id="{33E657E7-2E44-B8F5-D164-41EF6D091B0B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文字方塊 54">
                  <a:extLst>
                    <a:ext uri="{FF2B5EF4-FFF2-40B4-BE49-F238E27FC236}">
                      <a16:creationId xmlns:a16="http://schemas.microsoft.com/office/drawing/2014/main" id="{AD3C47A8-4541-BD55-9B4F-F8FEA7AA7178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55" name="文字方塊 54">
                  <a:extLst>
                    <a:ext uri="{FF2B5EF4-FFF2-40B4-BE49-F238E27FC236}">
                      <a16:creationId xmlns:a16="http://schemas.microsoft.com/office/drawing/2014/main" id="{AD3C47A8-4541-BD55-9B4F-F8FEA7AA71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7A8E70E9-B197-F736-FD2C-C0BF1690C149}"/>
              </a:ext>
            </a:extLst>
          </p:cNvPr>
          <p:cNvGrpSpPr/>
          <p:nvPr/>
        </p:nvGrpSpPr>
        <p:grpSpPr>
          <a:xfrm>
            <a:off x="6708842" y="5908968"/>
            <a:ext cx="895546" cy="490194"/>
            <a:chOff x="7654565" y="5128181"/>
            <a:chExt cx="895546" cy="490194"/>
          </a:xfrm>
        </p:grpSpPr>
        <p:sp>
          <p:nvSpPr>
            <p:cNvPr id="57" name="圓角矩形 56">
              <a:extLst>
                <a:ext uri="{FF2B5EF4-FFF2-40B4-BE49-F238E27FC236}">
                  <a16:creationId xmlns:a16="http://schemas.microsoft.com/office/drawing/2014/main" id="{1CDCE7DF-2111-6598-C08F-59CC6A825004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字方塊 57">
                  <a:extLst>
                    <a:ext uri="{FF2B5EF4-FFF2-40B4-BE49-F238E27FC236}">
                      <a16:creationId xmlns:a16="http://schemas.microsoft.com/office/drawing/2014/main" id="{7657F0E7-296D-10BA-E49C-8BBA6EE34A2C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文字方塊 57">
                  <a:extLst>
                    <a:ext uri="{FF2B5EF4-FFF2-40B4-BE49-F238E27FC236}">
                      <a16:creationId xmlns:a16="http://schemas.microsoft.com/office/drawing/2014/main" id="{7657F0E7-296D-10BA-E49C-8BBA6EE34A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9" name="平行四邊形 58">
            <a:extLst>
              <a:ext uri="{FF2B5EF4-FFF2-40B4-BE49-F238E27FC236}">
                <a16:creationId xmlns:a16="http://schemas.microsoft.com/office/drawing/2014/main" id="{9CEEE2CC-AF21-9F9D-176A-5ED6FB5D7793}"/>
              </a:ext>
            </a:extLst>
          </p:cNvPr>
          <p:cNvSpPr/>
          <p:nvPr/>
        </p:nvSpPr>
        <p:spPr>
          <a:xfrm>
            <a:off x="4470333" y="4589215"/>
            <a:ext cx="1899503" cy="1219078"/>
          </a:xfrm>
          <a:prstGeom prst="parallelogram">
            <a:avLst>
              <a:gd name="adj" fmla="val 11155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60" name="不規則四邊形 59">
            <a:extLst>
              <a:ext uri="{FF2B5EF4-FFF2-40B4-BE49-F238E27FC236}">
                <a16:creationId xmlns:a16="http://schemas.microsoft.com/office/drawing/2014/main" id="{02AF3453-C800-26B1-2ED0-0C139023F80A}"/>
              </a:ext>
            </a:extLst>
          </p:cNvPr>
          <p:cNvSpPr/>
          <p:nvPr/>
        </p:nvSpPr>
        <p:spPr>
          <a:xfrm>
            <a:off x="6860849" y="4589215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51BFB04-1C99-1303-177F-DCA77E5DDC6A}"/>
                  </a:ext>
                </a:extLst>
              </p:cNvPr>
              <p:cNvSpPr txBox="1"/>
              <p:nvPr/>
            </p:nvSpPr>
            <p:spPr>
              <a:xfrm>
                <a:off x="5152598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altLang="zh-TW" sz="2000" b="0" i="1" baseline="30000" smtClean="0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51BFB04-1C99-1303-177F-DCA77E5DDC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598" y="5014088"/>
                <a:ext cx="534971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83E482C9-04F4-1B67-1E44-1B031397BF5D}"/>
                  </a:ext>
                </a:extLst>
              </p:cNvPr>
              <p:cNvSpPr txBox="1"/>
              <p:nvPr/>
            </p:nvSpPr>
            <p:spPr>
              <a:xfrm>
                <a:off x="6919416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altLang="zh-TW" sz="2000" i="1" baseline="30000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83E482C9-04F4-1B67-1E44-1B031397BF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9416" y="5014088"/>
                <a:ext cx="534971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文字方塊 65">
            <a:extLst>
              <a:ext uri="{FF2B5EF4-FFF2-40B4-BE49-F238E27FC236}">
                <a16:creationId xmlns:a16="http://schemas.microsoft.com/office/drawing/2014/main" id="{A00495CA-BAD8-AE4D-D844-FE7701C55227}"/>
              </a:ext>
            </a:extLst>
          </p:cNvPr>
          <p:cNvSpPr txBox="1"/>
          <p:nvPr/>
        </p:nvSpPr>
        <p:spPr>
          <a:xfrm>
            <a:off x="6478241" y="4250505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467AAF99-AF69-BE41-7FFA-DB9588C3B776}"/>
              </a:ext>
            </a:extLst>
          </p:cNvPr>
          <p:cNvSpPr txBox="1"/>
          <p:nvPr/>
        </p:nvSpPr>
        <p:spPr>
          <a:xfrm>
            <a:off x="6043311" y="3730739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Sigmoid</a:t>
            </a:r>
            <a:endParaRPr kumimoji="1" lang="zh-TW" altLang="en-US" sz="1600" baseline="-25000" dirty="0"/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FE6777D5-5FB1-C79F-37BD-ED17C6809F3E}"/>
              </a:ext>
            </a:extLst>
          </p:cNvPr>
          <p:cNvSpPr txBox="1"/>
          <p:nvPr/>
        </p:nvSpPr>
        <p:spPr>
          <a:xfrm>
            <a:off x="5292922" y="6364975"/>
            <a:ext cx="15302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Input Gate</a:t>
            </a:r>
            <a:endParaRPr kumimoji="1" lang="zh-TW" altLang="en-US" b="1" dirty="0"/>
          </a:p>
        </p:txBody>
      </p: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8EF52E8D-FFD8-1FB1-5847-FDACF1D90311}"/>
              </a:ext>
            </a:extLst>
          </p:cNvPr>
          <p:cNvGrpSpPr/>
          <p:nvPr/>
        </p:nvGrpSpPr>
        <p:grpSpPr>
          <a:xfrm>
            <a:off x="2379879" y="2355105"/>
            <a:ext cx="895546" cy="490194"/>
            <a:chOff x="7654565" y="5128181"/>
            <a:chExt cx="895546" cy="490194"/>
          </a:xfrm>
        </p:grpSpPr>
        <p:sp>
          <p:nvSpPr>
            <p:cNvPr id="70" name="圓角矩形 69">
              <a:extLst>
                <a:ext uri="{FF2B5EF4-FFF2-40B4-BE49-F238E27FC236}">
                  <a16:creationId xmlns:a16="http://schemas.microsoft.com/office/drawing/2014/main" id="{A53371C2-ED96-1FC8-374C-A1F0B55CB1FA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文字方塊 70">
                  <a:extLst>
                    <a:ext uri="{FF2B5EF4-FFF2-40B4-BE49-F238E27FC236}">
                      <a16:creationId xmlns:a16="http://schemas.microsoft.com/office/drawing/2014/main" id="{F047BA35-D2C6-A717-F697-C09375F96E0E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文字方塊 70">
                  <a:extLst>
                    <a:ext uri="{FF2B5EF4-FFF2-40B4-BE49-F238E27FC236}">
                      <a16:creationId xmlns:a16="http://schemas.microsoft.com/office/drawing/2014/main" id="{F047BA35-D2C6-A717-F697-C09375F96E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6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76" name="肘形接點 75">
            <a:extLst>
              <a:ext uri="{FF2B5EF4-FFF2-40B4-BE49-F238E27FC236}">
                <a16:creationId xmlns:a16="http://schemas.microsoft.com/office/drawing/2014/main" id="{FB67D5AC-D6C6-70AD-1F57-78893F0ABCAF}"/>
              </a:ext>
            </a:extLst>
          </p:cNvPr>
          <p:cNvCxnSpPr>
            <a:stCxn id="67" idx="0"/>
            <a:endCxn id="51" idx="0"/>
          </p:cNvCxnSpPr>
          <p:nvPr/>
        </p:nvCxnSpPr>
        <p:spPr>
          <a:xfrm rot="5400000" flipH="1" flipV="1">
            <a:off x="8583730" y="1766083"/>
            <a:ext cx="24050" cy="3905263"/>
          </a:xfrm>
          <a:prstGeom prst="bentConnector3">
            <a:avLst>
              <a:gd name="adj1" fmla="val 119004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83CC00CD-A850-31FD-50C1-3FD9DB8C0D33}"/>
              </a:ext>
            </a:extLst>
          </p:cNvPr>
          <p:cNvGrpSpPr/>
          <p:nvPr/>
        </p:nvGrpSpPr>
        <p:grpSpPr>
          <a:xfrm>
            <a:off x="8177549" y="2346746"/>
            <a:ext cx="895546" cy="490194"/>
            <a:chOff x="7654565" y="5128181"/>
            <a:chExt cx="895546" cy="490194"/>
          </a:xfrm>
        </p:grpSpPr>
        <p:sp>
          <p:nvSpPr>
            <p:cNvPr id="83" name="圓角矩形 82">
              <a:extLst>
                <a:ext uri="{FF2B5EF4-FFF2-40B4-BE49-F238E27FC236}">
                  <a16:creationId xmlns:a16="http://schemas.microsoft.com/office/drawing/2014/main" id="{EB10B90D-9BB2-70A6-B344-2EF2DF2495EE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文字方塊 83">
                  <a:extLst>
                    <a:ext uri="{FF2B5EF4-FFF2-40B4-BE49-F238E27FC236}">
                      <a16:creationId xmlns:a16="http://schemas.microsoft.com/office/drawing/2014/main" id="{EBA4DF40-76B6-2796-11B0-9A7AC39652B3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4" name="文字方塊 83">
                  <a:extLst>
                    <a:ext uri="{FF2B5EF4-FFF2-40B4-BE49-F238E27FC236}">
                      <a16:creationId xmlns:a16="http://schemas.microsoft.com/office/drawing/2014/main" id="{EBA4DF40-76B6-2796-11B0-9A7AC39652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88" name="直線接點 87">
            <a:extLst>
              <a:ext uri="{FF2B5EF4-FFF2-40B4-BE49-F238E27FC236}">
                <a16:creationId xmlns:a16="http://schemas.microsoft.com/office/drawing/2014/main" id="{886825BD-8B51-6AD5-8FE4-6DC24F435267}"/>
              </a:ext>
            </a:extLst>
          </p:cNvPr>
          <p:cNvCxnSpPr>
            <a:cxnSpLocks/>
          </p:cNvCxnSpPr>
          <p:nvPr/>
        </p:nvCxnSpPr>
        <p:spPr>
          <a:xfrm>
            <a:off x="7855522" y="3709963"/>
            <a:ext cx="0" cy="296166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線箭頭接點 88">
            <a:extLst>
              <a:ext uri="{FF2B5EF4-FFF2-40B4-BE49-F238E27FC236}">
                <a16:creationId xmlns:a16="http://schemas.microsoft.com/office/drawing/2014/main" id="{CA94EA08-D6B2-A86A-98BA-7B3E5341C57F}"/>
              </a:ext>
            </a:extLst>
          </p:cNvPr>
          <p:cNvCxnSpPr>
            <a:cxnSpLocks/>
          </p:cNvCxnSpPr>
          <p:nvPr/>
        </p:nvCxnSpPr>
        <p:spPr>
          <a:xfrm flipV="1">
            <a:off x="2815925" y="2951018"/>
            <a:ext cx="0" cy="60513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線接點 101">
            <a:extLst>
              <a:ext uri="{FF2B5EF4-FFF2-40B4-BE49-F238E27FC236}">
                <a16:creationId xmlns:a16="http://schemas.microsoft.com/office/drawing/2014/main" id="{66263D0D-ED94-859C-A293-C069A9D944D2}"/>
              </a:ext>
            </a:extLst>
          </p:cNvPr>
          <p:cNvCxnSpPr>
            <a:cxnSpLocks/>
          </p:cNvCxnSpPr>
          <p:nvPr/>
        </p:nvCxnSpPr>
        <p:spPr>
          <a:xfrm>
            <a:off x="4014763" y="3709963"/>
            <a:ext cx="0" cy="296166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文字方塊 110">
                <a:extLst>
                  <a:ext uri="{FF2B5EF4-FFF2-40B4-BE49-F238E27FC236}">
                    <a16:creationId xmlns:a16="http://schemas.microsoft.com/office/drawing/2014/main" id="{23FEEE98-12ED-4875-FC1B-A2FDBE1C1FB4}"/>
                  </a:ext>
                </a:extLst>
              </p:cNvPr>
              <p:cNvSpPr txBox="1"/>
              <p:nvPr/>
            </p:nvSpPr>
            <p:spPr>
              <a:xfrm>
                <a:off x="9189254" y="1717378"/>
                <a:ext cx="206260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zh-TW" altLang="zh-TW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zh-TW" dirty="0"/>
              </a:p>
            </p:txBody>
          </p:sp>
        </mc:Choice>
        <mc:Fallback xmlns="">
          <p:sp>
            <p:nvSpPr>
              <p:cNvPr id="111" name="文字方塊 110">
                <a:extLst>
                  <a:ext uri="{FF2B5EF4-FFF2-40B4-BE49-F238E27FC236}">
                    <a16:creationId xmlns:a16="http://schemas.microsoft.com/office/drawing/2014/main" id="{23FEEE98-12ED-4875-FC1B-A2FDBE1C1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9254" y="1717378"/>
                <a:ext cx="2062608" cy="369332"/>
              </a:xfrm>
              <a:prstGeom prst="rect">
                <a:avLst/>
              </a:prstGeom>
              <a:blipFill>
                <a:blip r:embed="rId1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4" name="直線箭頭接點 113">
            <a:extLst>
              <a:ext uri="{FF2B5EF4-FFF2-40B4-BE49-F238E27FC236}">
                <a16:creationId xmlns:a16="http://schemas.microsoft.com/office/drawing/2014/main" id="{4581704E-3552-934B-52FC-23CFF826ED87}"/>
              </a:ext>
            </a:extLst>
          </p:cNvPr>
          <p:cNvCxnSpPr>
            <a:cxnSpLocks/>
          </p:cNvCxnSpPr>
          <p:nvPr/>
        </p:nvCxnSpPr>
        <p:spPr>
          <a:xfrm flipV="1">
            <a:off x="3704249" y="2586302"/>
            <a:ext cx="4047179" cy="139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65CE05E1-6380-000B-3F7E-CEF0DE375733}"/>
              </a:ext>
            </a:extLst>
          </p:cNvPr>
          <p:cNvSpPr txBox="1"/>
          <p:nvPr/>
        </p:nvSpPr>
        <p:spPr>
          <a:xfrm>
            <a:off x="7131870" y="2197805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grpSp>
        <p:nvGrpSpPr>
          <p:cNvPr id="126" name="群組 125">
            <a:extLst>
              <a:ext uri="{FF2B5EF4-FFF2-40B4-BE49-F238E27FC236}">
                <a16:creationId xmlns:a16="http://schemas.microsoft.com/office/drawing/2014/main" id="{93DAE696-7564-C5A8-94C6-378BBA77D977}"/>
              </a:ext>
            </a:extLst>
          </p:cNvPr>
          <p:cNvGrpSpPr/>
          <p:nvPr/>
        </p:nvGrpSpPr>
        <p:grpSpPr>
          <a:xfrm>
            <a:off x="9928386" y="2346746"/>
            <a:ext cx="895546" cy="490194"/>
            <a:chOff x="6296516" y="3745742"/>
            <a:chExt cx="895546" cy="490194"/>
          </a:xfrm>
        </p:grpSpPr>
        <p:sp>
          <p:nvSpPr>
            <p:cNvPr id="127" name="圓角矩形 126">
              <a:extLst>
                <a:ext uri="{FF2B5EF4-FFF2-40B4-BE49-F238E27FC236}">
                  <a16:creationId xmlns:a16="http://schemas.microsoft.com/office/drawing/2014/main" id="{8554916F-656B-B5E9-B5C1-84200526A005}"/>
                </a:ext>
              </a:extLst>
            </p:cNvPr>
            <p:cNvSpPr/>
            <p:nvPr/>
          </p:nvSpPr>
          <p:spPr>
            <a:xfrm>
              <a:off x="6296516" y="3745742"/>
              <a:ext cx="895546" cy="49019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文字方塊 127">
                  <a:extLst>
                    <a:ext uri="{FF2B5EF4-FFF2-40B4-BE49-F238E27FC236}">
                      <a16:creationId xmlns:a16="http://schemas.microsoft.com/office/drawing/2014/main" id="{5E0FAAA1-7D0A-8939-6E0F-FBA1E59AB606}"/>
                    </a:ext>
                  </a:extLst>
                </p:cNvPr>
                <p:cNvSpPr txBox="1"/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8" name="文字方塊 127">
                  <a:extLst>
                    <a:ext uri="{FF2B5EF4-FFF2-40B4-BE49-F238E27FC236}">
                      <a16:creationId xmlns:a16="http://schemas.microsoft.com/office/drawing/2014/main" id="{5E0FAAA1-7D0A-8939-6E0F-FBA1E59AB6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29" name="直線箭頭接點 128">
            <a:extLst>
              <a:ext uri="{FF2B5EF4-FFF2-40B4-BE49-F238E27FC236}">
                <a16:creationId xmlns:a16="http://schemas.microsoft.com/office/drawing/2014/main" id="{4C9E498C-86D4-F947-1FD4-A54F45CA85C5}"/>
              </a:ext>
            </a:extLst>
          </p:cNvPr>
          <p:cNvCxnSpPr>
            <a:cxnSpLocks/>
          </p:cNvCxnSpPr>
          <p:nvPr/>
        </p:nvCxnSpPr>
        <p:spPr>
          <a:xfrm>
            <a:off x="9189254" y="2593252"/>
            <a:ext cx="627701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內容版面配置區 2">
            <a:extLst>
              <a:ext uri="{FF2B5EF4-FFF2-40B4-BE49-F238E27FC236}">
                <a16:creationId xmlns:a16="http://schemas.microsoft.com/office/drawing/2014/main" id="{5C1375F9-3693-8084-E717-005B1F63CF1B}"/>
              </a:ext>
            </a:extLst>
          </p:cNvPr>
          <p:cNvSpPr>
            <a:spLocks noGrp="1"/>
          </p:cNvSpPr>
          <p:nvPr/>
        </p:nvSpPr>
        <p:spPr>
          <a:xfrm>
            <a:off x="723984" y="1646360"/>
            <a:ext cx="10114429" cy="474134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-114300">
              <a:buFont typeface="Wingdings" panose="020F0502020204030204" pitchFamily="34" charset="0"/>
              <a:buChar char="Ø"/>
            </a:pPr>
            <a:r>
              <a:rPr lang="zh-TW" altLang="en-US" sz="2400" dirty="0">
                <a:solidFill>
                  <a:schemeClr val="accent1"/>
                </a:solidFill>
                <a:latin typeface="Calibri" panose="020F0502020204030204" pitchFamily="34" charset="0"/>
                <a:ea typeface="新細明體"/>
                <a:cs typeface="Calibri"/>
              </a:rPr>
              <a:t> </a:t>
            </a:r>
            <a:r>
              <a:rPr lang="en-US" altLang="zh-TW" sz="2400" dirty="0">
                <a:solidFill>
                  <a:schemeClr val="accent1"/>
                </a:solidFill>
                <a:latin typeface="Calibri" panose="020F0502020204030204" pitchFamily="34" charset="0"/>
                <a:ea typeface="新細明體"/>
                <a:cs typeface="Calibri"/>
              </a:rPr>
              <a:t>LSTM uses 4 times of weights as a standard RNN. </a:t>
            </a:r>
            <a:endParaRPr lang="en-US" sz="2400" dirty="0">
              <a:latin typeface="Calibri" panose="020F0502020204030204" pitchFamily="34" charset="0"/>
              <a:ea typeface="Calibri"/>
              <a:cs typeface="Calibri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635AA32-6643-B34A-98E2-4489CA390D76}"/>
              </a:ext>
            </a:extLst>
          </p:cNvPr>
          <p:cNvSpPr txBox="1"/>
          <p:nvPr/>
        </p:nvSpPr>
        <p:spPr>
          <a:xfrm>
            <a:off x="7452286" y="91725"/>
            <a:ext cx="42130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 err="1"/>
              <a:t>Hochreiter</a:t>
            </a:r>
            <a:r>
              <a:rPr kumimoji="1" lang="en" altLang="zh-TW" sz="1200" dirty="0"/>
              <a:t>, Sepp, and Jürgen </a:t>
            </a:r>
            <a:r>
              <a:rPr kumimoji="1" lang="en" altLang="zh-TW" sz="1200" dirty="0" err="1"/>
              <a:t>Schmidhuber</a:t>
            </a:r>
            <a:r>
              <a:rPr kumimoji="1" lang="en" altLang="zh-TW" sz="1200" dirty="0"/>
              <a:t>. "Long short-term memory." Neural computation 9.8 (1997): 1735-1780.</a:t>
            </a:r>
            <a:endParaRPr kumimoji="1" lang="zh-TW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F4B829AA-31E6-FA9E-EBC0-33CF867D4ADD}"/>
                  </a:ext>
                </a:extLst>
              </p:cNvPr>
              <p:cNvSpPr txBox="1"/>
              <p:nvPr/>
            </p:nvSpPr>
            <p:spPr>
              <a:xfrm>
                <a:off x="8261627" y="3140455"/>
                <a:ext cx="7273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zh-TW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F4B829AA-31E6-FA9E-EBC0-33CF867D4A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1627" y="3140455"/>
                <a:ext cx="727389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肘形接點 20">
            <a:extLst>
              <a:ext uri="{FF2B5EF4-FFF2-40B4-BE49-F238E27FC236}">
                <a16:creationId xmlns:a16="http://schemas.microsoft.com/office/drawing/2014/main" id="{B619059E-08D5-1AED-156C-B27784A63B2B}"/>
              </a:ext>
            </a:extLst>
          </p:cNvPr>
          <p:cNvCxnSpPr>
            <a:cxnSpLocks/>
            <a:endCxn id="83" idx="2"/>
          </p:cNvCxnSpPr>
          <p:nvPr/>
        </p:nvCxnSpPr>
        <p:spPr>
          <a:xfrm rot="16200000" flipV="1">
            <a:off x="8473568" y="2988695"/>
            <a:ext cx="303513" cy="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CAE89E12-B10B-A831-22D0-CCBB1E57EE29}"/>
              </a:ext>
            </a:extLst>
          </p:cNvPr>
          <p:cNvCxnSpPr>
            <a:cxnSpLocks/>
          </p:cNvCxnSpPr>
          <p:nvPr/>
        </p:nvCxnSpPr>
        <p:spPr>
          <a:xfrm flipV="1">
            <a:off x="1482368" y="2627948"/>
            <a:ext cx="735533" cy="252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AD9A08DE-D5B0-178D-8170-FBD388F9F27E}"/>
              </a:ext>
            </a:extLst>
          </p:cNvPr>
          <p:cNvSpPr txBox="1"/>
          <p:nvPr/>
        </p:nvSpPr>
        <p:spPr>
          <a:xfrm>
            <a:off x="414824" y="2940705"/>
            <a:ext cx="18161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決定舊的長期記憶要保留多少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391BA026-A64B-12B3-E941-57A7B4B5E56C}"/>
              </a:ext>
            </a:extLst>
          </p:cNvPr>
          <p:cNvSpPr txBox="1"/>
          <p:nvPr/>
        </p:nvSpPr>
        <p:spPr>
          <a:xfrm>
            <a:off x="8783728" y="2830998"/>
            <a:ext cx="18161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決定新的長期記憶要保留多少</a:t>
            </a:r>
          </a:p>
        </p:txBody>
      </p:sp>
    </p:spTree>
    <p:extLst>
      <p:ext uri="{BB962C8B-B14F-4D97-AF65-F5344CB8AC3E}">
        <p14:creationId xmlns:p14="http://schemas.microsoft.com/office/powerpoint/2010/main" val="1264085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9" grpId="0"/>
      <p:bldP spid="20" grpId="0"/>
      <p:bldP spid="24" grpId="0"/>
      <p:bldP spid="35" grpId="0" animBg="1"/>
      <p:bldP spid="36" grpId="0" animBg="1"/>
      <p:bldP spid="37" grpId="0"/>
      <p:bldP spid="38" grpId="0"/>
      <p:bldP spid="42" grpId="0"/>
      <p:bldP spid="49" grpId="0"/>
      <p:bldP spid="50" grpId="0"/>
      <p:bldP spid="51" grpId="0"/>
      <p:bldP spid="52" grpId="0"/>
      <p:bldP spid="59" grpId="0" animBg="1"/>
      <p:bldP spid="60" grpId="0" animBg="1"/>
      <p:bldP spid="61" grpId="0"/>
      <p:bldP spid="62" grpId="0"/>
      <p:bldP spid="66" grpId="0"/>
      <p:bldP spid="67" grpId="0"/>
      <p:bldP spid="68" grpId="0"/>
      <p:bldP spid="111" grpId="0"/>
      <p:bldP spid="117" grpId="0"/>
      <p:bldP spid="3" grpId="0"/>
      <p:bldP spid="7" grpId="0"/>
      <p:bldP spid="22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LSTM (Long Short-Term Memory)</a:t>
            </a:r>
            <a:endParaRPr lang="en-US" dirty="0">
              <a:solidFill>
                <a:srgbClr val="000000"/>
              </a:solidFill>
              <a:ea typeface="新細明體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48</a:t>
            </a:fld>
            <a:endParaRPr lang="zh-TW" altLang="en-US"/>
          </a:p>
        </p:txBody>
      </p: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EED15B13-D357-7B87-6C54-E15F3CDAD237}"/>
              </a:ext>
            </a:extLst>
          </p:cNvPr>
          <p:cNvGrpSpPr/>
          <p:nvPr/>
        </p:nvGrpSpPr>
        <p:grpSpPr>
          <a:xfrm>
            <a:off x="4286512" y="5908968"/>
            <a:ext cx="895546" cy="490194"/>
            <a:chOff x="7654565" y="5128181"/>
            <a:chExt cx="895546" cy="490194"/>
          </a:xfrm>
        </p:grpSpPr>
        <p:sp>
          <p:nvSpPr>
            <p:cNvPr id="54" name="圓角矩形 53">
              <a:extLst>
                <a:ext uri="{FF2B5EF4-FFF2-40B4-BE49-F238E27FC236}">
                  <a16:creationId xmlns:a16="http://schemas.microsoft.com/office/drawing/2014/main" id="{33E657E7-2E44-B8F5-D164-41EF6D091B0B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文字方塊 54">
                  <a:extLst>
                    <a:ext uri="{FF2B5EF4-FFF2-40B4-BE49-F238E27FC236}">
                      <a16:creationId xmlns:a16="http://schemas.microsoft.com/office/drawing/2014/main" id="{AD3C47A8-4541-BD55-9B4F-F8FEA7AA7178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55" name="文字方塊 54">
                  <a:extLst>
                    <a:ext uri="{FF2B5EF4-FFF2-40B4-BE49-F238E27FC236}">
                      <a16:creationId xmlns:a16="http://schemas.microsoft.com/office/drawing/2014/main" id="{AD3C47A8-4541-BD55-9B4F-F8FEA7AA71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7A8E70E9-B197-F736-FD2C-C0BF1690C149}"/>
              </a:ext>
            </a:extLst>
          </p:cNvPr>
          <p:cNvGrpSpPr/>
          <p:nvPr/>
        </p:nvGrpSpPr>
        <p:grpSpPr>
          <a:xfrm>
            <a:off x="6708842" y="5908968"/>
            <a:ext cx="895546" cy="490194"/>
            <a:chOff x="7654565" y="5128181"/>
            <a:chExt cx="895546" cy="490194"/>
          </a:xfrm>
        </p:grpSpPr>
        <p:sp>
          <p:nvSpPr>
            <p:cNvPr id="57" name="圓角矩形 56">
              <a:extLst>
                <a:ext uri="{FF2B5EF4-FFF2-40B4-BE49-F238E27FC236}">
                  <a16:creationId xmlns:a16="http://schemas.microsoft.com/office/drawing/2014/main" id="{1CDCE7DF-2111-6598-C08F-59CC6A825004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字方塊 57">
                  <a:extLst>
                    <a:ext uri="{FF2B5EF4-FFF2-40B4-BE49-F238E27FC236}">
                      <a16:creationId xmlns:a16="http://schemas.microsoft.com/office/drawing/2014/main" id="{7657F0E7-296D-10BA-E49C-8BBA6EE34A2C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文字方塊 57">
                  <a:extLst>
                    <a:ext uri="{FF2B5EF4-FFF2-40B4-BE49-F238E27FC236}">
                      <a16:creationId xmlns:a16="http://schemas.microsoft.com/office/drawing/2014/main" id="{7657F0E7-296D-10BA-E49C-8BBA6EE34A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9" name="平行四邊形 58">
            <a:extLst>
              <a:ext uri="{FF2B5EF4-FFF2-40B4-BE49-F238E27FC236}">
                <a16:creationId xmlns:a16="http://schemas.microsoft.com/office/drawing/2014/main" id="{9CEEE2CC-AF21-9F9D-176A-5ED6FB5D7793}"/>
              </a:ext>
            </a:extLst>
          </p:cNvPr>
          <p:cNvSpPr/>
          <p:nvPr/>
        </p:nvSpPr>
        <p:spPr>
          <a:xfrm>
            <a:off x="4470333" y="4589215"/>
            <a:ext cx="1899503" cy="1219078"/>
          </a:xfrm>
          <a:prstGeom prst="parallelogram">
            <a:avLst>
              <a:gd name="adj" fmla="val 11155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60" name="不規則四邊形 59">
            <a:extLst>
              <a:ext uri="{FF2B5EF4-FFF2-40B4-BE49-F238E27FC236}">
                <a16:creationId xmlns:a16="http://schemas.microsoft.com/office/drawing/2014/main" id="{02AF3453-C800-26B1-2ED0-0C139023F80A}"/>
              </a:ext>
            </a:extLst>
          </p:cNvPr>
          <p:cNvSpPr/>
          <p:nvPr/>
        </p:nvSpPr>
        <p:spPr>
          <a:xfrm>
            <a:off x="6860849" y="4589215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51BFB04-1C99-1303-177F-DCA77E5DDC6A}"/>
                  </a:ext>
                </a:extLst>
              </p:cNvPr>
              <p:cNvSpPr txBox="1"/>
              <p:nvPr/>
            </p:nvSpPr>
            <p:spPr>
              <a:xfrm>
                <a:off x="5152598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altLang="zh-TW" sz="2000" b="0" i="1" baseline="30000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51BFB04-1C99-1303-177F-DCA77E5DDC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598" y="5014088"/>
                <a:ext cx="53497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83E482C9-04F4-1B67-1E44-1B031397BF5D}"/>
                  </a:ext>
                </a:extLst>
              </p:cNvPr>
              <p:cNvSpPr txBox="1"/>
              <p:nvPr/>
            </p:nvSpPr>
            <p:spPr>
              <a:xfrm>
                <a:off x="6919416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altLang="zh-TW" sz="2000" i="1" baseline="3000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83E482C9-04F4-1B67-1E44-1B031397BF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9416" y="5014088"/>
                <a:ext cx="53497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3" name="群組 62">
            <a:extLst>
              <a:ext uri="{FF2B5EF4-FFF2-40B4-BE49-F238E27FC236}">
                <a16:creationId xmlns:a16="http://schemas.microsoft.com/office/drawing/2014/main" id="{3875B643-5113-33C9-3760-04EE0D890BA6}"/>
              </a:ext>
            </a:extLst>
          </p:cNvPr>
          <p:cNvGrpSpPr/>
          <p:nvPr/>
        </p:nvGrpSpPr>
        <p:grpSpPr>
          <a:xfrm>
            <a:off x="6192727" y="3745742"/>
            <a:ext cx="895546" cy="490194"/>
            <a:chOff x="7654565" y="5128181"/>
            <a:chExt cx="895546" cy="490194"/>
          </a:xfrm>
        </p:grpSpPr>
        <p:sp>
          <p:nvSpPr>
            <p:cNvPr id="64" name="圓角矩形 63">
              <a:extLst>
                <a:ext uri="{FF2B5EF4-FFF2-40B4-BE49-F238E27FC236}">
                  <a16:creationId xmlns:a16="http://schemas.microsoft.com/office/drawing/2014/main" id="{0BE518C8-EF77-D8B1-6C23-9119BCCC81B4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BE1FD4BA-5839-11FD-76EF-76999219610A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BE1FD4BA-5839-11FD-76EF-7699921961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A00495CA-BAD8-AE4D-D844-FE7701C55227}"/>
              </a:ext>
            </a:extLst>
          </p:cNvPr>
          <p:cNvSpPr txBox="1"/>
          <p:nvPr/>
        </p:nvSpPr>
        <p:spPr>
          <a:xfrm>
            <a:off x="6478241" y="4250505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467AAF99-AF69-BE41-7FFA-DB9588C3B776}"/>
              </a:ext>
            </a:extLst>
          </p:cNvPr>
          <p:cNvSpPr txBox="1"/>
          <p:nvPr/>
        </p:nvSpPr>
        <p:spPr>
          <a:xfrm>
            <a:off x="9776346" y="2936185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tanh</a:t>
            </a:r>
            <a:endParaRPr kumimoji="1" lang="zh-TW" altLang="en-US" sz="1600" baseline="-25000" dirty="0"/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FE6777D5-5FB1-C79F-37BD-ED17C6809F3E}"/>
              </a:ext>
            </a:extLst>
          </p:cNvPr>
          <p:cNvSpPr txBox="1"/>
          <p:nvPr/>
        </p:nvSpPr>
        <p:spPr>
          <a:xfrm>
            <a:off x="5292922" y="6417915"/>
            <a:ext cx="1530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b="1" dirty="0">
                <a:solidFill>
                  <a:srgbClr val="FF0000"/>
                </a:solidFill>
              </a:rPr>
              <a:t>Output</a:t>
            </a:r>
            <a:r>
              <a:rPr kumimoji="1" lang="en-US" altLang="zh-TW" b="1" dirty="0"/>
              <a:t> Gate</a:t>
            </a:r>
            <a:endParaRPr kumimoji="1" lang="zh-TW" altLang="en-US" b="1" dirty="0"/>
          </a:p>
        </p:txBody>
      </p: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F7EC94B2-AE9B-3759-DCDA-A398DE9ECDC2}"/>
              </a:ext>
            </a:extLst>
          </p:cNvPr>
          <p:cNvGrpSpPr/>
          <p:nvPr/>
        </p:nvGrpSpPr>
        <p:grpSpPr>
          <a:xfrm>
            <a:off x="9928386" y="2346746"/>
            <a:ext cx="895546" cy="490194"/>
            <a:chOff x="6296516" y="3745742"/>
            <a:chExt cx="895546" cy="490194"/>
          </a:xfrm>
        </p:grpSpPr>
        <p:sp>
          <p:nvSpPr>
            <p:cNvPr id="119" name="圓角矩形 118">
              <a:extLst>
                <a:ext uri="{FF2B5EF4-FFF2-40B4-BE49-F238E27FC236}">
                  <a16:creationId xmlns:a16="http://schemas.microsoft.com/office/drawing/2014/main" id="{30A5438F-F5CE-DB2D-6B0C-EB30728E42D9}"/>
                </a:ext>
              </a:extLst>
            </p:cNvPr>
            <p:cNvSpPr/>
            <p:nvPr/>
          </p:nvSpPr>
          <p:spPr>
            <a:xfrm>
              <a:off x="6296516" y="3745742"/>
              <a:ext cx="895546" cy="49019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0" name="文字方塊 119">
                  <a:extLst>
                    <a:ext uri="{FF2B5EF4-FFF2-40B4-BE49-F238E27FC236}">
                      <a16:creationId xmlns:a16="http://schemas.microsoft.com/office/drawing/2014/main" id="{041BB754-BBC8-6BF3-755D-2316EF7B8C8C}"/>
                    </a:ext>
                  </a:extLst>
                </p:cNvPr>
                <p:cNvSpPr txBox="1"/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0" name="文字方塊 119">
                  <a:extLst>
                    <a:ext uri="{FF2B5EF4-FFF2-40B4-BE49-F238E27FC236}">
                      <a16:creationId xmlns:a16="http://schemas.microsoft.com/office/drawing/2014/main" id="{041BB754-BBC8-6BF3-755D-2316EF7B8C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23" name="直線箭頭接點 122">
            <a:extLst>
              <a:ext uri="{FF2B5EF4-FFF2-40B4-BE49-F238E27FC236}">
                <a16:creationId xmlns:a16="http://schemas.microsoft.com/office/drawing/2014/main" id="{EF5FAB31-A79C-DDC3-9559-2EA754A3CD39}"/>
              </a:ext>
            </a:extLst>
          </p:cNvPr>
          <p:cNvCxnSpPr>
            <a:cxnSpLocks/>
          </p:cNvCxnSpPr>
          <p:nvPr/>
        </p:nvCxnSpPr>
        <p:spPr>
          <a:xfrm>
            <a:off x="9189254" y="2593252"/>
            <a:ext cx="627701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18416C70-16F6-3BEC-A4C0-1192B859E1DB}"/>
              </a:ext>
            </a:extLst>
          </p:cNvPr>
          <p:cNvGrpSpPr/>
          <p:nvPr/>
        </p:nvGrpSpPr>
        <p:grpSpPr>
          <a:xfrm>
            <a:off x="9928386" y="3742573"/>
            <a:ext cx="895546" cy="490194"/>
            <a:chOff x="7654565" y="5128181"/>
            <a:chExt cx="895546" cy="490194"/>
          </a:xfrm>
        </p:grpSpPr>
        <p:sp>
          <p:nvSpPr>
            <p:cNvPr id="28" name="圓角矩形 27">
              <a:extLst>
                <a:ext uri="{FF2B5EF4-FFF2-40B4-BE49-F238E27FC236}">
                  <a16:creationId xmlns:a16="http://schemas.microsoft.com/office/drawing/2014/main" id="{4F37C845-01C1-67CE-CB78-73C727EFB044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C60759F8-F384-B8B9-91F5-136733367077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C60759F8-F384-B8B9-91F5-1367333670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21E2FC46-7B25-31DA-B5D2-6AC4B70F20AE}"/>
              </a:ext>
            </a:extLst>
          </p:cNvPr>
          <p:cNvCxnSpPr>
            <a:cxnSpLocks/>
          </p:cNvCxnSpPr>
          <p:nvPr/>
        </p:nvCxnSpPr>
        <p:spPr>
          <a:xfrm>
            <a:off x="10381772" y="3315460"/>
            <a:ext cx="0" cy="32794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A030489B-8BBB-5858-B5F1-0167B073BD51}"/>
              </a:ext>
            </a:extLst>
          </p:cNvPr>
          <p:cNvSpPr txBox="1"/>
          <p:nvPr/>
        </p:nvSpPr>
        <p:spPr>
          <a:xfrm>
            <a:off x="6040687" y="3418700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Sigmoid</a:t>
            </a:r>
            <a:endParaRPr kumimoji="1" lang="zh-TW" altLang="en-US" sz="1600" baseline="-25000" dirty="0"/>
          </a:p>
        </p:txBody>
      </p:sp>
      <p:sp>
        <p:nvSpPr>
          <p:cNvPr id="77" name="內容版面配置區 2">
            <a:extLst>
              <a:ext uri="{FF2B5EF4-FFF2-40B4-BE49-F238E27FC236}">
                <a16:creationId xmlns:a16="http://schemas.microsoft.com/office/drawing/2014/main" id="{C68C5BAE-772D-34A6-3B49-9DB68CC5EF54}"/>
              </a:ext>
            </a:extLst>
          </p:cNvPr>
          <p:cNvSpPr>
            <a:spLocks noGrp="1"/>
          </p:cNvSpPr>
          <p:nvPr/>
        </p:nvSpPr>
        <p:spPr>
          <a:xfrm>
            <a:off x="723984" y="1646360"/>
            <a:ext cx="10114429" cy="474134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-114300">
              <a:buFont typeface="Wingdings" panose="020F0502020204030204" pitchFamily="34" charset="0"/>
              <a:buChar char="Ø"/>
            </a:pPr>
            <a:r>
              <a:rPr lang="zh-TW" altLang="en-US" sz="2400" dirty="0">
                <a:solidFill>
                  <a:schemeClr val="accent1"/>
                </a:solidFill>
                <a:latin typeface="Calibri" panose="020F0502020204030204" pitchFamily="34" charset="0"/>
                <a:ea typeface="新細明體"/>
                <a:cs typeface="Calibri"/>
              </a:rPr>
              <a:t> </a:t>
            </a:r>
            <a:r>
              <a:rPr lang="en-US" altLang="zh-TW" sz="2400" dirty="0">
                <a:solidFill>
                  <a:schemeClr val="accent1"/>
                </a:solidFill>
                <a:latin typeface="Calibri" panose="020F0502020204030204" pitchFamily="34" charset="0"/>
                <a:ea typeface="新細明體"/>
                <a:cs typeface="Calibri"/>
              </a:rPr>
              <a:t>LSTM uses 4 times of weights as a standard RNN. </a:t>
            </a:r>
            <a:endParaRPr lang="en-US" sz="2400" dirty="0">
              <a:latin typeface="Calibri" panose="020F0502020204030204" pitchFamily="34" charset="0"/>
              <a:ea typeface="Calibri"/>
              <a:cs typeface="Calibri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394C5B75-BD8A-65BE-643B-FCDD00885935}"/>
              </a:ext>
            </a:extLst>
          </p:cNvPr>
          <p:cNvSpPr txBox="1"/>
          <p:nvPr/>
        </p:nvSpPr>
        <p:spPr>
          <a:xfrm>
            <a:off x="7452286" y="91725"/>
            <a:ext cx="42130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 err="1"/>
              <a:t>Hochreiter</a:t>
            </a:r>
            <a:r>
              <a:rPr kumimoji="1" lang="en" altLang="zh-TW" sz="1200" dirty="0"/>
              <a:t>, Sepp, and Jürgen </a:t>
            </a:r>
            <a:r>
              <a:rPr kumimoji="1" lang="en" altLang="zh-TW" sz="1200" dirty="0" err="1"/>
              <a:t>Schmidhuber</a:t>
            </a:r>
            <a:r>
              <a:rPr kumimoji="1" lang="en" altLang="zh-TW" sz="1200" dirty="0"/>
              <a:t>. "Long short-term memory." Neural computation 9.8 (1997): 1735-1780.</a:t>
            </a:r>
            <a:endParaRPr kumimoji="1" lang="zh-TW" altLang="en-US" sz="12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4B4C187E-D6B9-3D70-A081-BF6BFE47751B}"/>
              </a:ext>
            </a:extLst>
          </p:cNvPr>
          <p:cNvSpPr txBox="1"/>
          <p:nvPr/>
        </p:nvSpPr>
        <p:spPr>
          <a:xfrm>
            <a:off x="10371888" y="3315817"/>
            <a:ext cx="1199626" cy="2564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kumimoji="1" lang="zh-TW" altLang="en-US" sz="1600" baseline="-25000" dirty="0"/>
          </a:p>
        </p:txBody>
      </p:sp>
      <p:cxnSp>
        <p:nvCxnSpPr>
          <p:cNvPr id="10" name="肘形接點 9">
            <a:extLst>
              <a:ext uri="{FF2B5EF4-FFF2-40B4-BE49-F238E27FC236}">
                <a16:creationId xmlns:a16="http://schemas.microsoft.com/office/drawing/2014/main" id="{32A5A1EF-2711-88D3-7776-987E65CC49EC}"/>
              </a:ext>
            </a:extLst>
          </p:cNvPr>
          <p:cNvCxnSpPr>
            <a:endCxn id="5" idx="1"/>
          </p:cNvCxnSpPr>
          <p:nvPr/>
        </p:nvCxnSpPr>
        <p:spPr>
          <a:xfrm flipV="1">
            <a:off x="7240313" y="3444057"/>
            <a:ext cx="3131575" cy="562459"/>
          </a:xfrm>
          <a:prstGeom prst="bentConnector3">
            <a:avLst>
              <a:gd name="adj1" fmla="val 69594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0E27B085-C724-BFEF-49E4-77422AC2C4EF}"/>
                  </a:ext>
                </a:extLst>
              </p:cNvPr>
              <p:cNvSpPr txBox="1"/>
              <p:nvPr/>
            </p:nvSpPr>
            <p:spPr>
              <a:xfrm>
                <a:off x="8862237" y="3635753"/>
                <a:ext cx="7273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zh-TW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0E27B085-C724-BFEF-49E4-77422AC2C4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2237" y="3635753"/>
                <a:ext cx="727389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文字方塊 14">
            <a:extLst>
              <a:ext uri="{FF2B5EF4-FFF2-40B4-BE49-F238E27FC236}">
                <a16:creationId xmlns:a16="http://schemas.microsoft.com/office/drawing/2014/main" id="{3FCE8AC6-3F33-61CF-A418-B8FD484393EA}"/>
              </a:ext>
            </a:extLst>
          </p:cNvPr>
          <p:cNvSpPr txBox="1"/>
          <p:nvPr/>
        </p:nvSpPr>
        <p:spPr>
          <a:xfrm>
            <a:off x="7364138" y="2400265"/>
            <a:ext cx="18346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(previous slide)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DF59470E-289A-7298-EDDB-A93FBD08E526}"/>
                  </a:ext>
                </a:extLst>
              </p:cNvPr>
              <p:cNvSpPr txBox="1"/>
              <p:nvPr/>
            </p:nvSpPr>
            <p:spPr>
              <a:xfrm>
                <a:off x="9189254" y="1717378"/>
                <a:ext cx="206260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zh-TW" altLang="zh-TW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zh-TW" dirty="0"/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DF59470E-289A-7298-EDDB-A93FBD08E5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9254" y="1717378"/>
                <a:ext cx="2062608" cy="369332"/>
              </a:xfrm>
              <a:prstGeom prst="rect">
                <a:avLst/>
              </a:prstGeom>
              <a:blipFill>
                <a:blip r:embed="rId1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字方塊 2">
            <a:extLst>
              <a:ext uri="{FF2B5EF4-FFF2-40B4-BE49-F238E27FC236}">
                <a16:creationId xmlns:a16="http://schemas.microsoft.com/office/drawing/2014/main" id="{62ADC6D1-0A40-8DBC-50DF-FF88D62703FB}"/>
              </a:ext>
            </a:extLst>
          </p:cNvPr>
          <p:cNvSpPr txBox="1"/>
          <p:nvPr/>
        </p:nvSpPr>
        <p:spPr>
          <a:xfrm>
            <a:off x="7217168" y="4005223"/>
            <a:ext cx="23402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根據現在的長期記憶</a:t>
            </a:r>
            <a:endParaRPr kumimoji="1" lang="en-US" altLang="zh-TW" dirty="0"/>
          </a:p>
          <a:p>
            <a:r>
              <a:rPr kumimoji="1" lang="zh-TW" altLang="en-US" dirty="0"/>
              <a:t>進行輸出</a:t>
            </a:r>
          </a:p>
        </p:txBody>
      </p:sp>
    </p:spTree>
    <p:extLst>
      <p:ext uri="{BB962C8B-B14F-4D97-AF65-F5344CB8AC3E}">
        <p14:creationId xmlns:p14="http://schemas.microsoft.com/office/powerpoint/2010/main" val="1438571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708D98-2786-6FD4-32D7-BF1D0A108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延伸學習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8F99E1A-90F2-AD81-CE70-DCBBC4C896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TW" dirty="0"/>
              <a:t>https://</a:t>
            </a:r>
            <a:r>
              <a:rPr kumimoji="1" lang="en" altLang="zh-TW" dirty="0" err="1"/>
              <a:t>colah.github.io</a:t>
            </a:r>
            <a:r>
              <a:rPr kumimoji="1" lang="en" altLang="zh-TW" dirty="0"/>
              <a:t>/posts/2015-08-Understanding-LSTMs/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C89A611-55C8-E6FD-DED2-31B22B060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51200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5CB4F40-3D8A-AB03-54B0-9A2C7E3C0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RNN vs. LSTM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DD9EF3-A4CB-1519-7865-FDCC4EEC1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50</a:t>
            </a:fld>
            <a:endParaRPr lang="en-US" dirty="0"/>
          </a:p>
        </p:txBody>
      </p:sp>
      <p:graphicFrame>
        <p:nvGraphicFramePr>
          <p:cNvPr id="5" name="表格 5">
            <a:extLst>
              <a:ext uri="{FF2B5EF4-FFF2-40B4-BE49-F238E27FC236}">
                <a16:creationId xmlns:a16="http://schemas.microsoft.com/office/drawing/2014/main" id="{26AC2FFF-1E86-1F39-C6C0-51504AC3C0BD}"/>
              </a:ext>
            </a:extLst>
          </p:cNvPr>
          <p:cNvGraphicFramePr>
            <a:graphicFrameLocks noGrp="1"/>
          </p:cNvGraphicFramePr>
          <p:nvPr/>
        </p:nvGraphicFramePr>
        <p:xfrm>
          <a:off x="1582256" y="2531688"/>
          <a:ext cx="9027488" cy="26191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7247">
                  <a:extLst>
                    <a:ext uri="{9D8B030D-6E8A-4147-A177-3AD203B41FA5}">
                      <a16:colId xmlns:a16="http://schemas.microsoft.com/office/drawing/2014/main" val="1526425723"/>
                    </a:ext>
                  </a:extLst>
                </a:gridCol>
                <a:gridCol w="2416497">
                  <a:extLst>
                    <a:ext uri="{9D8B030D-6E8A-4147-A177-3AD203B41FA5}">
                      <a16:colId xmlns:a16="http://schemas.microsoft.com/office/drawing/2014/main" val="3048649706"/>
                    </a:ext>
                  </a:extLst>
                </a:gridCol>
                <a:gridCol w="2256872">
                  <a:extLst>
                    <a:ext uri="{9D8B030D-6E8A-4147-A177-3AD203B41FA5}">
                      <a16:colId xmlns:a16="http://schemas.microsoft.com/office/drawing/2014/main" val="1192829980"/>
                    </a:ext>
                  </a:extLst>
                </a:gridCol>
                <a:gridCol w="2256872">
                  <a:extLst>
                    <a:ext uri="{9D8B030D-6E8A-4147-A177-3AD203B41FA5}">
                      <a16:colId xmlns:a16="http://schemas.microsoft.com/office/drawing/2014/main" val="268078857"/>
                    </a:ext>
                  </a:extLst>
                </a:gridCol>
              </a:tblGrid>
              <a:tr h="870747">
                <a:tc>
                  <a:txBody>
                    <a:bodyPr/>
                    <a:lstStyle/>
                    <a:p>
                      <a:endParaRPr lang="zh-TW" altLang="en-US" sz="2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Memory Mechanism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sz="2000" dirty="0"/>
                        <a:t>Handles Long Dependencies?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sz="2000" dirty="0"/>
                        <a:t>Gradient Vanishing?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596234"/>
                  </a:ext>
                </a:extLst>
              </a:tr>
              <a:tr h="874202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RNN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sz="2000" dirty="0"/>
                        <a:t>Hidden state </a:t>
                      </a:r>
                      <a:r>
                        <a:rPr lang="en" altLang="zh-TW" sz="2000" dirty="0" err="1"/>
                        <a:t>h</a:t>
                      </a:r>
                      <a:r>
                        <a:rPr lang="en" altLang="zh-TW" sz="2000" baseline="-25000" dirty="0" err="1"/>
                        <a:t>t</a:t>
                      </a:r>
                      <a:endParaRPr lang="zh-TW" altLang="en-US" sz="2000" baseline="-25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Worse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Yes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9865498"/>
                  </a:ext>
                </a:extLst>
              </a:tr>
              <a:tr h="874202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LSTM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000" dirty="0"/>
                        <a:t>Memory state </a:t>
                      </a:r>
                      <a:r>
                        <a:rPr lang="en" altLang="zh-TW" sz="2000" dirty="0" err="1"/>
                        <a:t>c</a:t>
                      </a:r>
                      <a:r>
                        <a:rPr lang="en" altLang="zh-TW" sz="2000" baseline="-25000" dirty="0" err="1"/>
                        <a:t>t</a:t>
                      </a:r>
                      <a:r>
                        <a:rPr lang="en" altLang="zh-TW" sz="2000" dirty="0"/>
                        <a:t> + Hidden state </a:t>
                      </a:r>
                      <a:r>
                        <a:rPr lang="en" altLang="zh-TW" sz="2000" dirty="0" err="1"/>
                        <a:t>h</a:t>
                      </a:r>
                      <a:r>
                        <a:rPr lang="en" altLang="zh-TW" sz="2000" baseline="-25000" dirty="0" err="1"/>
                        <a:t>t</a:t>
                      </a:r>
                      <a:endParaRPr lang="zh-TW" altLang="en-US" sz="2000" baseline="-25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Better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Much less than a standard RNN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5769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619303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FB36DE-9EF0-57A4-1FE1-262C96A40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期中考提醒 </a:t>
            </a:r>
            <a:r>
              <a:rPr kumimoji="1" lang="en-US" altLang="zh-TW" dirty="0"/>
              <a:t>(11/04 </a:t>
            </a:r>
            <a:r>
              <a:rPr kumimoji="1" lang="en-US" altLang="zh-TW" dirty="0">
                <a:solidFill>
                  <a:srgbClr val="FF0000"/>
                </a:solidFill>
              </a:rPr>
              <a:t>13:10 - 16:00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B84D979-D4B3-0737-FAED-5659839DA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51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BE93014E-041A-06B7-852A-0E2A0499BD86}"/>
              </a:ext>
            </a:extLst>
          </p:cNvPr>
          <p:cNvSpPr txBox="1"/>
          <p:nvPr/>
        </p:nvSpPr>
        <p:spPr>
          <a:xfrm>
            <a:off x="653143" y="1868198"/>
            <a:ext cx="10918370" cy="3902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教室分兩間，座位表將於考試當日上午公布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類型為：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觀念題（問答為主、選擇為輔）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紙上上機：與模型訓練或深度學習函式庫有關的程式碼細節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考試範圍：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Week1 - Week8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也就是 </a:t>
            </a:r>
            <a:r>
              <a:rPr kumimoji="1" lang="en-US" altLang="zh-TW" sz="2400" dirty="0">
                <a:ea typeface="Microsoft JhengHei" panose="020B0604030504040204" pitchFamily="34" charset="-120"/>
                <a:hlinkClick r:id="rId2"/>
              </a:rPr>
              <a:t>GitHub repo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 上面的</a:t>
            </a:r>
            <a:r>
              <a:rPr kumimoji="1" lang="zh-TW" altLang="en-US" sz="2400">
                <a:ea typeface="Microsoft JhengHei" panose="020B0604030504040204" pitchFamily="34" charset="-120"/>
              </a:rPr>
              <a:t>所有內容、作業與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小考題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期中考佔學期成績比例 </a:t>
            </a:r>
            <a:r>
              <a:rPr kumimoji="1" lang="en-US" altLang="zh-TW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30%</a:t>
            </a:r>
          </a:p>
        </p:txBody>
      </p:sp>
    </p:spTree>
    <p:extLst>
      <p:ext uri="{BB962C8B-B14F-4D97-AF65-F5344CB8AC3E}">
        <p14:creationId xmlns:p14="http://schemas.microsoft.com/office/powerpoint/2010/main" val="219384936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CD83C5C-EA61-C255-DF28-E9CFF9EEA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3065145"/>
            <a:ext cx="3200400" cy="727709"/>
          </a:xfrm>
        </p:spPr>
        <p:txBody>
          <a:bodyPr anchor="ctr">
            <a:normAutofit/>
          </a:bodyPr>
          <a:lstStyle/>
          <a:p>
            <a:r>
              <a:rPr lang="en-US" altLang="zh-TW" sz="4800" dirty="0"/>
              <a:t>Thank you!</a:t>
            </a:r>
            <a:endParaRPr lang="zh-TW" altLang="en-US" sz="4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60AC63-905C-E7E8-4AEA-D711150C4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52</a:t>
            </a:fld>
            <a:endParaRPr lang="en-US" dirty="0"/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5CC2DB8D-FB34-E3BD-0CDD-276E352FE9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1802" y="2769461"/>
            <a:ext cx="4071257" cy="2046786"/>
          </a:xfrm>
        </p:spPr>
        <p:txBody>
          <a:bodyPr>
            <a:normAutofit fontScale="85000" lnSpcReduction="10000"/>
          </a:bodyPr>
          <a:lstStyle/>
          <a:p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林英嘉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✉️ </a:t>
            </a:r>
            <a:r>
              <a:rPr kumimoji="1" lang="en-US" altLang="zh-TW" sz="32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yjlin@cgu.edu.tw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TA: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鄭茹云</a:t>
            </a:r>
          </a:p>
          <a:p>
            <a:pPr marL="0" indent="0">
              <a:buNone/>
            </a:pP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✉️ </a:t>
            </a: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m1461010@cgu.edu.tw</a:t>
            </a:r>
          </a:p>
          <a:p>
            <a:pPr marL="0" indent="0">
              <a:buNone/>
            </a:pP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9680789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urse_template_DL" id="{E71C07C9-5718-B34F-9EA9-A4FDE47A262C}" vid="{F05AA8C9-6C58-904C-AE8A-42257BEE94D0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回顧</Template>
  <TotalTime>8553</TotalTime>
  <Words>2904</Words>
  <Application>Microsoft Macintosh PowerPoint</Application>
  <PresentationFormat>寬螢幕</PresentationFormat>
  <Paragraphs>748</Paragraphs>
  <Slides>52</Slides>
  <Notes>23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52</vt:i4>
      </vt:variant>
    </vt:vector>
  </HeadingPairs>
  <TitlesOfParts>
    <vt:vector size="62" baseType="lpstr">
      <vt:lpstr>Microsoft JhengHei</vt:lpstr>
      <vt:lpstr>新細明體</vt:lpstr>
      <vt:lpstr>Aptos</vt:lpstr>
      <vt:lpstr>Arial</vt:lpstr>
      <vt:lpstr>Calibri</vt:lpstr>
      <vt:lpstr>Cambria Math</vt:lpstr>
      <vt:lpstr>Consolas</vt:lpstr>
      <vt:lpstr>Courier New</vt:lpstr>
      <vt:lpstr>Wingdings</vt:lpstr>
      <vt:lpstr>回顧</vt:lpstr>
      <vt:lpstr>深度學習 Deep Learning</vt:lpstr>
      <vt:lpstr>Outline</vt:lpstr>
      <vt:lpstr>什麼是自然語言處理？</vt:lpstr>
      <vt:lpstr>The Revolution of ChatGPT</vt:lpstr>
      <vt:lpstr>大型語言模型的應用</vt:lpstr>
      <vt:lpstr>Code Llama</vt:lpstr>
      <vt:lpstr>深度學習常見模型架構</vt:lpstr>
      <vt:lpstr>Natural Language Processing (NLP)</vt:lpstr>
      <vt:lpstr>NLP 三大秘辛</vt:lpstr>
      <vt:lpstr>影像 vs. 文字</vt:lpstr>
      <vt:lpstr>每個字，都是一段向量</vt:lpstr>
      <vt:lpstr>Word Representations</vt:lpstr>
      <vt:lpstr>nn.Embeddings</vt:lpstr>
      <vt:lpstr>Word Embeddings (Word2Vec)</vt:lpstr>
      <vt:lpstr>After Training Word Embeddings</vt:lpstr>
      <vt:lpstr>NLP 三大秘辛</vt:lpstr>
      <vt:lpstr>每個 NLP 模型都有一個字典 📙</vt:lpstr>
      <vt:lpstr>字典實作</vt:lpstr>
      <vt:lpstr>[注意事項] 字典實作</vt:lpstr>
      <vt:lpstr>NLP 三大秘辛</vt:lpstr>
      <vt:lpstr>語言的模式</vt:lpstr>
      <vt:lpstr>序列模型</vt:lpstr>
      <vt:lpstr>Recurrent Neural Networks (RNN)</vt:lpstr>
      <vt:lpstr>RNN 的記憶力意義</vt:lpstr>
      <vt:lpstr>RNN 以文字接龍進行訓練</vt:lpstr>
      <vt:lpstr>RNN (本頁省略 bias)</vt:lpstr>
      <vt:lpstr>Text Generation with RNN</vt:lpstr>
      <vt:lpstr>Why is softmax called softmax?</vt:lpstr>
      <vt:lpstr>Text Generation with RNN (V輸出時)</vt:lpstr>
      <vt:lpstr>如何把模型輸出變成機率值 (0~1)？</vt:lpstr>
      <vt:lpstr>為什麼恆正重要？</vt:lpstr>
      <vt:lpstr>Softmax 帶來大者恆大的效應</vt:lpstr>
      <vt:lpstr>如何對一個模型輸出值取機率值 (0~1)？</vt:lpstr>
      <vt:lpstr>RNN 使用 tanh (hyperbolic tangent)</vt:lpstr>
      <vt:lpstr>Activation functions (啟動函數)</vt:lpstr>
      <vt:lpstr>為什麼我們通常不用 MLP 來做 NLP？</vt:lpstr>
      <vt:lpstr>RNNs for Sequence Classification</vt:lpstr>
      <vt:lpstr>Stacked RNNs</vt:lpstr>
      <vt:lpstr>Bidirectional RNNs</vt:lpstr>
      <vt:lpstr>Bidirectional RNNs for Sequence Classification</vt:lpstr>
      <vt:lpstr>Shortage of standard RNNs</vt:lpstr>
      <vt:lpstr>(Calculus) Chain Rule - 1</vt:lpstr>
      <vt:lpstr>(Calculus) Chain Rule  - 2</vt:lpstr>
      <vt:lpstr>Back-propagation through-time (BPTT) </vt:lpstr>
      <vt:lpstr>Long Short-Term Memory</vt:lpstr>
      <vt:lpstr>Gate (以 Forget Gate 為例)</vt:lpstr>
      <vt:lpstr>LSTM (Long Short-Term Memory)</vt:lpstr>
      <vt:lpstr>LSTM (Long Short-Term Memory)</vt:lpstr>
      <vt:lpstr>延伸學習</vt:lpstr>
      <vt:lpstr>RNN vs. LSTM</vt:lpstr>
      <vt:lpstr>期中考提醒 (11/04 13:10 - 16:00)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深度學習 Deep Learning</dc:title>
  <dc:creator>林英嘉</dc:creator>
  <cp:lastModifiedBy>林英嘉</cp:lastModifiedBy>
  <cp:revision>1364</cp:revision>
  <dcterms:created xsi:type="dcterms:W3CDTF">2025-02-06T07:16:08Z</dcterms:created>
  <dcterms:modified xsi:type="dcterms:W3CDTF">2026-10-27T08:10:25Z</dcterms:modified>
</cp:coreProperties>
</file>