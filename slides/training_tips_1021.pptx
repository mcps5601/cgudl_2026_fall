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0"/>
  </p:notesMasterIdLst>
  <p:sldIdLst>
    <p:sldId id="264" r:id="rId2"/>
    <p:sldId id="278" r:id="rId3"/>
    <p:sldId id="509" r:id="rId4"/>
    <p:sldId id="672" r:id="rId5"/>
    <p:sldId id="668" r:id="rId6"/>
    <p:sldId id="671" r:id="rId7"/>
    <p:sldId id="687" r:id="rId8"/>
    <p:sldId id="688" r:id="rId9"/>
    <p:sldId id="673" r:id="rId10"/>
    <p:sldId id="679" r:id="rId11"/>
    <p:sldId id="674" r:id="rId12"/>
    <p:sldId id="676" r:id="rId13"/>
    <p:sldId id="680" r:id="rId14"/>
    <p:sldId id="678" r:id="rId15"/>
    <p:sldId id="681" r:id="rId16"/>
    <p:sldId id="632" r:id="rId17"/>
    <p:sldId id="532" r:id="rId18"/>
    <p:sldId id="531" r:id="rId19"/>
    <p:sldId id="682" r:id="rId20"/>
    <p:sldId id="534" r:id="rId21"/>
    <p:sldId id="683" r:id="rId22"/>
    <p:sldId id="684" r:id="rId23"/>
    <p:sldId id="667" r:id="rId24"/>
    <p:sldId id="711" r:id="rId25"/>
    <p:sldId id="677" r:id="rId26"/>
    <p:sldId id="561" r:id="rId27"/>
    <p:sldId id="662" r:id="rId28"/>
    <p:sldId id="631" r:id="rId29"/>
    <p:sldId id="649" r:id="rId30"/>
    <p:sldId id="659" r:id="rId31"/>
    <p:sldId id="689" r:id="rId32"/>
    <p:sldId id="658" r:id="rId33"/>
    <p:sldId id="685" r:id="rId34"/>
    <p:sldId id="686" r:id="rId35"/>
    <p:sldId id="506" r:id="rId36"/>
    <p:sldId id="660" r:id="rId37"/>
    <p:sldId id="666" r:id="rId38"/>
    <p:sldId id="692" r:id="rId39"/>
    <p:sldId id="511" r:id="rId40"/>
    <p:sldId id="693" r:id="rId41"/>
    <p:sldId id="695" r:id="rId42"/>
    <p:sldId id="533" r:id="rId43"/>
    <p:sldId id="523" r:id="rId44"/>
    <p:sldId id="535" r:id="rId45"/>
    <p:sldId id="536" r:id="rId46"/>
    <p:sldId id="537" r:id="rId47"/>
    <p:sldId id="538" r:id="rId48"/>
    <p:sldId id="539" r:id="rId49"/>
    <p:sldId id="540" r:id="rId50"/>
    <p:sldId id="541" r:id="rId51"/>
    <p:sldId id="542" r:id="rId52"/>
    <p:sldId id="543" r:id="rId53"/>
    <p:sldId id="544" r:id="rId54"/>
    <p:sldId id="545" r:id="rId55"/>
    <p:sldId id="546" r:id="rId56"/>
    <p:sldId id="521" r:id="rId57"/>
    <p:sldId id="524" r:id="rId58"/>
    <p:sldId id="522" r:id="rId59"/>
    <p:sldId id="611" r:id="rId60"/>
    <p:sldId id="525" r:id="rId61"/>
    <p:sldId id="510" r:id="rId62"/>
    <p:sldId id="696" r:id="rId63"/>
    <p:sldId id="694" r:id="rId64"/>
    <p:sldId id="697" r:id="rId65"/>
    <p:sldId id="702" r:id="rId66"/>
    <p:sldId id="704" r:id="rId67"/>
    <p:sldId id="703" r:id="rId68"/>
    <p:sldId id="698" r:id="rId69"/>
    <p:sldId id="699" r:id="rId70"/>
    <p:sldId id="700" r:id="rId71"/>
    <p:sldId id="701" r:id="rId72"/>
    <p:sldId id="705" r:id="rId73"/>
    <p:sldId id="706" r:id="rId74"/>
    <p:sldId id="707" r:id="rId75"/>
    <p:sldId id="708" r:id="rId76"/>
    <p:sldId id="709" r:id="rId77"/>
    <p:sldId id="710" r:id="rId78"/>
    <p:sldId id="690" r:id="rId7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F5EA"/>
    <a:srgbClr val="05A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17"/>
    <p:restoredTop sz="93282"/>
  </p:normalViewPr>
  <p:slideViewPr>
    <p:cSldViewPr snapToGrid="0">
      <p:cViewPr varScale="1">
        <p:scale>
          <a:sx n="126" d="100"/>
          <a:sy n="126" d="100"/>
        </p:scale>
        <p:origin x="440" y="19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35" d="100"/>
          <a:sy n="135" d="100"/>
        </p:scale>
        <p:origin x="4560"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BE83B-754F-B948-8CD7-D8047F5EE2C4}" type="datetimeFigureOut">
              <a:rPr kumimoji="1" lang="zh-TW" altLang="en-US" smtClean="0"/>
              <a:t>2026/10/21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836D1C-D09F-2A41-BBEA-6549EF3DDB65}" type="slidenum">
              <a:rPr kumimoji="1" lang="zh-TW" altLang="en-US" smtClean="0"/>
              <a:t>‹#›</a:t>
            </a:fld>
            <a:endParaRPr kumimoji="1" lang="zh-TW" altLang="en-US"/>
          </a:p>
        </p:txBody>
      </p:sp>
    </p:spTree>
    <p:extLst>
      <p:ext uri="{BB962C8B-B14F-4D97-AF65-F5344CB8AC3E}">
        <p14:creationId xmlns:p14="http://schemas.microsoft.com/office/powerpoint/2010/main" val="2951419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a:t>
            </a:fld>
            <a:endParaRPr kumimoji="1" lang="zh-TW" altLang="en-US"/>
          </a:p>
        </p:txBody>
      </p:sp>
    </p:spTree>
    <p:extLst>
      <p:ext uri="{BB962C8B-B14F-4D97-AF65-F5344CB8AC3E}">
        <p14:creationId xmlns:p14="http://schemas.microsoft.com/office/powerpoint/2010/main" val="1816343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a:t>
            </a:fld>
            <a:endParaRPr kumimoji="1" lang="zh-TW" altLang="en-US"/>
          </a:p>
        </p:txBody>
      </p:sp>
    </p:spTree>
    <p:extLst>
      <p:ext uri="{BB962C8B-B14F-4D97-AF65-F5344CB8AC3E}">
        <p14:creationId xmlns:p14="http://schemas.microsoft.com/office/powerpoint/2010/main" val="1632779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7971-4AE8-E105-9871-832B2C3C17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032BD12-0BA7-EB39-AF2D-563ADE6FCD8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3C823D3-20D5-C2A8-34AB-A2240D1ACBBF}"/>
              </a:ext>
            </a:extLst>
          </p:cNvPr>
          <p:cNvSpPr>
            <a:spLocks noGrp="1"/>
          </p:cNvSpPr>
          <p:nvPr>
            <p:ph type="body" idx="1"/>
          </p:nvPr>
        </p:nvSpPr>
        <p:spPr/>
        <p:txBody>
          <a:bodyPr/>
          <a:lstStyle/>
          <a:p>
            <a:r>
              <a:rPr kumimoji="1" lang="en" altLang="zh-TW" dirty="0"/>
              <a:t>Underfitting occurs when the model is not able to obtain a sufficiently low error value on the training set.</a:t>
            </a:r>
          </a:p>
          <a:p>
            <a:r>
              <a:rPr kumimoji="1" lang="en" altLang="zh-TW" dirty="0"/>
              <a:t>Overfitting occurs when the gap between the training error and test error is too large.</a:t>
            </a:r>
          </a:p>
        </p:txBody>
      </p:sp>
      <p:sp>
        <p:nvSpPr>
          <p:cNvPr id="4" name="投影片編號版面配置區 3">
            <a:extLst>
              <a:ext uri="{FF2B5EF4-FFF2-40B4-BE49-F238E27FC236}">
                <a16:creationId xmlns:a16="http://schemas.microsoft.com/office/drawing/2014/main" id="{FC3F09EA-B6BB-7D92-767F-84813894A7C0}"/>
              </a:ext>
            </a:extLst>
          </p:cNvPr>
          <p:cNvSpPr>
            <a:spLocks noGrp="1"/>
          </p:cNvSpPr>
          <p:nvPr>
            <p:ph type="sldNum" sz="quarter" idx="5"/>
          </p:nvPr>
        </p:nvSpPr>
        <p:spPr/>
        <p:txBody>
          <a:bodyPr/>
          <a:lstStyle/>
          <a:p>
            <a:fld id="{61836D1C-D09F-2A41-BBEA-6549EF3DDB65}" type="slidenum">
              <a:rPr kumimoji="1" lang="zh-TW" altLang="en-US" smtClean="0"/>
              <a:t>6</a:t>
            </a:fld>
            <a:endParaRPr kumimoji="1" lang="zh-TW" altLang="en-US"/>
          </a:p>
        </p:txBody>
      </p:sp>
    </p:spTree>
    <p:extLst>
      <p:ext uri="{BB962C8B-B14F-4D97-AF65-F5344CB8AC3E}">
        <p14:creationId xmlns:p14="http://schemas.microsoft.com/office/powerpoint/2010/main" val="3082668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 altLang="zh-TW" dirty="0"/>
              <a:t>Regularization is any modification we make to a learning algorithm that is intended to reduce its generalization error but not its training error.</a:t>
            </a:r>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9</a:t>
            </a:fld>
            <a:endParaRPr kumimoji="1" lang="zh-TW" altLang="en-US"/>
          </a:p>
        </p:txBody>
      </p:sp>
    </p:spTree>
    <p:extLst>
      <p:ext uri="{BB962C8B-B14F-4D97-AF65-F5344CB8AC3E}">
        <p14:creationId xmlns:p14="http://schemas.microsoft.com/office/powerpoint/2010/main" val="2789988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8A133-70C2-F553-2205-9523BCC237F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21A7D05-AFEF-08AB-000D-3C1764739AC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C1FBF1D-E4BF-30A7-CCCE-16666664F50A}"/>
              </a:ext>
            </a:extLst>
          </p:cNvPr>
          <p:cNvSpPr>
            <a:spLocks noGrp="1"/>
          </p:cNvSpPr>
          <p:nvPr>
            <p:ph type="body" idx="1"/>
          </p:nvPr>
        </p:nvSpPr>
        <p:spPr/>
        <p:txBody>
          <a:bodyPr/>
          <a:lstStyle/>
          <a:p>
            <a:r>
              <a:rPr kumimoji="1" lang="en" altLang="zh-TW" dirty="0"/>
              <a:t>Regularization is any modification we make to a learning algorithm that is intended to reduce its generalization error but not its training error.</a:t>
            </a:r>
            <a:endParaRPr kumimoji="1" lang="zh-TW" altLang="en-US" dirty="0"/>
          </a:p>
        </p:txBody>
      </p:sp>
      <p:sp>
        <p:nvSpPr>
          <p:cNvPr id="4" name="投影片編號版面配置區 3">
            <a:extLst>
              <a:ext uri="{FF2B5EF4-FFF2-40B4-BE49-F238E27FC236}">
                <a16:creationId xmlns:a16="http://schemas.microsoft.com/office/drawing/2014/main" id="{53A9073D-A789-C493-AE0F-857048A59ADA}"/>
              </a:ext>
            </a:extLst>
          </p:cNvPr>
          <p:cNvSpPr>
            <a:spLocks noGrp="1"/>
          </p:cNvSpPr>
          <p:nvPr>
            <p:ph type="sldNum" sz="quarter" idx="5"/>
          </p:nvPr>
        </p:nvSpPr>
        <p:spPr/>
        <p:txBody>
          <a:bodyPr/>
          <a:lstStyle/>
          <a:p>
            <a:fld id="{61836D1C-D09F-2A41-BBEA-6549EF3DDB65}" type="slidenum">
              <a:rPr kumimoji="1" lang="zh-TW" altLang="en-US" smtClean="0"/>
              <a:t>11</a:t>
            </a:fld>
            <a:endParaRPr kumimoji="1" lang="zh-TW" altLang="en-US"/>
          </a:p>
        </p:txBody>
      </p:sp>
    </p:spTree>
    <p:extLst>
      <p:ext uri="{BB962C8B-B14F-4D97-AF65-F5344CB8AC3E}">
        <p14:creationId xmlns:p14="http://schemas.microsoft.com/office/powerpoint/2010/main" val="1986256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12</a:t>
            </a:fld>
            <a:endParaRPr kumimoji="1" lang="zh-TW" altLang="en-US"/>
          </a:p>
        </p:txBody>
      </p:sp>
    </p:spTree>
    <p:extLst>
      <p:ext uri="{BB962C8B-B14F-4D97-AF65-F5344CB8AC3E}">
        <p14:creationId xmlns:p14="http://schemas.microsoft.com/office/powerpoint/2010/main" val="3535873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5DA66-579A-16B0-C300-8A2C0A6724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52D68EC-B3EA-DBF8-01BD-F7995AB12CF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3FF0F94-D453-DF5A-0755-8BE6DA76BF73}"/>
              </a:ext>
            </a:extLst>
          </p:cNvPr>
          <p:cNvSpPr>
            <a:spLocks noGrp="1"/>
          </p:cNvSpPr>
          <p:nvPr>
            <p:ph type="body" idx="1"/>
          </p:nvPr>
        </p:nvSpPr>
        <p:spPr/>
        <p:txBody>
          <a:bodyPr/>
          <a:lstStyle/>
          <a:p>
            <a:r>
              <a:rPr kumimoji="1" lang="en" altLang="zh-TW" dirty="0"/>
              <a:t>Regularization is any modification we make to a learning algorithm that is intended to reduce its generalization error but not its training error.</a:t>
            </a:r>
            <a:endParaRPr kumimoji="1" lang="zh-TW" altLang="en-US" dirty="0"/>
          </a:p>
        </p:txBody>
      </p:sp>
      <p:sp>
        <p:nvSpPr>
          <p:cNvPr id="4" name="投影片編號版面配置區 3">
            <a:extLst>
              <a:ext uri="{FF2B5EF4-FFF2-40B4-BE49-F238E27FC236}">
                <a16:creationId xmlns:a16="http://schemas.microsoft.com/office/drawing/2014/main" id="{1E165B8A-4292-6D52-C9EA-0EC081CD0703}"/>
              </a:ext>
            </a:extLst>
          </p:cNvPr>
          <p:cNvSpPr>
            <a:spLocks noGrp="1"/>
          </p:cNvSpPr>
          <p:nvPr>
            <p:ph type="sldNum" sz="quarter" idx="5"/>
          </p:nvPr>
        </p:nvSpPr>
        <p:spPr/>
        <p:txBody>
          <a:bodyPr/>
          <a:lstStyle/>
          <a:p>
            <a:fld id="{61836D1C-D09F-2A41-BBEA-6549EF3DDB65}" type="slidenum">
              <a:rPr kumimoji="1" lang="zh-TW" altLang="en-US" smtClean="0"/>
              <a:t>14</a:t>
            </a:fld>
            <a:endParaRPr kumimoji="1" lang="zh-TW" altLang="en-US"/>
          </a:p>
        </p:txBody>
      </p:sp>
    </p:spTree>
    <p:extLst>
      <p:ext uri="{BB962C8B-B14F-4D97-AF65-F5344CB8AC3E}">
        <p14:creationId xmlns:p14="http://schemas.microsoft.com/office/powerpoint/2010/main" val="2187578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16</a:t>
            </a:fld>
            <a:endParaRPr kumimoji="1" lang="zh-TW" altLang="en-US"/>
          </a:p>
        </p:txBody>
      </p:sp>
    </p:spTree>
    <p:extLst>
      <p:ext uri="{BB962C8B-B14F-4D97-AF65-F5344CB8AC3E}">
        <p14:creationId xmlns:p14="http://schemas.microsoft.com/office/powerpoint/2010/main" val="2042793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17</a:t>
            </a:fld>
            <a:endParaRPr kumimoji="1" lang="zh-TW" altLang="en-US"/>
          </a:p>
        </p:txBody>
      </p:sp>
    </p:spTree>
    <p:extLst>
      <p:ext uri="{BB962C8B-B14F-4D97-AF65-F5344CB8AC3E}">
        <p14:creationId xmlns:p14="http://schemas.microsoft.com/office/powerpoint/2010/main" val="3812941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D083-26F3-FA6A-62FB-180296447C0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F04D059-DC38-6DC5-0F5D-E8F32877D23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AEF39E-C182-5ED1-A0C4-89A85E424FCB}"/>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F76A802F-E2CB-92CC-6FF5-AD30A36BABA7}"/>
              </a:ext>
            </a:extLst>
          </p:cNvPr>
          <p:cNvSpPr>
            <a:spLocks noGrp="1"/>
          </p:cNvSpPr>
          <p:nvPr>
            <p:ph type="sldNum" sz="quarter" idx="5"/>
          </p:nvPr>
        </p:nvSpPr>
        <p:spPr/>
        <p:txBody>
          <a:bodyPr/>
          <a:lstStyle/>
          <a:p>
            <a:fld id="{61836D1C-D09F-2A41-BBEA-6549EF3DDB65}" type="slidenum">
              <a:rPr kumimoji="1" lang="zh-TW" altLang="en-US" smtClean="0"/>
              <a:t>19</a:t>
            </a:fld>
            <a:endParaRPr kumimoji="1" lang="zh-TW" altLang="en-US"/>
          </a:p>
        </p:txBody>
      </p:sp>
    </p:spTree>
    <p:extLst>
      <p:ext uri="{BB962C8B-B14F-4D97-AF65-F5344CB8AC3E}">
        <p14:creationId xmlns:p14="http://schemas.microsoft.com/office/powerpoint/2010/main" val="4289218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20</a:t>
            </a:fld>
            <a:endParaRPr kumimoji="1" lang="zh-TW" altLang="en-US"/>
          </a:p>
        </p:txBody>
      </p:sp>
    </p:spTree>
    <p:extLst>
      <p:ext uri="{BB962C8B-B14F-4D97-AF65-F5344CB8AC3E}">
        <p14:creationId xmlns:p14="http://schemas.microsoft.com/office/powerpoint/2010/main" val="3011402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21</a:t>
            </a:fld>
            <a:endParaRPr kumimoji="1" lang="zh-TW" altLang="en-US"/>
          </a:p>
        </p:txBody>
      </p:sp>
    </p:spTree>
    <p:extLst>
      <p:ext uri="{BB962C8B-B14F-4D97-AF65-F5344CB8AC3E}">
        <p14:creationId xmlns:p14="http://schemas.microsoft.com/office/powerpoint/2010/main" val="308527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ADE60-2C65-0F13-2ABB-395C8AD1DA3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618595D-78B5-6D77-EC25-04E40EA9EA0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1EA767-DC4E-349C-3403-654CCDAE0399}"/>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53A90971-1B73-B1F7-FE80-2A2C7F927D9C}"/>
              </a:ext>
            </a:extLst>
          </p:cNvPr>
          <p:cNvSpPr>
            <a:spLocks noGrp="1"/>
          </p:cNvSpPr>
          <p:nvPr>
            <p:ph type="sldNum" sz="quarter" idx="5"/>
          </p:nvPr>
        </p:nvSpPr>
        <p:spPr/>
        <p:txBody>
          <a:bodyPr/>
          <a:lstStyle/>
          <a:p>
            <a:fld id="{61836D1C-D09F-2A41-BBEA-6549EF3DDB65}" type="slidenum">
              <a:rPr kumimoji="1" lang="zh-TW" altLang="en-US" smtClean="0"/>
              <a:t>22</a:t>
            </a:fld>
            <a:endParaRPr kumimoji="1" lang="zh-TW" altLang="en-US"/>
          </a:p>
        </p:txBody>
      </p:sp>
    </p:spTree>
    <p:extLst>
      <p:ext uri="{BB962C8B-B14F-4D97-AF65-F5344CB8AC3E}">
        <p14:creationId xmlns:p14="http://schemas.microsoft.com/office/powerpoint/2010/main" val="1996466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23</a:t>
            </a:fld>
            <a:endParaRPr kumimoji="1" lang="zh-TW" altLang="en-US"/>
          </a:p>
        </p:txBody>
      </p:sp>
    </p:spTree>
    <p:extLst>
      <p:ext uri="{BB962C8B-B14F-4D97-AF65-F5344CB8AC3E}">
        <p14:creationId xmlns:p14="http://schemas.microsoft.com/office/powerpoint/2010/main" val="3393634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30</a:t>
            </a:fld>
            <a:endParaRPr kumimoji="1" lang="zh-TW" altLang="en-US"/>
          </a:p>
        </p:txBody>
      </p:sp>
    </p:spTree>
    <p:extLst>
      <p:ext uri="{BB962C8B-B14F-4D97-AF65-F5344CB8AC3E}">
        <p14:creationId xmlns:p14="http://schemas.microsoft.com/office/powerpoint/2010/main" val="688396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32</a:t>
            </a:fld>
            <a:endParaRPr kumimoji="1" lang="zh-TW" altLang="en-US"/>
          </a:p>
        </p:txBody>
      </p:sp>
    </p:spTree>
    <p:extLst>
      <p:ext uri="{BB962C8B-B14F-4D97-AF65-F5344CB8AC3E}">
        <p14:creationId xmlns:p14="http://schemas.microsoft.com/office/powerpoint/2010/main" val="495287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E9CB2-3750-7A7A-FBC2-EDF2847399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FAE3A1-FFF3-4C54-CCBB-E339A996F60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7EE4F02-50D5-F31F-57C1-77080D3FBB5E}"/>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2EAB306F-5DAB-FDBA-6804-33FF5078F009}"/>
              </a:ext>
            </a:extLst>
          </p:cNvPr>
          <p:cNvSpPr>
            <a:spLocks noGrp="1"/>
          </p:cNvSpPr>
          <p:nvPr>
            <p:ph type="sldNum" sz="quarter" idx="5"/>
          </p:nvPr>
        </p:nvSpPr>
        <p:spPr/>
        <p:txBody>
          <a:bodyPr/>
          <a:lstStyle/>
          <a:p>
            <a:fld id="{61836D1C-D09F-2A41-BBEA-6549EF3DDB65}" type="slidenum">
              <a:rPr kumimoji="1" lang="zh-TW" altLang="en-US" smtClean="0"/>
              <a:t>38</a:t>
            </a:fld>
            <a:endParaRPr kumimoji="1" lang="zh-TW" altLang="en-US"/>
          </a:p>
        </p:txBody>
      </p:sp>
    </p:spTree>
    <p:extLst>
      <p:ext uri="{BB962C8B-B14F-4D97-AF65-F5344CB8AC3E}">
        <p14:creationId xmlns:p14="http://schemas.microsoft.com/office/powerpoint/2010/main" val="742301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Co</a:t>
            </a:r>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39</a:t>
            </a:fld>
            <a:endParaRPr kumimoji="1" lang="zh-TW" altLang="en-US"/>
          </a:p>
        </p:txBody>
      </p:sp>
    </p:spTree>
    <p:extLst>
      <p:ext uri="{BB962C8B-B14F-4D97-AF65-F5344CB8AC3E}">
        <p14:creationId xmlns:p14="http://schemas.microsoft.com/office/powerpoint/2010/main" val="2597349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42</a:t>
            </a:fld>
            <a:endParaRPr kumimoji="1" lang="zh-TW" altLang="en-US"/>
          </a:p>
        </p:txBody>
      </p:sp>
    </p:spTree>
    <p:extLst>
      <p:ext uri="{BB962C8B-B14F-4D97-AF65-F5344CB8AC3E}">
        <p14:creationId xmlns:p14="http://schemas.microsoft.com/office/powerpoint/2010/main" val="2768452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43</a:t>
            </a:fld>
            <a:endParaRPr kumimoji="1" lang="zh-TW" altLang="en-US"/>
          </a:p>
        </p:txBody>
      </p:sp>
    </p:spTree>
    <p:extLst>
      <p:ext uri="{BB962C8B-B14F-4D97-AF65-F5344CB8AC3E}">
        <p14:creationId xmlns:p14="http://schemas.microsoft.com/office/powerpoint/2010/main" val="1969590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47</a:t>
            </a:fld>
            <a:endParaRPr kumimoji="1" lang="zh-TW" altLang="en-US"/>
          </a:p>
        </p:txBody>
      </p:sp>
    </p:spTree>
    <p:extLst>
      <p:ext uri="{BB962C8B-B14F-4D97-AF65-F5344CB8AC3E}">
        <p14:creationId xmlns:p14="http://schemas.microsoft.com/office/powerpoint/2010/main" val="4002981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48</a:t>
            </a:fld>
            <a:endParaRPr kumimoji="1" lang="zh-TW" altLang="en-US"/>
          </a:p>
        </p:txBody>
      </p:sp>
    </p:spTree>
    <p:extLst>
      <p:ext uri="{BB962C8B-B14F-4D97-AF65-F5344CB8AC3E}">
        <p14:creationId xmlns:p14="http://schemas.microsoft.com/office/powerpoint/2010/main" val="42552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49</a:t>
            </a:fld>
            <a:endParaRPr kumimoji="1" lang="zh-TW" altLang="en-US"/>
          </a:p>
        </p:txBody>
      </p:sp>
    </p:spTree>
    <p:extLst>
      <p:ext uri="{BB962C8B-B14F-4D97-AF65-F5344CB8AC3E}">
        <p14:creationId xmlns:p14="http://schemas.microsoft.com/office/powerpoint/2010/main" val="285157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50</a:t>
            </a:fld>
            <a:endParaRPr kumimoji="1" lang="zh-TW" altLang="en-US"/>
          </a:p>
        </p:txBody>
      </p:sp>
    </p:spTree>
    <p:extLst>
      <p:ext uri="{BB962C8B-B14F-4D97-AF65-F5344CB8AC3E}">
        <p14:creationId xmlns:p14="http://schemas.microsoft.com/office/powerpoint/2010/main" val="393452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51</a:t>
            </a:fld>
            <a:endParaRPr kumimoji="1" lang="zh-TW" altLang="en-US"/>
          </a:p>
        </p:txBody>
      </p:sp>
    </p:spTree>
    <p:extLst>
      <p:ext uri="{BB962C8B-B14F-4D97-AF65-F5344CB8AC3E}">
        <p14:creationId xmlns:p14="http://schemas.microsoft.com/office/powerpoint/2010/main" val="2397121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52</a:t>
            </a:fld>
            <a:endParaRPr kumimoji="1" lang="zh-TW" altLang="en-US"/>
          </a:p>
        </p:txBody>
      </p:sp>
    </p:spTree>
    <p:extLst>
      <p:ext uri="{BB962C8B-B14F-4D97-AF65-F5344CB8AC3E}">
        <p14:creationId xmlns:p14="http://schemas.microsoft.com/office/powerpoint/2010/main" val="15596238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53</a:t>
            </a:fld>
            <a:endParaRPr kumimoji="1" lang="zh-TW" altLang="en-US"/>
          </a:p>
        </p:txBody>
      </p:sp>
    </p:spTree>
    <p:extLst>
      <p:ext uri="{BB962C8B-B14F-4D97-AF65-F5344CB8AC3E}">
        <p14:creationId xmlns:p14="http://schemas.microsoft.com/office/powerpoint/2010/main" val="704000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54</a:t>
            </a:fld>
            <a:endParaRPr kumimoji="1" lang="zh-TW" altLang="en-US"/>
          </a:p>
        </p:txBody>
      </p:sp>
    </p:spTree>
    <p:extLst>
      <p:ext uri="{BB962C8B-B14F-4D97-AF65-F5344CB8AC3E}">
        <p14:creationId xmlns:p14="http://schemas.microsoft.com/office/powerpoint/2010/main" val="19925757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55</a:t>
            </a:fld>
            <a:endParaRPr kumimoji="1" lang="zh-TW" altLang="en-US"/>
          </a:p>
        </p:txBody>
      </p:sp>
    </p:spTree>
    <p:extLst>
      <p:ext uri="{BB962C8B-B14F-4D97-AF65-F5344CB8AC3E}">
        <p14:creationId xmlns:p14="http://schemas.microsoft.com/office/powerpoint/2010/main" val="12270327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56</a:t>
            </a:fld>
            <a:endParaRPr kumimoji="1" lang="zh-TW" altLang="en-US"/>
          </a:p>
        </p:txBody>
      </p:sp>
    </p:spTree>
    <p:extLst>
      <p:ext uri="{BB962C8B-B14F-4D97-AF65-F5344CB8AC3E}">
        <p14:creationId xmlns:p14="http://schemas.microsoft.com/office/powerpoint/2010/main" val="38989237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58</a:t>
            </a:fld>
            <a:endParaRPr kumimoji="1" lang="zh-TW" altLang="en-US"/>
          </a:p>
        </p:txBody>
      </p:sp>
    </p:spTree>
    <p:extLst>
      <p:ext uri="{BB962C8B-B14F-4D97-AF65-F5344CB8AC3E}">
        <p14:creationId xmlns:p14="http://schemas.microsoft.com/office/powerpoint/2010/main" val="3423512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60</a:t>
            </a:fld>
            <a:endParaRPr kumimoji="1" lang="zh-TW" altLang="en-US"/>
          </a:p>
        </p:txBody>
      </p:sp>
    </p:spTree>
    <p:extLst>
      <p:ext uri="{BB962C8B-B14F-4D97-AF65-F5344CB8AC3E}">
        <p14:creationId xmlns:p14="http://schemas.microsoft.com/office/powerpoint/2010/main" val="1658190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63</a:t>
            </a:fld>
            <a:endParaRPr kumimoji="1" lang="zh-TW" altLang="en-US"/>
          </a:p>
        </p:txBody>
      </p:sp>
    </p:spTree>
    <p:extLst>
      <p:ext uri="{BB962C8B-B14F-4D97-AF65-F5344CB8AC3E}">
        <p14:creationId xmlns:p14="http://schemas.microsoft.com/office/powerpoint/2010/main" val="21342307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72</a:t>
            </a:fld>
            <a:endParaRPr kumimoji="1" lang="zh-TW" altLang="en-US"/>
          </a:p>
        </p:txBody>
      </p:sp>
    </p:spTree>
    <p:extLst>
      <p:ext uri="{BB962C8B-B14F-4D97-AF65-F5344CB8AC3E}">
        <p14:creationId xmlns:p14="http://schemas.microsoft.com/office/powerpoint/2010/main" val="2315041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a:p>
        </p:txBody>
      </p:sp>
      <p:sp>
        <p:nvSpPr>
          <p:cNvPr id="4" name="Date Placeholder 3"/>
          <p:cNvSpPr>
            <a:spLocks noGrp="1"/>
          </p:cNvSpPr>
          <p:nvPr>
            <p:ph type="dt" sz="half" idx="10"/>
          </p:nvPr>
        </p:nvSpPr>
        <p:spPr/>
        <p:txBody>
          <a:bodyPr/>
          <a:lstStyle/>
          <a:p>
            <a:fld id="{4BDF68E2-58F2-4D09-BE8B-E3BD06533059}" type="datetimeFigureOut">
              <a:rPr lang="en-US" dirty="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53428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a:xfrm>
            <a:off x="653143" y="356088"/>
            <a:ext cx="10918371" cy="1033416"/>
          </a:xfrm>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a:xfrm>
            <a:off x="653143" y="1845734"/>
            <a:ext cx="10918371"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lvl1pPr>
              <a:defRPr sz="1400"/>
            </a:lvl1pPr>
          </a:lstStyle>
          <a:p>
            <a:endParaRPr lang="en-US" dirty="0"/>
          </a:p>
        </p:txBody>
      </p:sp>
      <p:sp>
        <p:nvSpPr>
          <p:cNvPr id="5" name="Footer Placeholder 4"/>
          <p:cNvSpPr>
            <a:spLocks noGrp="1"/>
          </p:cNvSpPr>
          <p:nvPr>
            <p:ph type="ftr" sz="quarter" idx="11"/>
          </p:nvPr>
        </p:nvSpPr>
        <p:spPr/>
        <p:txBody>
          <a:bodyPr/>
          <a:lstStyle>
            <a:lvl1pPr>
              <a:defRPr sz="1400"/>
            </a:lvl1pPr>
          </a:lstStyle>
          <a:p>
            <a:endParaRPr lang="en-US" dirty="0"/>
          </a:p>
        </p:txBody>
      </p:sp>
      <p:pic>
        <p:nvPicPr>
          <p:cNvPr id="8" name="圖片 7" descr="一張含有 黑暗, 鮮豔, 圓形, 對稱 的圖片&#10;&#10;自動產生的描述">
            <a:extLst>
              <a:ext uri="{FF2B5EF4-FFF2-40B4-BE49-F238E27FC236}">
                <a16:creationId xmlns:a16="http://schemas.microsoft.com/office/drawing/2014/main" id="{7B42FF8E-DE09-ED24-7D18-F64355A345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7020" y="6349567"/>
            <a:ext cx="462323" cy="453571"/>
          </a:xfrm>
          <a:prstGeom prst="rect">
            <a:avLst/>
          </a:prstGeom>
        </p:spPr>
      </p:pic>
      <p:sp>
        <p:nvSpPr>
          <p:cNvPr id="14" name="Slide Number Placeholder 5">
            <a:extLst>
              <a:ext uri="{FF2B5EF4-FFF2-40B4-BE49-F238E27FC236}">
                <a16:creationId xmlns:a16="http://schemas.microsoft.com/office/drawing/2014/main" id="{47DAD89E-131D-FDCA-9260-AC41911030D0}"/>
              </a:ext>
            </a:extLst>
          </p:cNvPr>
          <p:cNvSpPr>
            <a:spLocks noGrp="1"/>
          </p:cNvSpPr>
          <p:nvPr>
            <p:ph type="sldNum" sz="quarter" idx="12"/>
          </p:nvPr>
        </p:nvSpPr>
        <p:spPr>
          <a:xfrm>
            <a:off x="10612955" y="6415560"/>
            <a:ext cx="1312025" cy="365125"/>
          </a:xfrm>
        </p:spPr>
        <p:txBody>
          <a:bodyPr/>
          <a:lstStyle>
            <a:lvl1pPr>
              <a:defRPr sz="1400">
                <a:solidFill>
                  <a:schemeClr val="tx1"/>
                </a:solidFill>
              </a:defRPr>
            </a:lvl1pPr>
          </a:lstStyle>
          <a:p>
            <a:fld id="{6113E31D-E2AB-40D1-8B51-AFA5AFEF393A}" type="slidenum">
              <a:rPr lang="en-US" smtClean="0"/>
              <a:pPr/>
              <a:t>‹#›</a:t>
            </a:fld>
            <a:endParaRPr lang="en-US" dirty="0"/>
          </a:p>
        </p:txBody>
      </p:sp>
    </p:spTree>
    <p:extLst>
      <p:ext uri="{BB962C8B-B14F-4D97-AF65-F5344CB8AC3E}">
        <p14:creationId xmlns:p14="http://schemas.microsoft.com/office/powerpoint/2010/main" val="417986838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20EBB0C4-6273-4C6E-B9BD-2EDC30F1CD52}" type="datetimeFigureOut">
              <a:rPr lang="en-US" dirty="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1165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9" y="1845734"/>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6217920" y="1845735"/>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19AB4D41-86C1-4908-B66A-0B50CEB3BF29}" type="datetimeFigureOut">
              <a:rPr lang="en-US" dirty="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
        <p:nvSpPr>
          <p:cNvPr id="2" name="Title Placeholder 1">
            <a:extLst>
              <a:ext uri="{FF2B5EF4-FFF2-40B4-BE49-F238E27FC236}">
                <a16:creationId xmlns:a16="http://schemas.microsoft.com/office/drawing/2014/main" id="{23DAB314-DF41-49F3-8643-5960470A9A8E}"/>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1776496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E6426E2C-56C1-4E0D-A793-0088A7FDD37E}" type="datetimeFigureOut">
              <a:rPr lang="en-US" dirty="0"/>
              <a:t>10/21/26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
        <p:nvSpPr>
          <p:cNvPr id="2" name="Title Placeholder 1">
            <a:extLst>
              <a:ext uri="{FF2B5EF4-FFF2-40B4-BE49-F238E27FC236}">
                <a16:creationId xmlns:a16="http://schemas.microsoft.com/office/drawing/2014/main" id="{826FF28B-EE0C-0976-1882-688F90260E58}"/>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316379200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C39B41-D8B5-4052-B551-9B5525EAA8B6}" type="datetimeFigureOut">
              <a:rPr lang="en-US" dirty="0"/>
              <a:t>10/21/26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
        <p:nvSpPr>
          <p:cNvPr id="6" name="Title Placeholder 1">
            <a:extLst>
              <a:ext uri="{FF2B5EF4-FFF2-40B4-BE49-F238E27FC236}">
                <a16:creationId xmlns:a16="http://schemas.microsoft.com/office/drawing/2014/main" id="{78DE478E-C0B1-6FFC-0061-DA2334C3F997}"/>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256671989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10/21/26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1131067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a:p>
        </p:txBody>
      </p:sp>
      <p:sp>
        <p:nvSpPr>
          <p:cNvPr id="3" name="Content Placeholder 2"/>
          <p:cNvSpPr>
            <a:spLocks noGrp="1"/>
          </p:cNvSpPr>
          <p:nvPr>
            <p:ph idx="1"/>
          </p:nvPr>
        </p:nvSpPr>
        <p:spPr>
          <a:xfrm>
            <a:off x="4800600" y="731520"/>
            <a:ext cx="6492240" cy="5257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10/21/26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17922681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p:cNvSpPr/>
          <p:nvPr userDrawn="1"/>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9CAD897-D46E-4AD2-BD9B-49DD3E640873}" type="datetimeFigureOut">
              <a:rPr lang="en-US" dirty="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4916162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標題及直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2E2D6473-DF6D-4702-B328-E0DD40540A4E}" type="datetimeFigureOut">
              <a:rPr lang="en-US" dirty="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Title 1">
            <a:extLst>
              <a:ext uri="{FF2B5EF4-FFF2-40B4-BE49-F238E27FC236}">
                <a16:creationId xmlns:a16="http://schemas.microsoft.com/office/drawing/2014/main" id="{25B6B208-0D45-71D0-C7BE-D6974D30EB1D}"/>
              </a:ext>
            </a:extLst>
          </p:cNvPr>
          <p:cNvSpPr>
            <a:spLocks noGrp="1"/>
          </p:cNvSpPr>
          <p:nvPr>
            <p:ph type="title"/>
          </p:nvPr>
        </p:nvSpPr>
        <p:spPr>
          <a:xfrm>
            <a:off x="1097280" y="356088"/>
            <a:ext cx="10058400" cy="1033416"/>
          </a:xfrm>
        </p:spPr>
        <p:txBody>
          <a:bodyPr/>
          <a:lstStyle>
            <a:lvl1pPr marL="0">
              <a:defRPr/>
            </a:lvl1pPr>
          </a:lstStyle>
          <a:p>
            <a:r>
              <a:rPr lang="zh-TW" altLang="en-US"/>
              <a:t>按一下以編輯母片標題樣式</a:t>
            </a:r>
            <a:endParaRPr lang="en-US" dirty="0"/>
          </a:p>
        </p:txBody>
      </p:sp>
    </p:spTree>
    <p:extLst>
      <p:ext uri="{BB962C8B-B14F-4D97-AF65-F5344CB8AC3E}">
        <p14:creationId xmlns:p14="http://schemas.microsoft.com/office/powerpoint/2010/main" val="901068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E26F7E3A-B166-407D-9866-32884E7D5B37}" type="datetimeFigureOut">
              <a:rPr lang="en-US" dirty="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3414366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676003" y="1355758"/>
            <a:ext cx="10839994" cy="45719"/>
          </a:xfrm>
          <a:prstGeom prst="rect">
            <a:avLst/>
          </a:prstGeom>
          <a:solidFill>
            <a:srgbClr val="05AED6"/>
          </a:solidFill>
          <a:ln>
            <a:solidFill>
              <a:srgbClr val="05AED6"/>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Placeholder 1"/>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chemeClr val="tx1"/>
                </a:solidFill>
              </a:defRPr>
            </a:lvl1pPr>
          </a:lstStyle>
          <a:p>
            <a:r>
              <a:rPr lang="en-US" dirty="0"/>
              <a:t>CGU</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56710125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app.sli.do/event/trLLdJv5TjT9ahwZTURqNG" TargetMode="External"/><Relationship Id="rId7" Type="http://schemas.openxmlformats.org/officeDocument/2006/relationships/hyperlink" Target="https://github.com/mcps5601/CGUDL_2025_Spr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app.sli.do/event/sLiCwUXp4tvmBiueTggqhJ"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2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201.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slide" Target="slide13.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41.png"/></Relationships>
</file>

<file path=ppt/slides/_rels/slide2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80.png"/><Relationship Id="rId18" Type="http://schemas.openxmlformats.org/officeDocument/2006/relationships/image" Target="../media/image230.png"/><Relationship Id="rId3" Type="http://schemas.openxmlformats.org/officeDocument/2006/relationships/image" Target="../media/image80.png"/><Relationship Id="rId7" Type="http://schemas.openxmlformats.org/officeDocument/2006/relationships/image" Target="../media/image120.png"/><Relationship Id="rId12" Type="http://schemas.openxmlformats.org/officeDocument/2006/relationships/image" Target="../media/image170.png"/><Relationship Id="rId17" Type="http://schemas.openxmlformats.org/officeDocument/2006/relationships/image" Target="../media/image220.png"/><Relationship Id="rId2" Type="http://schemas.openxmlformats.org/officeDocument/2006/relationships/notesSlide" Target="../notesSlides/notesSlide16.xml"/><Relationship Id="rId16" Type="http://schemas.openxmlformats.org/officeDocument/2006/relationships/image" Target="../media/image210.png"/><Relationship Id="rId20"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60.png"/><Relationship Id="rId5" Type="http://schemas.openxmlformats.org/officeDocument/2006/relationships/image" Target="../media/image100.png"/><Relationship Id="rId15" Type="http://schemas.openxmlformats.org/officeDocument/2006/relationships/image" Target="../media/image200.png"/><Relationship Id="rId10" Type="http://schemas.openxmlformats.org/officeDocument/2006/relationships/image" Target="../media/image150.png"/><Relationship Id="rId19" Type="http://schemas.openxmlformats.org/officeDocument/2006/relationships/image" Target="../media/image240.png"/><Relationship Id="rId4" Type="http://schemas.openxmlformats.org/officeDocument/2006/relationships/image" Target="../media/image90.png"/><Relationship Id="rId9" Type="http://schemas.openxmlformats.org/officeDocument/2006/relationships/image" Target="../media/image140.png"/><Relationship Id="rId14" Type="http://schemas.openxmlformats.org/officeDocument/2006/relationships/image" Target="../media/image19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app.sli.do/event/trLLdJv5TjT9ahwZTURqNG" TargetMode="External"/><Relationship Id="rId7" Type="http://schemas.openxmlformats.org/officeDocument/2006/relationships/hyperlink" Target="https://github.com/mcps5601/CGUDL_2025_Sprin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app.sli.do/event/sLiCwUXp4tvmBiueTggqhJ"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kaggle.com/competitions/isic-2024-challenge/overview"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inigolopezgazpio.net/SemEval-2027-Task-2-DiCo-NLI/" TargetMode="External"/><Relationship Id="rId5" Type="http://schemas.openxmlformats.org/officeDocument/2006/relationships/hyperlink" Target="https://www.kaggle.com/competitions/name-that-llm/overview" TargetMode="External"/><Relationship Id="rId4" Type="http://schemas.openxmlformats.org/officeDocument/2006/relationships/hyperlink" Target="https://www.kaggle.com/competitions/rsna-pneumonia-detection-challenge/overview"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codabench.org/competitions/18038/" TargetMode="External"/><Relationship Id="rId2" Type="http://schemas.openxmlformats.org/officeDocument/2006/relationships/hyperlink" Target="https://inigolopezgazpio.net/SemEval-2027-Task-2-DiCo-NLI/starter_kit/" TargetMode="Externa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a:extLst>
              <a:ext uri="{FF2B5EF4-FFF2-40B4-BE49-F238E27FC236}">
                <a16:creationId xmlns:a16="http://schemas.microsoft.com/office/drawing/2014/main" id="{3C6264BC-1151-9168-C7F5-CC114FF3CC95}"/>
              </a:ext>
            </a:extLst>
          </p:cNvPr>
          <p:cNvSpPr/>
          <p:nvPr/>
        </p:nvSpPr>
        <p:spPr>
          <a:xfrm>
            <a:off x="667422" y="2025546"/>
            <a:ext cx="10857156" cy="2426189"/>
          </a:xfrm>
          <a:prstGeom prst="roundRect">
            <a:avLst/>
          </a:prstGeom>
          <a:solidFill>
            <a:srgbClr val="9EF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8C058193-D513-E805-2BD5-118E50D976F8}"/>
              </a:ext>
            </a:extLst>
          </p:cNvPr>
          <p:cNvSpPr>
            <a:spLocks noGrp="1"/>
          </p:cNvSpPr>
          <p:nvPr>
            <p:ph type="ctrTitle"/>
          </p:nvPr>
        </p:nvSpPr>
        <p:spPr>
          <a:xfrm>
            <a:off x="901959" y="1006002"/>
            <a:ext cx="5437882" cy="3224045"/>
          </a:xfrm>
        </p:spPr>
        <p:txBody>
          <a:bodyPr anchor="b">
            <a:normAutofit/>
          </a:bodyPr>
          <a:lstStyle/>
          <a:p>
            <a:r>
              <a:rPr kumimoji="1" lang="zh-TW" altLang="en-US" sz="5800" b="1" dirty="0">
                <a:ea typeface="Microsoft JhengHei" panose="020B0604030504040204" pitchFamily="34" charset="-120"/>
              </a:rPr>
              <a:t>深度學習</a:t>
            </a:r>
            <a:br>
              <a:rPr kumimoji="1" lang="en-US" altLang="zh-TW" sz="5800" b="1" dirty="0">
                <a:ea typeface="Microsoft JhengHei" panose="020B0604030504040204" pitchFamily="34" charset="-120"/>
              </a:rPr>
            </a:br>
            <a:r>
              <a:rPr kumimoji="1" lang="en-US" altLang="zh-TW" sz="5800" b="1" dirty="0">
                <a:ea typeface="Microsoft JhengHei" panose="020B0604030504040204" pitchFamily="34" charset="-120"/>
              </a:rPr>
              <a:t>Deep Learning</a:t>
            </a:r>
            <a:endParaRPr kumimoji="1" lang="zh-TW" altLang="en-US" sz="5800" b="1" dirty="0">
              <a:ea typeface="Microsoft JhengHei" panose="020B0604030504040204" pitchFamily="34" charset="-120"/>
            </a:endParaRPr>
          </a:p>
        </p:txBody>
      </p:sp>
      <p:sp>
        <p:nvSpPr>
          <p:cNvPr id="10" name="文字方塊 9">
            <a:extLst>
              <a:ext uri="{FF2B5EF4-FFF2-40B4-BE49-F238E27FC236}">
                <a16:creationId xmlns:a16="http://schemas.microsoft.com/office/drawing/2014/main" id="{6598A032-0E8B-F9E1-A926-2F2E78D575C6}"/>
              </a:ext>
            </a:extLst>
          </p:cNvPr>
          <p:cNvSpPr txBox="1"/>
          <p:nvPr/>
        </p:nvSpPr>
        <p:spPr>
          <a:xfrm>
            <a:off x="726698" y="4749453"/>
            <a:ext cx="5559805" cy="584775"/>
          </a:xfrm>
          <a:prstGeom prst="rect">
            <a:avLst/>
          </a:prstGeom>
          <a:noFill/>
        </p:spPr>
        <p:txBody>
          <a:bodyPr wrap="square" rtlCol="0">
            <a:spAutoFit/>
          </a:bodyPr>
          <a:lstStyle/>
          <a:p>
            <a:r>
              <a:rPr kumimoji="1" lang="en-US" altLang="zh-TW" sz="3200" b="1" dirty="0">
                <a:solidFill>
                  <a:srgbClr val="0070C0"/>
                </a:solidFill>
                <a:latin typeface="+mj-lt"/>
                <a:cs typeface="Calibri" panose="020F0502020204030204" pitchFamily="34" charset="0"/>
              </a:rPr>
              <a:t>⭐️ DL Training Tips</a:t>
            </a:r>
          </a:p>
        </p:txBody>
      </p:sp>
      <p:sp>
        <p:nvSpPr>
          <p:cNvPr id="12" name="文字方塊 11">
            <a:extLst>
              <a:ext uri="{FF2B5EF4-FFF2-40B4-BE49-F238E27FC236}">
                <a16:creationId xmlns:a16="http://schemas.microsoft.com/office/drawing/2014/main" id="{2F843A79-3FEF-CDAD-6B9A-C5A7AD279D2D}"/>
              </a:ext>
            </a:extLst>
          </p:cNvPr>
          <p:cNvSpPr txBox="1"/>
          <p:nvPr/>
        </p:nvSpPr>
        <p:spPr>
          <a:xfrm>
            <a:off x="772120" y="5976538"/>
            <a:ext cx="4889241" cy="707886"/>
          </a:xfrm>
          <a:prstGeom prst="rect">
            <a:avLst/>
          </a:prstGeom>
          <a:noFill/>
        </p:spPr>
        <p:txBody>
          <a:bodyPr wrap="square" rtlCol="0">
            <a:spAutoFit/>
          </a:bodyPr>
          <a:lstStyle/>
          <a:p>
            <a:r>
              <a:rPr kumimoji="1" lang="en-US" altLang="zh-TW" sz="2000" b="1" dirty="0">
                <a:latin typeface="+mj-lt"/>
                <a:ea typeface="Microsoft JhengHei" panose="020B0604030504040204" pitchFamily="34" charset="-120"/>
                <a:cs typeface="Calibri" panose="020F0502020204030204" pitchFamily="34" charset="0"/>
              </a:rPr>
              <a:t>Instructor: </a:t>
            </a:r>
            <a:r>
              <a:rPr kumimoji="1" lang="zh-TW" altLang="en-US" sz="2000" b="1" dirty="0">
                <a:latin typeface="+mj-lt"/>
                <a:ea typeface="Microsoft JhengHei" panose="020B0604030504040204" pitchFamily="34" charset="-120"/>
                <a:cs typeface="Calibri" panose="020F0502020204030204" pitchFamily="34" charset="0"/>
              </a:rPr>
              <a:t>林英嘉 </a:t>
            </a:r>
            <a:r>
              <a:rPr kumimoji="1" lang="en-US" altLang="zh-TW" sz="2000" b="1" dirty="0">
                <a:latin typeface="+mj-lt"/>
                <a:ea typeface="Microsoft JhengHei" panose="020B0604030504040204" pitchFamily="34" charset="-120"/>
                <a:cs typeface="Calibri" panose="020F0502020204030204" pitchFamily="34" charset="0"/>
              </a:rPr>
              <a:t>(Ying-Jia Lin)</a:t>
            </a:r>
          </a:p>
          <a:p>
            <a:r>
              <a:rPr kumimoji="1" lang="en-US" altLang="zh-TW" sz="2000" b="1" dirty="0">
                <a:latin typeface="+mj-lt"/>
                <a:ea typeface="Microsoft JhengHei" panose="020B0604030504040204" pitchFamily="34" charset="-120"/>
                <a:cs typeface="Calibri" panose="020F0502020204030204" pitchFamily="34" charset="0"/>
              </a:rPr>
              <a:t>2026/10/21</a:t>
            </a:r>
            <a:endParaRPr kumimoji="1" lang="zh-TW" altLang="en-US" sz="2000" b="1" dirty="0">
              <a:latin typeface="+mj-lt"/>
              <a:ea typeface="Microsoft JhengHei" panose="020B0604030504040204" pitchFamily="34" charset="-120"/>
              <a:cs typeface="Calibri" panose="020F0502020204030204" pitchFamily="34" charset="0"/>
            </a:endParaRPr>
          </a:p>
        </p:txBody>
      </p:sp>
      <p:sp>
        <p:nvSpPr>
          <p:cNvPr id="11" name="文字方塊 10">
            <a:hlinkClick r:id="rId3"/>
            <a:extLst>
              <a:ext uri="{FF2B5EF4-FFF2-40B4-BE49-F238E27FC236}">
                <a16:creationId xmlns:a16="http://schemas.microsoft.com/office/drawing/2014/main" id="{8F823108-2692-7850-78FB-371EE4D6F4E9}"/>
              </a:ext>
            </a:extLst>
          </p:cNvPr>
          <p:cNvSpPr txBox="1"/>
          <p:nvPr/>
        </p:nvSpPr>
        <p:spPr>
          <a:xfrm>
            <a:off x="9210931" y="6467013"/>
            <a:ext cx="1825432" cy="369332"/>
          </a:xfrm>
          <a:prstGeom prst="rect">
            <a:avLst/>
          </a:prstGeom>
          <a:noFill/>
        </p:spPr>
        <p:txBody>
          <a:bodyPr wrap="square" rtlCol="0">
            <a:spAutoFit/>
          </a:bodyPr>
          <a:lstStyle/>
          <a:p>
            <a:pPr algn="ctr"/>
            <a:r>
              <a:rPr kumimoji="1" lang="en-US" altLang="zh-TW" dirty="0">
                <a:hlinkClick r:id="rId4"/>
              </a:rPr>
              <a:t>Slido # DL1021</a:t>
            </a:r>
            <a:endParaRPr kumimoji="1" lang="zh-TW" altLang="en-US" dirty="0"/>
          </a:p>
        </p:txBody>
      </p:sp>
      <p:pic>
        <p:nvPicPr>
          <p:cNvPr id="6" name="圖片 5">
            <a:extLst>
              <a:ext uri="{FF2B5EF4-FFF2-40B4-BE49-F238E27FC236}">
                <a16:creationId xmlns:a16="http://schemas.microsoft.com/office/drawing/2014/main" id="{F9D05288-28A0-5690-CAAD-3C047FA34773}"/>
              </a:ext>
            </a:extLst>
          </p:cNvPr>
          <p:cNvPicPr>
            <a:picLocks noChangeAspect="1"/>
          </p:cNvPicPr>
          <p:nvPr/>
        </p:nvPicPr>
        <p:blipFill>
          <a:blip r:embed="rId5"/>
          <a:stretch>
            <a:fillRect/>
          </a:stretch>
        </p:blipFill>
        <p:spPr>
          <a:xfrm>
            <a:off x="9210931" y="4657912"/>
            <a:ext cx="1825432" cy="1825432"/>
          </a:xfrm>
          <a:prstGeom prst="rect">
            <a:avLst/>
          </a:prstGeom>
        </p:spPr>
      </p:pic>
      <p:pic>
        <p:nvPicPr>
          <p:cNvPr id="7" name="圖片 6">
            <a:extLst>
              <a:ext uri="{FF2B5EF4-FFF2-40B4-BE49-F238E27FC236}">
                <a16:creationId xmlns:a16="http://schemas.microsoft.com/office/drawing/2014/main" id="{EAE22E6B-236E-5EE6-62F7-D93C3C6AD48A}"/>
              </a:ext>
            </a:extLst>
          </p:cNvPr>
          <p:cNvPicPr>
            <a:picLocks noChangeAspect="1"/>
          </p:cNvPicPr>
          <p:nvPr/>
        </p:nvPicPr>
        <p:blipFill>
          <a:blip r:embed="rId6"/>
          <a:stretch>
            <a:fillRect/>
          </a:stretch>
        </p:blipFill>
        <p:spPr>
          <a:xfrm>
            <a:off x="6530640" y="4456832"/>
            <a:ext cx="2227592" cy="2227592"/>
          </a:xfrm>
          <a:prstGeom prst="rect">
            <a:avLst/>
          </a:prstGeom>
        </p:spPr>
      </p:pic>
      <p:sp>
        <p:nvSpPr>
          <p:cNvPr id="9" name="文字方塊 8">
            <a:extLst>
              <a:ext uri="{FF2B5EF4-FFF2-40B4-BE49-F238E27FC236}">
                <a16:creationId xmlns:a16="http://schemas.microsoft.com/office/drawing/2014/main" id="{2C58F621-AD7A-1F3E-5BCF-1A68EBFA57D3}"/>
              </a:ext>
            </a:extLst>
          </p:cNvPr>
          <p:cNvSpPr txBox="1"/>
          <p:nvPr/>
        </p:nvSpPr>
        <p:spPr>
          <a:xfrm>
            <a:off x="6623833" y="6470108"/>
            <a:ext cx="2038750" cy="369332"/>
          </a:xfrm>
          <a:prstGeom prst="rect">
            <a:avLst/>
          </a:prstGeom>
          <a:noFill/>
        </p:spPr>
        <p:txBody>
          <a:bodyPr wrap="square" rtlCol="0">
            <a:spAutoFit/>
          </a:bodyPr>
          <a:lstStyle/>
          <a:p>
            <a:pPr algn="ctr"/>
            <a:r>
              <a:rPr kumimoji="1" lang="en-US" altLang="zh-TW" dirty="0">
                <a:hlinkClick r:id="rId7"/>
              </a:rPr>
              <a:t>Course GitHub</a:t>
            </a:r>
            <a:endParaRPr kumimoji="1" lang="zh-TW" altLang="en-US" dirty="0"/>
          </a:p>
        </p:txBody>
      </p:sp>
      <p:pic>
        <p:nvPicPr>
          <p:cNvPr id="14" name="圖片 13">
            <a:extLst>
              <a:ext uri="{FF2B5EF4-FFF2-40B4-BE49-F238E27FC236}">
                <a16:creationId xmlns:a16="http://schemas.microsoft.com/office/drawing/2014/main" id="{37BFA363-47DA-2B1B-71E6-7457E48B8287}"/>
              </a:ext>
            </a:extLst>
          </p:cNvPr>
          <p:cNvPicPr>
            <a:picLocks noChangeAspect="1"/>
          </p:cNvPicPr>
          <p:nvPr/>
        </p:nvPicPr>
        <p:blipFill>
          <a:blip r:embed="rId8"/>
          <a:stretch>
            <a:fillRect/>
          </a:stretch>
        </p:blipFill>
        <p:spPr>
          <a:xfrm>
            <a:off x="901958" y="322978"/>
            <a:ext cx="1468923" cy="1468923"/>
          </a:xfrm>
          <a:prstGeom prst="rect">
            <a:avLst/>
          </a:prstGeom>
        </p:spPr>
      </p:pic>
    </p:spTree>
    <p:extLst>
      <p:ext uri="{BB962C8B-B14F-4D97-AF65-F5344CB8AC3E}">
        <p14:creationId xmlns:p14="http://schemas.microsoft.com/office/powerpoint/2010/main" val="3851314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729B53-50E5-64FF-C825-124AD64762B3}"/>
              </a:ext>
            </a:extLst>
          </p:cNvPr>
          <p:cNvSpPr>
            <a:spLocks noGrp="1"/>
          </p:cNvSpPr>
          <p:nvPr>
            <p:ph type="title"/>
          </p:nvPr>
        </p:nvSpPr>
        <p:spPr/>
        <p:txBody>
          <a:bodyPr/>
          <a:lstStyle/>
          <a:p>
            <a:r>
              <a:rPr kumimoji="1" lang="en-US" altLang="zh-TW" dirty="0"/>
              <a:t>Outline</a:t>
            </a:r>
            <a:endParaRPr kumimoji="1" lang="zh-TW" altLang="en-US" dirty="0"/>
          </a:p>
        </p:txBody>
      </p:sp>
      <p:sp>
        <p:nvSpPr>
          <p:cNvPr id="4" name="投影片編號版面配置區 3">
            <a:extLst>
              <a:ext uri="{FF2B5EF4-FFF2-40B4-BE49-F238E27FC236}">
                <a16:creationId xmlns:a16="http://schemas.microsoft.com/office/drawing/2014/main" id="{D89A3BFD-11F7-B87C-8992-2C59714FB1B2}"/>
              </a:ext>
            </a:extLst>
          </p:cNvPr>
          <p:cNvSpPr>
            <a:spLocks noGrp="1"/>
          </p:cNvSpPr>
          <p:nvPr>
            <p:ph type="sldNum" sz="quarter" idx="12"/>
          </p:nvPr>
        </p:nvSpPr>
        <p:spPr/>
        <p:txBody>
          <a:bodyPr/>
          <a:lstStyle/>
          <a:p>
            <a:fld id="{6113E31D-E2AB-40D1-8B51-AFA5AFEF393A}" type="slidenum">
              <a:rPr lang="en-US" smtClean="0"/>
              <a:pPr/>
              <a:t>2</a:t>
            </a:fld>
            <a:endParaRPr lang="en-US" dirty="0"/>
          </a:p>
        </p:txBody>
      </p:sp>
      <p:sp>
        <p:nvSpPr>
          <p:cNvPr id="3" name="文字方塊 2">
            <a:extLst>
              <a:ext uri="{FF2B5EF4-FFF2-40B4-BE49-F238E27FC236}">
                <a16:creationId xmlns:a16="http://schemas.microsoft.com/office/drawing/2014/main" id="{D63A80CC-9484-1BAA-ED61-BC08FFD88841}"/>
              </a:ext>
            </a:extLst>
          </p:cNvPr>
          <p:cNvSpPr txBox="1"/>
          <p:nvPr/>
        </p:nvSpPr>
        <p:spPr>
          <a:xfrm>
            <a:off x="653144" y="1705612"/>
            <a:ext cx="1091837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a:t>Model training tips [70 min]</a:t>
            </a:r>
          </a:p>
          <a:p>
            <a:pPr marL="800100" lvl="1" indent="-342900">
              <a:lnSpc>
                <a:spcPct val="150000"/>
              </a:lnSpc>
              <a:buFont typeface="Arial" panose="020B0604020202020204" pitchFamily="34" charset="0"/>
              <a:buChar char="•"/>
            </a:pPr>
            <a:r>
              <a:rPr kumimoji="1" lang="en-US" altLang="zh-TW" sz="2400" dirty="0" err="1"/>
              <a:t>EarlyStopping</a:t>
            </a:r>
            <a:endParaRPr kumimoji="1" lang="en-US" altLang="zh-TW" sz="2400" dirty="0"/>
          </a:p>
          <a:p>
            <a:pPr marL="800100" lvl="1" indent="-342900">
              <a:lnSpc>
                <a:spcPct val="150000"/>
              </a:lnSpc>
              <a:buFont typeface="Arial" panose="020B0604020202020204" pitchFamily="34" charset="0"/>
              <a:buChar char="•"/>
            </a:pPr>
            <a:r>
              <a:rPr kumimoji="1" lang="en-US" altLang="zh-TW" sz="2400" dirty="0"/>
              <a:t>Regularization and </a:t>
            </a:r>
            <a:r>
              <a:rPr kumimoji="1" lang="en-US" altLang="zh-TW" sz="2400" dirty="0" err="1"/>
              <a:t>AdamW</a:t>
            </a:r>
            <a:endParaRPr kumimoji="1" lang="en-US" altLang="zh-TW" sz="2400" dirty="0"/>
          </a:p>
          <a:p>
            <a:pPr marL="800100" lvl="1" indent="-342900">
              <a:lnSpc>
                <a:spcPct val="150000"/>
              </a:lnSpc>
              <a:buFont typeface="Arial" panose="020B0604020202020204" pitchFamily="34" charset="0"/>
              <a:buChar char="•"/>
            </a:pPr>
            <a:r>
              <a:rPr kumimoji="1" lang="en-US" altLang="zh-TW" sz="2400" dirty="0"/>
              <a:t>Batch Normalization</a:t>
            </a:r>
          </a:p>
          <a:p>
            <a:pPr marL="800100" lvl="1" indent="-342900">
              <a:lnSpc>
                <a:spcPct val="150000"/>
              </a:lnSpc>
              <a:buFont typeface="Arial" panose="020B0604020202020204" pitchFamily="34" charset="0"/>
              <a:buChar char="•"/>
            </a:pPr>
            <a:r>
              <a:rPr kumimoji="1" lang="en-US" altLang="zh-TW" sz="2400" dirty="0"/>
              <a:t>Dropout</a:t>
            </a:r>
          </a:p>
          <a:p>
            <a:pPr marL="342900" indent="-342900">
              <a:lnSpc>
                <a:spcPct val="150000"/>
              </a:lnSpc>
              <a:buFont typeface="Arial" panose="020B0604020202020204" pitchFamily="34" charset="0"/>
              <a:buChar char="•"/>
            </a:pPr>
            <a:r>
              <a:rPr kumimoji="1" lang="en-US" altLang="zh-TW" sz="2400" dirty="0"/>
              <a:t>Code demo [10 min]</a:t>
            </a:r>
          </a:p>
          <a:p>
            <a:pPr marL="342900" indent="-342900">
              <a:lnSpc>
                <a:spcPct val="150000"/>
              </a:lnSpc>
              <a:buFont typeface="Arial" panose="020B0604020202020204" pitchFamily="34" charset="0"/>
              <a:buChar char="•"/>
            </a:pPr>
            <a:r>
              <a:rPr kumimoji="1" lang="en-US" altLang="zh-TW" sz="2400" dirty="0"/>
              <a:t>Term Project [50 min]</a:t>
            </a:r>
          </a:p>
          <a:p>
            <a:pPr marL="342900" indent="-342900">
              <a:lnSpc>
                <a:spcPct val="150000"/>
              </a:lnSpc>
              <a:buFont typeface="Arial" panose="020B0604020202020204" pitchFamily="34" charset="0"/>
              <a:buChar char="•"/>
            </a:pPr>
            <a:r>
              <a:rPr kumimoji="1" lang="en-US" altLang="zh-TW" sz="2400" dirty="0"/>
              <a:t>Quiz [20 min]</a:t>
            </a:r>
          </a:p>
        </p:txBody>
      </p:sp>
    </p:spTree>
    <p:extLst>
      <p:ext uri="{BB962C8B-B14F-4D97-AF65-F5344CB8AC3E}">
        <p14:creationId xmlns:p14="http://schemas.microsoft.com/office/powerpoint/2010/main" val="343904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79F4F9-53F9-EB98-4171-1BED974536FD}"/>
              </a:ext>
            </a:extLst>
          </p:cNvPr>
          <p:cNvSpPr>
            <a:spLocks noGrp="1"/>
          </p:cNvSpPr>
          <p:nvPr>
            <p:ph type="title"/>
          </p:nvPr>
        </p:nvSpPr>
        <p:spPr/>
        <p:txBody>
          <a:bodyPr/>
          <a:lstStyle/>
          <a:p>
            <a:r>
              <a:rPr kumimoji="1" lang="en-US" altLang="zh-TW" dirty="0">
                <a:latin typeface="Microsoft JhengHei" panose="020B0604030504040204" pitchFamily="34" charset="-120"/>
                <a:ea typeface="Microsoft JhengHei" panose="020B0604030504040204" pitchFamily="34" charset="-120"/>
                <a:cs typeface="Calibri" panose="020F0502020204030204" pitchFamily="34" charset="0"/>
              </a:rPr>
              <a:t>[Recap] </a:t>
            </a:r>
            <a:r>
              <a:rPr kumimoji="1" lang="zh-TW" altLang="en-US" dirty="0">
                <a:latin typeface="Microsoft JhengHei" panose="020B0604030504040204" pitchFamily="34" charset="-120"/>
                <a:ea typeface="Microsoft JhengHei" panose="020B0604030504040204" pitchFamily="34" charset="-120"/>
                <a:cs typeface="Calibri" panose="020F0502020204030204" pitchFamily="34" charset="0"/>
              </a:rPr>
              <a:t>如何訓練模型：資料集</a:t>
            </a:r>
          </a:p>
        </p:txBody>
      </p:sp>
      <p:sp>
        <p:nvSpPr>
          <p:cNvPr id="4" name="投影片編號版面配置區 3">
            <a:extLst>
              <a:ext uri="{FF2B5EF4-FFF2-40B4-BE49-F238E27FC236}">
                <a16:creationId xmlns:a16="http://schemas.microsoft.com/office/drawing/2014/main" id="{65DD5409-AE0E-05A6-A869-64ACEEDE1C90}"/>
              </a:ext>
            </a:extLst>
          </p:cNvPr>
          <p:cNvSpPr>
            <a:spLocks noGrp="1"/>
          </p:cNvSpPr>
          <p:nvPr>
            <p:ph type="sldNum" sz="quarter" idx="12"/>
          </p:nvPr>
        </p:nvSpPr>
        <p:spPr/>
        <p:txBody>
          <a:bodyPr/>
          <a:lstStyle/>
          <a:p>
            <a:fld id="{6113E31D-E2AB-40D1-8B51-AFA5AFEF393A}" type="slidenum">
              <a:rPr lang="en-US" smtClean="0"/>
              <a:pPr/>
              <a:t>3</a:t>
            </a:fld>
            <a:endParaRPr lang="en-US" dirty="0"/>
          </a:p>
        </p:txBody>
      </p:sp>
      <p:pic>
        <p:nvPicPr>
          <p:cNvPr id="7" name="圖形 6" descr="書本 以實心填滿">
            <a:extLst>
              <a:ext uri="{FF2B5EF4-FFF2-40B4-BE49-F238E27FC236}">
                <a16:creationId xmlns:a16="http://schemas.microsoft.com/office/drawing/2014/main" id="{A953D788-7396-4C55-870C-D427DE0F0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60808" y="3228765"/>
            <a:ext cx="914400" cy="914400"/>
          </a:xfrm>
          <a:prstGeom prst="rect">
            <a:avLst/>
          </a:prstGeom>
        </p:spPr>
      </p:pic>
      <p:pic>
        <p:nvPicPr>
          <p:cNvPr id="8" name="圖形 7" descr="報紙 外框">
            <a:extLst>
              <a:ext uri="{FF2B5EF4-FFF2-40B4-BE49-F238E27FC236}">
                <a16:creationId xmlns:a16="http://schemas.microsoft.com/office/drawing/2014/main" id="{8DC1824A-9160-DFF0-9309-38D0121B16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26429" y="3228765"/>
            <a:ext cx="914400" cy="914400"/>
          </a:xfrm>
          <a:prstGeom prst="rect">
            <a:avLst/>
          </a:prstGeom>
        </p:spPr>
      </p:pic>
      <p:sp>
        <p:nvSpPr>
          <p:cNvPr id="9" name="文字方塊 8">
            <a:extLst>
              <a:ext uri="{FF2B5EF4-FFF2-40B4-BE49-F238E27FC236}">
                <a16:creationId xmlns:a16="http://schemas.microsoft.com/office/drawing/2014/main" id="{BFC93BB7-224C-9970-AAE0-ADC03F869F69}"/>
              </a:ext>
            </a:extLst>
          </p:cNvPr>
          <p:cNvSpPr txBox="1"/>
          <p:nvPr/>
        </p:nvSpPr>
        <p:spPr>
          <a:xfrm>
            <a:off x="2914851" y="2186012"/>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Training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訓練資料集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sp>
        <p:nvSpPr>
          <p:cNvPr id="10" name="文字方塊 9">
            <a:extLst>
              <a:ext uri="{FF2B5EF4-FFF2-40B4-BE49-F238E27FC236}">
                <a16:creationId xmlns:a16="http://schemas.microsoft.com/office/drawing/2014/main" id="{27630997-26C9-5248-8800-0F2AECAD8BD0}"/>
              </a:ext>
            </a:extLst>
          </p:cNvPr>
          <p:cNvSpPr txBox="1"/>
          <p:nvPr/>
        </p:nvSpPr>
        <p:spPr>
          <a:xfrm>
            <a:off x="6580472" y="2186012"/>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Test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測試資料集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pic>
        <p:nvPicPr>
          <p:cNvPr id="11" name="圖形 10" descr="書本 以實心填滿">
            <a:extLst>
              <a:ext uri="{FF2B5EF4-FFF2-40B4-BE49-F238E27FC236}">
                <a16:creationId xmlns:a16="http://schemas.microsoft.com/office/drawing/2014/main" id="{0F8466F8-52BB-2DFF-1A8D-034AF154C1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28775" y="5501160"/>
            <a:ext cx="914400" cy="914400"/>
          </a:xfrm>
          <a:prstGeom prst="rect">
            <a:avLst/>
          </a:prstGeom>
        </p:spPr>
      </p:pic>
      <p:sp>
        <p:nvSpPr>
          <p:cNvPr id="12" name="文字方塊 11">
            <a:extLst>
              <a:ext uri="{FF2B5EF4-FFF2-40B4-BE49-F238E27FC236}">
                <a16:creationId xmlns:a16="http://schemas.microsoft.com/office/drawing/2014/main" id="{C9AABECE-579F-A34C-A2C3-1476CE26B65C}"/>
              </a:ext>
            </a:extLst>
          </p:cNvPr>
          <p:cNvSpPr txBox="1"/>
          <p:nvPr/>
        </p:nvSpPr>
        <p:spPr>
          <a:xfrm>
            <a:off x="1682818" y="4458407"/>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Training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訓練資料集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pic>
        <p:nvPicPr>
          <p:cNvPr id="13" name="圖形 12" descr="書本 以實心填滿">
            <a:extLst>
              <a:ext uri="{FF2B5EF4-FFF2-40B4-BE49-F238E27FC236}">
                <a16:creationId xmlns:a16="http://schemas.microsoft.com/office/drawing/2014/main" id="{B6CA68CE-EE47-9CA6-AB36-54E42DFAA1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35090" y="5501160"/>
            <a:ext cx="914400" cy="914400"/>
          </a:xfrm>
          <a:prstGeom prst="rect">
            <a:avLst/>
          </a:prstGeom>
        </p:spPr>
      </p:pic>
      <p:sp>
        <p:nvSpPr>
          <p:cNvPr id="14" name="文字方塊 13">
            <a:extLst>
              <a:ext uri="{FF2B5EF4-FFF2-40B4-BE49-F238E27FC236}">
                <a16:creationId xmlns:a16="http://schemas.microsoft.com/office/drawing/2014/main" id="{B6A189AE-E2EE-362B-2892-F7BBA9D1DE6E}"/>
              </a:ext>
            </a:extLst>
          </p:cNvPr>
          <p:cNvSpPr txBox="1"/>
          <p:nvPr/>
        </p:nvSpPr>
        <p:spPr>
          <a:xfrm>
            <a:off x="4089133" y="4458407"/>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Validation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驗證資料集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cxnSp>
        <p:nvCxnSpPr>
          <p:cNvPr id="16" name="肘形接點 15">
            <a:extLst>
              <a:ext uri="{FF2B5EF4-FFF2-40B4-BE49-F238E27FC236}">
                <a16:creationId xmlns:a16="http://schemas.microsoft.com/office/drawing/2014/main" id="{A90677DF-2F64-6B52-FEBC-5A26A961A84C}"/>
              </a:ext>
            </a:extLst>
          </p:cNvPr>
          <p:cNvCxnSpPr>
            <a:cxnSpLocks/>
            <a:stCxn id="12" idx="0"/>
            <a:endCxn id="14" idx="0"/>
          </p:cNvCxnSpPr>
          <p:nvPr/>
        </p:nvCxnSpPr>
        <p:spPr>
          <a:xfrm rot="5400000" flipH="1" flipV="1">
            <a:off x="4089133" y="3255250"/>
            <a:ext cx="12700" cy="240631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4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C810F-4ECE-8C21-F876-828094FA8B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2E3DD86-1B83-C8EA-4540-F5178101FC05}"/>
              </a:ext>
            </a:extLst>
          </p:cNvPr>
          <p:cNvSpPr>
            <a:spLocks noGrp="1"/>
          </p:cNvSpPr>
          <p:nvPr>
            <p:ph type="title"/>
          </p:nvPr>
        </p:nvSpPr>
        <p:spPr/>
        <p:txBody>
          <a:bodyPr/>
          <a:lstStyle/>
          <a:p>
            <a:r>
              <a:rPr kumimoji="1" lang="zh-TW" altLang="en-US" dirty="0">
                <a:latin typeface="Microsoft JhengHei" panose="020B0604030504040204" pitchFamily="34" charset="-120"/>
                <a:ea typeface="Microsoft JhengHei" panose="020B0604030504040204" pitchFamily="34" charset="-120"/>
                <a:cs typeface="Calibri" panose="020F0502020204030204" pitchFamily="34" charset="0"/>
              </a:rPr>
              <a:t>訓練模型的目標</a:t>
            </a:r>
          </a:p>
        </p:txBody>
      </p:sp>
      <p:sp>
        <p:nvSpPr>
          <p:cNvPr id="4" name="投影片編號版面配置區 3">
            <a:extLst>
              <a:ext uri="{FF2B5EF4-FFF2-40B4-BE49-F238E27FC236}">
                <a16:creationId xmlns:a16="http://schemas.microsoft.com/office/drawing/2014/main" id="{0791BD06-B4F9-51BF-E893-F91576CF93B6}"/>
              </a:ext>
            </a:extLst>
          </p:cNvPr>
          <p:cNvSpPr>
            <a:spLocks noGrp="1"/>
          </p:cNvSpPr>
          <p:nvPr>
            <p:ph type="sldNum" sz="quarter" idx="12"/>
          </p:nvPr>
        </p:nvSpPr>
        <p:spPr/>
        <p:txBody>
          <a:bodyPr/>
          <a:lstStyle/>
          <a:p>
            <a:fld id="{6113E31D-E2AB-40D1-8B51-AFA5AFEF393A}" type="slidenum">
              <a:rPr lang="en-US" smtClean="0"/>
              <a:pPr/>
              <a:t>4</a:t>
            </a:fld>
            <a:endParaRPr lang="en-US" dirty="0"/>
          </a:p>
        </p:txBody>
      </p:sp>
      <p:pic>
        <p:nvPicPr>
          <p:cNvPr id="7" name="圖形 6" descr="書本 以實心填滿">
            <a:extLst>
              <a:ext uri="{FF2B5EF4-FFF2-40B4-BE49-F238E27FC236}">
                <a16:creationId xmlns:a16="http://schemas.microsoft.com/office/drawing/2014/main" id="{AD65B6E6-E551-EC4E-1819-B92CA885CA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8168" y="3228765"/>
            <a:ext cx="914400" cy="914400"/>
          </a:xfrm>
          <a:prstGeom prst="rect">
            <a:avLst/>
          </a:prstGeom>
        </p:spPr>
      </p:pic>
      <p:pic>
        <p:nvPicPr>
          <p:cNvPr id="8" name="圖形 7" descr="報紙 外框">
            <a:extLst>
              <a:ext uri="{FF2B5EF4-FFF2-40B4-BE49-F238E27FC236}">
                <a16:creationId xmlns:a16="http://schemas.microsoft.com/office/drawing/2014/main" id="{CA7C1099-3EB5-0692-10CA-0AC89CE426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5469" y="3228765"/>
            <a:ext cx="914400" cy="914400"/>
          </a:xfrm>
          <a:prstGeom prst="rect">
            <a:avLst/>
          </a:prstGeom>
        </p:spPr>
      </p:pic>
      <p:sp>
        <p:nvSpPr>
          <p:cNvPr id="9" name="文字方塊 8">
            <a:extLst>
              <a:ext uri="{FF2B5EF4-FFF2-40B4-BE49-F238E27FC236}">
                <a16:creationId xmlns:a16="http://schemas.microsoft.com/office/drawing/2014/main" id="{31895C71-4E14-949B-734B-4B8D9B94A944}"/>
              </a:ext>
            </a:extLst>
          </p:cNvPr>
          <p:cNvSpPr txBox="1"/>
          <p:nvPr/>
        </p:nvSpPr>
        <p:spPr>
          <a:xfrm>
            <a:off x="2112211" y="2186012"/>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Training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訓練資料集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sp>
        <p:nvSpPr>
          <p:cNvPr id="10" name="文字方塊 9">
            <a:extLst>
              <a:ext uri="{FF2B5EF4-FFF2-40B4-BE49-F238E27FC236}">
                <a16:creationId xmlns:a16="http://schemas.microsoft.com/office/drawing/2014/main" id="{78AF3EFE-D8C1-A67D-23D5-9253B4C82372}"/>
              </a:ext>
            </a:extLst>
          </p:cNvPr>
          <p:cNvSpPr txBox="1"/>
          <p:nvPr/>
        </p:nvSpPr>
        <p:spPr>
          <a:xfrm>
            <a:off x="7789512" y="2186012"/>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Test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測試資料集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pic>
        <p:nvPicPr>
          <p:cNvPr id="11" name="圖形 10" descr="書本 以實心填滿">
            <a:extLst>
              <a:ext uri="{FF2B5EF4-FFF2-40B4-BE49-F238E27FC236}">
                <a16:creationId xmlns:a16="http://schemas.microsoft.com/office/drawing/2014/main" id="{556EA9B8-56B9-1509-DB98-34CA897C46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26135" y="5501160"/>
            <a:ext cx="914400" cy="914400"/>
          </a:xfrm>
          <a:prstGeom prst="rect">
            <a:avLst/>
          </a:prstGeom>
        </p:spPr>
      </p:pic>
      <p:sp>
        <p:nvSpPr>
          <p:cNvPr id="12" name="文字方塊 11">
            <a:extLst>
              <a:ext uri="{FF2B5EF4-FFF2-40B4-BE49-F238E27FC236}">
                <a16:creationId xmlns:a16="http://schemas.microsoft.com/office/drawing/2014/main" id="{48900FFC-C4D8-CCAE-DD62-04870FA0C4C1}"/>
              </a:ext>
            </a:extLst>
          </p:cNvPr>
          <p:cNvSpPr txBox="1"/>
          <p:nvPr/>
        </p:nvSpPr>
        <p:spPr>
          <a:xfrm>
            <a:off x="880178" y="4458407"/>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Training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訓練資料集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pic>
        <p:nvPicPr>
          <p:cNvPr id="13" name="圖形 12" descr="書本 以實心填滿">
            <a:extLst>
              <a:ext uri="{FF2B5EF4-FFF2-40B4-BE49-F238E27FC236}">
                <a16:creationId xmlns:a16="http://schemas.microsoft.com/office/drawing/2014/main" id="{039A9468-85E2-AD34-50E0-EDA808558E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2450" y="5501160"/>
            <a:ext cx="914400" cy="914400"/>
          </a:xfrm>
          <a:prstGeom prst="rect">
            <a:avLst/>
          </a:prstGeom>
        </p:spPr>
      </p:pic>
      <p:sp>
        <p:nvSpPr>
          <p:cNvPr id="14" name="文字方塊 13">
            <a:extLst>
              <a:ext uri="{FF2B5EF4-FFF2-40B4-BE49-F238E27FC236}">
                <a16:creationId xmlns:a16="http://schemas.microsoft.com/office/drawing/2014/main" id="{8AC14D7A-5087-ABA4-59FE-314F582D5D79}"/>
              </a:ext>
            </a:extLst>
          </p:cNvPr>
          <p:cNvSpPr txBox="1"/>
          <p:nvPr/>
        </p:nvSpPr>
        <p:spPr>
          <a:xfrm>
            <a:off x="3286493" y="4458407"/>
            <a:ext cx="2406315" cy="830997"/>
          </a:xfrm>
          <a:prstGeom prst="rect">
            <a:avLst/>
          </a:prstGeom>
          <a:noFill/>
        </p:spPr>
        <p:txBody>
          <a:bodyPr wrap="square" rtlCol="0">
            <a:spAutoFit/>
          </a:bodyPr>
          <a:lstStyle/>
          <a:p>
            <a:pPr algn="ctr"/>
            <a:r>
              <a:rPr kumimoji="1" lang="en-US" altLang="zh-TW" sz="2400" dirty="0">
                <a:ea typeface="Microsoft JhengHei" panose="020B0604030504040204" pitchFamily="34" charset="-120"/>
              </a:rPr>
              <a:t>Validation Set</a:t>
            </a:r>
          </a:p>
          <a:p>
            <a:pPr algn="ct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驗證資料集</a:t>
            </a:r>
            <a:r>
              <a:rPr kumimoji="1" lang="en-US" altLang="zh-TW" sz="2400" dirty="0">
                <a:ea typeface="Microsoft JhengHei" panose="020B0604030504040204" pitchFamily="34" charset="-120"/>
              </a:rPr>
              <a:t>)</a:t>
            </a:r>
            <a:endParaRPr kumimoji="1" lang="zh-TW" altLang="en-US" sz="2400" dirty="0">
              <a:ea typeface="Microsoft JhengHei" panose="020B0604030504040204" pitchFamily="34" charset="-120"/>
            </a:endParaRPr>
          </a:p>
        </p:txBody>
      </p:sp>
      <p:cxnSp>
        <p:nvCxnSpPr>
          <p:cNvPr id="16" name="肘形接點 15">
            <a:extLst>
              <a:ext uri="{FF2B5EF4-FFF2-40B4-BE49-F238E27FC236}">
                <a16:creationId xmlns:a16="http://schemas.microsoft.com/office/drawing/2014/main" id="{482D257C-CF64-BA86-696D-29C055455608}"/>
              </a:ext>
            </a:extLst>
          </p:cNvPr>
          <p:cNvCxnSpPr>
            <a:cxnSpLocks/>
            <a:stCxn id="12" idx="0"/>
            <a:endCxn id="14" idx="0"/>
          </p:cNvCxnSpPr>
          <p:nvPr/>
        </p:nvCxnSpPr>
        <p:spPr>
          <a:xfrm rot="5400000" flipH="1" flipV="1">
            <a:off x="3286493" y="3255250"/>
            <a:ext cx="12700" cy="240631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sp>
        <p:nvSpPr>
          <p:cNvPr id="3" name="橢圓 2">
            <a:extLst>
              <a:ext uri="{FF2B5EF4-FFF2-40B4-BE49-F238E27FC236}">
                <a16:creationId xmlns:a16="http://schemas.microsoft.com/office/drawing/2014/main" id="{FB216208-8879-1315-870A-B132F12F0531}"/>
              </a:ext>
            </a:extLst>
          </p:cNvPr>
          <p:cNvSpPr/>
          <p:nvPr/>
        </p:nvSpPr>
        <p:spPr>
          <a:xfrm>
            <a:off x="2000885" y="1880398"/>
            <a:ext cx="2583915" cy="227322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CF3DD17B-F193-34D3-7B81-E237D89BB30A}"/>
              </a:ext>
            </a:extLst>
          </p:cNvPr>
          <p:cNvSpPr txBox="1"/>
          <p:nvPr/>
        </p:nvSpPr>
        <p:spPr>
          <a:xfrm>
            <a:off x="1493253" y="1511066"/>
            <a:ext cx="3586480" cy="369332"/>
          </a:xfrm>
          <a:prstGeom prst="rect">
            <a:avLst/>
          </a:prstGeom>
          <a:noFill/>
        </p:spPr>
        <p:txBody>
          <a:bodyPr wrap="square" rtlCol="0">
            <a:spAutoFit/>
          </a:bodyPr>
          <a:lstStyle/>
          <a:p>
            <a:pPr algn="ctr"/>
            <a:r>
              <a:rPr kumimoji="1" lang="zh-TW" altLang="en-US" dirty="0">
                <a:solidFill>
                  <a:srgbClr val="FF0000"/>
                </a:solidFill>
              </a:rPr>
              <a:t>你所能收集到的資料</a:t>
            </a:r>
          </a:p>
        </p:txBody>
      </p:sp>
      <p:sp>
        <p:nvSpPr>
          <p:cNvPr id="6" name="矩形 5">
            <a:extLst>
              <a:ext uri="{FF2B5EF4-FFF2-40B4-BE49-F238E27FC236}">
                <a16:creationId xmlns:a16="http://schemas.microsoft.com/office/drawing/2014/main" id="{034412DC-6481-A735-694A-DE8D433713F2}"/>
              </a:ext>
            </a:extLst>
          </p:cNvPr>
          <p:cNvSpPr/>
          <p:nvPr/>
        </p:nvSpPr>
        <p:spPr>
          <a:xfrm>
            <a:off x="5513020" y="2853220"/>
            <a:ext cx="1535197" cy="75108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000" b="1" dirty="0">
                <a:solidFill>
                  <a:schemeClr val="tx1"/>
                </a:solidFill>
              </a:rPr>
              <a:t>Model</a:t>
            </a:r>
            <a:endParaRPr kumimoji="1" lang="zh-TW" altLang="en-US" sz="2000" b="1" dirty="0">
              <a:solidFill>
                <a:schemeClr val="tx1"/>
              </a:solidFill>
            </a:endParaRPr>
          </a:p>
        </p:txBody>
      </p:sp>
      <p:cxnSp>
        <p:nvCxnSpPr>
          <p:cNvPr id="17" name="直線箭頭接點 16">
            <a:extLst>
              <a:ext uri="{FF2B5EF4-FFF2-40B4-BE49-F238E27FC236}">
                <a16:creationId xmlns:a16="http://schemas.microsoft.com/office/drawing/2014/main" id="{2CBEF3C7-C7D9-3C1D-A11D-7C4C0B09C2FF}"/>
              </a:ext>
            </a:extLst>
          </p:cNvPr>
          <p:cNvCxnSpPr>
            <a:cxnSpLocks/>
          </p:cNvCxnSpPr>
          <p:nvPr/>
        </p:nvCxnSpPr>
        <p:spPr>
          <a:xfrm>
            <a:off x="4693653" y="3228764"/>
            <a:ext cx="66688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7616A30E-A3D7-2CB1-C60E-738CDCF5F3D1}"/>
              </a:ext>
            </a:extLst>
          </p:cNvPr>
          <p:cNvCxnSpPr>
            <a:cxnSpLocks/>
          </p:cNvCxnSpPr>
          <p:nvPr/>
        </p:nvCxnSpPr>
        <p:spPr>
          <a:xfrm>
            <a:off x="7122629" y="3228764"/>
            <a:ext cx="66688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679237B9-77FD-8D16-A9BC-424069380D7C}"/>
              </a:ext>
            </a:extLst>
          </p:cNvPr>
          <p:cNvSpPr txBox="1"/>
          <p:nvPr/>
        </p:nvSpPr>
        <p:spPr>
          <a:xfrm>
            <a:off x="7271352" y="4464758"/>
            <a:ext cx="3782002" cy="646331"/>
          </a:xfrm>
          <a:prstGeom prst="rect">
            <a:avLst/>
          </a:prstGeom>
          <a:noFill/>
        </p:spPr>
        <p:txBody>
          <a:bodyPr wrap="square" rtlCol="0">
            <a:spAutoFit/>
          </a:bodyPr>
          <a:lstStyle/>
          <a:p>
            <a:r>
              <a:rPr kumimoji="1" lang="zh-TW" altLang="en-US" dirty="0">
                <a:solidFill>
                  <a:srgbClr val="FF0000"/>
                </a:solidFill>
              </a:rPr>
              <a:t>目標在測試集上得到很好的效果，代表泛化能力強 </a:t>
            </a:r>
            <a:r>
              <a:rPr kumimoji="1" lang="en-US" altLang="zh-TW" dirty="0">
                <a:solidFill>
                  <a:srgbClr val="FF0000"/>
                </a:solidFill>
              </a:rPr>
              <a:t>(Generalization)</a:t>
            </a:r>
            <a:endParaRPr kumimoji="1" lang="zh-TW" altLang="en-US" dirty="0">
              <a:solidFill>
                <a:srgbClr val="FF0000"/>
              </a:solidFill>
            </a:endParaRPr>
          </a:p>
        </p:txBody>
      </p:sp>
    </p:spTree>
    <p:extLst>
      <p:ext uri="{BB962C8B-B14F-4D97-AF65-F5344CB8AC3E}">
        <p14:creationId xmlns:p14="http://schemas.microsoft.com/office/powerpoint/2010/main" val="161279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90F1BD-7AB8-C237-15B9-EDA8E109864D}"/>
              </a:ext>
            </a:extLst>
          </p:cNvPr>
          <p:cNvSpPr>
            <a:spLocks noGrp="1"/>
          </p:cNvSpPr>
          <p:nvPr>
            <p:ph type="title"/>
          </p:nvPr>
        </p:nvSpPr>
        <p:spPr/>
        <p:txBody>
          <a:bodyPr>
            <a:normAutofit/>
          </a:bodyPr>
          <a:lstStyle/>
          <a:p>
            <a:r>
              <a:rPr kumimoji="1" lang="zh-TW" altLang="en-US" dirty="0"/>
              <a:t>訓練機器學習模型時可能發生的情況</a:t>
            </a:r>
          </a:p>
        </p:txBody>
      </p:sp>
      <p:sp>
        <p:nvSpPr>
          <p:cNvPr id="4" name="投影片編號版面配置區 3">
            <a:extLst>
              <a:ext uri="{FF2B5EF4-FFF2-40B4-BE49-F238E27FC236}">
                <a16:creationId xmlns:a16="http://schemas.microsoft.com/office/drawing/2014/main" id="{87CA5B01-0293-6CFE-CD33-EFD0CB392A69}"/>
              </a:ext>
            </a:extLst>
          </p:cNvPr>
          <p:cNvSpPr>
            <a:spLocks noGrp="1"/>
          </p:cNvSpPr>
          <p:nvPr>
            <p:ph type="sldNum" sz="quarter" idx="12"/>
          </p:nvPr>
        </p:nvSpPr>
        <p:spPr/>
        <p:txBody>
          <a:bodyPr/>
          <a:lstStyle/>
          <a:p>
            <a:fld id="{6113E31D-E2AB-40D1-8B51-AFA5AFEF393A}" type="slidenum">
              <a:rPr lang="en-US" smtClean="0"/>
              <a:pPr/>
              <a:t>5</a:t>
            </a:fld>
            <a:endParaRPr lang="en-US" dirty="0"/>
          </a:p>
        </p:txBody>
      </p:sp>
      <p:sp>
        <p:nvSpPr>
          <p:cNvPr id="7" name="文字方塊 6">
            <a:extLst>
              <a:ext uri="{FF2B5EF4-FFF2-40B4-BE49-F238E27FC236}">
                <a16:creationId xmlns:a16="http://schemas.microsoft.com/office/drawing/2014/main" id="{931C1502-C10B-290B-C11E-9424E946E138}"/>
              </a:ext>
            </a:extLst>
          </p:cNvPr>
          <p:cNvSpPr txBox="1"/>
          <p:nvPr/>
        </p:nvSpPr>
        <p:spPr>
          <a:xfrm>
            <a:off x="9295242" y="1458949"/>
            <a:ext cx="2276272" cy="276999"/>
          </a:xfrm>
          <a:prstGeom prst="rect">
            <a:avLst/>
          </a:prstGeom>
          <a:noFill/>
        </p:spPr>
        <p:txBody>
          <a:bodyPr wrap="square" rtlCol="0">
            <a:spAutoFit/>
          </a:bodyPr>
          <a:lstStyle/>
          <a:p>
            <a:pPr algn="ctr"/>
            <a:r>
              <a:rPr kumimoji="1" lang="en-US" altLang="zh-TW" sz="1200" dirty="0"/>
              <a:t>code/w7_plot_overfitting.py</a:t>
            </a:r>
            <a:endParaRPr kumimoji="1" lang="zh-TW" altLang="en-US" sz="1200" dirty="0"/>
          </a:p>
        </p:txBody>
      </p:sp>
      <p:pic>
        <p:nvPicPr>
          <p:cNvPr id="5" name="圖片 4" descr="一張含有 文字, 行, 螢幕擷取畫面, 繪圖 的圖片&#10;&#10;AI 產生的內容可能不正確。">
            <a:extLst>
              <a:ext uri="{FF2B5EF4-FFF2-40B4-BE49-F238E27FC236}">
                <a16:creationId xmlns:a16="http://schemas.microsoft.com/office/drawing/2014/main" id="{3C2D5B50-52A9-0D90-30BC-0FACDBED4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7897" y="2111585"/>
            <a:ext cx="8776205" cy="4334119"/>
          </a:xfrm>
          <a:prstGeom prst="rect">
            <a:avLst/>
          </a:prstGeom>
        </p:spPr>
      </p:pic>
    </p:spTree>
    <p:extLst>
      <p:ext uri="{BB962C8B-B14F-4D97-AF65-F5344CB8AC3E}">
        <p14:creationId xmlns:p14="http://schemas.microsoft.com/office/powerpoint/2010/main" val="327230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B1C31-DB37-54D8-EF11-8322D79655B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94EA579-E49D-245C-2580-285AF659799D}"/>
              </a:ext>
            </a:extLst>
          </p:cNvPr>
          <p:cNvSpPr>
            <a:spLocks noGrp="1"/>
          </p:cNvSpPr>
          <p:nvPr>
            <p:ph type="title"/>
          </p:nvPr>
        </p:nvSpPr>
        <p:spPr/>
        <p:txBody>
          <a:bodyPr>
            <a:normAutofit/>
          </a:bodyPr>
          <a:lstStyle/>
          <a:p>
            <a:r>
              <a:rPr kumimoji="1" lang="en-US" altLang="zh-TW" dirty="0"/>
              <a:t>[</a:t>
            </a:r>
            <a:r>
              <a:rPr kumimoji="1" lang="zh-TW" altLang="en-US" dirty="0"/>
              <a:t>定義</a:t>
            </a:r>
            <a:r>
              <a:rPr kumimoji="1" lang="en-US" altLang="zh-TW" dirty="0"/>
              <a:t>]</a:t>
            </a:r>
            <a:r>
              <a:rPr kumimoji="1" lang="zh-TW" altLang="en-US" dirty="0"/>
              <a:t> </a:t>
            </a:r>
            <a:r>
              <a:rPr kumimoji="1" lang="en-US" altLang="zh-TW" dirty="0"/>
              <a:t>Overfitting </a:t>
            </a:r>
            <a:r>
              <a:rPr kumimoji="1" lang="zh-TW" altLang="en-US" dirty="0"/>
              <a:t>與</a:t>
            </a:r>
            <a:r>
              <a:rPr kumimoji="1" lang="en-US" altLang="zh-TW" dirty="0"/>
              <a:t> Underfitting</a:t>
            </a:r>
            <a:endParaRPr kumimoji="1" lang="zh-TW" altLang="en-US" dirty="0"/>
          </a:p>
        </p:txBody>
      </p:sp>
      <p:sp>
        <p:nvSpPr>
          <p:cNvPr id="4" name="投影片編號版面配置區 3">
            <a:extLst>
              <a:ext uri="{FF2B5EF4-FFF2-40B4-BE49-F238E27FC236}">
                <a16:creationId xmlns:a16="http://schemas.microsoft.com/office/drawing/2014/main" id="{0279A379-1CBF-1501-10FF-E7C9A325DA6A}"/>
              </a:ext>
            </a:extLst>
          </p:cNvPr>
          <p:cNvSpPr>
            <a:spLocks noGrp="1"/>
          </p:cNvSpPr>
          <p:nvPr>
            <p:ph type="sldNum" sz="quarter" idx="12"/>
          </p:nvPr>
        </p:nvSpPr>
        <p:spPr/>
        <p:txBody>
          <a:bodyPr/>
          <a:lstStyle/>
          <a:p>
            <a:fld id="{6113E31D-E2AB-40D1-8B51-AFA5AFEF393A}" type="slidenum">
              <a:rPr lang="en-US" smtClean="0"/>
              <a:pPr/>
              <a:t>6</a:t>
            </a:fld>
            <a:endParaRPr lang="en-US" dirty="0"/>
          </a:p>
        </p:txBody>
      </p:sp>
      <p:sp>
        <p:nvSpPr>
          <p:cNvPr id="3" name="文字方塊 2">
            <a:extLst>
              <a:ext uri="{FF2B5EF4-FFF2-40B4-BE49-F238E27FC236}">
                <a16:creationId xmlns:a16="http://schemas.microsoft.com/office/drawing/2014/main" id="{1427E3C6-B265-2A79-32B1-8CFBF32D4AF6}"/>
              </a:ext>
            </a:extLst>
          </p:cNvPr>
          <p:cNvSpPr txBox="1"/>
          <p:nvPr/>
        </p:nvSpPr>
        <p:spPr>
          <a:xfrm>
            <a:off x="653144" y="1806093"/>
            <a:ext cx="10918370" cy="2932854"/>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kumimoji="1" lang="en-US" altLang="zh-TW" sz="2400" dirty="0"/>
              <a:t>Underfitting (</a:t>
            </a:r>
            <a:r>
              <a:rPr kumimoji="1" lang="zh-TW" altLang="en-US" sz="2400" dirty="0"/>
              <a:t>欠擬合</a:t>
            </a:r>
            <a:r>
              <a:rPr kumimoji="1" lang="en-US" altLang="zh-TW" sz="2400" dirty="0"/>
              <a:t>): </a:t>
            </a:r>
            <a:r>
              <a:rPr kumimoji="1" lang="zh-TW" altLang="en-US" sz="2400" dirty="0"/>
              <a:t>模型無法在</a:t>
            </a:r>
            <a:r>
              <a:rPr kumimoji="1" lang="en-US" altLang="zh-TW" sz="2400" dirty="0"/>
              <a:t> training set </a:t>
            </a:r>
            <a:r>
              <a:rPr kumimoji="1" lang="zh-TW" altLang="en-US" sz="2400" dirty="0"/>
              <a:t>取得很低的誤差 </a:t>
            </a:r>
            <a:r>
              <a:rPr kumimoji="1" lang="en-US" altLang="zh-TW" sz="2400" dirty="0"/>
              <a:t>(error; loss)</a:t>
            </a:r>
          </a:p>
          <a:p>
            <a:pPr marL="342900" indent="-342900">
              <a:lnSpc>
                <a:spcPct val="200000"/>
              </a:lnSpc>
              <a:buFont typeface="Arial" panose="020B0604020202020204" pitchFamily="34" charset="0"/>
              <a:buChar char="•"/>
            </a:pPr>
            <a:r>
              <a:rPr kumimoji="1" lang="en-US" altLang="zh-TW" sz="2400" dirty="0"/>
              <a:t>Overfitting (</a:t>
            </a:r>
            <a:r>
              <a:rPr kumimoji="1" lang="zh-TW" altLang="en-US" sz="2400" dirty="0"/>
              <a:t>過擬合</a:t>
            </a:r>
            <a:r>
              <a:rPr kumimoji="1" lang="en-US" altLang="zh-TW" sz="2400" dirty="0"/>
              <a:t>): </a:t>
            </a:r>
            <a:r>
              <a:rPr kumimoji="1" lang="zh-TW" altLang="en-US" sz="2400" dirty="0"/>
              <a:t>模型的 </a:t>
            </a:r>
            <a:r>
              <a:rPr kumimoji="1" lang="en-US" altLang="zh-TW" sz="2400" dirty="0"/>
              <a:t>training error </a:t>
            </a:r>
            <a:r>
              <a:rPr kumimoji="1" lang="zh-TW" altLang="en-US" sz="2400" dirty="0"/>
              <a:t>與 </a:t>
            </a:r>
            <a:r>
              <a:rPr kumimoji="1" lang="en-US" altLang="zh-TW" sz="2400" dirty="0"/>
              <a:t>test error </a:t>
            </a:r>
            <a:r>
              <a:rPr kumimoji="1" lang="zh-TW" altLang="en-US" sz="2400" dirty="0"/>
              <a:t>差異很大</a:t>
            </a:r>
            <a:endParaRPr kumimoji="1" lang="en-US" altLang="zh-TW" sz="2400" dirty="0"/>
          </a:p>
          <a:p>
            <a:pPr marL="800100" lvl="1" indent="-342900">
              <a:lnSpc>
                <a:spcPct val="200000"/>
              </a:lnSpc>
              <a:buFont typeface="Arial" panose="020B0604020202020204" pitchFamily="34" charset="0"/>
              <a:buChar char="•"/>
            </a:pPr>
            <a:r>
              <a:rPr kumimoji="1" lang="en-US" altLang="zh-TW" sz="2400" dirty="0"/>
              <a:t>test error</a:t>
            </a:r>
            <a:r>
              <a:rPr kumimoji="1" lang="zh-TW" altLang="en-US" sz="2400" dirty="0"/>
              <a:t> 通常代表 </a:t>
            </a:r>
            <a:r>
              <a:rPr kumimoji="1" lang="en-US" altLang="zh-TW" sz="2400" dirty="0"/>
              <a:t>validation loss</a:t>
            </a:r>
          </a:p>
          <a:p>
            <a:pPr marL="800100" lvl="1" indent="-342900">
              <a:lnSpc>
                <a:spcPct val="200000"/>
              </a:lnSpc>
              <a:buFont typeface="Arial" panose="020B0604020202020204" pitchFamily="34" charset="0"/>
              <a:buChar char="•"/>
            </a:pPr>
            <a:r>
              <a:rPr kumimoji="1" lang="zh-TW" altLang="en-US" sz="2400" dirty="0"/>
              <a:t>常見模型可以呈現很小的 </a:t>
            </a:r>
            <a:r>
              <a:rPr kumimoji="1" lang="en" altLang="zh-TW" sz="2400" dirty="0"/>
              <a:t>training error</a:t>
            </a:r>
            <a:r>
              <a:rPr kumimoji="1" lang="zh-TW" altLang="en-US" sz="2400" dirty="0"/>
              <a:t>，但</a:t>
            </a:r>
            <a:r>
              <a:rPr kumimoji="1" lang="en-US" altLang="zh-TW" sz="2400" dirty="0"/>
              <a:t> test error </a:t>
            </a:r>
            <a:r>
              <a:rPr kumimoji="1" lang="zh-TW" altLang="en-US" sz="2400" dirty="0"/>
              <a:t>仍大</a:t>
            </a:r>
            <a:endParaRPr kumimoji="1" lang="en-US" altLang="zh-TW" sz="2400" dirty="0"/>
          </a:p>
        </p:txBody>
      </p:sp>
    </p:spTree>
    <p:extLst>
      <p:ext uri="{BB962C8B-B14F-4D97-AF65-F5344CB8AC3E}">
        <p14:creationId xmlns:p14="http://schemas.microsoft.com/office/powerpoint/2010/main" val="4693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35A607-0DF5-796A-730E-304D588CE290}"/>
              </a:ext>
            </a:extLst>
          </p:cNvPr>
          <p:cNvSpPr>
            <a:spLocks noGrp="1"/>
          </p:cNvSpPr>
          <p:nvPr>
            <p:ph type="title"/>
          </p:nvPr>
        </p:nvSpPr>
        <p:spPr/>
        <p:txBody>
          <a:bodyPr/>
          <a:lstStyle/>
          <a:p>
            <a:r>
              <a:rPr kumimoji="1" lang="en-US" altLang="zh-TW" dirty="0"/>
              <a:t>Underfitting vs. Overfitting</a:t>
            </a:r>
            <a:endParaRPr kumimoji="1" lang="zh-TW" altLang="en-US" dirty="0"/>
          </a:p>
        </p:txBody>
      </p:sp>
      <p:sp>
        <p:nvSpPr>
          <p:cNvPr id="4" name="投影片編號版面配置區 3">
            <a:extLst>
              <a:ext uri="{FF2B5EF4-FFF2-40B4-BE49-F238E27FC236}">
                <a16:creationId xmlns:a16="http://schemas.microsoft.com/office/drawing/2014/main" id="{F99986D1-9F0D-9963-E2E7-C52EBEBB0E40}"/>
              </a:ext>
            </a:extLst>
          </p:cNvPr>
          <p:cNvSpPr>
            <a:spLocks noGrp="1"/>
          </p:cNvSpPr>
          <p:nvPr>
            <p:ph type="sldNum" sz="quarter" idx="12"/>
          </p:nvPr>
        </p:nvSpPr>
        <p:spPr/>
        <p:txBody>
          <a:bodyPr/>
          <a:lstStyle/>
          <a:p>
            <a:fld id="{6113E31D-E2AB-40D1-8B51-AFA5AFEF393A}" type="slidenum">
              <a:rPr lang="en-US" smtClean="0"/>
              <a:pPr/>
              <a:t>7</a:t>
            </a:fld>
            <a:endParaRPr lang="en-US" dirty="0"/>
          </a:p>
        </p:txBody>
      </p:sp>
      <p:pic>
        <p:nvPicPr>
          <p:cNvPr id="9" name="圖片 8" descr="一張含有 文字, 行, 螢幕擷取畫面, 繪圖 的圖片&#10;&#10;AI 產生的內容可能不正確。">
            <a:extLst>
              <a:ext uri="{FF2B5EF4-FFF2-40B4-BE49-F238E27FC236}">
                <a16:creationId xmlns:a16="http://schemas.microsoft.com/office/drawing/2014/main" id="{52B03589-1F66-35C9-C8DA-81C0EE981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7897" y="2111585"/>
            <a:ext cx="8776205" cy="4334119"/>
          </a:xfrm>
          <a:prstGeom prst="rect">
            <a:avLst/>
          </a:prstGeom>
        </p:spPr>
      </p:pic>
      <p:sp>
        <p:nvSpPr>
          <p:cNvPr id="10" name="向右箭號 9">
            <a:extLst>
              <a:ext uri="{FF2B5EF4-FFF2-40B4-BE49-F238E27FC236}">
                <a16:creationId xmlns:a16="http://schemas.microsoft.com/office/drawing/2014/main" id="{6A55B421-D9F5-1B17-DF43-098A06BDD51F}"/>
              </a:ext>
            </a:extLst>
          </p:cNvPr>
          <p:cNvSpPr/>
          <p:nvPr/>
        </p:nvSpPr>
        <p:spPr>
          <a:xfrm rot="16200000">
            <a:off x="4940519" y="4997808"/>
            <a:ext cx="406959" cy="216197"/>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A1FC4D0A-11B3-4871-F1F6-7AC61FF349B8}"/>
              </a:ext>
            </a:extLst>
          </p:cNvPr>
          <p:cNvSpPr txBox="1"/>
          <p:nvPr/>
        </p:nvSpPr>
        <p:spPr>
          <a:xfrm>
            <a:off x="9295242" y="1458949"/>
            <a:ext cx="2276272" cy="276999"/>
          </a:xfrm>
          <a:prstGeom prst="rect">
            <a:avLst/>
          </a:prstGeom>
          <a:noFill/>
        </p:spPr>
        <p:txBody>
          <a:bodyPr wrap="square" rtlCol="0">
            <a:spAutoFit/>
          </a:bodyPr>
          <a:lstStyle/>
          <a:p>
            <a:pPr algn="ctr"/>
            <a:r>
              <a:rPr kumimoji="1" lang="en-US" altLang="zh-TW" sz="1200" dirty="0"/>
              <a:t>code/w7_plot_overfitting.py</a:t>
            </a:r>
            <a:endParaRPr kumimoji="1" lang="zh-TW" altLang="en-US" sz="1200" dirty="0"/>
          </a:p>
        </p:txBody>
      </p:sp>
    </p:spTree>
    <p:extLst>
      <p:ext uri="{BB962C8B-B14F-4D97-AF65-F5344CB8AC3E}">
        <p14:creationId xmlns:p14="http://schemas.microsoft.com/office/powerpoint/2010/main" val="387746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1432-EEF5-DE1B-552E-157C4B7ADD1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6CC57B9-07C0-7CB9-2C30-A6B498AA925A}"/>
              </a:ext>
            </a:extLst>
          </p:cNvPr>
          <p:cNvSpPr>
            <a:spLocks noGrp="1"/>
          </p:cNvSpPr>
          <p:nvPr>
            <p:ph type="title"/>
          </p:nvPr>
        </p:nvSpPr>
        <p:spPr/>
        <p:txBody>
          <a:bodyPr/>
          <a:lstStyle/>
          <a:p>
            <a:r>
              <a:rPr kumimoji="1" lang="en-US" altLang="zh-TW" dirty="0" err="1"/>
              <a:t>EarlyStopping</a:t>
            </a:r>
            <a:r>
              <a:rPr kumimoji="1" lang="en-US" altLang="zh-TW" dirty="0"/>
              <a:t> </a:t>
            </a:r>
            <a:r>
              <a:rPr kumimoji="1" lang="zh-TW" altLang="en-US" dirty="0"/>
              <a:t>的良好時間點</a:t>
            </a:r>
          </a:p>
        </p:txBody>
      </p:sp>
      <p:sp>
        <p:nvSpPr>
          <p:cNvPr id="4" name="投影片編號版面配置區 3">
            <a:extLst>
              <a:ext uri="{FF2B5EF4-FFF2-40B4-BE49-F238E27FC236}">
                <a16:creationId xmlns:a16="http://schemas.microsoft.com/office/drawing/2014/main" id="{8D08C839-2F8D-0107-9A14-BB3F39F4F5F6}"/>
              </a:ext>
            </a:extLst>
          </p:cNvPr>
          <p:cNvSpPr>
            <a:spLocks noGrp="1"/>
          </p:cNvSpPr>
          <p:nvPr>
            <p:ph type="sldNum" sz="quarter" idx="12"/>
          </p:nvPr>
        </p:nvSpPr>
        <p:spPr/>
        <p:txBody>
          <a:bodyPr/>
          <a:lstStyle/>
          <a:p>
            <a:fld id="{6113E31D-E2AB-40D1-8B51-AFA5AFEF393A}" type="slidenum">
              <a:rPr lang="en-US" smtClean="0"/>
              <a:pPr/>
              <a:t>8</a:t>
            </a:fld>
            <a:endParaRPr lang="en-US" dirty="0"/>
          </a:p>
        </p:txBody>
      </p:sp>
      <p:pic>
        <p:nvPicPr>
          <p:cNvPr id="7" name="圖片 6" descr="一張含有 螢幕擷取畫面, 繪圖, 行, 圖表 的圖片&#10;&#10;AI 產生的內容可能不正確。">
            <a:extLst>
              <a:ext uri="{FF2B5EF4-FFF2-40B4-BE49-F238E27FC236}">
                <a16:creationId xmlns:a16="http://schemas.microsoft.com/office/drawing/2014/main" id="{7C69B5A8-14EB-1D88-68CA-AAFDA05D9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7202" y="1966194"/>
            <a:ext cx="8857595" cy="4374313"/>
          </a:xfrm>
          <a:prstGeom prst="rect">
            <a:avLst/>
          </a:prstGeom>
        </p:spPr>
      </p:pic>
      <p:sp>
        <p:nvSpPr>
          <p:cNvPr id="8" name="向右箭號 7">
            <a:extLst>
              <a:ext uri="{FF2B5EF4-FFF2-40B4-BE49-F238E27FC236}">
                <a16:creationId xmlns:a16="http://schemas.microsoft.com/office/drawing/2014/main" id="{E88DAF0A-1B91-3115-2D26-9AF2F6977FD4}"/>
              </a:ext>
            </a:extLst>
          </p:cNvPr>
          <p:cNvSpPr/>
          <p:nvPr/>
        </p:nvSpPr>
        <p:spPr>
          <a:xfrm rot="16200000">
            <a:off x="6159719" y="5501391"/>
            <a:ext cx="406959" cy="216197"/>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2EEC05A0-684E-2134-1A3A-39EF897091AD}"/>
              </a:ext>
            </a:extLst>
          </p:cNvPr>
          <p:cNvSpPr txBox="1"/>
          <p:nvPr/>
        </p:nvSpPr>
        <p:spPr>
          <a:xfrm>
            <a:off x="9917722" y="1458949"/>
            <a:ext cx="1653791" cy="276999"/>
          </a:xfrm>
          <a:prstGeom prst="rect">
            <a:avLst/>
          </a:prstGeom>
          <a:noFill/>
        </p:spPr>
        <p:txBody>
          <a:bodyPr wrap="square" rtlCol="0">
            <a:spAutoFit/>
          </a:bodyPr>
          <a:lstStyle/>
          <a:p>
            <a:pPr algn="ctr"/>
            <a:r>
              <a:rPr kumimoji="1" lang="en-US" altLang="zh-TW" sz="1200" dirty="0"/>
              <a:t>code/w7_plot_es.py</a:t>
            </a:r>
            <a:endParaRPr kumimoji="1" lang="zh-TW" altLang="en-US" sz="1200" dirty="0"/>
          </a:p>
        </p:txBody>
      </p:sp>
    </p:spTree>
    <p:extLst>
      <p:ext uri="{BB962C8B-B14F-4D97-AF65-F5344CB8AC3E}">
        <p14:creationId xmlns:p14="http://schemas.microsoft.com/office/powerpoint/2010/main" val="11187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D81F64-17EF-5216-005B-119E27571018}"/>
              </a:ext>
            </a:extLst>
          </p:cNvPr>
          <p:cNvSpPr>
            <a:spLocks noGrp="1"/>
          </p:cNvSpPr>
          <p:nvPr>
            <p:ph type="title"/>
          </p:nvPr>
        </p:nvSpPr>
        <p:spPr/>
        <p:txBody>
          <a:bodyPr/>
          <a:lstStyle/>
          <a:p>
            <a:r>
              <a:rPr kumimoji="1" lang="en-US" altLang="zh-TW" dirty="0"/>
              <a:t>Regularization</a:t>
            </a:r>
            <a:endParaRPr kumimoji="1" lang="zh-TW" altLang="en-US" dirty="0"/>
          </a:p>
        </p:txBody>
      </p:sp>
      <p:sp>
        <p:nvSpPr>
          <p:cNvPr id="4" name="投影片編號版面配置區 3">
            <a:extLst>
              <a:ext uri="{FF2B5EF4-FFF2-40B4-BE49-F238E27FC236}">
                <a16:creationId xmlns:a16="http://schemas.microsoft.com/office/drawing/2014/main" id="{197F44BC-6CAD-3009-9C8E-CE9FC86CCAD6}"/>
              </a:ext>
            </a:extLst>
          </p:cNvPr>
          <p:cNvSpPr>
            <a:spLocks noGrp="1"/>
          </p:cNvSpPr>
          <p:nvPr>
            <p:ph type="sldNum" sz="quarter" idx="12"/>
          </p:nvPr>
        </p:nvSpPr>
        <p:spPr/>
        <p:txBody>
          <a:bodyPr/>
          <a:lstStyle/>
          <a:p>
            <a:fld id="{6113E31D-E2AB-40D1-8B51-AFA5AFEF393A}" type="slidenum">
              <a:rPr lang="en-US" smtClean="0"/>
              <a:pPr/>
              <a:t>9</a:t>
            </a:fld>
            <a:endParaRPr 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91A51746-6BC1-8400-4F56-5FDF59B0CFA4}"/>
                  </a:ext>
                </a:extLst>
              </p:cNvPr>
              <p:cNvSpPr txBox="1"/>
              <p:nvPr/>
            </p:nvSpPr>
            <p:spPr>
              <a:xfrm>
                <a:off x="2538884" y="3645737"/>
                <a:ext cx="3580561"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4000" i="1" smtClean="0">
                              <a:solidFill>
                                <a:schemeClr val="tx1"/>
                              </a:solidFill>
                              <a:latin typeface="Cambria Math" panose="02040503050406030204" pitchFamily="18" charset="0"/>
                            </a:rPr>
                          </m:ctrlPr>
                        </m:sSubPr>
                        <m:e>
                          <m:r>
                            <a:rPr lang="zh-TW" altLang="en-US" sz="4000">
                              <a:solidFill>
                                <a:schemeClr val="tx1"/>
                              </a:solidFill>
                              <a:latin typeface="Cambria Math" panose="02040503050406030204" pitchFamily="18" charset="0"/>
                            </a:rPr>
                            <m:t>ℒ</m:t>
                          </m:r>
                        </m:e>
                        <m:sub>
                          <m:r>
                            <m:rPr>
                              <m:sty m:val="p"/>
                            </m:rPr>
                            <a:rPr lang="zh-TW" altLang="en-US" sz="4000" i="0">
                              <a:solidFill>
                                <a:schemeClr val="tx1"/>
                              </a:solidFill>
                              <a:latin typeface="Cambria Math" panose="02040503050406030204" pitchFamily="18" charset="0"/>
                            </a:rPr>
                            <m:t>new</m:t>
                          </m:r>
                        </m:sub>
                      </m:sSub>
                      <m:r>
                        <a:rPr lang="zh-TW" altLang="en-US" sz="4000" i="0">
                          <a:solidFill>
                            <a:schemeClr val="tx1"/>
                          </a:solidFill>
                          <a:latin typeface="Cambria Math" panose="02040503050406030204" pitchFamily="18" charset="0"/>
                        </a:rPr>
                        <m:t>=</m:t>
                      </m:r>
                      <m:r>
                        <a:rPr lang="zh-TW" altLang="en-US" sz="4000" i="0">
                          <a:solidFill>
                            <a:schemeClr val="tx1"/>
                          </a:solidFill>
                          <a:latin typeface="Cambria Math" panose="02040503050406030204" pitchFamily="18" charset="0"/>
                        </a:rPr>
                        <m:t>ℒ</m:t>
                      </m:r>
                      <m:r>
                        <a:rPr lang="zh-TW" altLang="en-US" sz="4000" i="0">
                          <a:solidFill>
                            <a:schemeClr val="tx1"/>
                          </a:solidFill>
                          <a:latin typeface="Cambria Math" panose="02040503050406030204" pitchFamily="18" charset="0"/>
                        </a:rPr>
                        <m:t>+</m:t>
                      </m:r>
                    </m:oMath>
                  </m:oMathPara>
                </a14:m>
                <a:endParaRPr lang="zh-TW" altLang="en-US" sz="4000" dirty="0">
                  <a:solidFill>
                    <a:schemeClr val="tx1"/>
                  </a:solidFill>
                </a:endParaRPr>
              </a:p>
            </p:txBody>
          </p:sp>
        </mc:Choice>
        <mc:Fallback xmlns="">
          <p:sp>
            <p:nvSpPr>
              <p:cNvPr id="6" name="文字方塊 5">
                <a:extLst>
                  <a:ext uri="{FF2B5EF4-FFF2-40B4-BE49-F238E27FC236}">
                    <a16:creationId xmlns:a16="http://schemas.microsoft.com/office/drawing/2014/main" id="{91A51746-6BC1-8400-4F56-5FDF59B0CFA4}"/>
                  </a:ext>
                </a:extLst>
              </p:cNvPr>
              <p:cNvSpPr txBox="1">
                <a:spLocks noRot="1" noChangeAspect="1" noMove="1" noResize="1" noEditPoints="1" noAdjustHandles="1" noChangeArrowheads="1" noChangeShapeType="1" noTextEdit="1"/>
              </p:cNvSpPr>
              <p:nvPr/>
            </p:nvSpPr>
            <p:spPr>
              <a:xfrm>
                <a:off x="2538884" y="3645737"/>
                <a:ext cx="3580561" cy="707886"/>
              </a:xfrm>
              <a:prstGeom prst="rect">
                <a:avLst/>
              </a:prstGeom>
              <a:blipFill>
                <a:blip r:embed="rId3"/>
                <a:stretch>
                  <a:fillRect b="-5357"/>
                </a:stretch>
              </a:blipFill>
            </p:spPr>
            <p:txBody>
              <a:bodyPr/>
              <a:lstStyle/>
              <a:p>
                <a:r>
                  <a:rPr lang="zh-TW" altLang="en-US">
                    <a:noFill/>
                  </a:rPr>
                  <a:t> </a:t>
                </a:r>
              </a:p>
            </p:txBody>
          </p:sp>
        </mc:Fallback>
      </mc:AlternateContent>
      <p:sp>
        <p:nvSpPr>
          <p:cNvPr id="7" name="圓角矩形 6">
            <a:extLst>
              <a:ext uri="{FF2B5EF4-FFF2-40B4-BE49-F238E27FC236}">
                <a16:creationId xmlns:a16="http://schemas.microsoft.com/office/drawing/2014/main" id="{6B933EC9-0681-367C-2A3D-A997F7D3DDA7}"/>
              </a:ext>
            </a:extLst>
          </p:cNvPr>
          <p:cNvSpPr/>
          <p:nvPr/>
        </p:nvSpPr>
        <p:spPr>
          <a:xfrm>
            <a:off x="5858188" y="3675881"/>
            <a:ext cx="2703007" cy="7078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err="1"/>
              <a:t>regularization_term</a:t>
            </a:r>
            <a:endParaRPr kumimoji="1" lang="zh-TW" altLang="en-US" sz="2000" dirty="0"/>
          </a:p>
        </p:txBody>
      </p:sp>
      <p:sp>
        <p:nvSpPr>
          <p:cNvPr id="8" name="文字方塊 7">
            <a:extLst>
              <a:ext uri="{FF2B5EF4-FFF2-40B4-BE49-F238E27FC236}">
                <a16:creationId xmlns:a16="http://schemas.microsoft.com/office/drawing/2014/main" id="{038A52A1-96BF-9AB3-FC46-7C61B75749EC}"/>
              </a:ext>
            </a:extLst>
          </p:cNvPr>
          <p:cNvSpPr txBox="1"/>
          <p:nvPr/>
        </p:nvSpPr>
        <p:spPr>
          <a:xfrm>
            <a:off x="636815" y="1928013"/>
            <a:ext cx="10918370" cy="113184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定義：</a:t>
            </a:r>
            <a:r>
              <a:rPr kumimoji="1" lang="en-US" altLang="zh-TW" sz="2400" dirty="0">
                <a:ea typeface="Microsoft JhengHei" panose="020B0604030504040204" pitchFamily="34" charset="-120"/>
              </a:rPr>
              <a:t>regularization (</a:t>
            </a:r>
            <a:r>
              <a:rPr kumimoji="1" lang="zh-TW" altLang="en-US" sz="2400" dirty="0">
                <a:ea typeface="Microsoft JhengHei" panose="020B0604030504040204" pitchFamily="34" charset="-120"/>
              </a:rPr>
              <a:t>正則化</a:t>
            </a:r>
            <a:r>
              <a:rPr kumimoji="1" lang="en-US" altLang="zh-TW" sz="2400" dirty="0">
                <a:ea typeface="Microsoft JhengHei" panose="020B0604030504040204" pitchFamily="34" charset="-120"/>
              </a:rPr>
              <a:t>) </a:t>
            </a:r>
            <a:r>
              <a:rPr kumimoji="1" lang="zh-TW" altLang="en-US" sz="2400" dirty="0">
                <a:ea typeface="Microsoft JhengHei" panose="020B0604030504040204" pitchFamily="34" charset="-120"/>
              </a:rPr>
              <a:t>是一種技巧來幫助模型減少 </a:t>
            </a:r>
            <a:r>
              <a:rPr kumimoji="1" lang="en-US" altLang="zh-TW" sz="2400" dirty="0">
                <a:ea typeface="Microsoft JhengHei" panose="020B0604030504040204" pitchFamily="34" charset="-120"/>
              </a:rPr>
              <a:t>training error </a:t>
            </a:r>
            <a:r>
              <a:rPr kumimoji="1" lang="zh-TW" altLang="en-US" sz="2400" dirty="0">
                <a:ea typeface="Microsoft JhengHei" panose="020B0604030504040204" pitchFamily="34" charset="-120"/>
              </a:rPr>
              <a:t>與 </a:t>
            </a:r>
            <a:r>
              <a:rPr kumimoji="1" lang="en-US" altLang="zh-TW" sz="2400" dirty="0">
                <a:ea typeface="Microsoft JhengHei" panose="020B0604030504040204" pitchFamily="34" charset="-120"/>
              </a:rPr>
              <a:t>test error </a:t>
            </a:r>
            <a:r>
              <a:rPr kumimoji="1" lang="zh-TW" altLang="en-US" sz="2400" dirty="0">
                <a:ea typeface="Microsoft JhengHei" panose="020B0604030504040204" pitchFamily="34" charset="-120"/>
              </a:rPr>
              <a:t>的差距 </a:t>
            </a:r>
            <a:r>
              <a:rPr kumimoji="1" lang="en-US" altLang="zh-TW" sz="2400" dirty="0">
                <a:ea typeface="Microsoft JhengHei" panose="020B0604030504040204" pitchFamily="34" charset="-120"/>
              </a:rPr>
              <a:t>(</a:t>
            </a:r>
            <a:r>
              <a:rPr kumimoji="1" lang="zh-TW" altLang="en-US" sz="2400" dirty="0">
                <a:ea typeface="Microsoft JhengHei" panose="020B0604030504040204" pitchFamily="34" charset="-120"/>
              </a:rPr>
              <a:t>並非降低 </a:t>
            </a:r>
            <a:r>
              <a:rPr kumimoji="1" lang="en-US" altLang="zh-TW" sz="2400" dirty="0">
                <a:ea typeface="Microsoft JhengHei" panose="020B0604030504040204" pitchFamily="34" charset="-120"/>
              </a:rPr>
              <a:t>training error)</a:t>
            </a:r>
          </a:p>
        </p:txBody>
      </p:sp>
    </p:spTree>
    <p:extLst>
      <p:ext uri="{BB962C8B-B14F-4D97-AF65-F5344CB8AC3E}">
        <p14:creationId xmlns:p14="http://schemas.microsoft.com/office/powerpoint/2010/main" val="4272512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8259B9-2DBE-4A0C-0690-1EFAA8B99A0C}"/>
              </a:ext>
            </a:extLst>
          </p:cNvPr>
          <p:cNvSpPr>
            <a:spLocks noGrp="1"/>
          </p:cNvSpPr>
          <p:nvPr>
            <p:ph type="title"/>
          </p:nvPr>
        </p:nvSpPr>
        <p:spPr/>
        <p:txBody>
          <a:bodyPr/>
          <a:lstStyle/>
          <a:p>
            <a:r>
              <a:rPr kumimoji="1" lang="en-US" altLang="zh-TW" dirty="0"/>
              <a:t>Norm (</a:t>
            </a:r>
            <a:r>
              <a:rPr kumimoji="1" lang="zh-TW" altLang="en-US" dirty="0"/>
              <a:t>範數</a:t>
            </a:r>
            <a:r>
              <a:rPr kumimoji="1" lang="en-US" altLang="zh-TW" dirty="0"/>
              <a: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7D1D641-DB34-D073-31B6-87C1B141BA23}"/>
                  </a:ext>
                </a:extLst>
              </p:cNvPr>
              <p:cNvSpPr>
                <a:spLocks noGrp="1"/>
              </p:cNvSpPr>
              <p:nvPr>
                <p:ph idx="1"/>
              </p:nvPr>
            </p:nvSpPr>
            <p:spPr>
              <a:xfrm>
                <a:off x="653143" y="1906022"/>
                <a:ext cx="10918371" cy="4023360"/>
              </a:xfrm>
            </p:spPr>
            <p:txBody>
              <a:bodyPr/>
              <a:lstStyle/>
              <a:p>
                <a:r>
                  <a:rPr kumimoji="1" lang="zh-TW" altLang="en-US" sz="2400" dirty="0"/>
                  <a:t>是具有「長度」概念的函數，其為向量空間內的所有向量的正長度或大小。</a:t>
                </a:r>
                <a:endParaRPr kumimoji="1" lang="en-US" altLang="zh-TW" sz="2400" dirty="0"/>
              </a:p>
              <a:p>
                <a:r>
                  <a:rPr kumimoji="1" lang="zh-TW" altLang="en-US" sz="2400" dirty="0"/>
                  <a:t>假設有一向量</a:t>
                </a:r>
                <a:r>
                  <a:rPr kumimoji="1" lang="en-US" altLang="zh-TW" sz="2400" dirty="0"/>
                  <a:t> </a:t>
                </a:r>
                <a14:m>
                  <m:oMath xmlns:m="http://schemas.openxmlformats.org/officeDocument/2006/math">
                    <m:r>
                      <m:rPr>
                        <m:sty m:val="p"/>
                      </m:rPr>
                      <a:rPr lang="en-US" altLang="zh-TW" sz="2400" kern="100" smtClean="0">
                        <a:effectLst/>
                        <a:latin typeface="Cambria Math" panose="02040503050406030204" pitchFamily="18" charset="0"/>
                        <a:ea typeface="新細明體" panose="02020500000000000000" pitchFamily="18" charset="-120"/>
                        <a:cs typeface="Times New Roman" panose="02020603050405020304" pitchFamily="18" charset="0"/>
                      </a:rPr>
                      <m:t>w</m:t>
                    </m:r>
                    <m:r>
                      <a:rPr lang="en-US" altLang="zh-TW" sz="2400" kern="100" smtClean="0">
                        <a:effectLst/>
                        <a:latin typeface="Cambria Math" panose="02040503050406030204" pitchFamily="18" charset="0"/>
                        <a:ea typeface="新細明體" panose="02020500000000000000" pitchFamily="18" charset="-120"/>
                        <a:cs typeface="Times New Roman" panose="02020603050405020304" pitchFamily="18" charset="0"/>
                      </a:rPr>
                      <m:t>=</m:t>
                    </m:r>
                    <m:d>
                      <m:dPr>
                        <m:begChr m:val="["/>
                        <m:endChr m:val="]"/>
                        <m:ctrlPr>
                          <a:rPr lang="zh-TW" altLang="zh-TW"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kern="100">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400" kern="100">
                                <a:effectLst/>
                                <a:latin typeface="Cambria Math" panose="02040503050406030204" pitchFamily="18" charset="0"/>
                                <a:ea typeface="新細明體" panose="02020500000000000000" pitchFamily="18" charset="-120"/>
                                <a:cs typeface="Times New Roman" panose="02020603050405020304" pitchFamily="18" charset="0"/>
                              </a:rPr>
                              <m:t>1</m:t>
                            </m:r>
                          </m:sub>
                        </m:sSub>
                        <m:r>
                          <a:rPr lang="en-US" altLang="zh-TW" sz="2400"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kern="100">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400" kern="100">
                                <a:effectLst/>
                                <a:latin typeface="Cambria Math" panose="02040503050406030204" pitchFamily="18" charset="0"/>
                                <a:ea typeface="新細明體" panose="02020500000000000000" pitchFamily="18" charset="-120"/>
                                <a:cs typeface="Times New Roman" panose="02020603050405020304" pitchFamily="18" charset="0"/>
                              </a:rPr>
                              <m:t>2</m:t>
                            </m:r>
                          </m:sub>
                        </m:sSub>
                        <m:r>
                          <a:rPr lang="en-US" altLang="zh-TW" sz="2400"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400" i="1" kern="100">
                            <a:effectLst/>
                            <a:latin typeface="Cambria Math" panose="02040503050406030204" pitchFamily="18" charset="0"/>
                            <a:ea typeface="新細明體" panose="02020500000000000000" pitchFamily="18" charset="-120"/>
                            <a:cs typeface="Times New Roman" panose="02020603050405020304" pitchFamily="18" charset="0"/>
                          </a:rPr>
                          <m:t> </m:t>
                        </m:r>
                        <m:sSub>
                          <m:sSubPr>
                            <m:ctrlPr>
                              <a:rPr lang="zh-TW" altLang="zh-TW"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kern="100">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400" i="1" kern="100">
                                <a:effectLst/>
                                <a:latin typeface="Cambria Math" panose="02040503050406030204" pitchFamily="18" charset="0"/>
                                <a:ea typeface="新細明體" panose="02020500000000000000" pitchFamily="18" charset="-120"/>
                                <a:cs typeface="Times New Roman" panose="02020603050405020304" pitchFamily="18" charset="0"/>
                              </a:rPr>
                              <m:t>𝑛</m:t>
                            </m:r>
                          </m:sub>
                        </m:sSub>
                      </m:e>
                    </m:d>
                  </m:oMath>
                </a14:m>
                <a:endParaRPr lang="zh-TW" altLang="zh-TW" kern="100" dirty="0">
                  <a:effectLst/>
                  <a:latin typeface="Aptos" panose="020B0004020202020204" pitchFamily="34" charset="0"/>
                  <a:ea typeface="新細明體" panose="02020500000000000000" pitchFamily="18" charset="-120"/>
                  <a:cs typeface="Times New Roman" panose="02020603050405020304" pitchFamily="18" charset="0"/>
                </a:endParaRPr>
              </a:p>
              <a:p>
                <a:pPr marL="0" indent="0">
                  <a:buNone/>
                </a:pPr>
                <a:endParaRPr kumimoji="1" lang="zh-TW" altLang="en-US" dirty="0"/>
              </a:p>
            </p:txBody>
          </p:sp>
        </mc:Choice>
        <mc:Fallback xmlns="">
          <p:sp>
            <p:nvSpPr>
              <p:cNvPr id="3" name="內容版面配置區 2">
                <a:extLst>
                  <a:ext uri="{FF2B5EF4-FFF2-40B4-BE49-F238E27FC236}">
                    <a16:creationId xmlns:a16="http://schemas.microsoft.com/office/drawing/2014/main" id="{77D1D641-DB34-D073-31B6-87C1B141BA23}"/>
                  </a:ext>
                </a:extLst>
              </p:cNvPr>
              <p:cNvSpPr>
                <a:spLocks noGrp="1" noRot="1" noChangeAspect="1" noMove="1" noResize="1" noEditPoints="1" noAdjustHandles="1" noChangeArrowheads="1" noChangeShapeType="1" noTextEdit="1"/>
              </p:cNvSpPr>
              <p:nvPr>
                <p:ph idx="1"/>
              </p:nvPr>
            </p:nvSpPr>
            <p:spPr>
              <a:xfrm>
                <a:off x="653143" y="1906022"/>
                <a:ext cx="10918371" cy="4023360"/>
              </a:xfrm>
              <a:blipFill>
                <a:blip r:embed="rId2"/>
                <a:stretch>
                  <a:fillRect l="-1742" t="-220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13ACC18-CEF2-3BC6-5D2E-CBEC69CF1F6B}"/>
              </a:ext>
            </a:extLst>
          </p:cNvPr>
          <p:cNvSpPr>
            <a:spLocks noGrp="1"/>
          </p:cNvSpPr>
          <p:nvPr>
            <p:ph type="sldNum" sz="quarter" idx="12"/>
          </p:nvPr>
        </p:nvSpPr>
        <p:spPr/>
        <p:txBody>
          <a:bodyPr/>
          <a:lstStyle/>
          <a:p>
            <a:fld id="{6113E31D-E2AB-40D1-8B51-AFA5AFEF393A}" type="slidenum">
              <a:rPr lang="en-US" smtClean="0"/>
              <a:pPr/>
              <a:t>10</a:t>
            </a:fld>
            <a:endParaRPr lang="en-US" dirty="0"/>
          </a:p>
        </p:txBody>
      </p:sp>
      <p:sp>
        <p:nvSpPr>
          <p:cNvPr id="5" name="文字方塊 4">
            <a:extLst>
              <a:ext uri="{FF2B5EF4-FFF2-40B4-BE49-F238E27FC236}">
                <a16:creationId xmlns:a16="http://schemas.microsoft.com/office/drawing/2014/main" id="{98269B94-A8BA-3712-86BA-574C8210F69B}"/>
              </a:ext>
            </a:extLst>
          </p:cNvPr>
          <p:cNvSpPr txBox="1"/>
          <p:nvPr/>
        </p:nvSpPr>
        <p:spPr>
          <a:xfrm>
            <a:off x="2924071" y="3725933"/>
            <a:ext cx="1922582" cy="461665"/>
          </a:xfrm>
          <a:prstGeom prst="rect">
            <a:avLst/>
          </a:prstGeom>
          <a:noFill/>
        </p:spPr>
        <p:txBody>
          <a:bodyPr wrap="square" rtlCol="0">
            <a:spAutoFit/>
          </a:bodyPr>
          <a:lstStyle/>
          <a:p>
            <a:r>
              <a:rPr kumimoji="1" lang="en-US" altLang="zh-TW" sz="2400" dirty="0"/>
              <a:t>L</a:t>
            </a:r>
            <a:r>
              <a:rPr kumimoji="1" lang="en-US" altLang="zh-TW" sz="2400" baseline="30000" dirty="0"/>
              <a:t>1</a:t>
            </a:r>
            <a:r>
              <a:rPr kumimoji="1" lang="en-US" altLang="zh-TW" sz="2400" dirty="0"/>
              <a:t>-Norm</a:t>
            </a:r>
            <a:endParaRPr lang="zh-TW" altLang="zh-TW" sz="24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BC142E8E-693D-D01B-3477-BB9DD95E93F9}"/>
                  </a:ext>
                </a:extLst>
              </p:cNvPr>
              <p:cNvSpPr txBox="1"/>
              <p:nvPr/>
            </p:nvSpPr>
            <p:spPr>
              <a:xfrm>
                <a:off x="4230348" y="3405220"/>
                <a:ext cx="6382607" cy="110055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2400" smtClean="0">
                          <a:solidFill>
                            <a:schemeClr val="tx1"/>
                          </a:solidFill>
                          <a:latin typeface="Cambria Math" panose="02040503050406030204" pitchFamily="18" charset="0"/>
                        </a:rPr>
                        <m:t>=</m:t>
                      </m:r>
                      <m:sSubSup>
                        <m:sSubSupPr>
                          <m:ctrlPr>
                            <a:rPr lang="zh-TW" altLang="zh-TW" sz="2400" i="1">
                              <a:latin typeface="Cambria Math" panose="02040503050406030204" pitchFamily="18" charset="0"/>
                            </a:rPr>
                          </m:ctrlPr>
                        </m:sSubSupPr>
                        <m:e>
                          <m:d>
                            <m:dPr>
                              <m:begChr m:val="‖"/>
                              <m:endChr m:val="‖"/>
                              <m:ctrlPr>
                                <a:rPr lang="zh-TW" altLang="en-US" sz="2400" i="1">
                                  <a:latin typeface="Cambria Math" panose="02040503050406030204" pitchFamily="18" charset="0"/>
                                </a:rPr>
                              </m:ctrlPr>
                            </m:dPr>
                            <m:e>
                              <m:r>
                                <m:rPr>
                                  <m:sty m:val="p"/>
                                </m:rPr>
                                <a:rPr lang="zh-TW" altLang="en-US" sz="2400">
                                  <a:latin typeface="Cambria Math" panose="02040503050406030204" pitchFamily="18" charset="0"/>
                                </a:rPr>
                                <m:t>w</m:t>
                              </m:r>
                            </m:e>
                          </m:d>
                        </m:e>
                        <m:sub>
                          <m:r>
                            <a:rPr lang="en-US" altLang="zh-TW" sz="2400" b="0" i="1" smtClean="0">
                              <a:latin typeface="Cambria Math" panose="02040503050406030204" pitchFamily="18" charset="0"/>
                            </a:rPr>
                            <m:t>1</m:t>
                          </m:r>
                        </m:sub>
                        <m:sup/>
                      </m:sSubSup>
                      <m:r>
                        <a:rPr lang="en-US" altLang="zh-TW" sz="2400" b="0" i="1" smtClean="0">
                          <a:latin typeface="Cambria Math" panose="02040503050406030204" pitchFamily="18" charset="0"/>
                        </a:rPr>
                        <m:t>=</m:t>
                      </m:r>
                      <m:nary>
                        <m:naryPr>
                          <m:chr m:val="∑"/>
                          <m:limLoc m:val="undOvr"/>
                          <m:ctrlPr>
                            <a:rPr lang="zh-TW" altLang="zh-TW" sz="2400" i="1">
                              <a:solidFill>
                                <a:schemeClr val="tx1"/>
                              </a:solidFill>
                              <a:latin typeface="Cambria Math" panose="02040503050406030204" pitchFamily="18" charset="0"/>
                            </a:rPr>
                          </m:ctrlPr>
                        </m:naryPr>
                        <m:sub>
                          <m:r>
                            <a:rPr lang="en-US" altLang="zh-TW" sz="2400" i="1">
                              <a:solidFill>
                                <a:schemeClr val="tx1"/>
                              </a:solidFill>
                              <a:latin typeface="Cambria Math" panose="02040503050406030204" pitchFamily="18" charset="0"/>
                            </a:rPr>
                            <m:t>𝑖</m:t>
                          </m:r>
                          <m:r>
                            <a:rPr lang="en-US" altLang="zh-TW" sz="2400" i="1">
                              <a:solidFill>
                                <a:schemeClr val="tx1"/>
                              </a:solidFill>
                              <a:latin typeface="Cambria Math" panose="02040503050406030204" pitchFamily="18" charset="0"/>
                            </a:rPr>
                            <m:t>=1</m:t>
                          </m:r>
                        </m:sub>
                        <m:sup>
                          <m:r>
                            <a:rPr lang="en-US" altLang="zh-TW" sz="2400" i="1">
                              <a:solidFill>
                                <a:schemeClr val="tx1"/>
                              </a:solidFill>
                              <a:latin typeface="Cambria Math" panose="02040503050406030204" pitchFamily="18" charset="0"/>
                            </a:rPr>
                            <m:t>𝑛</m:t>
                          </m:r>
                        </m:sup>
                        <m:e>
                          <m:d>
                            <m:dPr>
                              <m:begChr m:val="|"/>
                              <m:endChr m:val="|"/>
                              <m:ctrlPr>
                                <a:rPr lang="zh-TW" altLang="zh-TW" sz="2400" i="1">
                                  <a:solidFill>
                                    <a:schemeClr val="tx1"/>
                                  </a:solidFill>
                                  <a:latin typeface="Cambria Math" panose="02040503050406030204" pitchFamily="18" charset="0"/>
                                </a:rPr>
                              </m:ctrlPr>
                            </m:dPr>
                            <m:e>
                              <m:sSub>
                                <m:sSubPr>
                                  <m:ctrlPr>
                                    <a:rPr lang="zh-TW" altLang="zh-TW" sz="2400" i="1">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𝑤</m:t>
                                  </m:r>
                                </m:e>
                                <m:sub>
                                  <m:r>
                                    <a:rPr lang="en-US" altLang="zh-TW" sz="2400" i="1">
                                      <a:solidFill>
                                        <a:schemeClr val="tx1"/>
                                      </a:solidFill>
                                      <a:latin typeface="Cambria Math" panose="02040503050406030204" pitchFamily="18" charset="0"/>
                                    </a:rPr>
                                    <m:t>𝑖</m:t>
                                  </m:r>
                                </m:sub>
                              </m:sSub>
                            </m:e>
                          </m:d>
                        </m:e>
                      </m:nary>
                      <m:r>
                        <a:rPr lang="en-US" altLang="zh-TW" sz="2400" b="0" i="1" smtClean="0">
                          <a:solidFill>
                            <a:schemeClr val="tx1"/>
                          </a:solidFill>
                          <a:latin typeface="Cambria Math" panose="02040503050406030204" pitchFamily="18" charset="0"/>
                        </a:rPr>
                        <m:t>=</m:t>
                      </m:r>
                      <m:d>
                        <m:dPr>
                          <m:begChr m:val="|"/>
                          <m:endChr m:val="|"/>
                          <m:ctrlPr>
                            <a:rPr lang="zh-TW" altLang="zh-TW" sz="2400" i="1">
                              <a:solidFill>
                                <a:schemeClr val="tx1"/>
                              </a:solidFill>
                              <a:latin typeface="Cambria Math" panose="02040503050406030204" pitchFamily="18" charset="0"/>
                            </a:rPr>
                          </m:ctrlPr>
                        </m:dPr>
                        <m:e>
                          <m:sSub>
                            <m:sSubPr>
                              <m:ctrlPr>
                                <a:rPr lang="zh-TW" altLang="zh-TW" sz="2400" i="1">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𝑤</m:t>
                              </m:r>
                            </m:e>
                            <m:sub>
                              <m:r>
                                <a:rPr lang="en-US" altLang="zh-TW" sz="2400" b="0" i="1" smtClean="0">
                                  <a:solidFill>
                                    <a:schemeClr val="tx1"/>
                                  </a:solidFill>
                                  <a:latin typeface="Cambria Math" panose="02040503050406030204" pitchFamily="18" charset="0"/>
                                </a:rPr>
                                <m:t>1</m:t>
                              </m:r>
                            </m:sub>
                          </m:sSub>
                        </m:e>
                      </m:d>
                      <m:r>
                        <a:rPr lang="en-US" altLang="zh-TW" sz="2400" b="0" i="1" smtClean="0">
                          <a:solidFill>
                            <a:schemeClr val="tx1"/>
                          </a:solidFill>
                          <a:latin typeface="Cambria Math" panose="02040503050406030204" pitchFamily="18" charset="0"/>
                        </a:rPr>
                        <m:t>+</m:t>
                      </m:r>
                      <m:d>
                        <m:dPr>
                          <m:begChr m:val="|"/>
                          <m:endChr m:val="|"/>
                          <m:ctrlPr>
                            <a:rPr lang="zh-TW" altLang="zh-TW" sz="2400" i="1">
                              <a:solidFill>
                                <a:schemeClr val="tx1"/>
                              </a:solidFill>
                              <a:latin typeface="Cambria Math" panose="02040503050406030204" pitchFamily="18" charset="0"/>
                            </a:rPr>
                          </m:ctrlPr>
                        </m:dPr>
                        <m:e>
                          <m:sSub>
                            <m:sSubPr>
                              <m:ctrlPr>
                                <a:rPr lang="zh-TW" altLang="zh-TW" sz="2400" i="1">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𝑤</m:t>
                              </m:r>
                            </m:e>
                            <m:sub>
                              <m:r>
                                <a:rPr lang="en-US" altLang="zh-TW" sz="2400" b="0" i="1" smtClean="0">
                                  <a:solidFill>
                                    <a:schemeClr val="tx1"/>
                                  </a:solidFill>
                                  <a:latin typeface="Cambria Math" panose="02040503050406030204" pitchFamily="18" charset="0"/>
                                </a:rPr>
                                <m:t>2</m:t>
                              </m:r>
                            </m:sub>
                          </m:sSub>
                        </m:e>
                      </m:d>
                      <m:r>
                        <a:rPr lang="en-US" altLang="zh-TW" sz="2400" b="0" i="1" smtClean="0">
                          <a:solidFill>
                            <a:schemeClr val="tx1"/>
                          </a:solidFill>
                          <a:latin typeface="Cambria Math" panose="02040503050406030204" pitchFamily="18" charset="0"/>
                        </a:rPr>
                        <m:t>+…+</m:t>
                      </m:r>
                      <m:d>
                        <m:dPr>
                          <m:begChr m:val="|"/>
                          <m:endChr m:val="|"/>
                          <m:ctrlPr>
                            <a:rPr lang="zh-TW" altLang="zh-TW" sz="2400" i="1">
                              <a:solidFill>
                                <a:schemeClr val="tx1"/>
                              </a:solidFill>
                              <a:latin typeface="Cambria Math" panose="02040503050406030204" pitchFamily="18" charset="0"/>
                            </a:rPr>
                          </m:ctrlPr>
                        </m:dPr>
                        <m:e>
                          <m:sSub>
                            <m:sSubPr>
                              <m:ctrlPr>
                                <a:rPr lang="zh-TW" altLang="zh-TW" sz="2400" i="1">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𝑤</m:t>
                              </m:r>
                            </m:e>
                            <m:sub>
                              <m:r>
                                <a:rPr lang="en-US" altLang="zh-TW" sz="2400" b="0" i="1" smtClean="0">
                                  <a:solidFill>
                                    <a:schemeClr val="tx1"/>
                                  </a:solidFill>
                                  <a:latin typeface="Cambria Math" panose="02040503050406030204" pitchFamily="18" charset="0"/>
                                </a:rPr>
                                <m:t>𝑛</m:t>
                              </m:r>
                            </m:sub>
                          </m:sSub>
                        </m:e>
                      </m:d>
                    </m:oMath>
                  </m:oMathPara>
                </a14:m>
                <a:endParaRPr lang="zh-TW" altLang="zh-TW" sz="2400" kern="100" dirty="0">
                  <a:solidFill>
                    <a:schemeClr val="tx1"/>
                  </a:solidFill>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BC142E8E-693D-D01B-3477-BB9DD95E93F9}"/>
                  </a:ext>
                </a:extLst>
              </p:cNvPr>
              <p:cNvSpPr txBox="1">
                <a:spLocks noRot="1" noChangeAspect="1" noMove="1" noResize="1" noEditPoints="1" noAdjustHandles="1" noChangeArrowheads="1" noChangeShapeType="1" noTextEdit="1"/>
              </p:cNvSpPr>
              <p:nvPr/>
            </p:nvSpPr>
            <p:spPr>
              <a:xfrm>
                <a:off x="4230348" y="3405220"/>
                <a:ext cx="6382607" cy="1100558"/>
              </a:xfrm>
              <a:prstGeom prst="rect">
                <a:avLst/>
              </a:prstGeom>
              <a:blipFill>
                <a:blip r:embed="rId3"/>
                <a:stretch>
                  <a:fillRect t="-108046" b="-163218"/>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882EA405-E161-FD50-19A4-FF27E62AA9ED}"/>
              </a:ext>
            </a:extLst>
          </p:cNvPr>
          <p:cNvSpPr txBox="1"/>
          <p:nvPr/>
        </p:nvSpPr>
        <p:spPr>
          <a:xfrm>
            <a:off x="2924071" y="5165545"/>
            <a:ext cx="1922582" cy="461665"/>
          </a:xfrm>
          <a:prstGeom prst="rect">
            <a:avLst/>
          </a:prstGeom>
          <a:noFill/>
        </p:spPr>
        <p:txBody>
          <a:bodyPr wrap="square" rtlCol="0">
            <a:spAutoFit/>
          </a:bodyPr>
          <a:lstStyle/>
          <a:p>
            <a:r>
              <a:rPr kumimoji="1" lang="en-US" altLang="zh-TW" sz="2400" dirty="0"/>
              <a:t>L</a:t>
            </a:r>
            <a:r>
              <a:rPr kumimoji="1" lang="en-US" altLang="zh-TW" sz="2400" baseline="30000" dirty="0"/>
              <a:t>2</a:t>
            </a:r>
            <a:r>
              <a:rPr kumimoji="1" lang="en-US" altLang="zh-TW" sz="2400" dirty="0"/>
              <a:t>-Norm</a:t>
            </a:r>
            <a:endParaRPr lang="zh-TW" altLang="zh-TW" sz="24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B863D576-EAC2-FE44-97F7-EB12E2DF3CD3}"/>
                  </a:ext>
                </a:extLst>
              </p:cNvPr>
              <p:cNvSpPr txBox="1"/>
              <p:nvPr/>
            </p:nvSpPr>
            <p:spPr>
              <a:xfrm>
                <a:off x="4230348" y="4919839"/>
                <a:ext cx="5164015" cy="8438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2400" smtClean="0">
                          <a:solidFill>
                            <a:schemeClr val="tx1"/>
                          </a:solidFill>
                          <a:latin typeface="Cambria Math" panose="02040503050406030204" pitchFamily="18" charset="0"/>
                        </a:rPr>
                        <m:t>=</m:t>
                      </m:r>
                      <m:sSubSup>
                        <m:sSubSupPr>
                          <m:ctrlPr>
                            <a:rPr lang="zh-TW" altLang="zh-TW" sz="2400" i="1">
                              <a:latin typeface="Cambria Math" panose="02040503050406030204" pitchFamily="18" charset="0"/>
                            </a:rPr>
                          </m:ctrlPr>
                        </m:sSubSupPr>
                        <m:e>
                          <m:d>
                            <m:dPr>
                              <m:begChr m:val="‖"/>
                              <m:endChr m:val="‖"/>
                              <m:ctrlPr>
                                <a:rPr lang="zh-TW" altLang="en-US" sz="2400" i="1">
                                  <a:latin typeface="Cambria Math" panose="02040503050406030204" pitchFamily="18" charset="0"/>
                                </a:rPr>
                              </m:ctrlPr>
                            </m:dPr>
                            <m:e>
                              <m:r>
                                <m:rPr>
                                  <m:sty m:val="p"/>
                                </m:rPr>
                                <a:rPr lang="zh-TW" altLang="en-US" sz="2400">
                                  <a:latin typeface="Cambria Math" panose="02040503050406030204" pitchFamily="18" charset="0"/>
                                </a:rPr>
                                <m:t>w</m:t>
                              </m:r>
                            </m:e>
                          </m:d>
                        </m:e>
                        <m:sub>
                          <m:r>
                            <a:rPr lang="en-US" altLang="zh-TW" sz="2400" i="1">
                              <a:latin typeface="Cambria Math" panose="02040503050406030204" pitchFamily="18" charset="0"/>
                            </a:rPr>
                            <m:t>2</m:t>
                          </m:r>
                        </m:sub>
                        <m:sup/>
                      </m:sSub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m:t>
                      </m:r>
                      <m:rad>
                        <m:radPr>
                          <m:degHide m:val="on"/>
                          <m:ctrlPr>
                            <a:rPr lang="zh-TW" altLang="zh-TW" sz="2400" i="1">
                              <a:latin typeface="Cambria Math" panose="02040503050406030204" pitchFamily="18" charset="0"/>
                            </a:rPr>
                          </m:ctrlPr>
                        </m:radPr>
                        <m:deg/>
                        <m:e>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up>
                              <m:r>
                                <a:rPr lang="en-US" altLang="zh-TW" sz="2400" i="1">
                                  <a:latin typeface="Cambria Math" panose="02040503050406030204" pitchFamily="18" charset="0"/>
                                </a:rPr>
                                <m:t>2</m:t>
                              </m:r>
                            </m:sup>
                          </m:sSubSup>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2</m:t>
                              </m:r>
                            </m:sub>
                            <m:sup>
                              <m:r>
                                <a:rPr lang="en-US" altLang="zh-TW" sz="2400" i="1">
                                  <a:latin typeface="Cambria Math" panose="02040503050406030204" pitchFamily="18" charset="0"/>
                                </a:rPr>
                                <m:t>2</m:t>
                              </m:r>
                            </m:sup>
                          </m:sSubSup>
                          <m:r>
                            <a:rPr lang="en-US" altLang="zh-TW" sz="2400" i="1">
                              <a:latin typeface="Cambria Math" panose="02040503050406030204" pitchFamily="18" charset="0"/>
                            </a:rPr>
                            <m:t>+…+</m:t>
                          </m:r>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𝑛</m:t>
                              </m:r>
                            </m:sub>
                            <m:sup>
                              <m:r>
                                <a:rPr lang="en-US" altLang="zh-TW" sz="2400" i="1">
                                  <a:latin typeface="Cambria Math" panose="02040503050406030204" pitchFamily="18" charset="0"/>
                                </a:rPr>
                                <m:t>2</m:t>
                              </m:r>
                            </m:sup>
                          </m:sSubSup>
                        </m:e>
                      </m:rad>
                    </m:oMath>
                  </m:oMathPara>
                </a14:m>
                <a:endParaRPr lang="zh-TW" altLang="zh-TW" sz="2400" dirty="0"/>
              </a:p>
            </p:txBody>
          </p:sp>
        </mc:Choice>
        <mc:Fallback xmlns="">
          <p:sp>
            <p:nvSpPr>
              <p:cNvPr id="8" name="文字方塊 7">
                <a:extLst>
                  <a:ext uri="{FF2B5EF4-FFF2-40B4-BE49-F238E27FC236}">
                    <a16:creationId xmlns:a16="http://schemas.microsoft.com/office/drawing/2014/main" id="{B863D576-EAC2-FE44-97F7-EB12E2DF3CD3}"/>
                  </a:ext>
                </a:extLst>
              </p:cNvPr>
              <p:cNvSpPr txBox="1">
                <a:spLocks noRot="1" noChangeAspect="1" noMove="1" noResize="1" noEditPoints="1" noAdjustHandles="1" noChangeArrowheads="1" noChangeShapeType="1" noTextEdit="1"/>
              </p:cNvSpPr>
              <p:nvPr/>
            </p:nvSpPr>
            <p:spPr>
              <a:xfrm>
                <a:off x="4230348" y="4919839"/>
                <a:ext cx="5164015" cy="843885"/>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69999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DD7A-744F-87D9-50B3-597BD7BFF7E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CC84D63-DD5E-BC04-7555-BDD95831B8AC}"/>
              </a:ext>
            </a:extLst>
          </p:cNvPr>
          <p:cNvSpPr>
            <a:spLocks noGrp="1"/>
          </p:cNvSpPr>
          <p:nvPr>
            <p:ph type="title"/>
          </p:nvPr>
        </p:nvSpPr>
        <p:spPr/>
        <p:txBody>
          <a:bodyPr/>
          <a:lstStyle/>
          <a:p>
            <a:r>
              <a:rPr kumimoji="1" lang="en-US" altLang="zh-TW" dirty="0"/>
              <a:t>L</a:t>
            </a:r>
            <a:r>
              <a:rPr kumimoji="1" lang="en-US" altLang="zh-TW" baseline="30000" dirty="0"/>
              <a:t>2</a:t>
            </a:r>
            <a:r>
              <a:rPr kumimoji="1" lang="en-US" altLang="zh-TW" dirty="0"/>
              <a:t> Regularization</a:t>
            </a:r>
            <a:endParaRPr kumimoji="1" lang="zh-TW" altLang="en-US" dirty="0"/>
          </a:p>
        </p:txBody>
      </p:sp>
      <p:sp>
        <p:nvSpPr>
          <p:cNvPr id="4" name="投影片編號版面配置區 3">
            <a:extLst>
              <a:ext uri="{FF2B5EF4-FFF2-40B4-BE49-F238E27FC236}">
                <a16:creationId xmlns:a16="http://schemas.microsoft.com/office/drawing/2014/main" id="{CAD9DB70-4222-3254-7A42-FEAA9E2F1B96}"/>
              </a:ext>
            </a:extLst>
          </p:cNvPr>
          <p:cNvSpPr>
            <a:spLocks noGrp="1"/>
          </p:cNvSpPr>
          <p:nvPr>
            <p:ph type="sldNum" sz="quarter" idx="12"/>
          </p:nvPr>
        </p:nvSpPr>
        <p:spPr/>
        <p:txBody>
          <a:bodyPr/>
          <a:lstStyle/>
          <a:p>
            <a:fld id="{6113E31D-E2AB-40D1-8B51-AFA5AFEF393A}" type="slidenum">
              <a:rPr lang="en-US" smtClean="0"/>
              <a:pPr/>
              <a:t>11</a:t>
            </a:fld>
            <a:endParaRPr 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A4D72730-2F58-06EE-64B3-EEFC1CB8C3AB}"/>
                  </a:ext>
                </a:extLst>
              </p:cNvPr>
              <p:cNvSpPr txBox="1"/>
              <p:nvPr/>
            </p:nvSpPr>
            <p:spPr>
              <a:xfrm>
                <a:off x="2096759" y="2379581"/>
                <a:ext cx="358056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zh-TW" altLang="en-US" sz="2800">
                              <a:solidFill>
                                <a:schemeClr val="tx1"/>
                              </a:solidFill>
                              <a:latin typeface="Cambria Math" panose="02040503050406030204" pitchFamily="18" charset="0"/>
                            </a:rPr>
                            <m:t>ℒ</m:t>
                          </m:r>
                        </m:e>
                        <m:sub>
                          <m:r>
                            <m:rPr>
                              <m:sty m:val="p"/>
                            </m:rPr>
                            <a:rPr lang="zh-TW" altLang="en-US" sz="2800" i="0">
                              <a:solidFill>
                                <a:schemeClr val="tx1"/>
                              </a:solidFill>
                              <a:latin typeface="Cambria Math" panose="02040503050406030204" pitchFamily="18" charset="0"/>
                            </a:rPr>
                            <m:t>new</m:t>
                          </m:r>
                        </m:sub>
                      </m:sSub>
                      <m:r>
                        <a:rPr lang="zh-TW" altLang="en-US" sz="2800" i="0">
                          <a:solidFill>
                            <a:schemeClr val="tx1"/>
                          </a:solidFill>
                          <a:latin typeface="Cambria Math" panose="02040503050406030204" pitchFamily="18" charset="0"/>
                        </a:rPr>
                        <m:t>=</m:t>
                      </m:r>
                      <m:r>
                        <a:rPr lang="zh-TW" altLang="en-US" sz="2800" i="0">
                          <a:solidFill>
                            <a:schemeClr val="tx1"/>
                          </a:solidFill>
                          <a:latin typeface="Cambria Math" panose="02040503050406030204" pitchFamily="18" charset="0"/>
                        </a:rPr>
                        <m:t>ℒ</m:t>
                      </m:r>
                      <m:r>
                        <a:rPr lang="zh-TW" altLang="en-US" sz="2800" i="0">
                          <a:solidFill>
                            <a:schemeClr val="tx1"/>
                          </a:solidFill>
                          <a:latin typeface="Cambria Math" panose="02040503050406030204" pitchFamily="18" charset="0"/>
                        </a:rPr>
                        <m:t>+</m:t>
                      </m:r>
                    </m:oMath>
                  </m:oMathPara>
                </a14:m>
                <a:endParaRPr lang="zh-TW" altLang="en-US" sz="2800" dirty="0">
                  <a:solidFill>
                    <a:schemeClr val="tx1"/>
                  </a:solidFill>
                </a:endParaRPr>
              </a:p>
            </p:txBody>
          </p:sp>
        </mc:Choice>
        <mc:Fallback xmlns="">
          <p:sp>
            <p:nvSpPr>
              <p:cNvPr id="6" name="文字方塊 5">
                <a:extLst>
                  <a:ext uri="{FF2B5EF4-FFF2-40B4-BE49-F238E27FC236}">
                    <a16:creationId xmlns:a16="http://schemas.microsoft.com/office/drawing/2014/main" id="{A4D72730-2F58-06EE-64B3-EEFC1CB8C3AB}"/>
                  </a:ext>
                </a:extLst>
              </p:cNvPr>
              <p:cNvSpPr txBox="1">
                <a:spLocks noRot="1" noChangeAspect="1" noMove="1" noResize="1" noEditPoints="1" noAdjustHandles="1" noChangeArrowheads="1" noChangeShapeType="1" noTextEdit="1"/>
              </p:cNvSpPr>
              <p:nvPr/>
            </p:nvSpPr>
            <p:spPr>
              <a:xfrm>
                <a:off x="2096759" y="2379581"/>
                <a:ext cx="3580561"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1C5ABBFC-C35D-7C60-32DE-11A12CE6AE42}"/>
                  </a:ext>
                </a:extLst>
              </p:cNvPr>
              <p:cNvSpPr txBox="1"/>
              <p:nvPr/>
            </p:nvSpPr>
            <p:spPr>
              <a:xfrm>
                <a:off x="4486589" y="2166135"/>
                <a:ext cx="2215661"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𝜆</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1</m:t>
                          </m:r>
                        </m:num>
                        <m:den>
                          <m:r>
                            <a:rPr lang="zh-TW" altLang="en-US" sz="2800">
                              <a:latin typeface="Cambria Math" panose="02040503050406030204" pitchFamily="18" charset="0"/>
                            </a:rPr>
                            <m:t>2</m:t>
                          </m:r>
                        </m:den>
                      </m:f>
                      <m:sSubSup>
                        <m:sSubSupPr>
                          <m:ctrlPr>
                            <a:rPr lang="zh-TW" altLang="zh-TW" sz="2800" i="1" smtClean="0">
                              <a:latin typeface="Cambria Math" panose="02040503050406030204" pitchFamily="18" charset="0"/>
                            </a:rPr>
                          </m:ctrlPr>
                        </m:sSubSupPr>
                        <m:e>
                          <m:d>
                            <m:dPr>
                              <m:begChr m:val="‖"/>
                              <m:endChr m:val="‖"/>
                              <m:ctrlPr>
                                <a:rPr lang="zh-TW" altLang="en-US" sz="2800" i="1">
                                  <a:latin typeface="Cambria Math" panose="02040503050406030204" pitchFamily="18" charset="0"/>
                                </a:rPr>
                              </m:ctrlPr>
                            </m:dPr>
                            <m:e>
                              <m:r>
                                <m:rPr>
                                  <m:sty m:val="p"/>
                                </m:rPr>
                                <a:rPr lang="zh-TW" altLang="en-US" sz="2800">
                                  <a:latin typeface="Cambria Math" panose="02040503050406030204" pitchFamily="18" charset="0"/>
                                </a:rPr>
                                <m:t>w</m:t>
                              </m:r>
                            </m:e>
                          </m:d>
                        </m:e>
                        <m:sub>
                          <m:r>
                            <a:rPr lang="en-US" altLang="zh-TW" sz="2800" i="1">
                              <a:latin typeface="Cambria Math" panose="02040503050406030204" pitchFamily="18" charset="0"/>
                            </a:rPr>
                            <m:t>2</m:t>
                          </m:r>
                        </m:sub>
                        <m:sup>
                          <m:r>
                            <a:rPr lang="en-US" altLang="zh-TW" sz="2800" i="1">
                              <a:latin typeface="Cambria Math" panose="02040503050406030204" pitchFamily="18" charset="0"/>
                            </a:rPr>
                            <m:t>2</m:t>
                          </m:r>
                        </m:sup>
                      </m:sSubSup>
                    </m:oMath>
                  </m:oMathPara>
                </a14:m>
                <a:endParaRPr lang="zh-TW" altLang="en-US" sz="2800" dirty="0">
                  <a:solidFill>
                    <a:schemeClr val="tx1"/>
                  </a:solidFill>
                </a:endParaRPr>
              </a:p>
            </p:txBody>
          </p:sp>
        </mc:Choice>
        <mc:Fallback xmlns="">
          <p:sp>
            <p:nvSpPr>
              <p:cNvPr id="5" name="文字方塊 4">
                <a:extLst>
                  <a:ext uri="{FF2B5EF4-FFF2-40B4-BE49-F238E27FC236}">
                    <a16:creationId xmlns:a16="http://schemas.microsoft.com/office/drawing/2014/main" id="{1C5ABBFC-C35D-7C60-32DE-11A12CE6AE42}"/>
                  </a:ext>
                </a:extLst>
              </p:cNvPr>
              <p:cNvSpPr txBox="1">
                <a:spLocks noRot="1" noChangeAspect="1" noMove="1" noResize="1" noEditPoints="1" noAdjustHandles="1" noChangeArrowheads="1" noChangeShapeType="1" noTextEdit="1"/>
              </p:cNvSpPr>
              <p:nvPr/>
            </p:nvSpPr>
            <p:spPr>
              <a:xfrm>
                <a:off x="4486589" y="2166135"/>
                <a:ext cx="2215661" cy="898964"/>
              </a:xfrm>
              <a:prstGeom prst="rect">
                <a:avLst/>
              </a:prstGeom>
              <a:blipFill>
                <a:blip r:embed="rId4"/>
                <a:stretch>
                  <a:fillRect b="-6944"/>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8C660173-9F1A-E029-5785-43940D303A0C}"/>
              </a:ext>
            </a:extLst>
          </p:cNvPr>
          <p:cNvSpPr txBox="1"/>
          <p:nvPr/>
        </p:nvSpPr>
        <p:spPr>
          <a:xfrm>
            <a:off x="2644391" y="6317246"/>
            <a:ext cx="6903217" cy="369332"/>
          </a:xfrm>
          <a:prstGeom prst="rect">
            <a:avLst/>
          </a:prstGeom>
          <a:noFill/>
        </p:spPr>
        <p:txBody>
          <a:bodyPr wrap="square" rtlCol="0">
            <a:spAutoFit/>
          </a:bodyPr>
          <a:lstStyle/>
          <a:p>
            <a:pPr algn="ctr"/>
            <a:r>
              <a:rPr kumimoji="1" lang="en-US" altLang="zh-TW" dirty="0"/>
              <a:t>L</a:t>
            </a:r>
            <a:r>
              <a:rPr kumimoji="1" lang="en-US" altLang="zh-TW" baseline="30000" dirty="0"/>
              <a:t>2</a:t>
            </a:r>
            <a:r>
              <a:rPr kumimoji="1" lang="en-US" altLang="zh-TW" dirty="0"/>
              <a:t>-Norm </a:t>
            </a:r>
            <a:r>
              <a:rPr kumimoji="1" lang="zh-TW" altLang="en-US" dirty="0"/>
              <a:t>說明：</a:t>
            </a:r>
            <a:r>
              <a:rPr kumimoji="1" lang="en" altLang="zh-TW" dirty="0"/>
              <a:t>https://</a:t>
            </a:r>
            <a:r>
              <a:rPr kumimoji="1" lang="en" altLang="zh-TW" dirty="0" err="1"/>
              <a:t>mathworld.wolfram.com</a:t>
            </a:r>
            <a:r>
              <a:rPr kumimoji="1" lang="en" altLang="zh-TW" dirty="0"/>
              <a:t>/L2-Norm.html</a:t>
            </a:r>
            <a:endParaRPr kumimoji="1" lang="zh-TW" altLang="en-US" dirty="0"/>
          </a:p>
        </p:txBody>
      </p:sp>
      <p:cxnSp>
        <p:nvCxnSpPr>
          <p:cNvPr id="11" name="直線接點 10">
            <a:extLst>
              <a:ext uri="{FF2B5EF4-FFF2-40B4-BE49-F238E27FC236}">
                <a16:creationId xmlns:a16="http://schemas.microsoft.com/office/drawing/2014/main" id="{7EABFB3E-173F-662B-BE29-25A738B5496D}"/>
              </a:ext>
            </a:extLst>
          </p:cNvPr>
          <p:cNvCxnSpPr/>
          <p:nvPr/>
        </p:nvCxnSpPr>
        <p:spPr>
          <a:xfrm>
            <a:off x="5436159" y="2906659"/>
            <a:ext cx="8943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141F89CF-E697-5BCE-2235-AEABF12D6E50}"/>
                  </a:ext>
                </a:extLst>
              </p:cNvPr>
              <p:cNvSpPr txBox="1"/>
              <p:nvPr/>
            </p:nvSpPr>
            <p:spPr>
              <a:xfrm>
                <a:off x="5263654" y="3060019"/>
                <a:ext cx="3516922" cy="528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28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2</m:t>
                          </m:r>
                        </m:sup>
                      </m:sSubSup>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m:t>
                      </m:r>
                      <m:sSubSup>
                        <m:sSubSupPr>
                          <m:ctrlPr>
                            <a:rPr lang="zh-TW" altLang="zh-TW"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2</m:t>
                          </m:r>
                        </m:sup>
                      </m:sSubSup>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m:t>
                      </m:r>
                      <m:sSubSup>
                        <m:sSubSupPr>
                          <m:ctrlPr>
                            <a:rPr lang="zh-TW" altLang="zh-TW"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𝑛</m:t>
                          </m:r>
                        </m:sub>
                        <m:sup>
                          <m:r>
                            <a:rPr lang="en-US" altLang="zh-TW" sz="2800" i="1" kern="10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2800" kern="100" dirty="0">
                  <a:solidFill>
                    <a:srgbClr val="FF0000"/>
                  </a:solidFill>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xmlns="">
          <p:sp>
            <p:nvSpPr>
              <p:cNvPr id="12" name="文字方塊 11">
                <a:extLst>
                  <a:ext uri="{FF2B5EF4-FFF2-40B4-BE49-F238E27FC236}">
                    <a16:creationId xmlns:a16="http://schemas.microsoft.com/office/drawing/2014/main" id="{141F89CF-E697-5BCE-2235-AEABF12D6E50}"/>
                  </a:ext>
                </a:extLst>
              </p:cNvPr>
              <p:cNvSpPr txBox="1">
                <a:spLocks noRot="1" noChangeAspect="1" noMove="1" noResize="1" noEditPoints="1" noAdjustHandles="1" noChangeArrowheads="1" noChangeShapeType="1" noTextEdit="1"/>
              </p:cNvSpPr>
              <p:nvPr/>
            </p:nvSpPr>
            <p:spPr>
              <a:xfrm>
                <a:off x="5263654" y="3060019"/>
                <a:ext cx="3516922" cy="528991"/>
              </a:xfrm>
              <a:prstGeom prst="rect">
                <a:avLst/>
              </a:prstGeom>
              <a:blipFill>
                <a:blip r:embed="rId5"/>
                <a:stretch>
                  <a:fillRect b="-4651"/>
                </a:stretch>
              </a:blipFill>
            </p:spPr>
            <p:txBody>
              <a:bodyPr/>
              <a:lstStyle/>
              <a:p>
                <a:r>
                  <a:rPr lang="zh-TW" altLang="en-US">
                    <a:noFill/>
                  </a:rPr>
                  <a:t> </a:t>
                </a:r>
              </a:p>
            </p:txBody>
          </p:sp>
        </mc:Fallback>
      </mc:AlternateContent>
      <p:cxnSp>
        <p:nvCxnSpPr>
          <p:cNvPr id="14" name="直線箭頭接點 13">
            <a:extLst>
              <a:ext uri="{FF2B5EF4-FFF2-40B4-BE49-F238E27FC236}">
                <a16:creationId xmlns:a16="http://schemas.microsoft.com/office/drawing/2014/main" id="{B12C049A-A936-4C7F-C072-8C8536337B5C}"/>
              </a:ext>
            </a:extLst>
          </p:cNvPr>
          <p:cNvCxnSpPr/>
          <p:nvPr/>
        </p:nvCxnSpPr>
        <p:spPr>
          <a:xfrm flipV="1">
            <a:off x="3386294" y="3034955"/>
            <a:ext cx="0" cy="9646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A632EC3A-920D-51FD-EDD8-B7BAE4976122}"/>
                  </a:ext>
                </a:extLst>
              </p:cNvPr>
              <p:cNvSpPr txBox="1"/>
              <p:nvPr/>
            </p:nvSpPr>
            <p:spPr>
              <a:xfrm>
                <a:off x="1085220" y="4174107"/>
                <a:ext cx="6491234" cy="830997"/>
              </a:xfrm>
              <a:prstGeom prst="rect">
                <a:avLst/>
              </a:prstGeom>
              <a:noFill/>
            </p:spPr>
            <p:txBody>
              <a:bodyPr wrap="square" rtlCol="0">
                <a:spAutoFit/>
              </a:bodyPr>
              <a:lstStyle/>
              <a:p>
                <a:r>
                  <a:rPr kumimoji="1" lang="zh-TW" altLang="en-US" sz="2400" dirty="0"/>
                  <a:t>代表模型的目標除了要讓 </a:t>
                </a:r>
                <a14:m>
                  <m:oMath xmlns:m="http://schemas.openxmlformats.org/officeDocument/2006/math">
                    <m:r>
                      <a:rPr lang="zh-TW" altLang="en-US" sz="2400" i="0" smtClean="0">
                        <a:solidFill>
                          <a:schemeClr val="tx1"/>
                        </a:solidFill>
                        <a:latin typeface="Cambria Math" panose="02040503050406030204" pitchFamily="18" charset="0"/>
                      </a:rPr>
                      <m:t>ℒ</m:t>
                    </m:r>
                  </m:oMath>
                </a14:m>
                <a:r>
                  <a:rPr kumimoji="1" lang="zh-TW" altLang="en-US" sz="2400" dirty="0"/>
                  <a:t> 越小越好之外，</a:t>
                </a:r>
                <a:endParaRPr kumimoji="1" lang="en-US" altLang="zh-TW" sz="2400" dirty="0"/>
              </a:p>
              <a:p>
                <a:r>
                  <a:rPr kumimoji="1" lang="zh-TW" altLang="en-US" sz="2400" dirty="0"/>
                  <a:t>還要讓所有的</a:t>
                </a:r>
                <a:r>
                  <a:rPr kumimoji="1" lang="en-US" altLang="zh-TW" sz="2400" dirty="0"/>
                  <a:t> </a:t>
                </a:r>
                <a14:m>
                  <m:oMath xmlns:m="http://schemas.openxmlformats.org/officeDocument/2006/math">
                    <m:r>
                      <m:rPr>
                        <m:sty m:val="p"/>
                      </m:rPr>
                      <a:rPr lang="en-US" altLang="zh-TW" sz="2400" i="0"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w</m:t>
                    </m:r>
                  </m:oMath>
                </a14:m>
                <a:r>
                  <a:rPr kumimoji="1" lang="en-US" altLang="zh-TW" sz="2400" dirty="0"/>
                  <a:t> </a:t>
                </a:r>
                <a:r>
                  <a:rPr kumimoji="1" lang="zh-TW" altLang="en-US" sz="2400" dirty="0"/>
                  <a:t>的</a:t>
                </a:r>
                <a:r>
                  <a:rPr kumimoji="1" lang="zh-TW" altLang="en-US" sz="2400" dirty="0">
                    <a:solidFill>
                      <a:srgbClr val="FF0000"/>
                    </a:solidFill>
                  </a:rPr>
                  <a:t>平方和</a:t>
                </a:r>
                <a:r>
                  <a:rPr kumimoji="1" lang="zh-TW" altLang="en-US" sz="2400" dirty="0"/>
                  <a:t>越小越好</a:t>
                </a:r>
              </a:p>
            </p:txBody>
          </p:sp>
        </mc:Choice>
        <mc:Fallback xmlns="">
          <p:sp>
            <p:nvSpPr>
              <p:cNvPr id="15" name="文字方塊 14">
                <a:extLst>
                  <a:ext uri="{FF2B5EF4-FFF2-40B4-BE49-F238E27FC236}">
                    <a16:creationId xmlns:a16="http://schemas.microsoft.com/office/drawing/2014/main" id="{A632EC3A-920D-51FD-EDD8-B7BAE4976122}"/>
                  </a:ext>
                </a:extLst>
              </p:cNvPr>
              <p:cNvSpPr txBox="1">
                <a:spLocks noRot="1" noChangeAspect="1" noMove="1" noResize="1" noEditPoints="1" noAdjustHandles="1" noChangeArrowheads="1" noChangeShapeType="1" noTextEdit="1"/>
              </p:cNvSpPr>
              <p:nvPr/>
            </p:nvSpPr>
            <p:spPr>
              <a:xfrm>
                <a:off x="1085220" y="4174107"/>
                <a:ext cx="6491234" cy="830997"/>
              </a:xfrm>
              <a:prstGeom prst="rect">
                <a:avLst/>
              </a:prstGeom>
              <a:blipFill>
                <a:blip r:embed="rId6"/>
                <a:stretch>
                  <a:fillRect l="-1563" t="-5970" b="-164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740306BB-7A9D-E96D-5CEB-BB053B11AE13}"/>
                  </a:ext>
                </a:extLst>
              </p:cNvPr>
              <p:cNvSpPr txBox="1"/>
              <p:nvPr/>
            </p:nvSpPr>
            <p:spPr>
              <a:xfrm>
                <a:off x="8780576" y="1422333"/>
                <a:ext cx="2986040" cy="103746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zh-TW" altLang="en-US" smtClean="0">
                          <a:solidFill>
                            <a:schemeClr val="tx1"/>
                          </a:solidFill>
                          <a:latin typeface="Cambria Math" panose="02040503050406030204" pitchFamily="18" charset="0"/>
                        </a:rPr>
                        <m:t>w</m:t>
                      </m:r>
                      <m:r>
                        <a:rPr lang="zh-TW" altLang="en-US" i="0">
                          <a:solidFill>
                            <a:schemeClr val="tx1"/>
                          </a:solidFill>
                          <a:latin typeface="Cambria Math" panose="02040503050406030204" pitchFamily="18" charset="0"/>
                        </a:rPr>
                        <m:t>=</m:t>
                      </m:r>
                      <m:d>
                        <m:dPr>
                          <m:begChr m:val="{"/>
                          <m:endChr m:val="}"/>
                          <m:ctrlPr>
                            <a:rPr lang="zh-TW" altLang="en-US" i="1">
                              <a:solidFill>
                                <a:schemeClr val="tx1"/>
                              </a:solidFill>
                              <a:latin typeface="Cambria Math" panose="02040503050406030204" pitchFamily="18" charset="0"/>
                            </a:rPr>
                          </m:ctrlPr>
                        </m:dPr>
                        <m:e>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0">
                                  <a:solidFill>
                                    <a:schemeClr val="tx1"/>
                                  </a:solidFill>
                                  <a:latin typeface="Cambria Math" panose="02040503050406030204" pitchFamily="18" charset="0"/>
                                </a:rPr>
                                <m:t>1</m:t>
                              </m:r>
                            </m:sub>
                          </m:sSub>
                          <m:r>
                            <a:rPr lang="zh-TW" altLang="en-US" i="0">
                              <a:solidFill>
                                <a:schemeClr val="tx1"/>
                              </a:solidFill>
                              <a:latin typeface="Cambria Math" panose="02040503050406030204" pitchFamily="18" charset="0"/>
                            </a:rPr>
                            <m:t>,</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0">
                                  <a:solidFill>
                                    <a:schemeClr val="tx1"/>
                                  </a:solidFill>
                                  <a:latin typeface="Cambria Math" panose="02040503050406030204" pitchFamily="18" charset="0"/>
                                </a:rPr>
                                <m:t>2</m:t>
                              </m:r>
                            </m:sub>
                          </m:sSub>
                          <m:r>
                            <a:rPr lang="zh-TW" altLang="en-US" i="0">
                              <a:solidFill>
                                <a:schemeClr val="tx1"/>
                              </a:solidFill>
                              <a:latin typeface="Cambria Math" panose="02040503050406030204" pitchFamily="18" charset="0"/>
                            </a:rPr>
                            <m:t>,…, </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1">
                                  <a:solidFill>
                                    <a:schemeClr val="tx1"/>
                                  </a:solidFill>
                                  <a:latin typeface="Cambria Math" panose="02040503050406030204" pitchFamily="18" charset="0"/>
                                </a:rPr>
                                <m:t>𝑛</m:t>
                              </m:r>
                            </m:sub>
                          </m:sSub>
                        </m:e>
                      </m:d>
                    </m:oMath>
                  </m:oMathPara>
                </a14:m>
                <a:endParaRPr lang="en-US" altLang="zh-TW" dirty="0">
                  <a:solidFill>
                    <a:schemeClr val="tx1"/>
                  </a:solidFill>
                </a:endParaRPr>
              </a:p>
              <a:p>
                <a14:m>
                  <m:oMath xmlns:m="http://schemas.openxmlformats.org/officeDocument/2006/math">
                    <m: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t>𝜆</m:t>
                    </m:r>
                  </m:oMath>
                </a14:m>
                <a:r>
                  <a:rPr lang="en-US" altLang="zh-TW" sz="1800" kern="100" dirty="0">
                    <a:effectLst/>
                    <a:latin typeface="Aptos" panose="020B0004020202020204" pitchFamily="34" charset="0"/>
                    <a:ea typeface="新細明體" panose="02020500000000000000" pitchFamily="18" charset="-120"/>
                    <a:cs typeface="Times New Roman" panose="02020603050405020304" pitchFamily="18" charset="0"/>
                  </a:rPr>
                  <a:t>: </a:t>
                </a:r>
                <a:r>
                  <a:rPr lang="zh-TW" altLang="en-US" sz="1800" kern="100" dirty="0">
                    <a:effectLst/>
                    <a:latin typeface="+mn-ea"/>
                    <a:cs typeface="Times New Roman" panose="02020603050405020304" pitchFamily="18" charset="0"/>
                  </a:rPr>
                  <a:t>正則項的</a:t>
                </a:r>
                <a:r>
                  <a:rPr lang="zh-TW" altLang="en-US" sz="1800" u="sng" kern="100" dirty="0">
                    <a:effectLst/>
                    <a:latin typeface="+mn-ea"/>
                    <a:cs typeface="Times New Roman" panose="02020603050405020304" pitchFamily="18" charset="0"/>
                  </a:rPr>
                  <a:t>強度</a:t>
                </a:r>
                <a:r>
                  <a:rPr lang="zh-TW" altLang="en-US" sz="1800" kern="100" dirty="0">
                    <a:effectLst/>
                    <a:latin typeface="+mn-ea"/>
                    <a:cs typeface="Times New Roman" panose="02020603050405020304" pitchFamily="18" charset="0"/>
                  </a:rPr>
                  <a:t> </a:t>
                </a:r>
                <a:r>
                  <a:rPr lang="en-US" altLang="zh-TW" sz="1800" kern="100" dirty="0">
                    <a:effectLst/>
                    <a:latin typeface="+mn-ea"/>
                    <a:cs typeface="Times New Roman" panose="02020603050405020304" pitchFamily="18" charset="0"/>
                  </a:rPr>
                  <a:t>(0-1</a:t>
                </a:r>
                <a:r>
                  <a:rPr lang="zh-TW" altLang="en-US" sz="1800" kern="100" dirty="0">
                    <a:effectLst/>
                    <a:latin typeface="+mn-ea"/>
                    <a:cs typeface="Times New Roman" panose="02020603050405020304" pitchFamily="18" charset="0"/>
                  </a:rPr>
                  <a:t>之間</a:t>
                </a:r>
                <a:r>
                  <a:rPr lang="en-US" altLang="zh-TW" sz="1800" kern="100" dirty="0">
                    <a:effectLst/>
                    <a:latin typeface="+mn-ea"/>
                    <a:cs typeface="Times New Roman" panose="02020603050405020304" pitchFamily="18" charset="0"/>
                  </a:rPr>
                  <a:t>)</a:t>
                </a:r>
              </a:p>
              <a:p>
                <a:r>
                  <a:rPr lang="en-US" altLang="zh-TW" kern="100" dirty="0">
                    <a:latin typeface="+mn-ea"/>
                    <a:cs typeface="Times New Roman" panose="02020603050405020304" pitchFamily="18" charset="0"/>
                  </a:rPr>
                  <a:t>*</a:t>
                </a:r>
                <a:r>
                  <a:rPr lang="zh-TW" altLang="en-US" dirty="0"/>
                  <a:t> </a:t>
                </a:r>
                <a14:m>
                  <m:oMath xmlns:m="http://schemas.openxmlformats.org/officeDocument/2006/math">
                    <m:f>
                      <m:fPr>
                        <m:ctrlPr>
                          <a:rPr lang="zh-TW" altLang="en-US" i="1">
                            <a:latin typeface="Cambria Math" panose="02040503050406030204" pitchFamily="18" charset="0"/>
                          </a:rPr>
                        </m:ctrlPr>
                      </m:fPr>
                      <m:num>
                        <m:r>
                          <a:rPr lang="zh-TW" altLang="en-US">
                            <a:latin typeface="Cambria Math" panose="02040503050406030204" pitchFamily="18" charset="0"/>
                          </a:rPr>
                          <m:t>1</m:t>
                        </m:r>
                      </m:num>
                      <m:den>
                        <m:r>
                          <a:rPr lang="zh-TW" altLang="en-US">
                            <a:latin typeface="Cambria Math" panose="02040503050406030204" pitchFamily="18" charset="0"/>
                          </a:rPr>
                          <m:t>2</m:t>
                        </m:r>
                      </m:den>
                    </m:f>
                  </m:oMath>
                </a14:m>
                <a:r>
                  <a:rPr lang="en-US" altLang="zh-TW" sz="1800" kern="100" dirty="0">
                    <a:effectLst/>
                    <a:latin typeface="+mn-ea"/>
                    <a:cs typeface="Times New Roman" panose="02020603050405020304" pitchFamily="18" charset="0"/>
                  </a:rPr>
                  <a:t> </a:t>
                </a:r>
                <a:r>
                  <a:rPr lang="zh-TW" altLang="en-US" sz="1800" kern="100" dirty="0">
                    <a:effectLst/>
                    <a:latin typeface="+mn-ea"/>
                    <a:cs typeface="Times New Roman" panose="02020603050405020304" pitchFamily="18" charset="0"/>
                  </a:rPr>
                  <a:t>是慣例，可不加</a:t>
                </a:r>
                <a:endParaRPr lang="zh-TW" altLang="zh-TW" sz="1800" kern="100" dirty="0">
                  <a:effectLst/>
                  <a:latin typeface="+mn-ea"/>
                  <a:cs typeface="Times New Roman" panose="02020603050405020304" pitchFamily="18" charset="0"/>
                </a:endParaRPr>
              </a:p>
            </p:txBody>
          </p:sp>
        </mc:Choice>
        <mc:Fallback xmlns="">
          <p:sp>
            <p:nvSpPr>
              <p:cNvPr id="3" name="文字方塊 2">
                <a:extLst>
                  <a:ext uri="{FF2B5EF4-FFF2-40B4-BE49-F238E27FC236}">
                    <a16:creationId xmlns:a16="http://schemas.microsoft.com/office/drawing/2014/main" id="{740306BB-7A9D-E96D-5CEB-BB053B11AE13}"/>
                  </a:ext>
                </a:extLst>
              </p:cNvPr>
              <p:cNvSpPr txBox="1">
                <a:spLocks noRot="1" noChangeAspect="1" noMove="1" noResize="1" noEditPoints="1" noAdjustHandles="1" noChangeArrowheads="1" noChangeShapeType="1" noTextEdit="1"/>
              </p:cNvSpPr>
              <p:nvPr/>
            </p:nvSpPr>
            <p:spPr>
              <a:xfrm>
                <a:off x="8780576" y="1422333"/>
                <a:ext cx="2986040" cy="1037463"/>
              </a:xfrm>
              <a:prstGeom prst="rect">
                <a:avLst/>
              </a:prstGeom>
              <a:blipFill>
                <a:blip r:embed="rId7"/>
                <a:stretch>
                  <a:fillRect l="-1695" b="-241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771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88433-985C-1BE5-E601-2553FC757C3D}"/>
              </a:ext>
            </a:extLst>
          </p:cNvPr>
          <p:cNvSpPr>
            <a:spLocks noGrp="1"/>
          </p:cNvSpPr>
          <p:nvPr>
            <p:ph type="title"/>
          </p:nvPr>
        </p:nvSpPr>
        <p:spPr/>
        <p:txBody>
          <a:bodyPr/>
          <a:lstStyle/>
          <a:p>
            <a:r>
              <a:rPr kumimoji="1" lang="zh-TW" altLang="en-US" dirty="0"/>
              <a:t>為什麼要增加正則項？</a:t>
            </a:r>
          </a:p>
        </p:txBody>
      </p:sp>
      <p:sp>
        <p:nvSpPr>
          <p:cNvPr id="4" name="投影片編號版面配置區 3">
            <a:extLst>
              <a:ext uri="{FF2B5EF4-FFF2-40B4-BE49-F238E27FC236}">
                <a16:creationId xmlns:a16="http://schemas.microsoft.com/office/drawing/2014/main" id="{D835D280-D685-A031-E3A4-3FFD540877B7}"/>
              </a:ext>
            </a:extLst>
          </p:cNvPr>
          <p:cNvSpPr>
            <a:spLocks noGrp="1"/>
          </p:cNvSpPr>
          <p:nvPr>
            <p:ph type="sldNum" sz="quarter" idx="12"/>
          </p:nvPr>
        </p:nvSpPr>
        <p:spPr/>
        <p:txBody>
          <a:bodyPr/>
          <a:lstStyle/>
          <a:p>
            <a:fld id="{6113E31D-E2AB-40D1-8B51-AFA5AFEF393A}" type="slidenum">
              <a:rPr lang="en-US" smtClean="0"/>
              <a:pPr/>
              <a:t>12</a:t>
            </a:fld>
            <a:endParaRPr 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7E114F75-A06A-0D34-B283-1EA02C892E8A}"/>
                  </a:ext>
                </a:extLst>
              </p:cNvPr>
              <p:cNvSpPr txBox="1"/>
              <p:nvPr/>
            </p:nvSpPr>
            <p:spPr>
              <a:xfrm>
                <a:off x="653143" y="1910416"/>
                <a:ext cx="7295103" cy="488980"/>
              </a:xfrm>
              <a:prstGeom prst="rect">
                <a:avLst/>
              </a:prstGeom>
              <a:noFill/>
            </p:spPr>
            <p:txBody>
              <a:bodyPr wrap="square">
                <a:spAutoFit/>
              </a:bodyPr>
              <a:lstStyle/>
              <a:p>
                <a:r>
                  <a:rPr lang="zh-TW" altLang="en-US" sz="2400" dirty="0"/>
                  <a:t>假設我們的模型：</a:t>
                </a:r>
                <a14:m>
                  <m:oMath xmlns:m="http://schemas.openxmlformats.org/officeDocument/2006/math">
                    <m:acc>
                      <m:accPr>
                        <m:chr m:val="̂"/>
                        <m:ctrlPr>
                          <a:rPr lang="zh-TW"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2</m:t>
                        </m:r>
                      </m:sub>
                      <m:sup>
                        <m:r>
                          <a:rPr lang="en-US" altLang="zh-TW" sz="2400" i="1">
                            <a:latin typeface="Cambria Math" panose="02040503050406030204" pitchFamily="18" charset="0"/>
                          </a:rPr>
                          <m:t>2</m:t>
                        </m:r>
                      </m:sup>
                    </m:sSubSup>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9</m:t>
                        </m:r>
                      </m:sub>
                    </m:sSub>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9</m:t>
                        </m:r>
                      </m:sub>
                      <m:sup>
                        <m:r>
                          <a:rPr lang="en-US" altLang="zh-TW" sz="2400" i="1">
                            <a:latin typeface="Cambria Math" panose="02040503050406030204" pitchFamily="18" charset="0"/>
                          </a:rPr>
                          <m:t>9</m:t>
                        </m:r>
                      </m:sup>
                    </m:sSubSup>
                  </m:oMath>
                </a14:m>
                <a:endParaRPr lang="zh-TW" altLang="zh-TW" sz="2400" dirty="0"/>
              </a:p>
            </p:txBody>
          </p:sp>
        </mc:Choice>
        <mc:Fallback xmlns="">
          <p:sp>
            <p:nvSpPr>
              <p:cNvPr id="6" name="文字方塊 5">
                <a:extLst>
                  <a:ext uri="{FF2B5EF4-FFF2-40B4-BE49-F238E27FC236}">
                    <a16:creationId xmlns:a16="http://schemas.microsoft.com/office/drawing/2014/main" id="{7E114F75-A06A-0D34-B283-1EA02C892E8A}"/>
                  </a:ext>
                </a:extLst>
              </p:cNvPr>
              <p:cNvSpPr txBox="1">
                <a:spLocks noRot="1" noChangeAspect="1" noMove="1" noResize="1" noEditPoints="1" noAdjustHandles="1" noChangeArrowheads="1" noChangeShapeType="1" noTextEdit="1"/>
              </p:cNvSpPr>
              <p:nvPr/>
            </p:nvSpPr>
            <p:spPr>
              <a:xfrm>
                <a:off x="653143" y="1910416"/>
                <a:ext cx="7295103" cy="488980"/>
              </a:xfrm>
              <a:prstGeom prst="rect">
                <a:avLst/>
              </a:prstGeom>
              <a:blipFill>
                <a:blip r:embed="rId3"/>
                <a:stretch>
                  <a:fillRect l="-1391" t="-5000"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4CCC6025-E776-C215-B3AB-A5111B7624DB}"/>
                  </a:ext>
                </a:extLst>
              </p:cNvPr>
              <p:cNvSpPr txBox="1"/>
              <p:nvPr/>
            </p:nvSpPr>
            <p:spPr>
              <a:xfrm>
                <a:off x="653143" y="3764478"/>
                <a:ext cx="7295103" cy="466666"/>
              </a:xfrm>
              <a:prstGeom prst="rect">
                <a:avLst/>
              </a:prstGeom>
              <a:noFill/>
            </p:spPr>
            <p:txBody>
              <a:bodyPr wrap="square">
                <a:spAutoFit/>
              </a:bodyPr>
              <a:lstStyle/>
              <a:p>
                <a:r>
                  <a:rPr lang="zh-TW" altLang="en-US" sz="2400" dirty="0"/>
                  <a:t>假設我們想要學出的模型：</a:t>
                </a:r>
                <a14:m>
                  <m:oMath xmlns:m="http://schemas.openxmlformats.org/officeDocument/2006/math">
                    <m:r>
                      <a:rPr lang="en-US" altLang="zh-TW" sz="2400" b="0" i="1" smtClean="0">
                        <a:solidFill>
                          <a:schemeClr val="tx1"/>
                        </a:solidFill>
                        <a:latin typeface="Cambria Math" panose="02040503050406030204" pitchFamily="18" charset="0"/>
                      </a:rPr>
                      <m:t>𝑦</m:t>
                    </m:r>
                    <m:r>
                      <a:rPr lang="zh-TW" altLang="en-US" sz="2400" i="0">
                        <a:solidFill>
                          <a:schemeClr val="tx1"/>
                        </a:solidFill>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𝑤</m:t>
                        </m:r>
                      </m:e>
                      <m:sub>
                        <m:r>
                          <a:rPr lang="en-US" altLang="zh-TW" sz="2400" i="1">
                            <a:latin typeface="Cambria Math" panose="02040503050406030204" pitchFamily="18" charset="0"/>
                          </a:rPr>
                          <m:t>2</m:t>
                        </m:r>
                      </m:sub>
                      <m:sup>
                        <m:r>
                          <a:rPr lang="en-US" altLang="zh-TW" sz="2400" i="1">
                            <a:latin typeface="Cambria Math" panose="02040503050406030204" pitchFamily="18" charset="0"/>
                          </a:rPr>
                          <m:t>2</m:t>
                        </m:r>
                      </m:sup>
                    </m:sSubSup>
                  </m:oMath>
                </a14:m>
                <a:endParaRPr lang="zh-TW" altLang="en-US" sz="2400" dirty="0">
                  <a:solidFill>
                    <a:schemeClr val="tx1"/>
                  </a:solidFill>
                </a:endParaRPr>
              </a:p>
            </p:txBody>
          </p:sp>
        </mc:Choice>
        <mc:Fallback xmlns="">
          <p:sp>
            <p:nvSpPr>
              <p:cNvPr id="7" name="文字方塊 6">
                <a:extLst>
                  <a:ext uri="{FF2B5EF4-FFF2-40B4-BE49-F238E27FC236}">
                    <a16:creationId xmlns:a16="http://schemas.microsoft.com/office/drawing/2014/main" id="{4CCC6025-E776-C215-B3AB-A5111B7624DB}"/>
                  </a:ext>
                </a:extLst>
              </p:cNvPr>
              <p:cNvSpPr txBox="1">
                <a:spLocks noRot="1" noChangeAspect="1" noMove="1" noResize="1" noEditPoints="1" noAdjustHandles="1" noChangeArrowheads="1" noChangeShapeType="1" noTextEdit="1"/>
              </p:cNvSpPr>
              <p:nvPr/>
            </p:nvSpPr>
            <p:spPr>
              <a:xfrm>
                <a:off x="653143" y="3764478"/>
                <a:ext cx="7295103" cy="466666"/>
              </a:xfrm>
              <a:prstGeom prst="rect">
                <a:avLst/>
              </a:prstGeom>
              <a:blipFill>
                <a:blip r:embed="rId4"/>
                <a:stretch>
                  <a:fillRect l="-1391" t="-7895" b="-28947"/>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71B8F76E-2D65-A107-2B8F-105D0F40111F}"/>
              </a:ext>
            </a:extLst>
          </p:cNvPr>
          <p:cNvSpPr txBox="1"/>
          <p:nvPr/>
        </p:nvSpPr>
        <p:spPr>
          <a:xfrm>
            <a:off x="1848896" y="4682531"/>
            <a:ext cx="3185328" cy="646331"/>
          </a:xfrm>
          <a:prstGeom prst="rect">
            <a:avLst/>
          </a:prstGeom>
          <a:noFill/>
        </p:spPr>
        <p:txBody>
          <a:bodyPr wrap="square" rtlCol="0">
            <a:spAutoFit/>
          </a:bodyPr>
          <a:lstStyle/>
          <a:p>
            <a:r>
              <a:rPr kumimoji="1" lang="zh-TW" altLang="en-US" dirty="0"/>
              <a:t>非常通用的模型，</a:t>
            </a:r>
            <a:endParaRPr kumimoji="1" lang="en-US" altLang="zh-TW" dirty="0"/>
          </a:p>
          <a:p>
            <a:r>
              <a:rPr kumimoji="1" lang="zh-TW" altLang="en-US" dirty="0"/>
              <a:t>可以在 </a:t>
            </a:r>
            <a:r>
              <a:rPr kumimoji="1" lang="en-US" altLang="zh-TW" dirty="0">
                <a:solidFill>
                  <a:srgbClr val="FF0000"/>
                </a:solidFill>
              </a:rPr>
              <a:t>unseen</a:t>
            </a:r>
            <a:r>
              <a:rPr kumimoji="1" lang="en-US" altLang="zh-TW" dirty="0"/>
              <a:t> </a:t>
            </a:r>
            <a:r>
              <a:rPr kumimoji="1" lang="zh-TW" altLang="en-US" dirty="0"/>
              <a:t>資料上表現好</a:t>
            </a:r>
          </a:p>
        </p:txBody>
      </p:sp>
      <p:cxnSp>
        <p:nvCxnSpPr>
          <p:cNvPr id="10" name="直線箭頭接點 9">
            <a:extLst>
              <a:ext uri="{FF2B5EF4-FFF2-40B4-BE49-F238E27FC236}">
                <a16:creationId xmlns:a16="http://schemas.microsoft.com/office/drawing/2014/main" id="{39756A69-264B-5FD5-3C30-962A235E4430}"/>
              </a:ext>
            </a:extLst>
          </p:cNvPr>
          <p:cNvCxnSpPr/>
          <p:nvPr/>
        </p:nvCxnSpPr>
        <p:spPr>
          <a:xfrm flipV="1">
            <a:off x="3024554" y="4286434"/>
            <a:ext cx="0" cy="36595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047B36D3-BAD2-9614-EE6A-67F02B94D4E1}"/>
              </a:ext>
            </a:extLst>
          </p:cNvPr>
          <p:cNvCxnSpPr/>
          <p:nvPr/>
        </p:nvCxnSpPr>
        <p:spPr>
          <a:xfrm>
            <a:off x="1984549" y="4206047"/>
            <a:ext cx="21001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2BAB9FF2-878D-5075-A7D9-BFD1CDF019F6}"/>
              </a:ext>
            </a:extLst>
          </p:cNvPr>
          <p:cNvCxnSpPr>
            <a:cxnSpLocks/>
          </p:cNvCxnSpPr>
          <p:nvPr/>
        </p:nvCxnSpPr>
        <p:spPr>
          <a:xfrm>
            <a:off x="3764781" y="2419785"/>
            <a:ext cx="326906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19BC1E21-1B44-FF8F-428F-E4C6866FF9A0}"/>
              </a:ext>
            </a:extLst>
          </p:cNvPr>
          <p:cNvSpPr txBox="1"/>
          <p:nvPr/>
        </p:nvSpPr>
        <p:spPr>
          <a:xfrm>
            <a:off x="3641691" y="2880229"/>
            <a:ext cx="3652575" cy="646331"/>
          </a:xfrm>
          <a:prstGeom prst="rect">
            <a:avLst/>
          </a:prstGeom>
          <a:noFill/>
        </p:spPr>
        <p:txBody>
          <a:bodyPr wrap="square" rtlCol="0">
            <a:spAutoFit/>
          </a:bodyPr>
          <a:lstStyle/>
          <a:p>
            <a:r>
              <a:rPr kumimoji="1" lang="zh-TW" altLang="en-US" dirty="0"/>
              <a:t>如果沒有正則項，目標函數相當於是為</a:t>
            </a:r>
            <a:r>
              <a:rPr kumimoji="1" lang="en-US" altLang="zh-TW" dirty="0"/>
              <a:t> training set </a:t>
            </a:r>
            <a:r>
              <a:rPr kumimoji="1" lang="zh-TW" altLang="en-US" dirty="0"/>
              <a:t>量身打造</a:t>
            </a:r>
          </a:p>
        </p:txBody>
      </p:sp>
      <p:cxnSp>
        <p:nvCxnSpPr>
          <p:cNvPr id="16" name="直線箭頭接點 15">
            <a:extLst>
              <a:ext uri="{FF2B5EF4-FFF2-40B4-BE49-F238E27FC236}">
                <a16:creationId xmlns:a16="http://schemas.microsoft.com/office/drawing/2014/main" id="{333BCF2B-BA02-4F5A-74C0-F0E3D73A7D55}"/>
              </a:ext>
            </a:extLst>
          </p:cNvPr>
          <p:cNvCxnSpPr/>
          <p:nvPr/>
        </p:nvCxnSpPr>
        <p:spPr>
          <a:xfrm flipV="1">
            <a:off x="5467979" y="2484132"/>
            <a:ext cx="0" cy="36595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橢圓圖說文字 16">
                <a:extLst>
                  <a:ext uri="{FF2B5EF4-FFF2-40B4-BE49-F238E27FC236}">
                    <a16:creationId xmlns:a16="http://schemas.microsoft.com/office/drawing/2014/main" id="{A1E65A7F-1EDD-F953-9B51-E673024DE8F2}"/>
                  </a:ext>
                </a:extLst>
              </p:cNvPr>
              <p:cNvSpPr/>
              <p:nvPr/>
            </p:nvSpPr>
            <p:spPr>
              <a:xfrm>
                <a:off x="7486022" y="2484132"/>
                <a:ext cx="3496819" cy="1513679"/>
              </a:xfrm>
              <a:prstGeom prst="wedgeEllipseCallout">
                <a:avLst>
                  <a:gd name="adj1" fmla="val -56967"/>
                  <a:gd name="adj2" fmla="val -5831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chemeClr val="tx1"/>
                    </a:solidFill>
                  </a:rPr>
                  <a:t>如果 </a:t>
                </a:r>
                <a14:m>
                  <m:oMath xmlns:m="http://schemas.openxmlformats.org/officeDocument/2006/math">
                    <m:sSub>
                      <m:sSubPr>
                        <m:ctrlPr>
                          <a:rPr lang="zh-TW" altLang="zh-TW" sz="1800"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𝑤</m:t>
                        </m:r>
                      </m:e>
                      <m:sub>
                        <m:r>
                          <a:rPr lang="en-US" altLang="zh-TW" sz="18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9</m:t>
                        </m:r>
                      </m:sub>
                    </m:sSub>
                  </m:oMath>
                </a14:m>
                <a:r>
                  <a:rPr lang="zh-TW" altLang="en-US" kern="100"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很大怎麼辦？</a:t>
                </a:r>
                <a:endParaRPr lang="en-US" altLang="zh-TW" kern="100"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endParaRPr>
              </a:p>
              <a:p>
                <a:pPr algn="ctr"/>
                <a:r>
                  <a:rPr lang="zh-TW" altLang="en-US"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正則項 </a:t>
                </a:r>
                <a:r>
                  <a:rPr lang="en-US" altLang="zh-TW"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a:t>
                </a:r>
                <a:r>
                  <a:rPr lang="zh-TW" altLang="en-US"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如</a:t>
                </a:r>
                <a:r>
                  <a:rPr lang="en-US" altLang="zh-TW"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 L</a:t>
                </a:r>
                <a:r>
                  <a:rPr lang="en-US" altLang="zh-TW" kern="100" baseline="300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2</a:t>
                </a:r>
                <a:r>
                  <a:rPr lang="en-US" altLang="zh-TW"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能限制</a:t>
                </a:r>
                <a:r>
                  <a:rPr lang="en-US" altLang="zh-TW"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 weight </a:t>
                </a:r>
                <a:r>
                  <a:rPr lang="zh-TW" altLang="en-US"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rPr>
                  <a:t>數值大小</a:t>
                </a:r>
                <a:endParaRPr lang="en-US" altLang="zh-TW" kern="100" dirty="0">
                  <a:solidFill>
                    <a:srgbClr val="00B050"/>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mc:Choice>
        <mc:Fallback xmlns="">
          <p:sp>
            <p:nvSpPr>
              <p:cNvPr id="17" name="橢圓圖說文字 16">
                <a:extLst>
                  <a:ext uri="{FF2B5EF4-FFF2-40B4-BE49-F238E27FC236}">
                    <a16:creationId xmlns:a16="http://schemas.microsoft.com/office/drawing/2014/main" id="{A1E65A7F-1EDD-F953-9B51-E673024DE8F2}"/>
                  </a:ext>
                </a:extLst>
              </p:cNvPr>
              <p:cNvSpPr>
                <a:spLocks noRot="1" noChangeAspect="1" noMove="1" noResize="1" noEditPoints="1" noAdjustHandles="1" noChangeArrowheads="1" noChangeShapeType="1" noTextEdit="1"/>
              </p:cNvSpPr>
              <p:nvPr/>
            </p:nvSpPr>
            <p:spPr>
              <a:xfrm>
                <a:off x="7486022" y="2484132"/>
                <a:ext cx="3496819" cy="1513679"/>
              </a:xfrm>
              <a:prstGeom prst="wedgeEllipseCallout">
                <a:avLst>
                  <a:gd name="adj1" fmla="val -56967"/>
                  <a:gd name="adj2" fmla="val -58318"/>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0103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A0DCDE-05CF-9D51-4318-47256C40FE3B}"/>
              </a:ext>
            </a:extLst>
          </p:cNvPr>
          <p:cNvSpPr>
            <a:spLocks noGrp="1"/>
          </p:cNvSpPr>
          <p:nvPr>
            <p:ph type="title"/>
          </p:nvPr>
        </p:nvSpPr>
        <p:spPr/>
        <p:txBody>
          <a:bodyPr/>
          <a:lstStyle/>
          <a:p>
            <a:r>
              <a:rPr kumimoji="1" lang="en-US" altLang="zh-TW" dirty="0"/>
              <a:t>Gradient Descent with L</a:t>
            </a:r>
            <a:r>
              <a:rPr kumimoji="1" lang="en-US" altLang="zh-TW" baseline="30000" dirty="0"/>
              <a:t>2</a:t>
            </a:r>
            <a:r>
              <a:rPr kumimoji="1" lang="en-US" altLang="zh-TW" dirty="0"/>
              <a:t> Regularization</a:t>
            </a:r>
            <a:endParaRPr kumimoji="1" lang="zh-TW" altLang="en-US" dirty="0"/>
          </a:p>
        </p:txBody>
      </p:sp>
      <p:sp>
        <p:nvSpPr>
          <p:cNvPr id="4" name="投影片編號版面配置區 3">
            <a:extLst>
              <a:ext uri="{FF2B5EF4-FFF2-40B4-BE49-F238E27FC236}">
                <a16:creationId xmlns:a16="http://schemas.microsoft.com/office/drawing/2014/main" id="{3AE52574-2372-37D9-676D-FB99A4B907A6}"/>
              </a:ext>
            </a:extLst>
          </p:cNvPr>
          <p:cNvSpPr>
            <a:spLocks noGrp="1"/>
          </p:cNvSpPr>
          <p:nvPr>
            <p:ph type="sldNum" sz="quarter" idx="12"/>
          </p:nvPr>
        </p:nvSpPr>
        <p:spPr/>
        <p:txBody>
          <a:bodyPr/>
          <a:lstStyle/>
          <a:p>
            <a:fld id="{6113E31D-E2AB-40D1-8B51-AFA5AFEF393A}" type="slidenum">
              <a:rPr lang="en-US" smtClean="0"/>
              <a:pPr/>
              <a:t>13</a:t>
            </a:fld>
            <a:endParaRPr 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55AE89C-3806-2A58-2B04-1DE656870D63}"/>
                  </a:ext>
                </a:extLst>
              </p:cNvPr>
              <p:cNvSpPr txBox="1"/>
              <p:nvPr/>
            </p:nvSpPr>
            <p:spPr>
              <a:xfrm>
                <a:off x="5902881" y="2552016"/>
                <a:ext cx="4020064"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zh-TW" altLang="zh-TW" sz="2800" i="1" smtClean="0">
                              <a:latin typeface="Cambria Math" panose="02040503050406030204" pitchFamily="18" charset="0"/>
                            </a:rPr>
                          </m:ctrlPr>
                        </m:sSubSupPr>
                        <m:e>
                          <m:r>
                            <a:rPr lang="en-US" altLang="zh-TW" sz="2800" i="1">
                              <a:latin typeface="Cambria Math" panose="02040503050406030204" pitchFamily="18" charset="0"/>
                            </a:rPr>
                            <m:t>𝑤</m:t>
                          </m:r>
                        </m:e>
                        <m:sub>
                          <m:r>
                            <a:rPr lang="en-US" altLang="zh-TW" sz="2800" i="1">
                              <a:latin typeface="Cambria Math" panose="02040503050406030204" pitchFamily="18" charset="0"/>
                            </a:rPr>
                            <m:t>𝑖</m:t>
                          </m:r>
                        </m:sub>
                        <m:sup>
                          <m:r>
                            <a:rPr lang="en-US" altLang="zh-TW" sz="2800" i="1">
                              <a:latin typeface="Cambria Math" panose="02040503050406030204" pitchFamily="18" charset="0"/>
                            </a:rPr>
                            <m:t>′</m:t>
                          </m:r>
                        </m:sup>
                      </m:sSubSup>
                      <m:r>
                        <a:rPr lang="zh-TW" altLang="en-US" sz="2800" i="0">
                          <a:solidFill>
                            <a:schemeClr val="tx1"/>
                          </a:solidFill>
                          <a:latin typeface="Cambria Math" panose="02040503050406030204" pitchFamily="18" charset="0"/>
                        </a:rPr>
                        <m:t>=</m:t>
                      </m:r>
                      <m:sSub>
                        <m:sSubPr>
                          <m:ctrlPr>
                            <a:rPr lang="zh-TW" altLang="en-US" sz="2800" i="1">
                              <a:solidFill>
                                <a:schemeClr val="tx1"/>
                              </a:solidFill>
                              <a:latin typeface="Cambria Math" panose="02040503050406030204" pitchFamily="18" charset="0"/>
                            </a:rPr>
                          </m:ctrlPr>
                        </m:sSubPr>
                        <m:e>
                          <m:r>
                            <a:rPr lang="zh-TW" altLang="en-US" sz="2800" i="1">
                              <a:solidFill>
                                <a:schemeClr val="tx1"/>
                              </a:solidFill>
                              <a:latin typeface="Cambria Math" panose="02040503050406030204" pitchFamily="18" charset="0"/>
                            </a:rPr>
                            <m:t>𝑤</m:t>
                          </m:r>
                        </m:e>
                        <m:sub>
                          <m:r>
                            <a:rPr lang="en-US" altLang="zh-TW" sz="2800" b="0" i="1" smtClean="0">
                              <a:solidFill>
                                <a:schemeClr val="tx1"/>
                              </a:solidFill>
                              <a:latin typeface="Cambria Math" panose="02040503050406030204" pitchFamily="18" charset="0"/>
                            </a:rPr>
                            <m:t>𝑖</m:t>
                          </m:r>
                        </m:sub>
                      </m:sSub>
                      <m:r>
                        <a:rPr lang="zh-TW" altLang="en-US" sz="2800" i="0">
                          <a:solidFill>
                            <a:schemeClr val="tx1"/>
                          </a:solidFill>
                          <a:latin typeface="Cambria Math" panose="02040503050406030204" pitchFamily="18" charset="0"/>
                        </a:rPr>
                        <m:t>−</m:t>
                      </m:r>
                      <m:r>
                        <m:rPr>
                          <m:sty m:val="p"/>
                        </m:rPr>
                        <a:rPr lang="zh-TW" altLang="en-US" sz="2800" i="0">
                          <a:solidFill>
                            <a:schemeClr val="tx1"/>
                          </a:solidFill>
                          <a:latin typeface="Cambria Math" panose="02040503050406030204" pitchFamily="18" charset="0"/>
                        </a:rPr>
                        <m:t>η</m:t>
                      </m:r>
                      <m:f>
                        <m:fPr>
                          <m:ctrlPr>
                            <a:rPr lang="zh-TW" altLang="en-US" sz="2800" i="1" smtClean="0">
                              <a:solidFill>
                                <a:schemeClr val="accent6"/>
                              </a:solidFill>
                              <a:latin typeface="Cambria Math" panose="02040503050406030204" pitchFamily="18" charset="0"/>
                            </a:rPr>
                          </m:ctrlPr>
                        </m:fPr>
                        <m:num>
                          <m:r>
                            <a:rPr lang="zh-TW" altLang="en-US" sz="2800" i="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a:solidFill>
                                    <a:schemeClr val="accent6"/>
                                  </a:solidFill>
                                  <a:latin typeface="Cambria Math" panose="02040503050406030204" pitchFamily="18" charset="0"/>
                                </a:rPr>
                                <m:t>ℒ</m:t>
                              </m:r>
                            </m:e>
                            <m:sub>
                              <m:r>
                                <m:rPr>
                                  <m:sty m:val="p"/>
                                </m:rPr>
                                <a:rPr lang="zh-TW" altLang="en-US" sz="2800">
                                  <a:solidFill>
                                    <a:schemeClr val="accent6"/>
                                  </a:solidFill>
                                  <a:latin typeface="Cambria Math" panose="02040503050406030204" pitchFamily="18" charset="0"/>
                                </a:rPr>
                                <m:t>new</m:t>
                              </m:r>
                            </m:sub>
                          </m:sSub>
                        </m:num>
                        <m:den>
                          <m:r>
                            <a:rPr lang="zh-TW" altLang="en-US" sz="2800" i="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i="1">
                                  <a:solidFill>
                                    <a:schemeClr val="accent6"/>
                                  </a:solidFill>
                                  <a:latin typeface="Cambria Math" panose="02040503050406030204" pitchFamily="18" charset="0"/>
                                </a:rPr>
                                <m:t>𝑤</m:t>
                              </m:r>
                            </m:e>
                            <m:sub>
                              <m:r>
                                <a:rPr lang="en-US" altLang="zh-TW" sz="2800" b="0" i="1" smtClean="0">
                                  <a:solidFill>
                                    <a:schemeClr val="accent6"/>
                                  </a:solidFill>
                                  <a:latin typeface="Cambria Math" panose="02040503050406030204" pitchFamily="18" charset="0"/>
                                </a:rPr>
                                <m:t>𝑖</m:t>
                              </m:r>
                            </m:sub>
                          </m:sSub>
                        </m:den>
                      </m:f>
                    </m:oMath>
                  </m:oMathPara>
                </a14:m>
                <a:endParaRPr lang="zh-TW" altLang="en-US" sz="2800" dirty="0">
                  <a:solidFill>
                    <a:schemeClr val="tx1"/>
                  </a:solidFill>
                </a:endParaRPr>
              </a:p>
            </p:txBody>
          </p:sp>
        </mc:Choice>
        <mc:Fallback xmlns="">
          <p:sp>
            <p:nvSpPr>
              <p:cNvPr id="5" name="文字方塊 4">
                <a:extLst>
                  <a:ext uri="{FF2B5EF4-FFF2-40B4-BE49-F238E27FC236}">
                    <a16:creationId xmlns:a16="http://schemas.microsoft.com/office/drawing/2014/main" id="{355AE89C-3806-2A58-2B04-1DE656870D63}"/>
                  </a:ext>
                </a:extLst>
              </p:cNvPr>
              <p:cNvSpPr txBox="1">
                <a:spLocks noRot="1" noChangeAspect="1" noMove="1" noResize="1" noEditPoints="1" noAdjustHandles="1" noChangeArrowheads="1" noChangeShapeType="1" noTextEdit="1"/>
              </p:cNvSpPr>
              <p:nvPr/>
            </p:nvSpPr>
            <p:spPr>
              <a:xfrm>
                <a:off x="5902881" y="2552016"/>
                <a:ext cx="4020064" cy="984372"/>
              </a:xfrm>
              <a:prstGeom prst="rect">
                <a:avLst/>
              </a:prstGeom>
              <a:blipFill>
                <a:blip r:embed="rId2"/>
                <a:stretch>
                  <a:fillRect b="-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3D76894B-1B00-4102-CA89-F371600E959E}"/>
                  </a:ext>
                </a:extLst>
              </p:cNvPr>
              <p:cNvSpPr txBox="1"/>
              <p:nvPr/>
            </p:nvSpPr>
            <p:spPr>
              <a:xfrm>
                <a:off x="839035" y="1653052"/>
                <a:ext cx="3582237"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en-US" sz="2800" i="1">
                              <a:latin typeface="Cambria Math" panose="02040503050406030204" pitchFamily="18" charset="0"/>
                            </a:rPr>
                          </m:ctrlPr>
                        </m:sSubPr>
                        <m:e>
                          <m:r>
                            <a:rPr lang="zh-TW" altLang="en-US" sz="2800">
                              <a:latin typeface="Cambria Math" panose="02040503050406030204" pitchFamily="18" charset="0"/>
                            </a:rPr>
                            <m:t>ℒ</m:t>
                          </m:r>
                        </m:e>
                        <m:sub>
                          <m:r>
                            <m:rPr>
                              <m:sty m:val="p"/>
                            </m:rPr>
                            <a:rPr lang="zh-TW" altLang="en-US" sz="2800">
                              <a:latin typeface="Cambria Math" panose="02040503050406030204" pitchFamily="18" charset="0"/>
                            </a:rPr>
                            <m:t>new</m:t>
                          </m:r>
                        </m:sub>
                      </m:sSub>
                      <m:r>
                        <a:rPr lang="zh-TW" altLang="en-US" sz="2800" i="0">
                          <a:solidFill>
                            <a:schemeClr val="tx1"/>
                          </a:solidFill>
                          <a:latin typeface="Cambria Math" panose="02040503050406030204" pitchFamily="18" charset="0"/>
                        </a:rPr>
                        <m:t>=</m:t>
                      </m:r>
                      <m:r>
                        <a:rPr lang="zh-TW" altLang="en-US" sz="2800" i="0">
                          <a:solidFill>
                            <a:schemeClr val="tx1"/>
                          </a:solidFill>
                          <a:latin typeface="Cambria Math" panose="02040503050406030204" pitchFamily="18" charset="0"/>
                        </a:rPr>
                        <m:t>ℒ</m:t>
                      </m:r>
                      <m:r>
                        <a:rPr lang="zh-TW" altLang="en-US" sz="2800" i="0">
                          <a:solidFill>
                            <a:schemeClr val="tx1"/>
                          </a:solidFill>
                          <a:latin typeface="Cambria Math" panose="02040503050406030204" pitchFamily="18" charset="0"/>
                        </a:rPr>
                        <m:t>+</m:t>
                      </m:r>
                      <m:r>
                        <a:rPr lang="en-US" altLang="zh-TW" sz="2800" i="1">
                          <a:latin typeface="Cambria Math" panose="02040503050406030204" pitchFamily="18" charset="0"/>
                        </a:rPr>
                        <m:t>𝜆</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1</m:t>
                          </m:r>
                        </m:num>
                        <m:den>
                          <m:r>
                            <a:rPr lang="zh-TW" altLang="en-US" sz="2800">
                              <a:latin typeface="Cambria Math" panose="02040503050406030204" pitchFamily="18" charset="0"/>
                            </a:rPr>
                            <m:t>2</m:t>
                          </m:r>
                        </m:den>
                      </m:f>
                      <m:sSubSup>
                        <m:sSubSupPr>
                          <m:ctrlPr>
                            <a:rPr lang="zh-TW" altLang="zh-TW" sz="2800" i="1">
                              <a:latin typeface="Cambria Math" panose="02040503050406030204" pitchFamily="18" charset="0"/>
                            </a:rPr>
                          </m:ctrlPr>
                        </m:sSubSupPr>
                        <m:e>
                          <m:d>
                            <m:dPr>
                              <m:begChr m:val="‖"/>
                              <m:endChr m:val="‖"/>
                              <m:ctrlPr>
                                <a:rPr lang="zh-TW" altLang="en-US" sz="2800" i="1">
                                  <a:latin typeface="Cambria Math" panose="02040503050406030204" pitchFamily="18" charset="0"/>
                                </a:rPr>
                              </m:ctrlPr>
                            </m:dPr>
                            <m:e>
                              <m:r>
                                <m:rPr>
                                  <m:sty m:val="p"/>
                                </m:rPr>
                                <a:rPr lang="zh-TW" altLang="en-US" sz="2800">
                                  <a:latin typeface="Cambria Math" panose="02040503050406030204" pitchFamily="18" charset="0"/>
                                </a:rPr>
                                <m:t>w</m:t>
                              </m:r>
                            </m:e>
                          </m:d>
                        </m:e>
                        <m:sub>
                          <m:r>
                            <a:rPr lang="en-US" altLang="zh-TW" sz="2800" i="1">
                              <a:latin typeface="Cambria Math" panose="02040503050406030204" pitchFamily="18" charset="0"/>
                            </a:rPr>
                            <m:t>2</m:t>
                          </m:r>
                        </m:sub>
                        <m:sup>
                          <m:r>
                            <a:rPr lang="en-US" altLang="zh-TW" sz="2800" i="1">
                              <a:latin typeface="Cambria Math" panose="02040503050406030204" pitchFamily="18" charset="0"/>
                            </a:rPr>
                            <m:t>2</m:t>
                          </m:r>
                        </m:sup>
                      </m:sSubSup>
                    </m:oMath>
                  </m:oMathPara>
                </a14:m>
                <a:endParaRPr lang="zh-TW" altLang="en-US" sz="2800" dirty="0"/>
              </a:p>
            </p:txBody>
          </p:sp>
        </mc:Choice>
        <mc:Fallback xmlns="">
          <p:sp>
            <p:nvSpPr>
              <p:cNvPr id="9" name="文字方塊 8">
                <a:extLst>
                  <a:ext uri="{FF2B5EF4-FFF2-40B4-BE49-F238E27FC236}">
                    <a16:creationId xmlns:a16="http://schemas.microsoft.com/office/drawing/2014/main" id="{3D76894B-1B00-4102-CA89-F371600E959E}"/>
                  </a:ext>
                </a:extLst>
              </p:cNvPr>
              <p:cNvSpPr txBox="1">
                <a:spLocks noRot="1" noChangeAspect="1" noMove="1" noResize="1" noEditPoints="1" noAdjustHandles="1" noChangeArrowheads="1" noChangeShapeType="1" noTextEdit="1"/>
              </p:cNvSpPr>
              <p:nvPr/>
            </p:nvSpPr>
            <p:spPr>
              <a:xfrm>
                <a:off x="839035" y="1653052"/>
                <a:ext cx="3582237" cy="898964"/>
              </a:xfrm>
              <a:prstGeom prst="rect">
                <a:avLst/>
              </a:prstGeom>
              <a:blipFill>
                <a:blip r:embed="rId3"/>
                <a:stretch>
                  <a:fillRect l="-1064" b="-694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8ACCB45C-7707-BF3C-203E-EFB1E0D3779F}"/>
                  </a:ext>
                </a:extLst>
              </p:cNvPr>
              <p:cNvSpPr txBox="1"/>
              <p:nvPr/>
            </p:nvSpPr>
            <p:spPr>
              <a:xfrm>
                <a:off x="839034" y="3611213"/>
                <a:ext cx="3582237" cy="99963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zh-TW" altLang="en-US" sz="2800" i="1" smtClean="0">
                              <a:solidFill>
                                <a:schemeClr val="accent6"/>
                              </a:solidFill>
                              <a:latin typeface="Cambria Math" panose="02040503050406030204" pitchFamily="18" charset="0"/>
                            </a:rPr>
                          </m:ctrlPr>
                        </m:fPr>
                        <m:num>
                          <m:r>
                            <a:rPr lang="zh-TW" altLang="en-US" sz="280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a:solidFill>
                                    <a:schemeClr val="accent6"/>
                                  </a:solidFill>
                                  <a:latin typeface="Cambria Math" panose="02040503050406030204" pitchFamily="18" charset="0"/>
                                </a:rPr>
                                <m:t>ℒ</m:t>
                              </m:r>
                            </m:e>
                            <m:sub>
                              <m:r>
                                <m:rPr>
                                  <m:sty m:val="p"/>
                                </m:rPr>
                                <a:rPr lang="zh-TW" altLang="en-US" sz="2800">
                                  <a:solidFill>
                                    <a:schemeClr val="accent6"/>
                                  </a:solidFill>
                                  <a:latin typeface="Cambria Math" panose="02040503050406030204" pitchFamily="18" charset="0"/>
                                </a:rPr>
                                <m:t>new</m:t>
                              </m:r>
                            </m:sub>
                          </m:sSub>
                        </m:num>
                        <m:den>
                          <m:r>
                            <a:rPr lang="zh-TW" altLang="en-US" sz="280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i="1">
                                  <a:solidFill>
                                    <a:schemeClr val="accent6"/>
                                  </a:solidFill>
                                  <a:latin typeface="Cambria Math" panose="02040503050406030204" pitchFamily="18" charset="0"/>
                                </a:rPr>
                                <m:t>𝑤</m:t>
                              </m:r>
                            </m:e>
                            <m:sub>
                              <m:r>
                                <a:rPr lang="en-US" altLang="zh-TW" sz="2800" i="1">
                                  <a:solidFill>
                                    <a:schemeClr val="accent6"/>
                                  </a:solidFill>
                                  <a:latin typeface="Cambria Math" panose="02040503050406030204" pitchFamily="18" charset="0"/>
                                </a:rPr>
                                <m:t>𝑖</m:t>
                              </m:r>
                            </m:sub>
                          </m:sSub>
                        </m:den>
                      </m:f>
                      <m:r>
                        <a:rPr lang="zh-TW" altLang="en-US" sz="2800" i="0">
                          <a:solidFill>
                            <a:schemeClr val="tx1"/>
                          </a:solidFill>
                          <a:latin typeface="Cambria Math" panose="02040503050406030204" pitchFamily="18" charset="0"/>
                        </a:rPr>
                        <m:t>=</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m:t>
                          </m:r>
                          <m:r>
                            <a:rPr lang="zh-TW" altLang="en-US" sz="2800">
                              <a:latin typeface="Cambria Math" panose="02040503050406030204" pitchFamily="18" charset="0"/>
                            </a:rPr>
                            <m:t>ℒ</m:t>
                          </m:r>
                        </m:num>
                        <m:den>
                          <m:r>
                            <a:rPr lang="zh-TW" altLang="en-US" sz="280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den>
                      </m:f>
                      <m:r>
                        <a:rPr lang="zh-TW" altLang="en-US" sz="2800" i="0">
                          <a:solidFill>
                            <a:schemeClr val="tx1"/>
                          </a:solidFill>
                          <a:latin typeface="Cambria Math" panose="02040503050406030204" pitchFamily="18" charset="0"/>
                        </a:rPr>
                        <m:t>+</m:t>
                      </m:r>
                      <m:r>
                        <a:rPr lang="zh-TW" altLang="en-US" sz="2800" i="1">
                          <a:solidFill>
                            <a:schemeClr val="tx1"/>
                          </a:solidFill>
                          <a:latin typeface="Cambria Math" panose="02040503050406030204" pitchFamily="18" charset="0"/>
                        </a:rPr>
                        <m:t>𝜆</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oMath>
                  </m:oMathPara>
                </a14:m>
                <a:endParaRPr lang="zh-TW" altLang="en-US" sz="2800" dirty="0">
                  <a:solidFill>
                    <a:schemeClr val="tx1"/>
                  </a:solidFill>
                </a:endParaRPr>
              </a:p>
            </p:txBody>
          </p:sp>
        </mc:Choice>
        <mc:Fallback xmlns="">
          <p:sp>
            <p:nvSpPr>
              <p:cNvPr id="10" name="文字方塊 9">
                <a:extLst>
                  <a:ext uri="{FF2B5EF4-FFF2-40B4-BE49-F238E27FC236}">
                    <a16:creationId xmlns:a16="http://schemas.microsoft.com/office/drawing/2014/main" id="{8ACCB45C-7707-BF3C-203E-EFB1E0D3779F}"/>
                  </a:ext>
                </a:extLst>
              </p:cNvPr>
              <p:cNvSpPr txBox="1">
                <a:spLocks noRot="1" noChangeAspect="1" noMove="1" noResize="1" noEditPoints="1" noAdjustHandles="1" noChangeArrowheads="1" noChangeShapeType="1" noTextEdit="1"/>
              </p:cNvSpPr>
              <p:nvPr/>
            </p:nvSpPr>
            <p:spPr>
              <a:xfrm>
                <a:off x="839034" y="3611213"/>
                <a:ext cx="3582237" cy="999633"/>
              </a:xfrm>
              <a:prstGeom prst="rect">
                <a:avLst/>
              </a:prstGeom>
              <a:blipFill>
                <a:blip r:embed="rId4"/>
                <a:stretch>
                  <a:fillRect l="-1064" b="-37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6D428B43-74E8-0D02-F180-E5963D4280DF}"/>
                  </a:ext>
                </a:extLst>
              </p:cNvPr>
              <p:cNvSpPr txBox="1"/>
              <p:nvPr/>
            </p:nvSpPr>
            <p:spPr>
              <a:xfrm>
                <a:off x="6366780" y="3646302"/>
                <a:ext cx="4020064"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TW" altLang="en-US" sz="2800" i="0" smtClean="0">
                          <a:solidFill>
                            <a:schemeClr val="tx1"/>
                          </a:solidFill>
                          <a:latin typeface="Cambria Math" panose="02040503050406030204" pitchFamily="18" charset="0"/>
                        </a:rPr>
                        <m:t>=</m:t>
                      </m:r>
                      <m:sSub>
                        <m:sSubPr>
                          <m:ctrlPr>
                            <a:rPr lang="zh-TW" altLang="en-US" sz="2800" i="1">
                              <a:solidFill>
                                <a:schemeClr val="tx1"/>
                              </a:solidFill>
                              <a:latin typeface="Cambria Math" panose="02040503050406030204" pitchFamily="18" charset="0"/>
                            </a:rPr>
                          </m:ctrlPr>
                        </m:sSubPr>
                        <m:e>
                          <m:r>
                            <a:rPr lang="zh-TW" altLang="en-US" sz="2800" i="1">
                              <a:solidFill>
                                <a:schemeClr val="tx1"/>
                              </a:solidFill>
                              <a:latin typeface="Cambria Math" panose="02040503050406030204" pitchFamily="18" charset="0"/>
                            </a:rPr>
                            <m:t>𝑤</m:t>
                          </m:r>
                        </m:e>
                        <m:sub>
                          <m:r>
                            <a:rPr lang="en-US" altLang="zh-TW" sz="2800" b="0" i="1" smtClean="0">
                              <a:solidFill>
                                <a:schemeClr val="tx1"/>
                              </a:solidFill>
                              <a:latin typeface="Cambria Math" panose="02040503050406030204" pitchFamily="18" charset="0"/>
                            </a:rPr>
                            <m:t>𝑖</m:t>
                          </m:r>
                        </m:sub>
                      </m:sSub>
                      <m:r>
                        <a:rPr lang="zh-TW" altLang="en-US" sz="2800" i="0">
                          <a:solidFill>
                            <a:schemeClr val="tx1"/>
                          </a:solidFill>
                          <a:latin typeface="Cambria Math" panose="02040503050406030204" pitchFamily="18" charset="0"/>
                        </a:rPr>
                        <m:t>−</m:t>
                      </m:r>
                      <m:r>
                        <m:rPr>
                          <m:sty m:val="p"/>
                        </m:rPr>
                        <a:rPr lang="zh-TW" altLang="en-US" sz="2800" i="0">
                          <a:solidFill>
                            <a:schemeClr val="tx1"/>
                          </a:solidFill>
                          <a:latin typeface="Cambria Math" panose="02040503050406030204" pitchFamily="18" charset="0"/>
                        </a:rPr>
                        <m:t>η</m:t>
                      </m:r>
                      <m:r>
                        <a:rPr lang="en-US" altLang="zh-TW" sz="2800" b="0" i="0" smtClean="0">
                          <a:solidFill>
                            <a:schemeClr val="tx1"/>
                          </a:solidFill>
                          <a:latin typeface="Cambria Math" panose="02040503050406030204" pitchFamily="18" charset="0"/>
                        </a:rPr>
                        <m:t>(</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m:t>
                          </m:r>
                          <m:r>
                            <a:rPr lang="zh-TW" altLang="en-US" sz="2800">
                              <a:latin typeface="Cambria Math" panose="02040503050406030204" pitchFamily="18" charset="0"/>
                            </a:rPr>
                            <m:t>ℒ</m:t>
                          </m:r>
                        </m:num>
                        <m:den>
                          <m:r>
                            <a:rPr lang="zh-TW" altLang="en-US" sz="280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den>
                      </m:f>
                      <m:r>
                        <a:rPr lang="zh-TW" altLang="en-US" sz="2800">
                          <a:latin typeface="Cambria Math" panose="02040503050406030204" pitchFamily="18" charset="0"/>
                        </a:rPr>
                        <m:t>+</m:t>
                      </m:r>
                      <m:r>
                        <a:rPr lang="zh-TW" altLang="en-US" sz="2800" i="1">
                          <a:latin typeface="Cambria Math" panose="02040503050406030204" pitchFamily="18" charset="0"/>
                        </a:rPr>
                        <m:t>𝜆</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r>
                        <a:rPr lang="en-US" altLang="zh-TW" sz="2800" b="0" i="0" smtClean="0">
                          <a:solidFill>
                            <a:schemeClr val="tx1"/>
                          </a:solidFill>
                          <a:latin typeface="Cambria Math" panose="02040503050406030204" pitchFamily="18" charset="0"/>
                        </a:rPr>
                        <m:t>)</m:t>
                      </m:r>
                    </m:oMath>
                  </m:oMathPara>
                </a14:m>
                <a:endParaRPr lang="zh-TW" altLang="en-US" sz="2800" dirty="0">
                  <a:solidFill>
                    <a:schemeClr val="tx1"/>
                  </a:solidFill>
                </a:endParaRPr>
              </a:p>
            </p:txBody>
          </p:sp>
        </mc:Choice>
        <mc:Fallback xmlns="">
          <p:sp>
            <p:nvSpPr>
              <p:cNvPr id="11" name="文字方塊 10">
                <a:extLst>
                  <a:ext uri="{FF2B5EF4-FFF2-40B4-BE49-F238E27FC236}">
                    <a16:creationId xmlns:a16="http://schemas.microsoft.com/office/drawing/2014/main" id="{6D428B43-74E8-0D02-F180-E5963D4280DF}"/>
                  </a:ext>
                </a:extLst>
              </p:cNvPr>
              <p:cNvSpPr txBox="1">
                <a:spLocks noRot="1" noChangeAspect="1" noMove="1" noResize="1" noEditPoints="1" noAdjustHandles="1" noChangeArrowheads="1" noChangeShapeType="1" noTextEdit="1"/>
              </p:cNvSpPr>
              <p:nvPr/>
            </p:nvSpPr>
            <p:spPr>
              <a:xfrm>
                <a:off x="6366780" y="3646302"/>
                <a:ext cx="4020064" cy="984372"/>
              </a:xfrm>
              <a:prstGeom prst="rect">
                <a:avLst/>
              </a:prstGeom>
              <a:blipFill>
                <a:blip r:embed="rId5"/>
                <a:stretch>
                  <a:fillRect b="-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6B476F6A-E3B4-879E-2D37-FF5A05088E6D}"/>
                  </a:ext>
                </a:extLst>
              </p:cNvPr>
              <p:cNvSpPr txBox="1"/>
              <p:nvPr/>
            </p:nvSpPr>
            <p:spPr>
              <a:xfrm>
                <a:off x="6366779" y="4740588"/>
                <a:ext cx="5558201"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TW" altLang="en-US" sz="2800" i="0" smtClean="0">
                          <a:solidFill>
                            <a:schemeClr val="tx1"/>
                          </a:solidFill>
                          <a:latin typeface="Cambria Math" panose="02040503050406030204" pitchFamily="18" charset="0"/>
                        </a:rPr>
                        <m:t>=</m:t>
                      </m:r>
                      <m:sSub>
                        <m:sSubPr>
                          <m:ctrlPr>
                            <a:rPr lang="zh-TW" altLang="en-US" sz="2800" i="1">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(1−</m:t>
                          </m:r>
                          <m:r>
                            <m:rPr>
                              <m:sty m:val="p"/>
                            </m:rPr>
                            <a:rPr lang="zh-TW" altLang="en-US" sz="2800">
                              <a:latin typeface="Cambria Math" panose="02040503050406030204" pitchFamily="18" charset="0"/>
                            </a:rPr>
                            <m:t>η</m:t>
                          </m:r>
                          <m:r>
                            <a:rPr lang="zh-TW" altLang="en-US" sz="2800" i="1">
                              <a:latin typeface="Cambria Math" panose="02040503050406030204" pitchFamily="18" charset="0"/>
                            </a:rPr>
                            <m:t>𝜆</m:t>
                          </m:r>
                          <m:r>
                            <a:rPr lang="en-US" altLang="zh-TW" sz="2800" b="0" i="1" smtClean="0">
                              <a:solidFill>
                                <a:schemeClr val="tx1"/>
                              </a:solidFill>
                              <a:latin typeface="Cambria Math" panose="02040503050406030204" pitchFamily="18" charset="0"/>
                            </a:rPr>
                            <m:t>)</m:t>
                          </m:r>
                          <m:r>
                            <a:rPr lang="zh-TW" altLang="en-US" sz="2800" i="1">
                              <a:solidFill>
                                <a:schemeClr val="tx1"/>
                              </a:solidFill>
                              <a:latin typeface="Cambria Math" panose="02040503050406030204" pitchFamily="18" charset="0"/>
                            </a:rPr>
                            <m:t>𝑤</m:t>
                          </m:r>
                        </m:e>
                        <m:sub>
                          <m:r>
                            <a:rPr lang="en-US" altLang="zh-TW" sz="2800" b="0" i="1" smtClean="0">
                              <a:solidFill>
                                <a:schemeClr val="tx1"/>
                              </a:solidFill>
                              <a:latin typeface="Cambria Math" panose="02040503050406030204" pitchFamily="18" charset="0"/>
                            </a:rPr>
                            <m:t>𝑖</m:t>
                          </m:r>
                        </m:sub>
                      </m:sSub>
                      <m:r>
                        <a:rPr lang="zh-TW" altLang="en-US" sz="2800" i="0">
                          <a:solidFill>
                            <a:schemeClr val="tx1"/>
                          </a:solidFill>
                          <a:latin typeface="Cambria Math" panose="02040503050406030204" pitchFamily="18" charset="0"/>
                        </a:rPr>
                        <m:t>−</m:t>
                      </m:r>
                      <m:r>
                        <m:rPr>
                          <m:sty m:val="p"/>
                        </m:rPr>
                        <a:rPr lang="zh-TW" altLang="en-US" sz="2800" i="0">
                          <a:solidFill>
                            <a:schemeClr val="tx1"/>
                          </a:solidFill>
                          <a:latin typeface="Cambria Math" panose="02040503050406030204" pitchFamily="18" charset="0"/>
                        </a:rPr>
                        <m:t>η</m:t>
                      </m:r>
                      <m:r>
                        <a:rPr lang="en-US" altLang="zh-TW" sz="2800" b="0" i="0" smtClean="0">
                          <a:solidFill>
                            <a:schemeClr val="tx1"/>
                          </a:solidFill>
                          <a:latin typeface="Cambria Math" panose="02040503050406030204" pitchFamily="18" charset="0"/>
                        </a:rPr>
                        <m:t>(</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m:t>
                          </m:r>
                          <m:r>
                            <a:rPr lang="zh-TW" altLang="en-US" sz="2800">
                              <a:latin typeface="Cambria Math" panose="02040503050406030204" pitchFamily="18" charset="0"/>
                            </a:rPr>
                            <m:t>ℒ</m:t>
                          </m:r>
                        </m:num>
                        <m:den>
                          <m:r>
                            <a:rPr lang="zh-TW" altLang="en-US" sz="280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den>
                      </m:f>
                      <m:r>
                        <a:rPr lang="en-US" altLang="zh-TW" sz="2800" b="0" i="1" smtClean="0">
                          <a:latin typeface="Cambria Math" panose="02040503050406030204" pitchFamily="18" charset="0"/>
                        </a:rPr>
                        <m:t>)</m:t>
                      </m:r>
                    </m:oMath>
                  </m:oMathPara>
                </a14:m>
                <a:endParaRPr lang="zh-TW" altLang="en-US" sz="2800" dirty="0">
                  <a:solidFill>
                    <a:schemeClr val="tx1"/>
                  </a:solidFill>
                </a:endParaRPr>
              </a:p>
            </p:txBody>
          </p:sp>
        </mc:Choice>
        <mc:Fallback xmlns="">
          <p:sp>
            <p:nvSpPr>
              <p:cNvPr id="12" name="文字方塊 11">
                <a:extLst>
                  <a:ext uri="{FF2B5EF4-FFF2-40B4-BE49-F238E27FC236}">
                    <a16:creationId xmlns:a16="http://schemas.microsoft.com/office/drawing/2014/main" id="{6B476F6A-E3B4-879E-2D37-FF5A05088E6D}"/>
                  </a:ext>
                </a:extLst>
              </p:cNvPr>
              <p:cNvSpPr txBox="1">
                <a:spLocks noRot="1" noChangeAspect="1" noMove="1" noResize="1" noEditPoints="1" noAdjustHandles="1" noChangeArrowheads="1" noChangeShapeType="1" noTextEdit="1"/>
              </p:cNvSpPr>
              <p:nvPr/>
            </p:nvSpPr>
            <p:spPr>
              <a:xfrm>
                <a:off x="6366779" y="4740588"/>
                <a:ext cx="5558201" cy="984372"/>
              </a:xfrm>
              <a:prstGeom prst="rect">
                <a:avLst/>
              </a:prstGeom>
              <a:blipFill>
                <a:blip r:embed="rId6"/>
                <a:stretch>
                  <a:fillRect b="-512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B4A25F12-F2E8-3A3A-E476-C659A9B645B6}"/>
                  </a:ext>
                </a:extLst>
              </p:cNvPr>
              <p:cNvSpPr txBox="1"/>
              <p:nvPr/>
            </p:nvSpPr>
            <p:spPr>
              <a:xfrm>
                <a:off x="839034" y="2867331"/>
                <a:ext cx="3582237" cy="461665"/>
              </a:xfrm>
              <a:prstGeom prst="rect">
                <a:avLst/>
              </a:prstGeom>
              <a:noFill/>
            </p:spPr>
            <p:txBody>
              <a:bodyPr wrap="square" rtlCol="0">
                <a:spAutoFit/>
              </a:bodyPr>
              <a:lstStyle/>
              <a:p>
                <a:r>
                  <a:rPr kumimoji="1" lang="zh-TW" altLang="en-US" sz="2400" dirty="0">
                    <a:solidFill>
                      <a:srgbClr val="0070C0"/>
                    </a:solidFill>
                  </a:rPr>
                  <a:t>對任意</a:t>
                </a:r>
                <a:r>
                  <a:rPr kumimoji="1" lang="en-US" altLang="zh-TW" sz="2400" dirty="0">
                    <a:solidFill>
                      <a:srgbClr val="0070C0"/>
                    </a:solidFill>
                  </a:rPr>
                  <a:t> </a:t>
                </a:r>
                <a14:m>
                  <m:oMath xmlns:m="http://schemas.openxmlformats.org/officeDocument/2006/math">
                    <m:sSub>
                      <m:sSubPr>
                        <m:ctrlPr>
                          <a:rPr lang="zh-TW" altLang="en-US" sz="2400" i="1" smtClean="0">
                            <a:solidFill>
                              <a:srgbClr val="0070C0"/>
                            </a:solidFill>
                            <a:latin typeface="Cambria Math" panose="02040503050406030204" pitchFamily="18" charset="0"/>
                          </a:rPr>
                        </m:ctrlPr>
                      </m:sSubPr>
                      <m:e>
                        <m:r>
                          <a:rPr lang="zh-TW" altLang="en-US" sz="2400" i="1">
                            <a:solidFill>
                              <a:srgbClr val="0070C0"/>
                            </a:solidFill>
                            <a:latin typeface="Cambria Math" panose="02040503050406030204" pitchFamily="18" charset="0"/>
                          </a:rPr>
                          <m:t>𝑤</m:t>
                        </m:r>
                      </m:e>
                      <m:sub>
                        <m:r>
                          <a:rPr lang="en-US" altLang="zh-TW" sz="2400" i="1">
                            <a:solidFill>
                              <a:srgbClr val="0070C0"/>
                            </a:solidFill>
                            <a:latin typeface="Cambria Math" panose="02040503050406030204" pitchFamily="18" charset="0"/>
                          </a:rPr>
                          <m:t>𝑖</m:t>
                        </m:r>
                      </m:sub>
                    </m:sSub>
                  </m:oMath>
                </a14:m>
                <a:r>
                  <a:rPr kumimoji="1" lang="en-US" altLang="zh-TW" sz="2400" dirty="0">
                    <a:solidFill>
                      <a:srgbClr val="0070C0"/>
                    </a:solidFill>
                  </a:rPr>
                  <a:t> </a:t>
                </a:r>
                <a:r>
                  <a:rPr kumimoji="1" lang="zh-TW" altLang="en-US" sz="2400" dirty="0">
                    <a:solidFill>
                      <a:srgbClr val="0070C0"/>
                    </a:solidFill>
                  </a:rPr>
                  <a:t>進行偏微分：</a:t>
                </a:r>
              </a:p>
            </p:txBody>
          </p:sp>
        </mc:Choice>
        <mc:Fallback xmlns="">
          <p:sp>
            <p:nvSpPr>
              <p:cNvPr id="13" name="文字方塊 12">
                <a:extLst>
                  <a:ext uri="{FF2B5EF4-FFF2-40B4-BE49-F238E27FC236}">
                    <a16:creationId xmlns:a16="http://schemas.microsoft.com/office/drawing/2014/main" id="{B4A25F12-F2E8-3A3A-E476-C659A9B645B6}"/>
                  </a:ext>
                </a:extLst>
              </p:cNvPr>
              <p:cNvSpPr txBox="1">
                <a:spLocks noRot="1" noChangeAspect="1" noMove="1" noResize="1" noEditPoints="1" noAdjustHandles="1" noChangeArrowheads="1" noChangeShapeType="1" noTextEdit="1"/>
              </p:cNvSpPr>
              <p:nvPr/>
            </p:nvSpPr>
            <p:spPr>
              <a:xfrm>
                <a:off x="839034" y="2867331"/>
                <a:ext cx="3582237" cy="461665"/>
              </a:xfrm>
              <a:prstGeom prst="rect">
                <a:avLst/>
              </a:prstGeom>
              <a:blipFill>
                <a:blip r:embed="rId7"/>
                <a:stretch>
                  <a:fillRect l="-2837" t="-10526" b="-28947"/>
                </a:stretch>
              </a:blipFill>
            </p:spPr>
            <p:txBody>
              <a:bodyPr/>
              <a:lstStyle/>
              <a:p>
                <a:r>
                  <a:rPr lang="zh-TW" altLang="en-US">
                    <a:noFill/>
                  </a:rPr>
                  <a:t> </a:t>
                </a:r>
              </a:p>
            </p:txBody>
          </p:sp>
        </mc:Fallback>
      </mc:AlternateContent>
      <p:sp>
        <p:nvSpPr>
          <p:cNvPr id="14" name="文字方塊 13">
            <a:extLst>
              <a:ext uri="{FF2B5EF4-FFF2-40B4-BE49-F238E27FC236}">
                <a16:creationId xmlns:a16="http://schemas.microsoft.com/office/drawing/2014/main" id="{1CEB5955-4147-3BAB-E08C-C14C049858A2}"/>
              </a:ext>
            </a:extLst>
          </p:cNvPr>
          <p:cNvSpPr txBox="1"/>
          <p:nvPr/>
        </p:nvSpPr>
        <p:spPr>
          <a:xfrm>
            <a:off x="5302178" y="2003878"/>
            <a:ext cx="1822104" cy="461665"/>
          </a:xfrm>
          <a:prstGeom prst="rect">
            <a:avLst/>
          </a:prstGeom>
          <a:noFill/>
        </p:spPr>
        <p:txBody>
          <a:bodyPr wrap="square" rtlCol="0">
            <a:spAutoFit/>
          </a:bodyPr>
          <a:lstStyle/>
          <a:p>
            <a:r>
              <a:rPr kumimoji="1" lang="zh-TW" altLang="en-US" sz="2400" dirty="0">
                <a:solidFill>
                  <a:srgbClr val="0070C0"/>
                </a:solidFill>
              </a:rPr>
              <a:t>梯度下降：</a:t>
            </a:r>
          </a:p>
        </p:txBody>
      </p:sp>
      <p:sp>
        <p:nvSpPr>
          <p:cNvPr id="15" name="文字方塊 14">
            <a:extLst>
              <a:ext uri="{FF2B5EF4-FFF2-40B4-BE49-F238E27FC236}">
                <a16:creationId xmlns:a16="http://schemas.microsoft.com/office/drawing/2014/main" id="{95597799-E8B6-A93E-8F61-C8D7D01DF104}"/>
              </a:ext>
            </a:extLst>
          </p:cNvPr>
          <p:cNvSpPr txBox="1"/>
          <p:nvPr/>
        </p:nvSpPr>
        <p:spPr>
          <a:xfrm>
            <a:off x="5302178" y="3927751"/>
            <a:ext cx="1374950" cy="461665"/>
          </a:xfrm>
          <a:prstGeom prst="rect">
            <a:avLst/>
          </a:prstGeom>
          <a:noFill/>
        </p:spPr>
        <p:txBody>
          <a:bodyPr wrap="square" rtlCol="0">
            <a:spAutoFit/>
          </a:bodyPr>
          <a:lstStyle/>
          <a:p>
            <a:r>
              <a:rPr kumimoji="1" lang="en-US" altLang="zh-TW" sz="2400" dirty="0">
                <a:solidFill>
                  <a:srgbClr val="0070C0"/>
                </a:solidFill>
              </a:rPr>
              <a:t>(</a:t>
            </a:r>
            <a:r>
              <a:rPr kumimoji="1" lang="zh-TW" altLang="en-US" sz="2400" dirty="0">
                <a:solidFill>
                  <a:srgbClr val="0070C0"/>
                </a:solidFill>
              </a:rPr>
              <a:t>代入</a:t>
            </a:r>
            <a:r>
              <a:rPr kumimoji="1" lang="en-US" altLang="zh-TW" sz="2400" dirty="0">
                <a:solidFill>
                  <a:srgbClr val="0070C0"/>
                </a:solidFill>
              </a:rPr>
              <a:t>)</a:t>
            </a:r>
            <a:endParaRPr kumimoji="1" lang="zh-TW" altLang="en-US" sz="2400" dirty="0">
              <a:solidFill>
                <a:srgbClr val="0070C0"/>
              </a:solidFill>
            </a:endParaRPr>
          </a:p>
        </p:txBody>
      </p:sp>
      <p:sp>
        <p:nvSpPr>
          <p:cNvPr id="16" name="文字方塊 15">
            <a:extLst>
              <a:ext uri="{FF2B5EF4-FFF2-40B4-BE49-F238E27FC236}">
                <a16:creationId xmlns:a16="http://schemas.microsoft.com/office/drawing/2014/main" id="{9E0036F2-28AC-534B-7B46-D338ACDA21A1}"/>
              </a:ext>
            </a:extLst>
          </p:cNvPr>
          <p:cNvSpPr txBox="1"/>
          <p:nvPr/>
        </p:nvSpPr>
        <p:spPr>
          <a:xfrm>
            <a:off x="5302178" y="5022037"/>
            <a:ext cx="1374950" cy="461665"/>
          </a:xfrm>
          <a:prstGeom prst="rect">
            <a:avLst/>
          </a:prstGeom>
          <a:noFill/>
        </p:spPr>
        <p:txBody>
          <a:bodyPr wrap="square" rtlCol="0">
            <a:spAutoFit/>
          </a:bodyPr>
          <a:lstStyle/>
          <a:p>
            <a:r>
              <a:rPr kumimoji="1" lang="en-US" altLang="zh-TW" sz="2400" dirty="0">
                <a:solidFill>
                  <a:srgbClr val="0070C0"/>
                </a:solidFill>
              </a:rPr>
              <a:t>(</a:t>
            </a:r>
            <a:r>
              <a:rPr kumimoji="1" lang="zh-TW" altLang="en-US" sz="2400" dirty="0">
                <a:solidFill>
                  <a:srgbClr val="0070C0"/>
                </a:solidFill>
              </a:rPr>
              <a:t>移項</a:t>
            </a:r>
            <a:r>
              <a:rPr kumimoji="1" lang="en-US" altLang="zh-TW" sz="2400" dirty="0">
                <a:solidFill>
                  <a:srgbClr val="0070C0"/>
                </a:solidFill>
              </a:rPr>
              <a:t>)</a:t>
            </a:r>
            <a:endParaRPr kumimoji="1" lang="zh-TW" altLang="en-US" sz="2400" dirty="0">
              <a:solidFill>
                <a:srgbClr val="0070C0"/>
              </a:solidFill>
            </a:endParaRPr>
          </a:p>
        </p:txBody>
      </p:sp>
      <p:sp>
        <p:nvSpPr>
          <p:cNvPr id="17" name="文字方塊 16">
            <a:extLst>
              <a:ext uri="{FF2B5EF4-FFF2-40B4-BE49-F238E27FC236}">
                <a16:creationId xmlns:a16="http://schemas.microsoft.com/office/drawing/2014/main" id="{259219AE-4645-5ADD-044D-73316ED7CD4C}"/>
              </a:ext>
            </a:extLst>
          </p:cNvPr>
          <p:cNvSpPr txBox="1"/>
          <p:nvPr/>
        </p:nvSpPr>
        <p:spPr>
          <a:xfrm>
            <a:off x="5902881" y="5677383"/>
            <a:ext cx="3386822" cy="830997"/>
          </a:xfrm>
          <a:prstGeom prst="rect">
            <a:avLst/>
          </a:prstGeom>
          <a:noFill/>
        </p:spPr>
        <p:txBody>
          <a:bodyPr wrap="square" rtlCol="0">
            <a:spAutoFit/>
          </a:bodyPr>
          <a:lstStyle/>
          <a:p>
            <a:r>
              <a:rPr kumimoji="1" lang="zh-TW" altLang="en-US" sz="2400" dirty="0">
                <a:solidFill>
                  <a:srgbClr val="FF0000"/>
                </a:solidFill>
              </a:rPr>
              <a:t>每次更新都會倍數遞減 </a:t>
            </a:r>
            <a:r>
              <a:rPr kumimoji="1" lang="en-US" altLang="zh-TW" sz="2400" dirty="0">
                <a:solidFill>
                  <a:srgbClr val="FF0000"/>
                </a:solidFill>
              </a:rPr>
              <a:t>(weight decay)</a:t>
            </a:r>
            <a:endParaRPr kumimoji="1" lang="zh-TW" altLang="en-US" sz="2400" dirty="0">
              <a:solidFill>
                <a:srgbClr val="FF0000"/>
              </a:solidFill>
            </a:endParaRPr>
          </a:p>
        </p:txBody>
      </p:sp>
      <p:cxnSp>
        <p:nvCxnSpPr>
          <p:cNvPr id="18" name="直線接點 17">
            <a:extLst>
              <a:ext uri="{FF2B5EF4-FFF2-40B4-BE49-F238E27FC236}">
                <a16:creationId xmlns:a16="http://schemas.microsoft.com/office/drawing/2014/main" id="{E0256084-C999-46B6-77BE-425E09795184}"/>
              </a:ext>
            </a:extLst>
          </p:cNvPr>
          <p:cNvCxnSpPr>
            <a:cxnSpLocks/>
          </p:cNvCxnSpPr>
          <p:nvPr/>
        </p:nvCxnSpPr>
        <p:spPr>
          <a:xfrm>
            <a:off x="6864305" y="5488747"/>
            <a:ext cx="12801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A5F92673-A61E-FC88-8BF7-69DABA7ED922}"/>
              </a:ext>
            </a:extLst>
          </p:cNvPr>
          <p:cNvSpPr/>
          <p:nvPr/>
        </p:nvSpPr>
        <p:spPr>
          <a:xfrm>
            <a:off x="2280976" y="3646302"/>
            <a:ext cx="1718268" cy="9645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23991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8"/>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p:bldP spid="14" grpId="0"/>
      <p:bldP spid="15" grpId="1"/>
      <p:bldP spid="16" grpId="0"/>
      <p:bldP spid="17" grpId="0"/>
      <p:bldP spid="8" grpId="0"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435F-4B83-BDFC-6E18-0C0A1971DC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1C2CAB-EEF2-D457-D61C-3867ACB82AEF}"/>
              </a:ext>
            </a:extLst>
          </p:cNvPr>
          <p:cNvSpPr>
            <a:spLocks noGrp="1"/>
          </p:cNvSpPr>
          <p:nvPr>
            <p:ph type="title"/>
          </p:nvPr>
        </p:nvSpPr>
        <p:spPr/>
        <p:txBody>
          <a:bodyPr/>
          <a:lstStyle/>
          <a:p>
            <a:r>
              <a:rPr kumimoji="1" lang="en-US" altLang="zh-TW" dirty="0"/>
              <a:t>L</a:t>
            </a:r>
            <a:r>
              <a:rPr kumimoji="1" lang="en-US" altLang="zh-TW" baseline="30000" dirty="0"/>
              <a:t>1</a:t>
            </a:r>
            <a:r>
              <a:rPr kumimoji="1" lang="en-US" altLang="zh-TW" dirty="0"/>
              <a:t> Regularization</a:t>
            </a:r>
            <a:endParaRPr kumimoji="1" lang="zh-TW" altLang="en-US" dirty="0"/>
          </a:p>
        </p:txBody>
      </p:sp>
      <p:sp>
        <p:nvSpPr>
          <p:cNvPr id="4" name="投影片編號版面配置區 3">
            <a:extLst>
              <a:ext uri="{FF2B5EF4-FFF2-40B4-BE49-F238E27FC236}">
                <a16:creationId xmlns:a16="http://schemas.microsoft.com/office/drawing/2014/main" id="{F65B5BA6-51A2-8259-2CA7-66568E860F3E}"/>
              </a:ext>
            </a:extLst>
          </p:cNvPr>
          <p:cNvSpPr>
            <a:spLocks noGrp="1"/>
          </p:cNvSpPr>
          <p:nvPr>
            <p:ph type="sldNum" sz="quarter" idx="12"/>
          </p:nvPr>
        </p:nvSpPr>
        <p:spPr/>
        <p:txBody>
          <a:bodyPr/>
          <a:lstStyle/>
          <a:p>
            <a:fld id="{6113E31D-E2AB-40D1-8B51-AFA5AFEF393A}" type="slidenum">
              <a:rPr lang="en-US" smtClean="0"/>
              <a:pPr/>
              <a:t>14</a:t>
            </a:fld>
            <a:endParaRPr 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F7A431BD-893D-867E-2127-772DAD9370BD}"/>
                  </a:ext>
                </a:extLst>
              </p:cNvPr>
              <p:cNvSpPr txBox="1"/>
              <p:nvPr/>
            </p:nvSpPr>
            <p:spPr>
              <a:xfrm>
                <a:off x="2096759" y="2379581"/>
                <a:ext cx="358056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zh-TW" altLang="en-US" sz="2800">
                              <a:solidFill>
                                <a:schemeClr val="tx1"/>
                              </a:solidFill>
                              <a:latin typeface="Cambria Math" panose="02040503050406030204" pitchFamily="18" charset="0"/>
                            </a:rPr>
                            <m:t>ℒ</m:t>
                          </m:r>
                        </m:e>
                        <m:sub>
                          <m:r>
                            <m:rPr>
                              <m:sty m:val="p"/>
                            </m:rPr>
                            <a:rPr lang="zh-TW" altLang="en-US" sz="2800" i="0">
                              <a:solidFill>
                                <a:schemeClr val="tx1"/>
                              </a:solidFill>
                              <a:latin typeface="Cambria Math" panose="02040503050406030204" pitchFamily="18" charset="0"/>
                            </a:rPr>
                            <m:t>new</m:t>
                          </m:r>
                        </m:sub>
                      </m:sSub>
                      <m:r>
                        <a:rPr lang="zh-TW" altLang="en-US" sz="2800" i="0">
                          <a:solidFill>
                            <a:schemeClr val="tx1"/>
                          </a:solidFill>
                          <a:latin typeface="Cambria Math" panose="02040503050406030204" pitchFamily="18" charset="0"/>
                        </a:rPr>
                        <m:t>=</m:t>
                      </m:r>
                      <m:r>
                        <a:rPr lang="zh-TW" altLang="en-US" sz="2800" i="0">
                          <a:solidFill>
                            <a:schemeClr val="tx1"/>
                          </a:solidFill>
                          <a:latin typeface="Cambria Math" panose="02040503050406030204" pitchFamily="18" charset="0"/>
                        </a:rPr>
                        <m:t>ℒ</m:t>
                      </m:r>
                      <m:r>
                        <a:rPr lang="zh-TW" altLang="en-US" sz="2800" i="0">
                          <a:solidFill>
                            <a:schemeClr val="tx1"/>
                          </a:solidFill>
                          <a:latin typeface="Cambria Math" panose="02040503050406030204" pitchFamily="18" charset="0"/>
                        </a:rPr>
                        <m:t>+</m:t>
                      </m:r>
                    </m:oMath>
                  </m:oMathPara>
                </a14:m>
                <a:endParaRPr lang="zh-TW" altLang="en-US" sz="2800" dirty="0">
                  <a:solidFill>
                    <a:schemeClr val="tx1"/>
                  </a:solidFill>
                </a:endParaRPr>
              </a:p>
            </p:txBody>
          </p:sp>
        </mc:Choice>
        <mc:Fallback xmlns="">
          <p:sp>
            <p:nvSpPr>
              <p:cNvPr id="6" name="文字方塊 5">
                <a:extLst>
                  <a:ext uri="{FF2B5EF4-FFF2-40B4-BE49-F238E27FC236}">
                    <a16:creationId xmlns:a16="http://schemas.microsoft.com/office/drawing/2014/main" id="{F7A431BD-893D-867E-2127-772DAD9370BD}"/>
                  </a:ext>
                </a:extLst>
              </p:cNvPr>
              <p:cNvSpPr txBox="1">
                <a:spLocks noRot="1" noChangeAspect="1" noMove="1" noResize="1" noEditPoints="1" noAdjustHandles="1" noChangeArrowheads="1" noChangeShapeType="1" noTextEdit="1"/>
              </p:cNvSpPr>
              <p:nvPr/>
            </p:nvSpPr>
            <p:spPr>
              <a:xfrm>
                <a:off x="2096759" y="2379581"/>
                <a:ext cx="3580561" cy="523220"/>
              </a:xfrm>
              <a:prstGeom prst="rect">
                <a:avLst/>
              </a:prstGeom>
              <a:blipFill>
                <a:blip r:embed="rId3"/>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FE0B6E17-7E3A-ADA2-59E1-DCB6A4DD1D44}"/>
              </a:ext>
            </a:extLst>
          </p:cNvPr>
          <p:cNvSpPr txBox="1"/>
          <p:nvPr/>
        </p:nvSpPr>
        <p:spPr>
          <a:xfrm>
            <a:off x="2644391" y="6317246"/>
            <a:ext cx="6903217" cy="369332"/>
          </a:xfrm>
          <a:prstGeom prst="rect">
            <a:avLst/>
          </a:prstGeom>
          <a:noFill/>
        </p:spPr>
        <p:txBody>
          <a:bodyPr wrap="square" rtlCol="0">
            <a:spAutoFit/>
          </a:bodyPr>
          <a:lstStyle/>
          <a:p>
            <a:pPr algn="ctr"/>
            <a:r>
              <a:rPr kumimoji="1" lang="en-US" altLang="zh-TW" dirty="0"/>
              <a:t>L</a:t>
            </a:r>
            <a:r>
              <a:rPr kumimoji="1" lang="en-US" altLang="zh-TW" baseline="30000" dirty="0"/>
              <a:t>1</a:t>
            </a:r>
            <a:r>
              <a:rPr kumimoji="1" lang="en-US" altLang="zh-TW" dirty="0"/>
              <a:t>-Norm </a:t>
            </a:r>
            <a:r>
              <a:rPr kumimoji="1" lang="zh-TW" altLang="en-US" dirty="0"/>
              <a:t>說明：</a:t>
            </a:r>
            <a:r>
              <a:rPr kumimoji="1" lang="en" altLang="zh-TW" dirty="0"/>
              <a:t>https://</a:t>
            </a:r>
            <a:r>
              <a:rPr kumimoji="1" lang="en" altLang="zh-TW" dirty="0" err="1"/>
              <a:t>mathworld.wolfram.com</a:t>
            </a:r>
            <a:r>
              <a:rPr kumimoji="1" lang="en" altLang="zh-TW" dirty="0"/>
              <a:t>/L1-Norm.html</a:t>
            </a:r>
            <a:endParaRPr kumimoji="1" lang="zh-TW" altLang="en-US" dirty="0"/>
          </a:p>
        </p:txBody>
      </p:sp>
      <p:cxnSp>
        <p:nvCxnSpPr>
          <p:cNvPr id="11" name="直線接點 10">
            <a:extLst>
              <a:ext uri="{FF2B5EF4-FFF2-40B4-BE49-F238E27FC236}">
                <a16:creationId xmlns:a16="http://schemas.microsoft.com/office/drawing/2014/main" id="{5E5E8DAA-5A09-E434-EC06-150EEC450CDB}"/>
              </a:ext>
            </a:extLst>
          </p:cNvPr>
          <p:cNvCxnSpPr>
            <a:cxnSpLocks/>
          </p:cNvCxnSpPr>
          <p:nvPr/>
        </p:nvCxnSpPr>
        <p:spPr>
          <a:xfrm>
            <a:off x="5161506" y="2907865"/>
            <a:ext cx="8273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11DB49E8-BDBA-8F8C-83EB-F15866B2324C}"/>
              </a:ext>
            </a:extLst>
          </p:cNvPr>
          <p:cNvSpPr txBox="1"/>
          <p:nvPr/>
        </p:nvSpPr>
        <p:spPr>
          <a:xfrm>
            <a:off x="5101219" y="2992403"/>
            <a:ext cx="1922582" cy="461665"/>
          </a:xfrm>
          <a:prstGeom prst="rect">
            <a:avLst/>
          </a:prstGeom>
          <a:noFill/>
        </p:spPr>
        <p:txBody>
          <a:bodyPr wrap="square" rtlCol="0">
            <a:spAutoFit/>
          </a:bodyPr>
          <a:lstStyle/>
          <a:p>
            <a:r>
              <a:rPr kumimoji="1" lang="en-US" altLang="zh-TW" sz="2400" dirty="0">
                <a:solidFill>
                  <a:srgbClr val="FF0000"/>
                </a:solidFill>
              </a:rPr>
              <a:t>L</a:t>
            </a:r>
            <a:r>
              <a:rPr kumimoji="1" lang="en-US" altLang="zh-TW" sz="2400" baseline="30000" dirty="0">
                <a:solidFill>
                  <a:srgbClr val="FF0000"/>
                </a:solidFill>
              </a:rPr>
              <a:t>1</a:t>
            </a:r>
            <a:r>
              <a:rPr kumimoji="1" lang="en-US" altLang="zh-TW" sz="2400" dirty="0">
                <a:solidFill>
                  <a:srgbClr val="FF0000"/>
                </a:solidFill>
              </a:rPr>
              <a:t>-Norm</a:t>
            </a:r>
            <a:endParaRPr lang="zh-TW" altLang="zh-TW" sz="2400" kern="100" dirty="0">
              <a:solidFill>
                <a:srgbClr val="FF0000"/>
              </a:solidFill>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14" name="直線箭頭接點 13">
            <a:extLst>
              <a:ext uri="{FF2B5EF4-FFF2-40B4-BE49-F238E27FC236}">
                <a16:creationId xmlns:a16="http://schemas.microsoft.com/office/drawing/2014/main" id="{7CF38F9C-5808-B82F-0FE8-A6A645007368}"/>
              </a:ext>
            </a:extLst>
          </p:cNvPr>
          <p:cNvCxnSpPr/>
          <p:nvPr/>
        </p:nvCxnSpPr>
        <p:spPr>
          <a:xfrm flipV="1">
            <a:off x="3386294" y="3034955"/>
            <a:ext cx="0" cy="9646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E2CD7EB-241A-653E-1A94-060739FA761A}"/>
                  </a:ext>
                </a:extLst>
              </p:cNvPr>
              <p:cNvSpPr txBox="1"/>
              <p:nvPr/>
            </p:nvSpPr>
            <p:spPr>
              <a:xfrm>
                <a:off x="1085220" y="4174107"/>
                <a:ext cx="6491234" cy="830997"/>
              </a:xfrm>
              <a:prstGeom prst="rect">
                <a:avLst/>
              </a:prstGeom>
              <a:noFill/>
            </p:spPr>
            <p:txBody>
              <a:bodyPr wrap="square" rtlCol="0">
                <a:spAutoFit/>
              </a:bodyPr>
              <a:lstStyle/>
              <a:p>
                <a:r>
                  <a:rPr kumimoji="1" lang="zh-TW" altLang="en-US" sz="2400" dirty="0"/>
                  <a:t>代表模型的目標除了要讓 </a:t>
                </a:r>
                <a14:m>
                  <m:oMath xmlns:m="http://schemas.openxmlformats.org/officeDocument/2006/math">
                    <m:r>
                      <a:rPr lang="zh-TW" altLang="en-US" sz="2400" i="0" smtClean="0">
                        <a:solidFill>
                          <a:schemeClr val="tx1"/>
                        </a:solidFill>
                        <a:latin typeface="Cambria Math" panose="02040503050406030204" pitchFamily="18" charset="0"/>
                      </a:rPr>
                      <m:t>ℒ</m:t>
                    </m:r>
                  </m:oMath>
                </a14:m>
                <a:r>
                  <a:rPr kumimoji="1" lang="zh-TW" altLang="en-US" sz="2400" dirty="0"/>
                  <a:t> 越小越好之外，</a:t>
                </a:r>
                <a:endParaRPr kumimoji="1" lang="en-US" altLang="zh-TW" sz="2400" dirty="0"/>
              </a:p>
              <a:p>
                <a:r>
                  <a:rPr kumimoji="1" lang="zh-TW" altLang="en-US" sz="2400" dirty="0"/>
                  <a:t>還要讓所有的</a:t>
                </a:r>
                <a:r>
                  <a:rPr kumimoji="1" lang="en-US" altLang="zh-TW" sz="2400" dirty="0"/>
                  <a:t> </a:t>
                </a:r>
                <a14:m>
                  <m:oMath xmlns:m="http://schemas.openxmlformats.org/officeDocument/2006/math">
                    <m:r>
                      <m:rPr>
                        <m:sty m:val="p"/>
                      </m:rPr>
                      <a:rPr lang="en-US" altLang="zh-TW" sz="2400" i="0"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w</m:t>
                    </m:r>
                  </m:oMath>
                </a14:m>
                <a:r>
                  <a:rPr kumimoji="1" lang="en-US" altLang="zh-TW" sz="2400" dirty="0"/>
                  <a:t> </a:t>
                </a:r>
                <a:r>
                  <a:rPr kumimoji="1" lang="zh-TW" altLang="en-US" sz="2400" dirty="0"/>
                  <a:t>的</a:t>
                </a:r>
                <a:r>
                  <a:rPr kumimoji="1" lang="zh-TW" altLang="en-US" sz="2400" dirty="0">
                    <a:solidFill>
                      <a:srgbClr val="FF0000"/>
                    </a:solidFill>
                  </a:rPr>
                  <a:t>絕對值和</a:t>
                </a:r>
                <a:r>
                  <a:rPr kumimoji="1" lang="zh-TW" altLang="en-US" sz="2400" dirty="0"/>
                  <a:t>越小越好</a:t>
                </a:r>
              </a:p>
            </p:txBody>
          </p:sp>
        </mc:Choice>
        <mc:Fallback xmlns="">
          <p:sp>
            <p:nvSpPr>
              <p:cNvPr id="15" name="文字方塊 14">
                <a:extLst>
                  <a:ext uri="{FF2B5EF4-FFF2-40B4-BE49-F238E27FC236}">
                    <a16:creationId xmlns:a16="http://schemas.microsoft.com/office/drawing/2014/main" id="{6E2CD7EB-241A-653E-1A94-060739FA761A}"/>
                  </a:ext>
                </a:extLst>
              </p:cNvPr>
              <p:cNvSpPr txBox="1">
                <a:spLocks noRot="1" noChangeAspect="1" noMove="1" noResize="1" noEditPoints="1" noAdjustHandles="1" noChangeArrowheads="1" noChangeShapeType="1" noTextEdit="1"/>
              </p:cNvSpPr>
              <p:nvPr/>
            </p:nvSpPr>
            <p:spPr>
              <a:xfrm>
                <a:off x="1085220" y="4174107"/>
                <a:ext cx="6491234" cy="830997"/>
              </a:xfrm>
              <a:prstGeom prst="rect">
                <a:avLst/>
              </a:prstGeom>
              <a:blipFill>
                <a:blip r:embed="rId4"/>
                <a:stretch>
                  <a:fillRect l="-1563" t="-5970" b="-164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FD57C1C-9184-3F18-C125-FE9B0C71C909}"/>
                  </a:ext>
                </a:extLst>
              </p:cNvPr>
              <p:cNvSpPr txBox="1"/>
              <p:nvPr/>
            </p:nvSpPr>
            <p:spPr>
              <a:xfrm>
                <a:off x="8780576" y="1422333"/>
                <a:ext cx="2986040"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zh-TW" altLang="en-US" smtClean="0">
                          <a:solidFill>
                            <a:schemeClr val="tx1"/>
                          </a:solidFill>
                          <a:latin typeface="Cambria Math" panose="02040503050406030204" pitchFamily="18" charset="0"/>
                        </a:rPr>
                        <m:t>w</m:t>
                      </m:r>
                      <m:r>
                        <a:rPr lang="zh-TW" altLang="en-US" i="0">
                          <a:solidFill>
                            <a:schemeClr val="tx1"/>
                          </a:solidFill>
                          <a:latin typeface="Cambria Math" panose="02040503050406030204" pitchFamily="18" charset="0"/>
                        </a:rPr>
                        <m:t>=</m:t>
                      </m:r>
                      <m:d>
                        <m:dPr>
                          <m:begChr m:val="{"/>
                          <m:endChr m:val="}"/>
                          <m:ctrlPr>
                            <a:rPr lang="zh-TW" altLang="en-US" i="1">
                              <a:solidFill>
                                <a:schemeClr val="tx1"/>
                              </a:solidFill>
                              <a:latin typeface="Cambria Math" panose="02040503050406030204" pitchFamily="18" charset="0"/>
                            </a:rPr>
                          </m:ctrlPr>
                        </m:dPr>
                        <m:e>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0">
                                  <a:solidFill>
                                    <a:schemeClr val="tx1"/>
                                  </a:solidFill>
                                  <a:latin typeface="Cambria Math" panose="02040503050406030204" pitchFamily="18" charset="0"/>
                                </a:rPr>
                                <m:t>1</m:t>
                              </m:r>
                            </m:sub>
                          </m:sSub>
                          <m:r>
                            <a:rPr lang="zh-TW" altLang="en-US" i="0">
                              <a:solidFill>
                                <a:schemeClr val="tx1"/>
                              </a:solidFill>
                              <a:latin typeface="Cambria Math" panose="02040503050406030204" pitchFamily="18" charset="0"/>
                            </a:rPr>
                            <m:t>,</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0">
                                  <a:solidFill>
                                    <a:schemeClr val="tx1"/>
                                  </a:solidFill>
                                  <a:latin typeface="Cambria Math" panose="02040503050406030204" pitchFamily="18" charset="0"/>
                                </a:rPr>
                                <m:t>2</m:t>
                              </m:r>
                            </m:sub>
                          </m:sSub>
                          <m:r>
                            <a:rPr lang="zh-TW" altLang="en-US" i="0">
                              <a:solidFill>
                                <a:schemeClr val="tx1"/>
                              </a:solidFill>
                              <a:latin typeface="Cambria Math" panose="02040503050406030204" pitchFamily="18" charset="0"/>
                            </a:rPr>
                            <m:t>,…, </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𝑤</m:t>
                              </m:r>
                            </m:e>
                            <m:sub>
                              <m:r>
                                <a:rPr lang="zh-TW" altLang="en-US" i="1">
                                  <a:solidFill>
                                    <a:schemeClr val="tx1"/>
                                  </a:solidFill>
                                  <a:latin typeface="Cambria Math" panose="02040503050406030204" pitchFamily="18" charset="0"/>
                                </a:rPr>
                                <m:t>𝑛</m:t>
                              </m:r>
                            </m:sub>
                          </m:sSub>
                        </m:e>
                      </m:d>
                    </m:oMath>
                  </m:oMathPara>
                </a14:m>
                <a:endParaRPr lang="en-US" altLang="zh-TW" dirty="0">
                  <a:solidFill>
                    <a:schemeClr val="tx1"/>
                  </a:solidFill>
                </a:endParaRPr>
              </a:p>
              <a:p>
                <a14:m>
                  <m:oMath xmlns:m="http://schemas.openxmlformats.org/officeDocument/2006/math">
                    <m: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t>𝜆</m:t>
                    </m:r>
                  </m:oMath>
                </a14:m>
                <a:r>
                  <a:rPr lang="en-US" altLang="zh-TW" sz="1800" kern="100" dirty="0">
                    <a:effectLst/>
                    <a:latin typeface="Aptos" panose="020B0004020202020204" pitchFamily="34" charset="0"/>
                    <a:ea typeface="新細明體" panose="02020500000000000000" pitchFamily="18" charset="-120"/>
                    <a:cs typeface="Times New Roman" panose="02020603050405020304" pitchFamily="18" charset="0"/>
                  </a:rPr>
                  <a:t>: </a:t>
                </a:r>
                <a:r>
                  <a:rPr lang="zh-TW" altLang="en-US" sz="1800" kern="100" dirty="0">
                    <a:effectLst/>
                    <a:latin typeface="+mn-ea"/>
                    <a:cs typeface="Times New Roman" panose="02020603050405020304" pitchFamily="18" charset="0"/>
                  </a:rPr>
                  <a:t>正則項的</a:t>
                </a:r>
                <a:r>
                  <a:rPr lang="zh-TW" altLang="en-US" kern="100" dirty="0">
                    <a:latin typeface="+mn-ea"/>
                    <a:cs typeface="Times New Roman" panose="02020603050405020304" pitchFamily="18" charset="0"/>
                  </a:rPr>
                  <a:t>強度</a:t>
                </a:r>
                <a:r>
                  <a:rPr lang="zh-TW" altLang="en-US" sz="1800" kern="100" dirty="0">
                    <a:effectLst/>
                    <a:latin typeface="+mn-ea"/>
                    <a:cs typeface="Times New Roman" panose="02020603050405020304" pitchFamily="18" charset="0"/>
                  </a:rPr>
                  <a:t> </a:t>
                </a:r>
                <a:r>
                  <a:rPr lang="en-US" altLang="zh-TW" sz="1800" kern="100" dirty="0">
                    <a:effectLst/>
                    <a:latin typeface="+mn-ea"/>
                    <a:cs typeface="Times New Roman" panose="02020603050405020304" pitchFamily="18" charset="0"/>
                  </a:rPr>
                  <a:t>(0-1</a:t>
                </a:r>
                <a:r>
                  <a:rPr lang="zh-TW" altLang="en-US" sz="1800" kern="100" dirty="0">
                    <a:effectLst/>
                    <a:latin typeface="+mn-ea"/>
                    <a:cs typeface="Times New Roman" panose="02020603050405020304" pitchFamily="18" charset="0"/>
                  </a:rPr>
                  <a:t>之間</a:t>
                </a:r>
                <a:r>
                  <a:rPr lang="en-US" altLang="zh-TW" sz="1800" kern="100" dirty="0">
                    <a:effectLst/>
                    <a:latin typeface="+mn-ea"/>
                    <a:cs typeface="Times New Roman" panose="02020603050405020304" pitchFamily="18" charset="0"/>
                  </a:rPr>
                  <a:t>)</a:t>
                </a:r>
                <a:endParaRPr lang="zh-TW" altLang="zh-TW" sz="1800" kern="100" dirty="0">
                  <a:effectLst/>
                  <a:latin typeface="+mn-ea"/>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BFD57C1C-9184-3F18-C125-FE9B0C71C909}"/>
                  </a:ext>
                </a:extLst>
              </p:cNvPr>
              <p:cNvSpPr txBox="1">
                <a:spLocks noRot="1" noChangeAspect="1" noMove="1" noResize="1" noEditPoints="1" noAdjustHandles="1" noChangeArrowheads="1" noChangeShapeType="1" noTextEdit="1"/>
              </p:cNvSpPr>
              <p:nvPr/>
            </p:nvSpPr>
            <p:spPr>
              <a:xfrm>
                <a:off x="8780576" y="1422333"/>
                <a:ext cx="2986040" cy="646331"/>
              </a:xfrm>
              <a:prstGeom prst="rect">
                <a:avLst/>
              </a:prstGeom>
              <a:blipFill>
                <a:blip r:embed="rId5"/>
                <a:stretch>
                  <a:fillRect b="-134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06AD60F8-A6C7-E09A-4926-525F7E512FB1}"/>
                  </a:ext>
                </a:extLst>
              </p:cNvPr>
              <p:cNvSpPr txBox="1"/>
              <p:nvPr/>
            </p:nvSpPr>
            <p:spPr>
              <a:xfrm>
                <a:off x="4330837" y="2394336"/>
                <a:ext cx="221566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𝜆</m:t>
                      </m:r>
                      <m:sSub>
                        <m:sSubPr>
                          <m:ctrlPr>
                            <a:rPr lang="zh-TW" altLang="en-US" sz="2800" i="1" smtClean="0">
                              <a:solidFill>
                                <a:schemeClr val="tx1"/>
                              </a:solidFill>
                              <a:latin typeface="Cambria Math" panose="02040503050406030204" pitchFamily="18" charset="0"/>
                            </a:rPr>
                          </m:ctrlPr>
                        </m:sSubPr>
                        <m:e>
                          <m:d>
                            <m:dPr>
                              <m:begChr m:val="‖"/>
                              <m:endChr m:val="‖"/>
                              <m:ctrlPr>
                                <a:rPr lang="zh-TW" altLang="en-US" sz="2800" i="1">
                                  <a:solidFill>
                                    <a:schemeClr val="tx1"/>
                                  </a:solidFill>
                                  <a:latin typeface="Cambria Math" panose="02040503050406030204" pitchFamily="18" charset="0"/>
                                </a:rPr>
                              </m:ctrlPr>
                            </m:dPr>
                            <m:e>
                              <m:r>
                                <m:rPr>
                                  <m:sty m:val="p"/>
                                </m:rPr>
                                <a:rPr lang="zh-TW" altLang="en-US" sz="2800" i="0">
                                  <a:solidFill>
                                    <a:schemeClr val="tx1"/>
                                  </a:solidFill>
                                  <a:latin typeface="Cambria Math" panose="02040503050406030204" pitchFamily="18" charset="0"/>
                                </a:rPr>
                                <m:t>w</m:t>
                              </m:r>
                            </m:e>
                          </m:d>
                        </m:e>
                        <m:sub>
                          <m:r>
                            <a:rPr lang="en-US" altLang="zh-TW" sz="2800" b="0" i="0"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xmlns="">
          <p:sp>
            <p:nvSpPr>
              <p:cNvPr id="8" name="文字方塊 7">
                <a:extLst>
                  <a:ext uri="{FF2B5EF4-FFF2-40B4-BE49-F238E27FC236}">
                    <a16:creationId xmlns:a16="http://schemas.microsoft.com/office/drawing/2014/main" id="{06AD60F8-A6C7-E09A-4926-525F7E512FB1}"/>
                  </a:ext>
                </a:extLst>
              </p:cNvPr>
              <p:cNvSpPr txBox="1">
                <a:spLocks noRot="1" noChangeAspect="1" noMove="1" noResize="1" noEditPoints="1" noAdjustHandles="1" noChangeArrowheads="1" noChangeShapeType="1" noTextEdit="1"/>
              </p:cNvSpPr>
              <p:nvPr/>
            </p:nvSpPr>
            <p:spPr>
              <a:xfrm>
                <a:off x="4330837" y="2394336"/>
                <a:ext cx="2215661" cy="523220"/>
              </a:xfrm>
              <a:prstGeom prst="rect">
                <a:avLst/>
              </a:prstGeom>
              <a:blipFill>
                <a:blip r:embed="rId6"/>
                <a:stretch>
                  <a:fillRect b="-47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08D0A5D4-10FA-3B6B-1CD5-DECBE8765642}"/>
                  </a:ext>
                </a:extLst>
              </p:cNvPr>
              <p:cNvSpPr txBox="1"/>
              <p:nvPr/>
            </p:nvSpPr>
            <p:spPr>
              <a:xfrm>
                <a:off x="6407496" y="2671690"/>
                <a:ext cx="5164015" cy="110055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2400" smtClean="0">
                          <a:solidFill>
                            <a:srgbClr val="FF0000"/>
                          </a:solidFill>
                          <a:latin typeface="Cambria Math" panose="02040503050406030204" pitchFamily="18" charset="0"/>
                        </a:rPr>
                        <m:t>=</m:t>
                      </m:r>
                      <m:nary>
                        <m:naryPr>
                          <m:chr m:val="∑"/>
                          <m:limLoc m:val="undOvr"/>
                          <m:ctrlPr>
                            <a:rPr lang="zh-TW" altLang="zh-TW" sz="2400" i="1">
                              <a:solidFill>
                                <a:srgbClr val="FF0000"/>
                              </a:solidFill>
                              <a:latin typeface="Cambria Math" panose="02040503050406030204" pitchFamily="18" charset="0"/>
                            </a:rPr>
                          </m:ctrlPr>
                        </m:naryPr>
                        <m:sub>
                          <m:r>
                            <a:rPr lang="en-US" altLang="zh-TW" sz="2400" i="1">
                              <a:solidFill>
                                <a:srgbClr val="FF0000"/>
                              </a:solidFill>
                              <a:latin typeface="Cambria Math" panose="02040503050406030204" pitchFamily="18" charset="0"/>
                            </a:rPr>
                            <m:t>𝑖</m:t>
                          </m:r>
                          <m:r>
                            <a:rPr lang="en-US" altLang="zh-TW" sz="2400" i="1">
                              <a:solidFill>
                                <a:srgbClr val="FF0000"/>
                              </a:solidFill>
                              <a:latin typeface="Cambria Math" panose="02040503050406030204" pitchFamily="18" charset="0"/>
                            </a:rPr>
                            <m:t>=1</m:t>
                          </m:r>
                        </m:sub>
                        <m:sup>
                          <m:r>
                            <a:rPr lang="en-US" altLang="zh-TW" sz="2400" i="1">
                              <a:solidFill>
                                <a:srgbClr val="FF0000"/>
                              </a:solidFill>
                              <a:latin typeface="Cambria Math" panose="02040503050406030204" pitchFamily="18" charset="0"/>
                            </a:rPr>
                            <m:t>𝑛</m:t>
                          </m:r>
                        </m:sup>
                        <m:e>
                          <m:d>
                            <m:dPr>
                              <m:begChr m:val="|"/>
                              <m:endChr m:val="|"/>
                              <m:ctrlPr>
                                <a:rPr lang="zh-TW" altLang="zh-TW" sz="2400" i="1">
                                  <a:solidFill>
                                    <a:srgbClr val="FF0000"/>
                                  </a:solidFill>
                                  <a:latin typeface="Cambria Math" panose="02040503050406030204" pitchFamily="18" charset="0"/>
                                </a:rPr>
                              </m:ctrlPr>
                            </m:dPr>
                            <m:e>
                              <m:sSub>
                                <m:sSubPr>
                                  <m:ctrlPr>
                                    <a:rPr lang="zh-TW"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i="1">
                                      <a:solidFill>
                                        <a:srgbClr val="FF0000"/>
                                      </a:solidFill>
                                      <a:latin typeface="Cambria Math" panose="02040503050406030204" pitchFamily="18" charset="0"/>
                                    </a:rPr>
                                    <m:t>𝑖</m:t>
                                  </m:r>
                                </m:sub>
                              </m:sSub>
                            </m:e>
                          </m:d>
                        </m:e>
                      </m:nary>
                      <m:r>
                        <a:rPr lang="en-US" altLang="zh-TW" sz="2400" b="0" i="1" smtClean="0">
                          <a:solidFill>
                            <a:srgbClr val="FF0000"/>
                          </a:solidFill>
                          <a:latin typeface="Cambria Math" panose="02040503050406030204" pitchFamily="18" charset="0"/>
                        </a:rPr>
                        <m:t>=</m:t>
                      </m:r>
                      <m:d>
                        <m:dPr>
                          <m:begChr m:val="|"/>
                          <m:endChr m:val="|"/>
                          <m:ctrlPr>
                            <a:rPr lang="zh-TW" altLang="zh-TW" sz="2400" i="1">
                              <a:solidFill>
                                <a:srgbClr val="FF0000"/>
                              </a:solidFill>
                              <a:latin typeface="Cambria Math" panose="02040503050406030204" pitchFamily="18" charset="0"/>
                            </a:rPr>
                          </m:ctrlPr>
                        </m:dPr>
                        <m:e>
                          <m:sSub>
                            <m:sSubPr>
                              <m:ctrlPr>
                                <a:rPr lang="zh-TW"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b="0" i="1" smtClean="0">
                                  <a:solidFill>
                                    <a:srgbClr val="FF0000"/>
                                  </a:solidFill>
                                  <a:latin typeface="Cambria Math" panose="02040503050406030204" pitchFamily="18" charset="0"/>
                                </a:rPr>
                                <m:t>1</m:t>
                              </m:r>
                            </m:sub>
                          </m:sSub>
                        </m:e>
                      </m:d>
                      <m:r>
                        <a:rPr lang="en-US" altLang="zh-TW" sz="2400" b="0" i="1" smtClean="0">
                          <a:solidFill>
                            <a:srgbClr val="FF0000"/>
                          </a:solidFill>
                          <a:latin typeface="Cambria Math" panose="02040503050406030204" pitchFamily="18" charset="0"/>
                        </a:rPr>
                        <m:t>+</m:t>
                      </m:r>
                      <m:d>
                        <m:dPr>
                          <m:begChr m:val="|"/>
                          <m:endChr m:val="|"/>
                          <m:ctrlPr>
                            <a:rPr lang="zh-TW" altLang="zh-TW" sz="2400" i="1">
                              <a:solidFill>
                                <a:srgbClr val="FF0000"/>
                              </a:solidFill>
                              <a:latin typeface="Cambria Math" panose="02040503050406030204" pitchFamily="18" charset="0"/>
                            </a:rPr>
                          </m:ctrlPr>
                        </m:dPr>
                        <m:e>
                          <m:sSub>
                            <m:sSubPr>
                              <m:ctrlPr>
                                <a:rPr lang="zh-TW"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b="0" i="1" smtClean="0">
                                  <a:solidFill>
                                    <a:srgbClr val="FF0000"/>
                                  </a:solidFill>
                                  <a:latin typeface="Cambria Math" panose="02040503050406030204" pitchFamily="18" charset="0"/>
                                </a:rPr>
                                <m:t>2</m:t>
                              </m:r>
                            </m:sub>
                          </m:sSub>
                        </m:e>
                      </m:d>
                      <m:r>
                        <a:rPr lang="en-US" altLang="zh-TW" sz="2400" b="0" i="1" smtClean="0">
                          <a:solidFill>
                            <a:srgbClr val="FF0000"/>
                          </a:solidFill>
                          <a:latin typeface="Cambria Math" panose="02040503050406030204" pitchFamily="18" charset="0"/>
                        </a:rPr>
                        <m:t>+…+</m:t>
                      </m:r>
                      <m:d>
                        <m:dPr>
                          <m:begChr m:val="|"/>
                          <m:endChr m:val="|"/>
                          <m:ctrlPr>
                            <a:rPr lang="zh-TW" altLang="zh-TW" sz="2400" i="1">
                              <a:solidFill>
                                <a:srgbClr val="FF0000"/>
                              </a:solidFill>
                              <a:latin typeface="Cambria Math" panose="02040503050406030204" pitchFamily="18" charset="0"/>
                            </a:rPr>
                          </m:ctrlPr>
                        </m:dPr>
                        <m:e>
                          <m:sSub>
                            <m:sSubPr>
                              <m:ctrlPr>
                                <a:rPr lang="zh-TW"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b="0" i="1" smtClean="0">
                                  <a:solidFill>
                                    <a:srgbClr val="FF0000"/>
                                  </a:solidFill>
                                  <a:latin typeface="Cambria Math" panose="02040503050406030204" pitchFamily="18" charset="0"/>
                                </a:rPr>
                                <m:t>𝑛</m:t>
                              </m:r>
                            </m:sub>
                          </m:sSub>
                        </m:e>
                      </m:d>
                    </m:oMath>
                  </m:oMathPara>
                </a14:m>
                <a:endParaRPr lang="zh-TW" altLang="zh-TW" sz="2400" kern="100" dirty="0">
                  <a:solidFill>
                    <a:srgbClr val="FF0000"/>
                  </a:solidFill>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xmlns="">
          <p:sp>
            <p:nvSpPr>
              <p:cNvPr id="10" name="文字方塊 9">
                <a:extLst>
                  <a:ext uri="{FF2B5EF4-FFF2-40B4-BE49-F238E27FC236}">
                    <a16:creationId xmlns:a16="http://schemas.microsoft.com/office/drawing/2014/main" id="{08D0A5D4-10FA-3B6B-1CD5-DECBE8765642}"/>
                  </a:ext>
                </a:extLst>
              </p:cNvPr>
              <p:cNvSpPr txBox="1">
                <a:spLocks noRot="1" noChangeAspect="1" noMove="1" noResize="1" noEditPoints="1" noAdjustHandles="1" noChangeArrowheads="1" noChangeShapeType="1" noTextEdit="1"/>
              </p:cNvSpPr>
              <p:nvPr/>
            </p:nvSpPr>
            <p:spPr>
              <a:xfrm>
                <a:off x="6407496" y="2671690"/>
                <a:ext cx="5164015" cy="1100558"/>
              </a:xfrm>
              <a:prstGeom prst="rect">
                <a:avLst/>
              </a:prstGeom>
              <a:blipFill>
                <a:blip r:embed="rId7"/>
                <a:stretch>
                  <a:fillRect l="-14706" t="-106818" b="-16136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2693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63F93-4227-682A-0332-0832D6C31E9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30C7B1-A29B-936C-B0C0-4931EB3708B2}"/>
              </a:ext>
            </a:extLst>
          </p:cNvPr>
          <p:cNvSpPr>
            <a:spLocks noGrp="1"/>
          </p:cNvSpPr>
          <p:nvPr>
            <p:ph type="title"/>
          </p:nvPr>
        </p:nvSpPr>
        <p:spPr/>
        <p:txBody>
          <a:bodyPr/>
          <a:lstStyle/>
          <a:p>
            <a:r>
              <a:rPr kumimoji="1" lang="en-US" altLang="zh-TW" dirty="0"/>
              <a:t>Gradient Descent with L1 Regularization</a:t>
            </a:r>
            <a:endParaRPr kumimoji="1" lang="zh-TW" altLang="en-US" dirty="0"/>
          </a:p>
        </p:txBody>
      </p:sp>
      <p:sp>
        <p:nvSpPr>
          <p:cNvPr id="4" name="投影片編號版面配置區 3">
            <a:extLst>
              <a:ext uri="{FF2B5EF4-FFF2-40B4-BE49-F238E27FC236}">
                <a16:creationId xmlns:a16="http://schemas.microsoft.com/office/drawing/2014/main" id="{5DF998FC-9DC6-072C-381D-0236E624C8AE}"/>
              </a:ext>
            </a:extLst>
          </p:cNvPr>
          <p:cNvSpPr>
            <a:spLocks noGrp="1"/>
          </p:cNvSpPr>
          <p:nvPr>
            <p:ph type="sldNum" sz="quarter" idx="12"/>
          </p:nvPr>
        </p:nvSpPr>
        <p:spPr/>
        <p:txBody>
          <a:bodyPr/>
          <a:lstStyle/>
          <a:p>
            <a:fld id="{6113E31D-E2AB-40D1-8B51-AFA5AFEF393A}" type="slidenum">
              <a:rPr lang="en-US" smtClean="0"/>
              <a:pPr/>
              <a:t>15</a:t>
            </a:fld>
            <a:endParaRPr 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59307915-71C0-5C91-EA2D-E79E97C4EFBD}"/>
                  </a:ext>
                </a:extLst>
              </p:cNvPr>
              <p:cNvSpPr txBox="1"/>
              <p:nvPr/>
            </p:nvSpPr>
            <p:spPr>
              <a:xfrm>
                <a:off x="6194981" y="2552016"/>
                <a:ext cx="4020064"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zh-TW" altLang="zh-TW" sz="2800" i="1" smtClean="0">
                              <a:latin typeface="Cambria Math" panose="02040503050406030204" pitchFamily="18" charset="0"/>
                            </a:rPr>
                          </m:ctrlPr>
                        </m:sSubSupPr>
                        <m:e>
                          <m:r>
                            <a:rPr lang="en-US" altLang="zh-TW" sz="2800" i="1">
                              <a:latin typeface="Cambria Math" panose="02040503050406030204" pitchFamily="18" charset="0"/>
                            </a:rPr>
                            <m:t>𝑤</m:t>
                          </m:r>
                        </m:e>
                        <m:sub>
                          <m:r>
                            <a:rPr lang="en-US" altLang="zh-TW" sz="2800" i="1">
                              <a:latin typeface="Cambria Math" panose="02040503050406030204" pitchFamily="18" charset="0"/>
                            </a:rPr>
                            <m:t>𝑖</m:t>
                          </m:r>
                        </m:sub>
                        <m:sup>
                          <m:r>
                            <a:rPr lang="en-US" altLang="zh-TW" sz="2800" i="1">
                              <a:latin typeface="Cambria Math" panose="02040503050406030204" pitchFamily="18" charset="0"/>
                            </a:rPr>
                            <m:t>′</m:t>
                          </m:r>
                        </m:sup>
                      </m:sSubSup>
                      <m:r>
                        <a:rPr lang="zh-TW" altLang="en-US" sz="2800" i="0">
                          <a:solidFill>
                            <a:schemeClr val="tx1"/>
                          </a:solidFill>
                          <a:latin typeface="Cambria Math" panose="02040503050406030204" pitchFamily="18" charset="0"/>
                        </a:rPr>
                        <m:t>=</m:t>
                      </m:r>
                      <m:sSub>
                        <m:sSubPr>
                          <m:ctrlPr>
                            <a:rPr lang="zh-TW" altLang="en-US" sz="2800" i="1">
                              <a:solidFill>
                                <a:schemeClr val="tx1"/>
                              </a:solidFill>
                              <a:latin typeface="Cambria Math" panose="02040503050406030204" pitchFamily="18" charset="0"/>
                            </a:rPr>
                          </m:ctrlPr>
                        </m:sSubPr>
                        <m:e>
                          <m:r>
                            <a:rPr lang="zh-TW" altLang="en-US" sz="2800" i="1">
                              <a:solidFill>
                                <a:schemeClr val="tx1"/>
                              </a:solidFill>
                              <a:latin typeface="Cambria Math" panose="02040503050406030204" pitchFamily="18" charset="0"/>
                            </a:rPr>
                            <m:t>𝑤</m:t>
                          </m:r>
                        </m:e>
                        <m:sub>
                          <m:r>
                            <a:rPr lang="en-US" altLang="zh-TW" sz="2800" b="0" i="1" smtClean="0">
                              <a:solidFill>
                                <a:schemeClr val="tx1"/>
                              </a:solidFill>
                              <a:latin typeface="Cambria Math" panose="02040503050406030204" pitchFamily="18" charset="0"/>
                            </a:rPr>
                            <m:t>𝑖</m:t>
                          </m:r>
                        </m:sub>
                      </m:sSub>
                      <m:r>
                        <a:rPr lang="zh-TW" altLang="en-US" sz="2800" i="0">
                          <a:solidFill>
                            <a:schemeClr val="tx1"/>
                          </a:solidFill>
                          <a:latin typeface="Cambria Math" panose="02040503050406030204" pitchFamily="18" charset="0"/>
                        </a:rPr>
                        <m:t>−</m:t>
                      </m:r>
                      <m:r>
                        <m:rPr>
                          <m:sty m:val="p"/>
                        </m:rPr>
                        <a:rPr lang="zh-TW" altLang="en-US" sz="2800" i="0">
                          <a:solidFill>
                            <a:schemeClr val="tx1"/>
                          </a:solidFill>
                          <a:latin typeface="Cambria Math" panose="02040503050406030204" pitchFamily="18" charset="0"/>
                        </a:rPr>
                        <m:t>η</m:t>
                      </m:r>
                      <m:f>
                        <m:fPr>
                          <m:ctrlPr>
                            <a:rPr lang="zh-TW" altLang="en-US" sz="2800" i="1" smtClean="0">
                              <a:solidFill>
                                <a:schemeClr val="accent6"/>
                              </a:solidFill>
                              <a:latin typeface="Cambria Math" panose="02040503050406030204" pitchFamily="18" charset="0"/>
                            </a:rPr>
                          </m:ctrlPr>
                        </m:fPr>
                        <m:num>
                          <m:r>
                            <a:rPr lang="zh-TW" altLang="en-US" sz="2800" i="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a:solidFill>
                                    <a:schemeClr val="accent6"/>
                                  </a:solidFill>
                                  <a:latin typeface="Cambria Math" panose="02040503050406030204" pitchFamily="18" charset="0"/>
                                </a:rPr>
                                <m:t>ℒ</m:t>
                              </m:r>
                            </m:e>
                            <m:sub>
                              <m:r>
                                <m:rPr>
                                  <m:sty m:val="p"/>
                                </m:rPr>
                                <a:rPr lang="zh-TW" altLang="en-US" sz="2800">
                                  <a:solidFill>
                                    <a:schemeClr val="accent6"/>
                                  </a:solidFill>
                                  <a:latin typeface="Cambria Math" panose="02040503050406030204" pitchFamily="18" charset="0"/>
                                </a:rPr>
                                <m:t>new</m:t>
                              </m:r>
                            </m:sub>
                          </m:sSub>
                        </m:num>
                        <m:den>
                          <m:r>
                            <a:rPr lang="zh-TW" altLang="en-US" sz="2800" i="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i="1">
                                  <a:solidFill>
                                    <a:schemeClr val="accent6"/>
                                  </a:solidFill>
                                  <a:latin typeface="Cambria Math" panose="02040503050406030204" pitchFamily="18" charset="0"/>
                                </a:rPr>
                                <m:t>𝑤</m:t>
                              </m:r>
                            </m:e>
                            <m:sub>
                              <m:r>
                                <a:rPr lang="en-US" altLang="zh-TW" sz="2800" b="0" i="1" smtClean="0">
                                  <a:solidFill>
                                    <a:schemeClr val="accent6"/>
                                  </a:solidFill>
                                  <a:latin typeface="Cambria Math" panose="02040503050406030204" pitchFamily="18" charset="0"/>
                                </a:rPr>
                                <m:t>𝑖</m:t>
                              </m:r>
                            </m:sub>
                          </m:sSub>
                        </m:den>
                      </m:f>
                    </m:oMath>
                  </m:oMathPara>
                </a14:m>
                <a:endParaRPr lang="zh-TW" altLang="en-US" sz="2800" dirty="0">
                  <a:solidFill>
                    <a:schemeClr val="tx1"/>
                  </a:solidFill>
                </a:endParaRPr>
              </a:p>
            </p:txBody>
          </p:sp>
        </mc:Choice>
        <mc:Fallback xmlns="">
          <p:sp>
            <p:nvSpPr>
              <p:cNvPr id="5" name="文字方塊 4">
                <a:extLst>
                  <a:ext uri="{FF2B5EF4-FFF2-40B4-BE49-F238E27FC236}">
                    <a16:creationId xmlns:a16="http://schemas.microsoft.com/office/drawing/2014/main" id="{59307915-71C0-5C91-EA2D-E79E97C4EFBD}"/>
                  </a:ext>
                </a:extLst>
              </p:cNvPr>
              <p:cNvSpPr txBox="1">
                <a:spLocks noRot="1" noChangeAspect="1" noMove="1" noResize="1" noEditPoints="1" noAdjustHandles="1" noChangeArrowheads="1" noChangeShapeType="1" noTextEdit="1"/>
              </p:cNvSpPr>
              <p:nvPr/>
            </p:nvSpPr>
            <p:spPr>
              <a:xfrm>
                <a:off x="6194981" y="2552016"/>
                <a:ext cx="4020064" cy="984372"/>
              </a:xfrm>
              <a:prstGeom prst="rect">
                <a:avLst/>
              </a:prstGeom>
              <a:blipFill>
                <a:blip r:embed="rId2"/>
                <a:stretch>
                  <a:fillRect b="-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08C881E-E66F-AF58-2856-6859526E8107}"/>
                  </a:ext>
                </a:extLst>
              </p:cNvPr>
              <p:cNvSpPr txBox="1"/>
              <p:nvPr/>
            </p:nvSpPr>
            <p:spPr>
              <a:xfrm>
                <a:off x="839034" y="1973100"/>
                <a:ext cx="358223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en-US" sz="2800" i="1">
                              <a:latin typeface="Cambria Math" panose="02040503050406030204" pitchFamily="18" charset="0"/>
                            </a:rPr>
                          </m:ctrlPr>
                        </m:sSubPr>
                        <m:e>
                          <m:r>
                            <a:rPr lang="zh-TW" altLang="en-US" sz="2800">
                              <a:latin typeface="Cambria Math" panose="02040503050406030204" pitchFamily="18" charset="0"/>
                            </a:rPr>
                            <m:t>ℒ</m:t>
                          </m:r>
                        </m:e>
                        <m:sub>
                          <m:r>
                            <m:rPr>
                              <m:sty m:val="p"/>
                            </m:rPr>
                            <a:rPr lang="zh-TW" altLang="en-US" sz="2800">
                              <a:latin typeface="Cambria Math" panose="02040503050406030204" pitchFamily="18" charset="0"/>
                            </a:rPr>
                            <m:t>new</m:t>
                          </m:r>
                        </m:sub>
                      </m:sSub>
                      <m:r>
                        <a:rPr lang="zh-TW" altLang="en-US" sz="2800" i="0">
                          <a:solidFill>
                            <a:schemeClr val="tx1"/>
                          </a:solidFill>
                          <a:latin typeface="Cambria Math" panose="02040503050406030204" pitchFamily="18" charset="0"/>
                        </a:rPr>
                        <m:t>=</m:t>
                      </m:r>
                      <m:r>
                        <a:rPr lang="zh-TW" altLang="en-US" sz="2800" i="0">
                          <a:solidFill>
                            <a:schemeClr val="tx1"/>
                          </a:solidFill>
                          <a:latin typeface="Cambria Math" panose="02040503050406030204" pitchFamily="18" charset="0"/>
                        </a:rPr>
                        <m:t>ℒ</m:t>
                      </m:r>
                      <m:r>
                        <a:rPr lang="zh-TW" altLang="en-US" sz="2800" i="0">
                          <a:solidFill>
                            <a:schemeClr val="tx1"/>
                          </a:solidFill>
                          <a:latin typeface="Cambria Math" panose="02040503050406030204" pitchFamily="18" charset="0"/>
                        </a:rPr>
                        <m:t>+</m:t>
                      </m:r>
                      <m:r>
                        <a:rPr lang="en-US" altLang="zh-TW" sz="2800" i="1">
                          <a:latin typeface="Cambria Math" panose="02040503050406030204" pitchFamily="18" charset="0"/>
                        </a:rPr>
                        <m:t>𝜆</m:t>
                      </m:r>
                      <m:sSub>
                        <m:sSubPr>
                          <m:ctrlPr>
                            <a:rPr lang="zh-TW" altLang="en-US" sz="2800" i="1">
                              <a:latin typeface="Cambria Math" panose="02040503050406030204" pitchFamily="18" charset="0"/>
                            </a:rPr>
                          </m:ctrlPr>
                        </m:sSubPr>
                        <m:e>
                          <m:d>
                            <m:dPr>
                              <m:begChr m:val="‖"/>
                              <m:endChr m:val="‖"/>
                              <m:ctrlPr>
                                <a:rPr lang="zh-TW" altLang="en-US" sz="2800" i="1">
                                  <a:latin typeface="Cambria Math" panose="02040503050406030204" pitchFamily="18" charset="0"/>
                                </a:rPr>
                              </m:ctrlPr>
                            </m:dPr>
                            <m:e>
                              <m:r>
                                <m:rPr>
                                  <m:sty m:val="p"/>
                                </m:rPr>
                                <a:rPr lang="zh-TW" altLang="en-US" sz="2800">
                                  <a:latin typeface="Cambria Math" panose="02040503050406030204" pitchFamily="18" charset="0"/>
                                </a:rPr>
                                <m:t>w</m:t>
                              </m:r>
                            </m:e>
                          </m:d>
                        </m:e>
                        <m:sub>
                          <m:r>
                            <a:rPr lang="en-US" altLang="zh-TW" sz="2800">
                              <a:latin typeface="Cambria Math" panose="02040503050406030204" pitchFamily="18" charset="0"/>
                            </a:rPr>
                            <m:t>1</m:t>
                          </m:r>
                        </m:sub>
                      </m:sSub>
                    </m:oMath>
                  </m:oMathPara>
                </a14:m>
                <a:endParaRPr lang="zh-TW" altLang="en-US" sz="2800" dirty="0">
                  <a:solidFill>
                    <a:schemeClr val="tx1"/>
                  </a:solidFill>
                </a:endParaRPr>
              </a:p>
            </p:txBody>
          </p:sp>
        </mc:Choice>
        <mc:Fallback xmlns="">
          <p:sp>
            <p:nvSpPr>
              <p:cNvPr id="9" name="文字方塊 8">
                <a:extLst>
                  <a:ext uri="{FF2B5EF4-FFF2-40B4-BE49-F238E27FC236}">
                    <a16:creationId xmlns:a16="http://schemas.microsoft.com/office/drawing/2014/main" id="{908C881E-E66F-AF58-2856-6859526E8107}"/>
                  </a:ext>
                </a:extLst>
              </p:cNvPr>
              <p:cNvSpPr txBox="1">
                <a:spLocks noRot="1" noChangeAspect="1" noMove="1" noResize="1" noEditPoints="1" noAdjustHandles="1" noChangeArrowheads="1" noChangeShapeType="1" noTextEdit="1"/>
              </p:cNvSpPr>
              <p:nvPr/>
            </p:nvSpPr>
            <p:spPr>
              <a:xfrm>
                <a:off x="839034" y="1973100"/>
                <a:ext cx="3582237" cy="523220"/>
              </a:xfrm>
              <a:prstGeom prst="rect">
                <a:avLst/>
              </a:prstGeom>
              <a:blipFill>
                <a:blip r:embed="rId3"/>
                <a:stretch>
                  <a:fillRect l="-1064" b="-47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A4986F87-9D02-4A4C-23D4-1766FD62F81B}"/>
                  </a:ext>
                </a:extLst>
              </p:cNvPr>
              <p:cNvSpPr txBox="1"/>
              <p:nvPr/>
            </p:nvSpPr>
            <p:spPr>
              <a:xfrm>
                <a:off x="839034" y="3611213"/>
                <a:ext cx="6539666"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zh-TW" altLang="en-US" sz="2800" i="1" smtClean="0">
                              <a:solidFill>
                                <a:schemeClr val="accent6"/>
                              </a:solidFill>
                              <a:latin typeface="Cambria Math" panose="02040503050406030204" pitchFamily="18" charset="0"/>
                            </a:rPr>
                          </m:ctrlPr>
                        </m:fPr>
                        <m:num>
                          <m:r>
                            <a:rPr lang="zh-TW" altLang="en-US" sz="280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a:solidFill>
                                    <a:schemeClr val="accent6"/>
                                  </a:solidFill>
                                  <a:latin typeface="Cambria Math" panose="02040503050406030204" pitchFamily="18" charset="0"/>
                                </a:rPr>
                                <m:t>ℒ</m:t>
                              </m:r>
                            </m:e>
                            <m:sub>
                              <m:r>
                                <m:rPr>
                                  <m:sty m:val="p"/>
                                </m:rPr>
                                <a:rPr lang="zh-TW" altLang="en-US" sz="2800">
                                  <a:solidFill>
                                    <a:schemeClr val="accent6"/>
                                  </a:solidFill>
                                  <a:latin typeface="Cambria Math" panose="02040503050406030204" pitchFamily="18" charset="0"/>
                                </a:rPr>
                                <m:t>new</m:t>
                              </m:r>
                            </m:sub>
                          </m:sSub>
                        </m:num>
                        <m:den>
                          <m:r>
                            <a:rPr lang="zh-TW" altLang="en-US" sz="2800">
                              <a:solidFill>
                                <a:schemeClr val="accent6"/>
                              </a:solidFill>
                              <a:latin typeface="Cambria Math" panose="02040503050406030204" pitchFamily="18" charset="0"/>
                            </a:rPr>
                            <m:t>𝜕</m:t>
                          </m:r>
                          <m:sSub>
                            <m:sSubPr>
                              <m:ctrlPr>
                                <a:rPr lang="zh-TW" altLang="en-US" sz="2800" i="1">
                                  <a:solidFill>
                                    <a:schemeClr val="accent6"/>
                                  </a:solidFill>
                                  <a:latin typeface="Cambria Math" panose="02040503050406030204" pitchFamily="18" charset="0"/>
                                </a:rPr>
                              </m:ctrlPr>
                            </m:sSubPr>
                            <m:e>
                              <m:r>
                                <a:rPr lang="zh-TW" altLang="en-US" sz="2800" i="1">
                                  <a:solidFill>
                                    <a:schemeClr val="accent6"/>
                                  </a:solidFill>
                                  <a:latin typeface="Cambria Math" panose="02040503050406030204" pitchFamily="18" charset="0"/>
                                </a:rPr>
                                <m:t>𝑤</m:t>
                              </m:r>
                            </m:e>
                            <m:sub>
                              <m:r>
                                <a:rPr lang="en-US" altLang="zh-TW" sz="2800" i="1">
                                  <a:solidFill>
                                    <a:schemeClr val="accent6"/>
                                  </a:solidFill>
                                  <a:latin typeface="Cambria Math" panose="02040503050406030204" pitchFamily="18" charset="0"/>
                                </a:rPr>
                                <m:t>𝑖</m:t>
                              </m:r>
                            </m:sub>
                          </m:sSub>
                        </m:den>
                      </m:f>
                      <m:r>
                        <a:rPr lang="zh-TW" altLang="en-US" sz="2800" i="0">
                          <a:solidFill>
                            <a:schemeClr val="tx1"/>
                          </a:solidFill>
                          <a:latin typeface="Cambria Math" panose="02040503050406030204" pitchFamily="18" charset="0"/>
                        </a:rPr>
                        <m:t>=</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m:t>
                          </m:r>
                          <m:r>
                            <a:rPr lang="zh-TW" altLang="en-US" sz="2800">
                              <a:latin typeface="Cambria Math" panose="02040503050406030204" pitchFamily="18" charset="0"/>
                            </a:rPr>
                            <m:t>ℒ</m:t>
                          </m:r>
                        </m:num>
                        <m:den>
                          <m:r>
                            <a:rPr lang="zh-TW" altLang="en-US" sz="280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den>
                      </m:f>
                      <m:r>
                        <a:rPr lang="zh-TW" altLang="en-US" sz="2800" i="0">
                          <a:solidFill>
                            <a:schemeClr val="tx1"/>
                          </a:solidFill>
                          <a:latin typeface="Cambria Math" panose="02040503050406030204" pitchFamily="18" charset="0"/>
                        </a:rPr>
                        <m:t>+</m:t>
                      </m:r>
                      <m:r>
                        <a:rPr lang="zh-TW" altLang="en-US" sz="2800" i="1">
                          <a:solidFill>
                            <a:schemeClr val="tx1"/>
                          </a:solidFill>
                          <a:latin typeface="Cambria Math" panose="02040503050406030204" pitchFamily="18" charset="0"/>
                        </a:rPr>
                        <m:t>𝜆</m:t>
                      </m:r>
                      <m:r>
                        <a:rPr lang="en-US" altLang="zh-TW" i="1" smtClean="0">
                          <a:solidFill>
                            <a:schemeClr val="tx1"/>
                          </a:solidFill>
                          <a:latin typeface="Cambria Math" panose="02040503050406030204" pitchFamily="18" charset="0"/>
                        </a:rPr>
                        <m:t>⋅</m:t>
                      </m:r>
                      <m:r>
                        <m:rPr>
                          <m:sty m:val="p"/>
                        </m:rPr>
                        <a:rPr lang="en-US" altLang="zh-TW" sz="2800" b="0" i="0" smtClean="0">
                          <a:solidFill>
                            <a:schemeClr val="tx1"/>
                          </a:solidFill>
                          <a:latin typeface="Cambria Math" panose="02040503050406030204" pitchFamily="18" charset="0"/>
                        </a:rPr>
                        <m:t>sign</m:t>
                      </m:r>
                      <m:r>
                        <a:rPr lang="en-US" altLang="zh-TW" sz="2800" b="0" i="1" smtClean="0">
                          <a:solidFill>
                            <a:schemeClr val="tx1"/>
                          </a:solidFill>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r>
                        <a:rPr lang="en-US" altLang="zh-TW" sz="2800" b="0" i="1" smtClean="0">
                          <a:latin typeface="Cambria Math" panose="02040503050406030204" pitchFamily="18" charset="0"/>
                        </a:rPr>
                        <m:t>)</m:t>
                      </m:r>
                    </m:oMath>
                  </m:oMathPara>
                </a14:m>
                <a:endParaRPr lang="zh-TW" altLang="en-US" sz="2800" dirty="0">
                  <a:solidFill>
                    <a:schemeClr val="tx1"/>
                  </a:solidFill>
                </a:endParaRPr>
              </a:p>
            </p:txBody>
          </p:sp>
        </mc:Choice>
        <mc:Fallback xmlns="">
          <p:sp>
            <p:nvSpPr>
              <p:cNvPr id="10" name="文字方塊 9">
                <a:extLst>
                  <a:ext uri="{FF2B5EF4-FFF2-40B4-BE49-F238E27FC236}">
                    <a16:creationId xmlns:a16="http://schemas.microsoft.com/office/drawing/2014/main" id="{A4986F87-9D02-4A4C-23D4-1766FD62F81B}"/>
                  </a:ext>
                </a:extLst>
              </p:cNvPr>
              <p:cNvSpPr txBox="1">
                <a:spLocks noRot="1" noChangeAspect="1" noMove="1" noResize="1" noEditPoints="1" noAdjustHandles="1" noChangeArrowheads="1" noChangeShapeType="1" noTextEdit="1"/>
              </p:cNvSpPr>
              <p:nvPr/>
            </p:nvSpPr>
            <p:spPr>
              <a:xfrm>
                <a:off x="839034" y="3611213"/>
                <a:ext cx="6539666" cy="984372"/>
              </a:xfrm>
              <a:prstGeom prst="rect">
                <a:avLst/>
              </a:prstGeom>
              <a:blipFill>
                <a:blip r:embed="rId4"/>
                <a:stretch>
                  <a:fillRect l="-583" b="-512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5155F51-5EE7-1DF0-1BB7-084961236837}"/>
                  </a:ext>
                </a:extLst>
              </p:cNvPr>
              <p:cNvSpPr txBox="1"/>
              <p:nvPr/>
            </p:nvSpPr>
            <p:spPr>
              <a:xfrm>
                <a:off x="6681740" y="3646302"/>
                <a:ext cx="4912634" cy="9843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TW" altLang="en-US" sz="2800" i="0" smtClean="0">
                          <a:solidFill>
                            <a:schemeClr val="tx1"/>
                          </a:solidFill>
                          <a:latin typeface="Cambria Math" panose="02040503050406030204" pitchFamily="18" charset="0"/>
                        </a:rPr>
                        <m:t>=</m:t>
                      </m:r>
                      <m:sSub>
                        <m:sSubPr>
                          <m:ctrlPr>
                            <a:rPr lang="zh-TW" altLang="en-US" sz="2800" i="1">
                              <a:solidFill>
                                <a:schemeClr val="tx1"/>
                              </a:solidFill>
                              <a:latin typeface="Cambria Math" panose="02040503050406030204" pitchFamily="18" charset="0"/>
                            </a:rPr>
                          </m:ctrlPr>
                        </m:sSubPr>
                        <m:e>
                          <m:r>
                            <a:rPr lang="zh-TW" altLang="en-US" sz="2800" i="1">
                              <a:solidFill>
                                <a:schemeClr val="tx1"/>
                              </a:solidFill>
                              <a:latin typeface="Cambria Math" panose="02040503050406030204" pitchFamily="18" charset="0"/>
                            </a:rPr>
                            <m:t>𝑤</m:t>
                          </m:r>
                        </m:e>
                        <m:sub>
                          <m:r>
                            <a:rPr lang="en-US" altLang="zh-TW" sz="2800" b="0" i="1" smtClean="0">
                              <a:solidFill>
                                <a:schemeClr val="tx1"/>
                              </a:solidFill>
                              <a:latin typeface="Cambria Math" panose="02040503050406030204" pitchFamily="18" charset="0"/>
                            </a:rPr>
                            <m:t>𝑖</m:t>
                          </m:r>
                        </m:sub>
                      </m:sSub>
                      <m:r>
                        <a:rPr lang="zh-TW" altLang="en-US" sz="2800" i="0">
                          <a:solidFill>
                            <a:schemeClr val="tx1"/>
                          </a:solidFill>
                          <a:latin typeface="Cambria Math" panose="02040503050406030204" pitchFamily="18" charset="0"/>
                        </a:rPr>
                        <m:t>−</m:t>
                      </m:r>
                      <m:r>
                        <m:rPr>
                          <m:sty m:val="p"/>
                        </m:rPr>
                        <a:rPr lang="zh-TW" altLang="en-US" sz="2800" i="0">
                          <a:solidFill>
                            <a:schemeClr val="tx1"/>
                          </a:solidFill>
                          <a:latin typeface="Cambria Math" panose="02040503050406030204" pitchFamily="18" charset="0"/>
                        </a:rPr>
                        <m:t>η</m:t>
                      </m:r>
                      <m:r>
                        <a:rPr lang="en-US" altLang="zh-TW" sz="2800" b="0" i="0" smtClean="0">
                          <a:solidFill>
                            <a:schemeClr val="tx1"/>
                          </a:solidFill>
                          <a:latin typeface="Cambria Math" panose="02040503050406030204" pitchFamily="18" charset="0"/>
                        </a:rPr>
                        <m:t>(</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m:t>
                          </m:r>
                          <m:r>
                            <a:rPr lang="zh-TW" altLang="en-US" sz="2800">
                              <a:latin typeface="Cambria Math" panose="02040503050406030204" pitchFamily="18" charset="0"/>
                            </a:rPr>
                            <m:t>ℒ</m:t>
                          </m:r>
                        </m:num>
                        <m:den>
                          <m:r>
                            <a:rPr lang="zh-TW" altLang="en-US" sz="280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den>
                      </m:f>
                      <m:r>
                        <a:rPr lang="zh-TW" altLang="en-US" sz="2800">
                          <a:latin typeface="Cambria Math" panose="02040503050406030204" pitchFamily="18" charset="0"/>
                        </a:rPr>
                        <m:t>+</m:t>
                      </m:r>
                      <m:r>
                        <a:rPr lang="zh-TW" altLang="en-US" sz="2800" i="1">
                          <a:latin typeface="Cambria Math" panose="02040503050406030204" pitchFamily="18" charset="0"/>
                        </a:rPr>
                        <m:t>𝜆</m:t>
                      </m:r>
                      <m:r>
                        <a:rPr lang="en-US" altLang="zh-TW" sz="2800" i="1">
                          <a:latin typeface="Cambria Math" panose="02040503050406030204" pitchFamily="18" charset="0"/>
                        </a:rPr>
                        <m:t>⋅</m:t>
                      </m:r>
                      <m:r>
                        <m:rPr>
                          <m:sty m:val="p"/>
                        </m:rPr>
                        <a:rPr lang="en-US" altLang="zh-TW" sz="2800">
                          <a:latin typeface="Cambria Math" panose="02040503050406030204" pitchFamily="18" charset="0"/>
                        </a:rPr>
                        <m:t>sign</m:t>
                      </m:r>
                      <m:r>
                        <a:rPr lang="en-US" altLang="zh-TW" sz="2800" i="1">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𝑤</m:t>
                          </m:r>
                        </m:e>
                        <m:sub>
                          <m:r>
                            <a:rPr lang="en-US" altLang="zh-TW" sz="2800" i="1">
                              <a:latin typeface="Cambria Math" panose="02040503050406030204" pitchFamily="18" charset="0"/>
                            </a:rPr>
                            <m:t>𝑖</m:t>
                          </m:r>
                        </m:sub>
                      </m:sSub>
                      <m:r>
                        <a:rPr lang="en-US" altLang="zh-TW" sz="2800" i="1">
                          <a:latin typeface="Cambria Math" panose="02040503050406030204" pitchFamily="18" charset="0"/>
                        </a:rPr>
                        <m:t>)</m:t>
                      </m:r>
                      <m:r>
                        <a:rPr lang="en-US" altLang="zh-TW" sz="2800" b="0" i="0" smtClean="0">
                          <a:solidFill>
                            <a:schemeClr val="tx1"/>
                          </a:solidFill>
                          <a:latin typeface="Cambria Math" panose="02040503050406030204" pitchFamily="18" charset="0"/>
                        </a:rPr>
                        <m:t>)</m:t>
                      </m:r>
                    </m:oMath>
                  </m:oMathPara>
                </a14:m>
                <a:endParaRPr lang="zh-TW" altLang="en-US" sz="2800" dirty="0">
                  <a:solidFill>
                    <a:schemeClr val="tx1"/>
                  </a:solidFill>
                </a:endParaRPr>
              </a:p>
            </p:txBody>
          </p:sp>
        </mc:Choice>
        <mc:Fallback xmlns="">
          <p:sp>
            <p:nvSpPr>
              <p:cNvPr id="11" name="文字方塊 10">
                <a:extLst>
                  <a:ext uri="{FF2B5EF4-FFF2-40B4-BE49-F238E27FC236}">
                    <a16:creationId xmlns:a16="http://schemas.microsoft.com/office/drawing/2014/main" id="{15155F51-5EE7-1DF0-1BB7-084961236837}"/>
                  </a:ext>
                </a:extLst>
              </p:cNvPr>
              <p:cNvSpPr txBox="1">
                <a:spLocks noRot="1" noChangeAspect="1" noMove="1" noResize="1" noEditPoints="1" noAdjustHandles="1" noChangeArrowheads="1" noChangeShapeType="1" noTextEdit="1"/>
              </p:cNvSpPr>
              <p:nvPr/>
            </p:nvSpPr>
            <p:spPr>
              <a:xfrm>
                <a:off x="6681740" y="3646302"/>
                <a:ext cx="4912634" cy="984372"/>
              </a:xfrm>
              <a:prstGeom prst="rect">
                <a:avLst/>
              </a:prstGeom>
              <a:blipFill>
                <a:blip r:embed="rId5"/>
                <a:stretch>
                  <a:fillRect b="-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F09099D0-8CC2-D2E2-B34D-A3805A03BE4B}"/>
                  </a:ext>
                </a:extLst>
              </p:cNvPr>
              <p:cNvSpPr txBox="1"/>
              <p:nvPr/>
            </p:nvSpPr>
            <p:spPr>
              <a:xfrm>
                <a:off x="839034" y="2867331"/>
                <a:ext cx="3582237" cy="461665"/>
              </a:xfrm>
              <a:prstGeom prst="rect">
                <a:avLst/>
              </a:prstGeom>
              <a:noFill/>
            </p:spPr>
            <p:txBody>
              <a:bodyPr wrap="square" rtlCol="0">
                <a:spAutoFit/>
              </a:bodyPr>
              <a:lstStyle/>
              <a:p>
                <a:r>
                  <a:rPr kumimoji="1" lang="zh-TW" altLang="en-US" sz="2400" dirty="0">
                    <a:solidFill>
                      <a:srgbClr val="0070C0"/>
                    </a:solidFill>
                  </a:rPr>
                  <a:t>對任意</a:t>
                </a:r>
                <a:r>
                  <a:rPr kumimoji="1" lang="en-US" altLang="zh-TW" sz="2400" dirty="0">
                    <a:solidFill>
                      <a:srgbClr val="0070C0"/>
                    </a:solidFill>
                  </a:rPr>
                  <a:t> </a:t>
                </a:r>
                <a14:m>
                  <m:oMath xmlns:m="http://schemas.openxmlformats.org/officeDocument/2006/math">
                    <m:sSub>
                      <m:sSubPr>
                        <m:ctrlPr>
                          <a:rPr lang="zh-TW" altLang="en-US" sz="2400" i="1" smtClean="0">
                            <a:solidFill>
                              <a:srgbClr val="0070C0"/>
                            </a:solidFill>
                            <a:latin typeface="Cambria Math" panose="02040503050406030204" pitchFamily="18" charset="0"/>
                          </a:rPr>
                        </m:ctrlPr>
                      </m:sSubPr>
                      <m:e>
                        <m:r>
                          <a:rPr lang="zh-TW" altLang="en-US" sz="2400" i="1">
                            <a:solidFill>
                              <a:srgbClr val="0070C0"/>
                            </a:solidFill>
                            <a:latin typeface="Cambria Math" panose="02040503050406030204" pitchFamily="18" charset="0"/>
                          </a:rPr>
                          <m:t>𝑤</m:t>
                        </m:r>
                      </m:e>
                      <m:sub>
                        <m:r>
                          <a:rPr lang="en-US" altLang="zh-TW" sz="2400" i="1">
                            <a:solidFill>
                              <a:srgbClr val="0070C0"/>
                            </a:solidFill>
                            <a:latin typeface="Cambria Math" panose="02040503050406030204" pitchFamily="18" charset="0"/>
                          </a:rPr>
                          <m:t>𝑖</m:t>
                        </m:r>
                      </m:sub>
                    </m:sSub>
                  </m:oMath>
                </a14:m>
                <a:r>
                  <a:rPr kumimoji="1" lang="en-US" altLang="zh-TW" sz="2400" dirty="0">
                    <a:solidFill>
                      <a:srgbClr val="0070C0"/>
                    </a:solidFill>
                  </a:rPr>
                  <a:t> </a:t>
                </a:r>
                <a:r>
                  <a:rPr kumimoji="1" lang="zh-TW" altLang="en-US" sz="2400" dirty="0">
                    <a:solidFill>
                      <a:srgbClr val="0070C0"/>
                    </a:solidFill>
                  </a:rPr>
                  <a:t>進行偏微分：</a:t>
                </a:r>
              </a:p>
            </p:txBody>
          </p:sp>
        </mc:Choice>
        <mc:Fallback xmlns="">
          <p:sp>
            <p:nvSpPr>
              <p:cNvPr id="13" name="文字方塊 12">
                <a:extLst>
                  <a:ext uri="{FF2B5EF4-FFF2-40B4-BE49-F238E27FC236}">
                    <a16:creationId xmlns:a16="http://schemas.microsoft.com/office/drawing/2014/main" id="{F09099D0-8CC2-D2E2-B34D-A3805A03BE4B}"/>
                  </a:ext>
                </a:extLst>
              </p:cNvPr>
              <p:cNvSpPr txBox="1">
                <a:spLocks noRot="1" noChangeAspect="1" noMove="1" noResize="1" noEditPoints="1" noAdjustHandles="1" noChangeArrowheads="1" noChangeShapeType="1" noTextEdit="1"/>
              </p:cNvSpPr>
              <p:nvPr/>
            </p:nvSpPr>
            <p:spPr>
              <a:xfrm>
                <a:off x="839034" y="2867331"/>
                <a:ext cx="3582237" cy="461665"/>
              </a:xfrm>
              <a:prstGeom prst="rect">
                <a:avLst/>
              </a:prstGeom>
              <a:blipFill>
                <a:blip r:embed="rId6"/>
                <a:stretch>
                  <a:fillRect l="-2837" t="-10526" b="-28947"/>
                </a:stretch>
              </a:blipFill>
            </p:spPr>
            <p:txBody>
              <a:bodyPr/>
              <a:lstStyle/>
              <a:p>
                <a:r>
                  <a:rPr lang="zh-TW" altLang="en-US">
                    <a:noFill/>
                  </a:rPr>
                  <a:t> </a:t>
                </a:r>
              </a:p>
            </p:txBody>
          </p:sp>
        </mc:Fallback>
      </mc:AlternateContent>
      <p:sp>
        <p:nvSpPr>
          <p:cNvPr id="14" name="文字方塊 13">
            <a:extLst>
              <a:ext uri="{FF2B5EF4-FFF2-40B4-BE49-F238E27FC236}">
                <a16:creationId xmlns:a16="http://schemas.microsoft.com/office/drawing/2014/main" id="{69A079D7-7B7F-0FD1-3A0D-1EAB3984329E}"/>
              </a:ext>
            </a:extLst>
          </p:cNvPr>
          <p:cNvSpPr txBox="1"/>
          <p:nvPr/>
        </p:nvSpPr>
        <p:spPr>
          <a:xfrm>
            <a:off x="5594278" y="2003878"/>
            <a:ext cx="1822104" cy="461665"/>
          </a:xfrm>
          <a:prstGeom prst="rect">
            <a:avLst/>
          </a:prstGeom>
          <a:noFill/>
        </p:spPr>
        <p:txBody>
          <a:bodyPr wrap="square" rtlCol="0">
            <a:spAutoFit/>
          </a:bodyPr>
          <a:lstStyle/>
          <a:p>
            <a:r>
              <a:rPr kumimoji="1" lang="zh-TW" altLang="en-US" sz="2400" dirty="0">
                <a:solidFill>
                  <a:srgbClr val="0070C0"/>
                </a:solidFill>
              </a:rPr>
              <a:t>梯度下降：</a:t>
            </a:r>
          </a:p>
        </p:txBody>
      </p:sp>
      <p:sp>
        <p:nvSpPr>
          <p:cNvPr id="15" name="文字方塊 14">
            <a:extLst>
              <a:ext uri="{FF2B5EF4-FFF2-40B4-BE49-F238E27FC236}">
                <a16:creationId xmlns:a16="http://schemas.microsoft.com/office/drawing/2014/main" id="{8DF3A6EE-4017-2726-D535-98861BBBF12A}"/>
              </a:ext>
            </a:extLst>
          </p:cNvPr>
          <p:cNvSpPr txBox="1"/>
          <p:nvPr/>
        </p:nvSpPr>
        <p:spPr>
          <a:xfrm>
            <a:off x="5594278" y="3927751"/>
            <a:ext cx="1374950" cy="461665"/>
          </a:xfrm>
          <a:prstGeom prst="rect">
            <a:avLst/>
          </a:prstGeom>
          <a:noFill/>
        </p:spPr>
        <p:txBody>
          <a:bodyPr wrap="square" rtlCol="0">
            <a:spAutoFit/>
          </a:bodyPr>
          <a:lstStyle/>
          <a:p>
            <a:r>
              <a:rPr kumimoji="1" lang="en-US" altLang="zh-TW" sz="2400" dirty="0">
                <a:solidFill>
                  <a:srgbClr val="0070C0"/>
                </a:solidFill>
              </a:rPr>
              <a:t>(</a:t>
            </a:r>
            <a:r>
              <a:rPr kumimoji="1" lang="zh-TW" altLang="en-US" sz="2400" dirty="0">
                <a:solidFill>
                  <a:srgbClr val="0070C0"/>
                </a:solidFill>
              </a:rPr>
              <a:t>代入</a:t>
            </a:r>
            <a:r>
              <a:rPr kumimoji="1" lang="en-US" altLang="zh-TW" sz="2400" dirty="0">
                <a:solidFill>
                  <a:srgbClr val="0070C0"/>
                </a:solidFill>
              </a:rPr>
              <a:t>)</a:t>
            </a:r>
            <a:endParaRPr kumimoji="1" lang="zh-TW" altLang="en-US" sz="2400" dirty="0">
              <a:solidFill>
                <a:srgbClr val="0070C0"/>
              </a:solidFill>
            </a:endParaRPr>
          </a:p>
        </p:txBody>
      </p:sp>
      <p:sp>
        <p:nvSpPr>
          <p:cNvPr id="17" name="文字方塊 16">
            <a:extLst>
              <a:ext uri="{FF2B5EF4-FFF2-40B4-BE49-F238E27FC236}">
                <a16:creationId xmlns:a16="http://schemas.microsoft.com/office/drawing/2014/main" id="{25A29647-D53B-0EE7-EB91-8CBF7D763269}"/>
              </a:ext>
            </a:extLst>
          </p:cNvPr>
          <p:cNvSpPr txBox="1"/>
          <p:nvPr/>
        </p:nvSpPr>
        <p:spPr>
          <a:xfrm>
            <a:off x="8227873" y="4689788"/>
            <a:ext cx="3386822" cy="830997"/>
          </a:xfrm>
          <a:prstGeom prst="rect">
            <a:avLst/>
          </a:prstGeom>
          <a:noFill/>
        </p:spPr>
        <p:txBody>
          <a:bodyPr wrap="square" rtlCol="0">
            <a:spAutoFit/>
          </a:bodyPr>
          <a:lstStyle/>
          <a:p>
            <a:r>
              <a:rPr kumimoji="1" lang="zh-TW" altLang="en-US" sz="2400" dirty="0">
                <a:solidFill>
                  <a:srgbClr val="FF0000"/>
                </a:solidFill>
              </a:rPr>
              <a:t>每次更新都會扣減 </a:t>
            </a:r>
            <a:r>
              <a:rPr kumimoji="1" lang="en-US" altLang="zh-TW" sz="2400" dirty="0">
                <a:solidFill>
                  <a:srgbClr val="FF0000"/>
                </a:solidFill>
              </a:rPr>
              <a:t>(weight decay)</a:t>
            </a:r>
            <a:endParaRPr kumimoji="1" lang="zh-TW" altLang="en-US" sz="2400" dirty="0">
              <a:solidFill>
                <a:srgbClr val="FF0000"/>
              </a:solidFill>
            </a:endParaRPr>
          </a:p>
        </p:txBody>
      </p:sp>
      <p:cxnSp>
        <p:nvCxnSpPr>
          <p:cNvPr id="18" name="直線接點 17">
            <a:extLst>
              <a:ext uri="{FF2B5EF4-FFF2-40B4-BE49-F238E27FC236}">
                <a16:creationId xmlns:a16="http://schemas.microsoft.com/office/drawing/2014/main" id="{C3082350-06FB-F7A9-6519-47F3F4A8435A}"/>
              </a:ext>
            </a:extLst>
          </p:cNvPr>
          <p:cNvCxnSpPr>
            <a:cxnSpLocks/>
          </p:cNvCxnSpPr>
          <p:nvPr/>
        </p:nvCxnSpPr>
        <p:spPr>
          <a:xfrm>
            <a:off x="7974752" y="4633685"/>
            <a:ext cx="314790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02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5"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BF8788-8ED4-4490-91E7-1ACEC23C4468}"/>
              </a:ext>
            </a:extLst>
          </p:cNvPr>
          <p:cNvSpPr>
            <a:spLocks noGrp="1"/>
          </p:cNvSpPr>
          <p:nvPr>
            <p:ph type="title"/>
          </p:nvPr>
        </p:nvSpPr>
        <p:spPr/>
        <p:txBody>
          <a:bodyPr/>
          <a:lstStyle/>
          <a:p>
            <a:r>
              <a:rPr kumimoji="1" lang="en-US" altLang="zh-TW" dirty="0" err="1"/>
              <a:t>AdamW</a:t>
            </a:r>
            <a:r>
              <a:rPr kumimoji="1" lang="en-US" altLang="zh-TW" dirty="0"/>
              <a:t> will be in Week 7</a:t>
            </a:r>
            <a:endParaRPr kumimoji="1" lang="zh-TW" altLang="en-US" dirty="0"/>
          </a:p>
        </p:txBody>
      </p:sp>
      <p:sp>
        <p:nvSpPr>
          <p:cNvPr id="4" name="投影片編號版面配置區 3">
            <a:extLst>
              <a:ext uri="{FF2B5EF4-FFF2-40B4-BE49-F238E27FC236}">
                <a16:creationId xmlns:a16="http://schemas.microsoft.com/office/drawing/2014/main" id="{C232D448-AB0A-B7D9-469C-BF99A7E9FA5A}"/>
              </a:ext>
            </a:extLst>
          </p:cNvPr>
          <p:cNvSpPr>
            <a:spLocks noGrp="1"/>
          </p:cNvSpPr>
          <p:nvPr>
            <p:ph type="sldNum" sz="quarter" idx="12"/>
          </p:nvPr>
        </p:nvSpPr>
        <p:spPr/>
        <p:txBody>
          <a:bodyPr/>
          <a:lstStyle/>
          <a:p>
            <a:fld id="{6113E31D-E2AB-40D1-8B51-AFA5AFEF393A}" type="slidenum">
              <a:rPr lang="en-US" smtClean="0"/>
              <a:pPr/>
              <a:t>16</a:t>
            </a:fld>
            <a:endParaRPr lang="en-US" dirty="0"/>
          </a:p>
        </p:txBody>
      </p:sp>
      <p:pic>
        <p:nvPicPr>
          <p:cNvPr id="5" name="圖片 4">
            <a:extLst>
              <a:ext uri="{FF2B5EF4-FFF2-40B4-BE49-F238E27FC236}">
                <a16:creationId xmlns:a16="http://schemas.microsoft.com/office/drawing/2014/main" id="{F9A4C83F-3B1C-7E38-E74C-4C9EAE3C2C37}"/>
              </a:ext>
            </a:extLst>
          </p:cNvPr>
          <p:cNvPicPr>
            <a:picLocks noChangeAspect="1"/>
          </p:cNvPicPr>
          <p:nvPr/>
        </p:nvPicPr>
        <p:blipFill>
          <a:blip r:embed="rId3"/>
          <a:stretch>
            <a:fillRect/>
          </a:stretch>
        </p:blipFill>
        <p:spPr>
          <a:xfrm>
            <a:off x="1890150" y="2337560"/>
            <a:ext cx="8411700" cy="3035673"/>
          </a:xfrm>
          <a:prstGeom prst="rect">
            <a:avLst/>
          </a:prstGeom>
        </p:spPr>
      </p:pic>
      <p:sp>
        <p:nvSpPr>
          <p:cNvPr id="6" name="文字方塊 5">
            <a:extLst>
              <a:ext uri="{FF2B5EF4-FFF2-40B4-BE49-F238E27FC236}">
                <a16:creationId xmlns:a16="http://schemas.microsoft.com/office/drawing/2014/main" id="{994922D5-CAF1-9516-8F07-8F4426B29EC8}"/>
              </a:ext>
            </a:extLst>
          </p:cNvPr>
          <p:cNvSpPr txBox="1"/>
          <p:nvPr/>
        </p:nvSpPr>
        <p:spPr>
          <a:xfrm>
            <a:off x="2651513" y="5819665"/>
            <a:ext cx="6888974" cy="400110"/>
          </a:xfrm>
          <a:prstGeom prst="rect">
            <a:avLst/>
          </a:prstGeom>
          <a:noFill/>
        </p:spPr>
        <p:txBody>
          <a:bodyPr wrap="square" rtlCol="0">
            <a:spAutoFit/>
          </a:bodyPr>
          <a:lstStyle/>
          <a:p>
            <a:pPr algn="ctr"/>
            <a:r>
              <a:rPr kumimoji="1" lang="en-US" altLang="zh-TW" sz="2000" dirty="0"/>
              <a:t>Week7: </a:t>
            </a:r>
            <a:r>
              <a:rPr kumimoji="1" lang="zh-TW" altLang="en-US" sz="2000" dirty="0"/>
              <a:t>過擬合、正規化、模型訓練技巧、期末專案介紹</a:t>
            </a:r>
          </a:p>
        </p:txBody>
      </p:sp>
      <p:sp>
        <p:nvSpPr>
          <p:cNvPr id="7" name="文字方塊 6">
            <a:extLst>
              <a:ext uri="{FF2B5EF4-FFF2-40B4-BE49-F238E27FC236}">
                <a16:creationId xmlns:a16="http://schemas.microsoft.com/office/drawing/2014/main" id="{0C48F685-B6F1-6E55-CFF3-A452EB481F77}"/>
              </a:ext>
            </a:extLst>
          </p:cNvPr>
          <p:cNvSpPr txBox="1"/>
          <p:nvPr/>
        </p:nvSpPr>
        <p:spPr>
          <a:xfrm>
            <a:off x="558875" y="1732240"/>
            <a:ext cx="2879908" cy="400110"/>
          </a:xfrm>
          <a:prstGeom prst="rect">
            <a:avLst/>
          </a:prstGeom>
          <a:noFill/>
        </p:spPr>
        <p:txBody>
          <a:bodyPr wrap="square" rtlCol="0">
            <a:spAutoFit/>
          </a:bodyPr>
          <a:lstStyle/>
          <a:p>
            <a:pPr algn="ctr"/>
            <a:r>
              <a:rPr kumimoji="1" lang="en-US" altLang="zh-TW" sz="2000" dirty="0">
                <a:solidFill>
                  <a:srgbClr val="0070C0"/>
                </a:solidFill>
              </a:rPr>
              <a:t>The paper of </a:t>
            </a:r>
            <a:r>
              <a:rPr kumimoji="1" lang="en-US" altLang="zh-TW" sz="2000" dirty="0" err="1">
                <a:solidFill>
                  <a:srgbClr val="0070C0"/>
                </a:solidFill>
              </a:rPr>
              <a:t>AdamW</a:t>
            </a:r>
            <a:r>
              <a:rPr kumimoji="1" lang="en-US" altLang="zh-TW" sz="2000" dirty="0">
                <a:solidFill>
                  <a:srgbClr val="0070C0"/>
                </a:solidFill>
              </a:rPr>
              <a:t>:</a:t>
            </a:r>
            <a:endParaRPr kumimoji="1" lang="zh-TW" altLang="en-US" sz="2000" dirty="0">
              <a:solidFill>
                <a:srgbClr val="0070C0"/>
              </a:solidFill>
            </a:endParaRPr>
          </a:p>
        </p:txBody>
      </p:sp>
    </p:spTree>
    <p:extLst>
      <p:ext uri="{BB962C8B-B14F-4D97-AF65-F5344CB8AC3E}">
        <p14:creationId xmlns:p14="http://schemas.microsoft.com/office/powerpoint/2010/main" val="2546665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B31BEB-AA35-99AB-AD32-A4612C46A657}"/>
              </a:ext>
            </a:extLst>
          </p:cNvPr>
          <p:cNvSpPr>
            <a:spLocks noGrp="1"/>
          </p:cNvSpPr>
          <p:nvPr>
            <p:ph type="title"/>
          </p:nvPr>
        </p:nvSpPr>
        <p:spPr/>
        <p:txBody>
          <a:bodyPr/>
          <a:lstStyle/>
          <a:p>
            <a:r>
              <a:rPr kumimoji="1" lang="en-US" altLang="zh-TW"/>
              <a:t>[Recap] Adam</a:t>
            </a:r>
            <a:endParaRPr kumimoji="1" lang="zh-TW" altLang="en-US" dirty="0"/>
          </a:p>
        </p:txBody>
      </p:sp>
      <p:sp>
        <p:nvSpPr>
          <p:cNvPr id="4" name="投影片編號版面配置區 3">
            <a:extLst>
              <a:ext uri="{FF2B5EF4-FFF2-40B4-BE49-F238E27FC236}">
                <a16:creationId xmlns:a16="http://schemas.microsoft.com/office/drawing/2014/main" id="{7768A8EA-FC84-EE22-BC36-DB7FCE4B5012}"/>
              </a:ext>
            </a:extLst>
          </p:cNvPr>
          <p:cNvSpPr>
            <a:spLocks noGrp="1"/>
          </p:cNvSpPr>
          <p:nvPr>
            <p:ph type="sldNum" sz="quarter" idx="12"/>
          </p:nvPr>
        </p:nvSpPr>
        <p:spPr/>
        <p:txBody>
          <a:bodyPr/>
          <a:lstStyle/>
          <a:p>
            <a:fld id="{6113E31D-E2AB-40D1-8B51-AFA5AFEF393A}" type="slidenum">
              <a:rPr lang="en-US" smtClean="0"/>
              <a:pPr/>
              <a:t>17</a:t>
            </a:fld>
            <a:endParaRPr lang="en-US" dirty="0"/>
          </a:p>
        </p:txBody>
      </p:sp>
      <p:sp>
        <p:nvSpPr>
          <p:cNvPr id="6" name="文字方塊 5">
            <a:extLst>
              <a:ext uri="{FF2B5EF4-FFF2-40B4-BE49-F238E27FC236}">
                <a16:creationId xmlns:a16="http://schemas.microsoft.com/office/drawing/2014/main" id="{18416527-037B-6EE2-66D8-3CC64DBAE34B}"/>
              </a:ext>
            </a:extLst>
          </p:cNvPr>
          <p:cNvSpPr txBox="1"/>
          <p:nvPr/>
        </p:nvSpPr>
        <p:spPr>
          <a:xfrm>
            <a:off x="636815" y="1634131"/>
            <a:ext cx="10918370" cy="113249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a:latin typeface="Microsoft JhengHei" panose="020B0604030504040204" pitchFamily="34" charset="-120"/>
                <a:ea typeface="Microsoft JhengHei" panose="020B0604030504040204" pitchFamily="34" charset="-120"/>
              </a:rPr>
              <a:t>Adam: adaptive moment estimation</a:t>
            </a:r>
          </a:p>
          <a:p>
            <a:pPr marL="342900" indent="-342900">
              <a:lnSpc>
                <a:spcPct val="150000"/>
              </a:lnSpc>
              <a:buFont typeface="Arial" panose="020B0604020202020204" pitchFamily="34" charset="0"/>
              <a:buChar char="•"/>
            </a:pPr>
            <a:r>
              <a:rPr kumimoji="1" lang="zh-TW" altLang="en-US" sz="2400" dirty="0">
                <a:latin typeface="Microsoft JhengHei" panose="020B0604030504040204" pitchFamily="34" charset="-120"/>
                <a:ea typeface="Microsoft JhengHei" panose="020B0604030504040204" pitchFamily="34" charset="-120"/>
              </a:rPr>
              <a:t>結合了 </a:t>
            </a:r>
            <a:r>
              <a:rPr kumimoji="1" lang="en-US" altLang="zh-TW" sz="2400" dirty="0">
                <a:latin typeface="Microsoft JhengHei" panose="020B0604030504040204" pitchFamily="34" charset="-120"/>
                <a:ea typeface="Microsoft JhengHei" panose="020B0604030504040204" pitchFamily="34" charset="-120"/>
              </a:rPr>
              <a:t>Momentum</a:t>
            </a:r>
            <a:r>
              <a:rPr kumimoji="1" lang="zh-TW" altLang="en-US" sz="2400" dirty="0">
                <a:latin typeface="Microsoft JhengHei" panose="020B0604030504040204" pitchFamily="34" charset="-120"/>
                <a:ea typeface="Microsoft JhengHei" panose="020B0604030504040204" pitchFamily="34" charset="-120"/>
              </a:rPr>
              <a:t>、</a:t>
            </a:r>
            <a:r>
              <a:rPr kumimoji="1" lang="en-US" altLang="zh-TW" sz="2400" dirty="0" err="1">
                <a:latin typeface="Microsoft JhengHei" panose="020B0604030504040204" pitchFamily="34" charset="-120"/>
                <a:ea typeface="Microsoft JhengHei" panose="020B0604030504040204" pitchFamily="34" charset="-120"/>
              </a:rPr>
              <a:t>Adagrad</a:t>
            </a:r>
            <a:r>
              <a:rPr kumimoji="1" lang="en-US" altLang="zh-TW" sz="2400" dirty="0">
                <a:latin typeface="Microsoft JhengHei" panose="020B0604030504040204" pitchFamily="34" charset="-120"/>
                <a:ea typeface="Microsoft JhengHei" panose="020B0604030504040204" pitchFamily="34" charset="-120"/>
              </a:rPr>
              <a:t> </a:t>
            </a:r>
            <a:r>
              <a:rPr kumimoji="1" lang="zh-TW" altLang="en-US" sz="2400" dirty="0">
                <a:latin typeface="Microsoft JhengHei" panose="020B0604030504040204" pitchFamily="34" charset="-120"/>
                <a:ea typeface="Microsoft JhengHei" panose="020B0604030504040204" pitchFamily="34" charset="-120"/>
              </a:rPr>
              <a:t>和 </a:t>
            </a:r>
            <a:r>
              <a:rPr kumimoji="1" lang="en-US" altLang="zh-TW" sz="2400" dirty="0" err="1">
                <a:latin typeface="Microsoft JhengHei" panose="020B0604030504040204" pitchFamily="34" charset="-120"/>
                <a:ea typeface="Microsoft JhengHei" panose="020B0604030504040204" pitchFamily="34" charset="-120"/>
              </a:rPr>
              <a:t>RMSProp</a:t>
            </a:r>
            <a:r>
              <a:rPr kumimoji="1" lang="zh-TW" altLang="en-US" sz="2400" dirty="0">
                <a:latin typeface="Microsoft JhengHei" panose="020B0604030504040204" pitchFamily="34" charset="-120"/>
                <a:ea typeface="Microsoft JhengHei" panose="020B0604030504040204" pitchFamily="34" charset="-120"/>
              </a:rPr>
              <a:t> 的概念</a:t>
            </a:r>
            <a:endParaRPr kumimoji="1" lang="en-US" altLang="zh-TW" sz="2400" dirty="0">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DA1E40E4-52D9-EC9D-8E28-4F97B88F70BA}"/>
              </a:ext>
            </a:extLst>
          </p:cNvPr>
          <p:cNvSpPr txBox="1"/>
          <p:nvPr/>
        </p:nvSpPr>
        <p:spPr>
          <a:xfrm>
            <a:off x="2879749" y="6123172"/>
            <a:ext cx="6432502" cy="584775"/>
          </a:xfrm>
          <a:prstGeom prst="rect">
            <a:avLst/>
          </a:prstGeom>
          <a:noFill/>
        </p:spPr>
        <p:txBody>
          <a:bodyPr wrap="square">
            <a:spAutoFit/>
          </a:bodyPr>
          <a:lstStyle/>
          <a:p>
            <a:r>
              <a:rPr lang="en" altLang="zh-TW" sz="1600" dirty="0" err="1"/>
              <a:t>Kingma</a:t>
            </a:r>
            <a:r>
              <a:rPr lang="en" altLang="zh-TW" sz="1600" dirty="0"/>
              <a:t>, </a:t>
            </a:r>
            <a:r>
              <a:rPr lang="en" altLang="zh-TW" sz="1600" dirty="0" err="1"/>
              <a:t>Diederik</a:t>
            </a:r>
            <a:r>
              <a:rPr lang="en" altLang="zh-TW" sz="1600" dirty="0"/>
              <a:t> P., and Jimmy Ba. "Adam: A method for stochastic optimization." ICLR</a:t>
            </a:r>
            <a:r>
              <a:rPr lang="en" altLang="zh-TW" sz="1600" i="1" dirty="0"/>
              <a:t> </a:t>
            </a:r>
            <a:r>
              <a:rPr lang="en" altLang="zh-TW" sz="1600" dirty="0"/>
              <a:t>2015. </a:t>
            </a:r>
            <a:r>
              <a:rPr kumimoji="1" lang="en" altLang="zh-TW" sz="1600" dirty="0"/>
              <a:t>https://</a:t>
            </a:r>
            <a:r>
              <a:rPr kumimoji="1" lang="en" altLang="zh-TW" sz="1600" dirty="0" err="1"/>
              <a:t>arxiv.org</a:t>
            </a:r>
            <a:r>
              <a:rPr kumimoji="1" lang="en" altLang="zh-TW" sz="1600" dirty="0"/>
              <a:t>/abs/1412.6980</a:t>
            </a:r>
            <a:endParaRPr kumimoji="1" lang="zh-TW" altLang="en-US" sz="1600" dirty="0"/>
          </a:p>
        </p:txBody>
      </p:sp>
    </p:spTree>
    <p:extLst>
      <p:ext uri="{BB962C8B-B14F-4D97-AF65-F5344CB8AC3E}">
        <p14:creationId xmlns:p14="http://schemas.microsoft.com/office/powerpoint/2010/main" val="265590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C35DCA-AD23-0483-23A6-76AA1B5E6C33}"/>
              </a:ext>
            </a:extLst>
          </p:cNvPr>
          <p:cNvSpPr>
            <a:spLocks noGrp="1"/>
          </p:cNvSpPr>
          <p:nvPr>
            <p:ph type="title"/>
          </p:nvPr>
        </p:nvSpPr>
        <p:spPr/>
        <p:txBody>
          <a:bodyPr/>
          <a:lstStyle/>
          <a:p>
            <a:r>
              <a:rPr kumimoji="1" lang="en-US" altLang="zh-TW" dirty="0">
                <a:ea typeface="Microsoft JhengHei" panose="020B0604030504040204" pitchFamily="34" charset="-120"/>
              </a:rPr>
              <a:t>[Recap] </a:t>
            </a:r>
            <a:r>
              <a:rPr kumimoji="1" lang="zh-TW" altLang="en-US" dirty="0">
                <a:ea typeface="Microsoft JhengHei" panose="020B0604030504040204" pitchFamily="34" charset="-120"/>
              </a:rPr>
              <a:t>如何有效訓練深度學習模型？</a:t>
            </a:r>
          </a:p>
        </p:txBody>
      </p:sp>
      <p:sp>
        <p:nvSpPr>
          <p:cNvPr id="4" name="投影片編號版面配置區 3">
            <a:extLst>
              <a:ext uri="{FF2B5EF4-FFF2-40B4-BE49-F238E27FC236}">
                <a16:creationId xmlns:a16="http://schemas.microsoft.com/office/drawing/2014/main" id="{B86C4522-D889-E6D5-61A5-99D5D8C75EE7}"/>
              </a:ext>
            </a:extLst>
          </p:cNvPr>
          <p:cNvSpPr>
            <a:spLocks noGrp="1"/>
          </p:cNvSpPr>
          <p:nvPr>
            <p:ph type="sldNum" sz="quarter" idx="12"/>
          </p:nvPr>
        </p:nvSpPr>
        <p:spPr/>
        <p:txBody>
          <a:bodyPr/>
          <a:lstStyle/>
          <a:p>
            <a:fld id="{6113E31D-E2AB-40D1-8B51-AFA5AFEF393A}" type="slidenum">
              <a:rPr lang="en-US" smtClean="0"/>
              <a:pPr/>
              <a:t>18</a:t>
            </a:fld>
            <a:endParaRPr lang="en-US" dirty="0"/>
          </a:p>
        </p:txBody>
      </p:sp>
      <p:sp>
        <p:nvSpPr>
          <p:cNvPr id="5" name="文字方塊 4">
            <a:extLst>
              <a:ext uri="{FF2B5EF4-FFF2-40B4-BE49-F238E27FC236}">
                <a16:creationId xmlns:a16="http://schemas.microsoft.com/office/drawing/2014/main" id="{59FC8C5A-0B29-3309-726A-17AB931575B6}"/>
              </a:ext>
            </a:extLst>
          </p:cNvPr>
          <p:cNvSpPr txBox="1"/>
          <p:nvPr/>
        </p:nvSpPr>
        <p:spPr>
          <a:xfrm>
            <a:off x="653143" y="1715588"/>
            <a:ext cx="1776548" cy="461665"/>
          </a:xfrm>
          <a:prstGeom prst="rect">
            <a:avLst/>
          </a:prstGeom>
          <a:noFill/>
        </p:spPr>
        <p:txBody>
          <a:bodyPr wrap="square" rtlCol="0">
            <a:spAutoFit/>
          </a:bodyPr>
          <a:lstStyle/>
          <a:p>
            <a:r>
              <a:rPr kumimoji="1" lang="en-US" altLang="zh-TW" sz="2400" b="1" dirty="0"/>
              <a:t>Optimizer:</a:t>
            </a:r>
            <a:endParaRPr kumimoji="1" lang="zh-TW" altLang="en-US" sz="2400" b="1" dirty="0"/>
          </a:p>
        </p:txBody>
      </p:sp>
      <p:sp>
        <p:nvSpPr>
          <p:cNvPr id="6" name="文字方塊 5">
            <a:extLst>
              <a:ext uri="{FF2B5EF4-FFF2-40B4-BE49-F238E27FC236}">
                <a16:creationId xmlns:a16="http://schemas.microsoft.com/office/drawing/2014/main" id="{7FA12DC8-C115-9691-A037-B1A755AB049B}"/>
              </a:ext>
            </a:extLst>
          </p:cNvPr>
          <p:cNvSpPr txBox="1"/>
          <p:nvPr/>
        </p:nvSpPr>
        <p:spPr>
          <a:xfrm>
            <a:off x="1006610" y="2177253"/>
            <a:ext cx="10918370" cy="33484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400" dirty="0">
                <a:solidFill>
                  <a:schemeClr val="accent1"/>
                </a:solidFill>
                <a:latin typeface="Microsoft JhengHei" panose="020B0604030504040204" pitchFamily="34" charset="-120"/>
                <a:ea typeface="Microsoft JhengHei" panose="020B0604030504040204" pitchFamily="34" charset="-120"/>
              </a:rPr>
              <a:t>對梯度動手腳</a:t>
            </a:r>
            <a:endParaRPr kumimoji="1" lang="en-US" altLang="zh-TW" sz="2400" dirty="0">
              <a:solidFill>
                <a:schemeClr val="accent1"/>
              </a:solidFill>
              <a:latin typeface="Microsoft JhengHei" panose="020B0604030504040204" pitchFamily="34" charset="-12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en-US" altLang="zh-TW" sz="2400" dirty="0">
                <a:latin typeface="Microsoft JhengHei" panose="020B0604030504040204" pitchFamily="34" charset="-120"/>
                <a:ea typeface="Microsoft JhengHei" panose="020B0604030504040204" pitchFamily="34" charset="-120"/>
              </a:rPr>
              <a:t>Momentum</a:t>
            </a:r>
          </a:p>
          <a:p>
            <a:pPr marL="342900" indent="-342900">
              <a:lnSpc>
                <a:spcPct val="150000"/>
              </a:lnSpc>
              <a:buFont typeface="Arial" panose="020B0604020202020204" pitchFamily="34" charset="0"/>
              <a:buChar char="•"/>
            </a:pPr>
            <a:r>
              <a:rPr kumimoji="1" lang="zh-TW" altLang="en-US" sz="2400" dirty="0">
                <a:solidFill>
                  <a:schemeClr val="accent1"/>
                </a:solidFill>
                <a:latin typeface="Microsoft JhengHei" panose="020B0604030504040204" pitchFamily="34" charset="-120"/>
                <a:ea typeface="Microsoft JhengHei" panose="020B0604030504040204" pitchFamily="34" charset="-120"/>
              </a:rPr>
              <a:t>自動調整學習率</a:t>
            </a:r>
            <a:endParaRPr kumimoji="1" lang="en-US" altLang="zh-TW" sz="2400" dirty="0">
              <a:solidFill>
                <a:schemeClr val="accent1"/>
              </a:solidFill>
              <a:latin typeface="Microsoft JhengHei" panose="020B0604030504040204" pitchFamily="34" charset="-12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en-US" altLang="zh-TW" sz="2400" dirty="0" err="1">
                <a:latin typeface="Microsoft JhengHei" panose="020B0604030504040204" pitchFamily="34" charset="-120"/>
                <a:ea typeface="Microsoft JhengHei" panose="020B0604030504040204" pitchFamily="34" charset="-120"/>
              </a:rPr>
              <a:t>Adagrad</a:t>
            </a:r>
            <a:endParaRPr kumimoji="1" lang="en-US" altLang="zh-TW" sz="2400" dirty="0">
              <a:latin typeface="Microsoft JhengHei" panose="020B0604030504040204" pitchFamily="34" charset="-12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en-US" altLang="zh-TW" sz="2400" dirty="0">
                <a:latin typeface="Microsoft JhengHei" panose="020B0604030504040204" pitchFamily="34" charset="-120"/>
                <a:ea typeface="Microsoft JhengHei" panose="020B0604030504040204" pitchFamily="34" charset="-120"/>
              </a:rPr>
              <a:t>RMSprop</a:t>
            </a:r>
          </a:p>
          <a:p>
            <a:pPr marL="800100" lvl="1" indent="-342900">
              <a:lnSpc>
                <a:spcPct val="150000"/>
              </a:lnSpc>
              <a:buFont typeface="Arial" panose="020B0604020202020204" pitchFamily="34" charset="0"/>
              <a:buChar char="•"/>
            </a:pPr>
            <a:r>
              <a:rPr kumimoji="1" lang="en-US" altLang="zh-TW" sz="2400" dirty="0">
                <a:latin typeface="Microsoft JhengHei" panose="020B0604030504040204" pitchFamily="34" charset="-120"/>
                <a:ea typeface="Microsoft JhengHei" panose="020B0604030504040204" pitchFamily="34" charset="-120"/>
              </a:rPr>
              <a:t>Adam</a:t>
            </a:r>
          </a:p>
        </p:txBody>
      </p:sp>
    </p:spTree>
    <p:extLst>
      <p:ext uri="{BB962C8B-B14F-4D97-AF65-F5344CB8AC3E}">
        <p14:creationId xmlns:p14="http://schemas.microsoft.com/office/powerpoint/2010/main" val="193277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0276F-E6FE-6F28-70F3-A3BC79B1B5D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26C20D8-03EC-54D4-1B33-BB4ABBA0041B}"/>
              </a:ext>
            </a:extLst>
          </p:cNvPr>
          <p:cNvSpPr>
            <a:spLocks noGrp="1"/>
          </p:cNvSpPr>
          <p:nvPr>
            <p:ph type="title"/>
          </p:nvPr>
        </p:nvSpPr>
        <p:spPr/>
        <p:txBody>
          <a:bodyPr/>
          <a:lstStyle/>
          <a:p>
            <a:r>
              <a:rPr kumimoji="1" lang="en-US" altLang="zh-TW" dirty="0"/>
              <a:t>[Recap] Adam</a:t>
            </a:r>
            <a:r>
              <a:rPr kumimoji="1" lang="zh-TW" altLang="en-US" dirty="0"/>
              <a:t> 流程</a:t>
            </a:r>
          </a:p>
        </p:txBody>
      </p:sp>
      <p:sp>
        <p:nvSpPr>
          <p:cNvPr id="4" name="投影片編號版面配置區 3">
            <a:extLst>
              <a:ext uri="{FF2B5EF4-FFF2-40B4-BE49-F238E27FC236}">
                <a16:creationId xmlns:a16="http://schemas.microsoft.com/office/drawing/2014/main" id="{2C463B63-F59E-9B86-69D3-6EDBC990D464}"/>
              </a:ext>
            </a:extLst>
          </p:cNvPr>
          <p:cNvSpPr>
            <a:spLocks noGrp="1"/>
          </p:cNvSpPr>
          <p:nvPr>
            <p:ph type="sldNum" sz="quarter" idx="12"/>
          </p:nvPr>
        </p:nvSpPr>
        <p:spPr/>
        <p:txBody>
          <a:bodyPr/>
          <a:lstStyle/>
          <a:p>
            <a:fld id="{6113E31D-E2AB-40D1-8B51-AFA5AFEF393A}" type="slidenum">
              <a:rPr lang="en-US" smtClean="0"/>
              <a:pPr/>
              <a:t>19</a:t>
            </a:fld>
            <a:endParaRPr lang="en-US" dirty="0"/>
          </a:p>
        </p:txBody>
      </p:sp>
      <p:sp>
        <p:nvSpPr>
          <p:cNvPr id="6" name="文字方塊 5">
            <a:extLst>
              <a:ext uri="{FF2B5EF4-FFF2-40B4-BE49-F238E27FC236}">
                <a16:creationId xmlns:a16="http://schemas.microsoft.com/office/drawing/2014/main" id="{948E84EE-6624-7AD3-705D-D257416D9120}"/>
              </a:ext>
            </a:extLst>
          </p:cNvPr>
          <p:cNvSpPr txBox="1"/>
          <p:nvPr/>
        </p:nvSpPr>
        <p:spPr>
          <a:xfrm>
            <a:off x="636815" y="1634131"/>
            <a:ext cx="10918370" cy="5784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a:latin typeface="Microsoft JhengHei" panose="020B0604030504040204" pitchFamily="34" charset="-120"/>
                <a:ea typeface="Microsoft JhengHei" panose="020B0604030504040204" pitchFamily="34" charset="-120"/>
              </a:rPr>
              <a:t>Adam: Momentum</a:t>
            </a:r>
            <a:r>
              <a:rPr kumimoji="1" lang="zh-TW" altLang="en-US" sz="2400" dirty="0">
                <a:latin typeface="Microsoft JhengHei" panose="020B0604030504040204" pitchFamily="34" charset="-120"/>
                <a:ea typeface="Microsoft JhengHei" panose="020B0604030504040204" pitchFamily="34" charset="-120"/>
              </a:rPr>
              <a:t>、</a:t>
            </a:r>
            <a:r>
              <a:rPr kumimoji="1" lang="en-US" altLang="zh-TW" sz="2400" dirty="0" err="1">
                <a:latin typeface="Microsoft JhengHei" panose="020B0604030504040204" pitchFamily="34" charset="-120"/>
                <a:ea typeface="Microsoft JhengHei" panose="020B0604030504040204" pitchFamily="34" charset="-120"/>
              </a:rPr>
              <a:t>Adagrad</a:t>
            </a:r>
            <a:r>
              <a:rPr kumimoji="1" lang="en-US" altLang="zh-TW" sz="2400" dirty="0">
                <a:latin typeface="Microsoft JhengHei" panose="020B0604030504040204" pitchFamily="34" charset="-120"/>
                <a:ea typeface="Microsoft JhengHei" panose="020B0604030504040204" pitchFamily="34" charset="-120"/>
              </a:rPr>
              <a:t> </a:t>
            </a:r>
            <a:r>
              <a:rPr kumimoji="1" lang="zh-TW" altLang="en-US" sz="2400" dirty="0">
                <a:latin typeface="Microsoft JhengHei" panose="020B0604030504040204" pitchFamily="34" charset="-120"/>
                <a:ea typeface="Microsoft JhengHei" panose="020B0604030504040204" pitchFamily="34" charset="-120"/>
              </a:rPr>
              <a:t>和 </a:t>
            </a:r>
            <a:r>
              <a:rPr kumimoji="1" lang="en-US" altLang="zh-TW" sz="2400" dirty="0" err="1">
                <a:latin typeface="Microsoft JhengHei" panose="020B0604030504040204" pitchFamily="34" charset="-120"/>
                <a:ea typeface="Microsoft JhengHei" panose="020B0604030504040204" pitchFamily="34" charset="-120"/>
              </a:rPr>
              <a:t>RMSProp</a:t>
            </a:r>
            <a:r>
              <a:rPr kumimoji="1" lang="zh-TW" altLang="en-US" sz="2400" dirty="0">
                <a:latin typeface="Microsoft JhengHei" panose="020B0604030504040204" pitchFamily="34" charset="-120"/>
                <a:ea typeface="Microsoft JhengHei" panose="020B0604030504040204" pitchFamily="34" charset="-120"/>
              </a:rPr>
              <a:t> 的概念</a:t>
            </a:r>
            <a:endParaRPr kumimoji="1" lang="en-US" altLang="zh-TW" sz="2400" dirty="0">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90724B70-7019-81B7-4E8A-05F2AD5380EA}"/>
              </a:ext>
            </a:extLst>
          </p:cNvPr>
          <p:cNvSpPr txBox="1"/>
          <p:nvPr/>
        </p:nvSpPr>
        <p:spPr>
          <a:xfrm>
            <a:off x="2879749" y="6123172"/>
            <a:ext cx="6432502" cy="584775"/>
          </a:xfrm>
          <a:prstGeom prst="rect">
            <a:avLst/>
          </a:prstGeom>
          <a:noFill/>
        </p:spPr>
        <p:txBody>
          <a:bodyPr wrap="square">
            <a:spAutoFit/>
          </a:bodyPr>
          <a:lstStyle/>
          <a:p>
            <a:r>
              <a:rPr lang="en" altLang="zh-TW" sz="1600" dirty="0" err="1"/>
              <a:t>Kingma</a:t>
            </a:r>
            <a:r>
              <a:rPr lang="en" altLang="zh-TW" sz="1600" dirty="0"/>
              <a:t>, </a:t>
            </a:r>
            <a:r>
              <a:rPr lang="en" altLang="zh-TW" sz="1600" dirty="0" err="1"/>
              <a:t>Diederik</a:t>
            </a:r>
            <a:r>
              <a:rPr lang="en" altLang="zh-TW" sz="1600" dirty="0"/>
              <a:t> P., and Jimmy Ba. "Adam: A method for stochastic optimization." ICLR</a:t>
            </a:r>
            <a:r>
              <a:rPr lang="en" altLang="zh-TW" sz="1600" i="1" dirty="0"/>
              <a:t> </a:t>
            </a:r>
            <a:r>
              <a:rPr lang="en" altLang="zh-TW" sz="1600" dirty="0"/>
              <a:t>2015. </a:t>
            </a:r>
            <a:r>
              <a:rPr kumimoji="1" lang="en" altLang="zh-TW" sz="1600" dirty="0"/>
              <a:t>https://</a:t>
            </a:r>
            <a:r>
              <a:rPr kumimoji="1" lang="en" altLang="zh-TW" sz="1600" dirty="0" err="1"/>
              <a:t>arxiv.org</a:t>
            </a:r>
            <a:r>
              <a:rPr kumimoji="1" lang="en" altLang="zh-TW" sz="1600" dirty="0"/>
              <a:t>/abs/1412.6980</a:t>
            </a:r>
            <a:endParaRPr kumimoji="1" lang="zh-TW" altLang="en-US" sz="1600"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662C5CA2-BB84-0622-4FFD-E7246B8F538D}"/>
                  </a:ext>
                </a:extLst>
              </p:cNvPr>
              <p:cNvSpPr txBox="1"/>
              <p:nvPr/>
            </p:nvSpPr>
            <p:spPr>
              <a:xfrm>
                <a:off x="977153" y="2744076"/>
                <a:ext cx="6096000" cy="461665"/>
              </a:xfrm>
              <a:prstGeom prst="rect">
                <a:avLst/>
              </a:prstGeom>
              <a:noFill/>
            </p:spPr>
            <p:txBody>
              <a:bodyPr wrap="square">
                <a:spAutoFit/>
              </a:bodyPr>
              <a:lstStyle/>
              <a:p>
                <a:r>
                  <a:rPr lang="en-US" altLang="zh-TW" sz="2400" dirty="0"/>
                  <a:t>1️⃣ </a:t>
                </a:r>
                <a:r>
                  <a:rPr lang="zh-TW" altLang="en-US" sz="2400" dirty="0"/>
                  <a:t>計算梯度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m:t>
                        </m:r>
                      </m:e>
                      <m:sub>
                        <m:r>
                          <m:rPr>
                            <m:sty m:val="p"/>
                          </m:rPr>
                          <a:rPr lang="zh-TW" altLang="en-US" sz="2400" i="0">
                            <a:solidFill>
                              <a:schemeClr val="tx1"/>
                            </a:solidFill>
                            <a:latin typeface="Cambria Math" panose="02040503050406030204" pitchFamily="18" charset="0"/>
                          </a:rPr>
                          <m:t>w</m:t>
                        </m:r>
                      </m:sub>
                    </m:sSub>
                    <m:r>
                      <a:rPr lang="zh-TW" altLang="en-US" sz="2400" i="1">
                        <a:solidFill>
                          <a:schemeClr val="tx1"/>
                        </a:solidFill>
                        <a:latin typeface="Cambria Math" panose="02040503050406030204" pitchFamily="18" charset="0"/>
                      </a:rPr>
                      <m:t>𝑓</m:t>
                    </m:r>
                    <m:d>
                      <m:dPr>
                        <m:ctrlPr>
                          <a:rPr lang="zh-TW" altLang="en-US" sz="2400" i="1">
                            <a:solidFill>
                              <a:schemeClr val="tx1"/>
                            </a:solidFill>
                            <a:latin typeface="Cambria Math" panose="02040503050406030204" pitchFamily="18" charset="0"/>
                          </a:rPr>
                        </m:ctrlPr>
                      </m:dPr>
                      <m:e>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e>
                    </m:d>
                  </m:oMath>
                </a14:m>
                <a:endParaRPr lang="zh-TW" altLang="en-US" sz="2400" dirty="0">
                  <a:solidFill>
                    <a:schemeClr val="tx1"/>
                  </a:solidFill>
                </a:endParaRPr>
              </a:p>
            </p:txBody>
          </p:sp>
        </mc:Choice>
        <mc:Fallback xmlns="">
          <p:sp>
            <p:nvSpPr>
              <p:cNvPr id="7" name="文字方塊 6">
                <a:extLst>
                  <a:ext uri="{FF2B5EF4-FFF2-40B4-BE49-F238E27FC236}">
                    <a16:creationId xmlns:a16="http://schemas.microsoft.com/office/drawing/2014/main" id="{662C5CA2-BB84-0622-4FFD-E7246B8F538D}"/>
                  </a:ext>
                </a:extLst>
              </p:cNvPr>
              <p:cNvSpPr txBox="1">
                <a:spLocks noRot="1" noChangeAspect="1" noMove="1" noResize="1" noEditPoints="1" noAdjustHandles="1" noChangeArrowheads="1" noChangeShapeType="1" noTextEdit="1"/>
              </p:cNvSpPr>
              <p:nvPr/>
            </p:nvSpPr>
            <p:spPr>
              <a:xfrm>
                <a:off x="977153" y="2744076"/>
                <a:ext cx="6096000" cy="461665"/>
              </a:xfrm>
              <a:prstGeom prst="rect">
                <a:avLst/>
              </a:prstGeom>
              <a:blipFill>
                <a:blip r:embed="rId3"/>
                <a:stretch>
                  <a:fillRect l="-1455"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F1FAB2E5-5903-59C1-5F18-AD3687DC5C46}"/>
                  </a:ext>
                </a:extLst>
              </p:cNvPr>
              <p:cNvSpPr txBox="1"/>
              <p:nvPr/>
            </p:nvSpPr>
            <p:spPr>
              <a:xfrm>
                <a:off x="977152" y="3372284"/>
                <a:ext cx="10363201" cy="461665"/>
              </a:xfrm>
              <a:prstGeom prst="rect">
                <a:avLst/>
              </a:prstGeom>
              <a:noFill/>
            </p:spPr>
            <p:txBody>
              <a:bodyPr wrap="square">
                <a:spAutoFit/>
              </a:bodyPr>
              <a:lstStyle/>
              <a:p>
                <a:r>
                  <a:rPr lang="en-US" altLang="zh-TW" sz="2400" dirty="0">
                    <a:solidFill>
                      <a:schemeClr val="tx1"/>
                    </a:solidFill>
                  </a:rPr>
                  <a:t>2️⃣ </a:t>
                </a:r>
                <a:r>
                  <a:rPr lang="zh-TW" altLang="en-US" sz="2400" dirty="0">
                    <a:solidFill>
                      <a:schemeClr val="tx1"/>
                    </a:solidFill>
                  </a:rPr>
                  <a:t>以移動平均</a:t>
                </a:r>
                <a:r>
                  <a:rPr lang="zh-TW" altLang="en-US" sz="2400" dirty="0"/>
                  <a:t>紀錄梯度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oMath>
                </a14:m>
                <a:r>
                  <a:rPr lang="en-US" altLang="zh-TW" sz="2400" dirty="0">
                    <a:solidFill>
                      <a:schemeClr val="tx1"/>
                    </a:solidFill>
                  </a:rPr>
                  <a:t> (</a:t>
                </a:r>
                <a:r>
                  <a:rPr lang="zh-TW" altLang="en-US" sz="2400" dirty="0">
                    <a:solidFill>
                      <a:schemeClr val="tx1"/>
                    </a:solidFill>
                  </a:rPr>
                  <a:t>為了對梯度動手腳 </a:t>
                </a:r>
                <a:r>
                  <a:rPr lang="en-US" altLang="zh-TW" sz="2400" dirty="0">
                    <a:solidFill>
                      <a:schemeClr val="tx1"/>
                    </a:solidFill>
                  </a:rPr>
                  <a:t>-- Momentum)</a:t>
                </a:r>
                <a:endParaRPr lang="zh-TW" altLang="en-US" sz="2400" dirty="0">
                  <a:solidFill>
                    <a:schemeClr val="tx1"/>
                  </a:solidFill>
                </a:endParaRPr>
              </a:p>
            </p:txBody>
          </p:sp>
        </mc:Choice>
        <mc:Fallback xmlns="">
          <p:sp>
            <p:nvSpPr>
              <p:cNvPr id="8" name="文字方塊 7">
                <a:extLst>
                  <a:ext uri="{FF2B5EF4-FFF2-40B4-BE49-F238E27FC236}">
                    <a16:creationId xmlns:a16="http://schemas.microsoft.com/office/drawing/2014/main" id="{F1FAB2E5-5903-59C1-5F18-AD3687DC5C46}"/>
                  </a:ext>
                </a:extLst>
              </p:cNvPr>
              <p:cNvSpPr txBox="1">
                <a:spLocks noRot="1" noChangeAspect="1" noMove="1" noResize="1" noEditPoints="1" noAdjustHandles="1" noChangeArrowheads="1" noChangeShapeType="1" noTextEdit="1"/>
              </p:cNvSpPr>
              <p:nvPr/>
            </p:nvSpPr>
            <p:spPr>
              <a:xfrm>
                <a:off x="977152" y="3372284"/>
                <a:ext cx="10363201" cy="461665"/>
              </a:xfrm>
              <a:prstGeom prst="rect">
                <a:avLst/>
              </a:prstGeom>
              <a:blipFill>
                <a:blip r:embed="rId4"/>
                <a:stretch>
                  <a:fillRect l="-857"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0ABE6290-142D-1DEA-A241-543D1EB0337B}"/>
                  </a:ext>
                </a:extLst>
              </p:cNvPr>
              <p:cNvSpPr txBox="1"/>
              <p:nvPr/>
            </p:nvSpPr>
            <p:spPr>
              <a:xfrm>
                <a:off x="977153" y="4000492"/>
                <a:ext cx="9502588" cy="472245"/>
              </a:xfrm>
              <a:prstGeom prst="rect">
                <a:avLst/>
              </a:prstGeom>
              <a:noFill/>
            </p:spPr>
            <p:txBody>
              <a:bodyPr wrap="square">
                <a:spAutoFit/>
              </a:bodyPr>
              <a:lstStyle/>
              <a:p>
                <a:r>
                  <a:rPr lang="en-US" altLang="zh-TW" sz="2400" dirty="0">
                    <a:solidFill>
                      <a:schemeClr val="tx1"/>
                    </a:solidFill>
                  </a:rPr>
                  <a:t>3️⃣ </a:t>
                </a:r>
                <a:r>
                  <a:rPr lang="zh-TW" altLang="en-US" sz="2400" dirty="0">
                    <a:solidFill>
                      <a:schemeClr val="tx1"/>
                    </a:solidFill>
                  </a:rPr>
                  <a:t>以移動平均</a:t>
                </a:r>
                <a:r>
                  <a:rPr lang="zh-TW" altLang="en-US" sz="2400" dirty="0"/>
                  <a:t>紀錄梯度平方</a:t>
                </a:r>
                <a:r>
                  <a:rPr lang="en-US" altLang="zh-TW" sz="2400" dirty="0"/>
                  <a:t> </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𝑔</m:t>
                        </m:r>
                      </m:e>
                      <m:sub>
                        <m:r>
                          <a:rPr lang="en-US" altLang="zh-TW" sz="2400" i="1">
                            <a:latin typeface="Cambria Math" panose="02040503050406030204" pitchFamily="18" charset="0"/>
                          </a:rPr>
                          <m:t>𝑡</m:t>
                        </m:r>
                      </m:sub>
                      <m:sup>
                        <m:r>
                          <a:rPr lang="en-US" altLang="zh-TW" sz="2400" i="1">
                            <a:latin typeface="Cambria Math" panose="02040503050406030204" pitchFamily="18" charset="0"/>
                          </a:rPr>
                          <m:t>2</m:t>
                        </m:r>
                      </m:sup>
                    </m:sSubSup>
                  </m:oMath>
                </a14:m>
                <a:r>
                  <a:rPr lang="zh-TW" altLang="en-US" sz="2400" dirty="0"/>
                  <a:t> </a:t>
                </a:r>
                <a:r>
                  <a:rPr lang="en-US" altLang="zh-TW" sz="2400" dirty="0"/>
                  <a:t>(</a:t>
                </a:r>
                <a:r>
                  <a:rPr lang="zh-TW" altLang="en-US" sz="2400" dirty="0"/>
                  <a:t>為了調整學習率</a:t>
                </a:r>
                <a:r>
                  <a:rPr lang="en-US" altLang="zh-TW" sz="2400" dirty="0"/>
                  <a:t> -- Adagrad)</a:t>
                </a:r>
                <a:endParaRPr lang="zh-TW" altLang="zh-TW" sz="2400" dirty="0"/>
              </a:p>
            </p:txBody>
          </p:sp>
        </mc:Choice>
        <mc:Fallback xmlns="">
          <p:sp>
            <p:nvSpPr>
              <p:cNvPr id="9" name="文字方塊 8">
                <a:extLst>
                  <a:ext uri="{FF2B5EF4-FFF2-40B4-BE49-F238E27FC236}">
                    <a16:creationId xmlns:a16="http://schemas.microsoft.com/office/drawing/2014/main" id="{0ABE6290-142D-1DEA-A241-543D1EB0337B}"/>
                  </a:ext>
                </a:extLst>
              </p:cNvPr>
              <p:cNvSpPr txBox="1">
                <a:spLocks noRot="1" noChangeAspect="1" noMove="1" noResize="1" noEditPoints="1" noAdjustHandles="1" noChangeArrowheads="1" noChangeShapeType="1" noTextEdit="1"/>
              </p:cNvSpPr>
              <p:nvPr/>
            </p:nvSpPr>
            <p:spPr>
              <a:xfrm>
                <a:off x="977153" y="4000492"/>
                <a:ext cx="9502588" cy="472245"/>
              </a:xfrm>
              <a:prstGeom prst="rect">
                <a:avLst/>
              </a:prstGeom>
              <a:blipFill>
                <a:blip r:embed="rId5"/>
                <a:stretch>
                  <a:fillRect l="-933" t="-10256" b="-256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60D385DD-6313-5F48-DB90-C7C916666291}"/>
                  </a:ext>
                </a:extLst>
              </p:cNvPr>
              <p:cNvSpPr txBox="1"/>
              <p:nvPr/>
            </p:nvSpPr>
            <p:spPr>
              <a:xfrm>
                <a:off x="977153" y="4639280"/>
                <a:ext cx="9502588" cy="694742"/>
              </a:xfrm>
              <a:prstGeom prst="rect">
                <a:avLst/>
              </a:prstGeom>
              <a:noFill/>
            </p:spPr>
            <p:txBody>
              <a:bodyPr wrap="square">
                <a:spAutoFit/>
              </a:bodyPr>
              <a:lstStyle/>
              <a:p>
                <a:r>
                  <a:rPr lang="en-US" altLang="zh-TW" sz="2400" dirty="0">
                    <a:solidFill>
                      <a:schemeClr val="tx1"/>
                    </a:solidFill>
                  </a:rPr>
                  <a:t>4️⃣ </a:t>
                </a:r>
                <a:r>
                  <a:rPr lang="zh-TW" altLang="en-US" sz="2400" dirty="0">
                    <a:solidFill>
                      <a:schemeClr val="tx1"/>
                    </a:solidFill>
                  </a:rPr>
                  <a:t>更新參數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smtClean="0">
                        <a:solidFill>
                          <a:schemeClr val="tx1"/>
                        </a:solidFill>
                        <a:latin typeface="Cambria Math" panose="02040503050406030204" pitchFamily="18" charset="0"/>
                      </a:rPr>
                      <m:t>𝜂</m:t>
                    </m:r>
                    <m:sSub>
                      <m:sSubPr>
                        <m:ctrlPr>
                          <a:rPr lang="zh-TW" altLang="zh-TW" sz="2400" i="1">
                            <a:solidFill>
                              <a:schemeClr val="tx1"/>
                            </a:solidFill>
                            <a:latin typeface="Cambria Math" panose="02040503050406030204" pitchFamily="18" charset="0"/>
                          </a:rPr>
                        </m:ctrlPr>
                      </m:sSubPr>
                      <m:e>
                        <m:acc>
                          <m:accPr>
                            <m:chr m:val="̂"/>
                            <m:ctrlPr>
                              <a:rPr lang="zh-TW" altLang="zh-TW" sz="2400" i="1">
                                <a:solidFill>
                                  <a:schemeClr val="tx1"/>
                                </a:solidFill>
                                <a:latin typeface="Cambria Math" panose="02040503050406030204" pitchFamily="18" charset="0"/>
                              </a:rPr>
                            </m:ctrlPr>
                          </m:accPr>
                          <m:e>
                            <m:r>
                              <a:rPr lang="en-US" altLang="zh-TW" sz="2400" i="1">
                                <a:solidFill>
                                  <a:schemeClr val="tx1"/>
                                </a:solidFill>
                                <a:latin typeface="Cambria Math" panose="02040503050406030204" pitchFamily="18" charset="0"/>
                              </a:rPr>
                              <m:t>𝑚</m:t>
                            </m:r>
                          </m:e>
                        </m:acc>
                      </m:e>
                      <m:sub>
                        <m:r>
                          <a:rPr lang="en-US" altLang="zh-TW" sz="2400" i="1">
                            <a:solidFill>
                              <a:schemeClr val="tx1"/>
                            </a:solidFill>
                            <a:latin typeface="Cambria Math" panose="02040503050406030204" pitchFamily="18" charset="0"/>
                          </a:rPr>
                          <m:t>𝑡</m:t>
                        </m:r>
                      </m:sub>
                    </m:sSub>
                    <m:f>
                      <m:fPr>
                        <m:ctrlPr>
                          <a:rPr lang="zh-TW" altLang="zh-TW" sz="2400" i="1">
                            <a:solidFill>
                              <a:schemeClr val="tx1"/>
                            </a:solidFill>
                            <a:latin typeface="Cambria Math" panose="02040503050406030204" pitchFamily="18" charset="0"/>
                          </a:rPr>
                        </m:ctrlPr>
                      </m:fPr>
                      <m:num>
                        <m:r>
                          <a:rPr lang="en-US" altLang="zh-TW" sz="2400" i="1">
                            <a:solidFill>
                              <a:schemeClr val="tx1"/>
                            </a:solidFill>
                            <a:latin typeface="Cambria Math" panose="02040503050406030204" pitchFamily="18" charset="0"/>
                          </a:rPr>
                          <m:t>1</m:t>
                        </m:r>
                      </m:num>
                      <m:den>
                        <m:rad>
                          <m:radPr>
                            <m:degHide m:val="on"/>
                            <m:ctrlPr>
                              <a:rPr lang="zh-TW" altLang="zh-TW" sz="2400" i="1">
                                <a:solidFill>
                                  <a:schemeClr val="tx1"/>
                                </a:solidFill>
                                <a:latin typeface="Cambria Math" panose="02040503050406030204" pitchFamily="18" charset="0"/>
                              </a:rPr>
                            </m:ctrlPr>
                          </m:radPr>
                          <m:deg/>
                          <m:e>
                            <m:sSub>
                              <m:sSubPr>
                                <m:ctrlPr>
                                  <a:rPr lang="zh-TW" altLang="zh-TW" sz="2400" i="1">
                                    <a:solidFill>
                                      <a:schemeClr val="tx1"/>
                                    </a:solidFill>
                                    <a:latin typeface="Cambria Math" panose="02040503050406030204" pitchFamily="18" charset="0"/>
                                  </a:rPr>
                                </m:ctrlPr>
                              </m:sSubPr>
                              <m:e>
                                <m:acc>
                                  <m:accPr>
                                    <m:chr m:val="̂"/>
                                    <m:ctrlPr>
                                      <a:rPr lang="zh-TW" altLang="zh-TW" sz="2400" i="1">
                                        <a:solidFill>
                                          <a:schemeClr val="tx1"/>
                                        </a:solidFill>
                                        <a:latin typeface="Cambria Math" panose="02040503050406030204" pitchFamily="18" charset="0"/>
                                      </a:rPr>
                                    </m:ctrlPr>
                                  </m:accPr>
                                  <m:e>
                                    <m:r>
                                      <a:rPr lang="en-US" altLang="zh-TW" sz="2400" i="1">
                                        <a:solidFill>
                                          <a:schemeClr val="tx1"/>
                                        </a:solidFill>
                                        <a:latin typeface="Cambria Math" panose="02040503050406030204" pitchFamily="18" charset="0"/>
                                      </a:rPr>
                                      <m:t>𝑣</m:t>
                                    </m:r>
                                  </m:e>
                                </m:acc>
                              </m:e>
                              <m:sub>
                                <m:r>
                                  <a:rPr lang="en-US" altLang="zh-TW" sz="2400" i="1">
                                    <a:solidFill>
                                      <a:schemeClr val="tx1"/>
                                    </a:solidFill>
                                    <a:latin typeface="Cambria Math" panose="02040503050406030204" pitchFamily="18" charset="0"/>
                                  </a:rPr>
                                  <m:t>𝑡</m:t>
                                </m:r>
                              </m:sub>
                            </m:sSub>
                          </m:e>
                        </m:rad>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𝜖</m:t>
                        </m:r>
                      </m:den>
                    </m:f>
                  </m:oMath>
                </a14:m>
                <a:endParaRPr lang="zh-TW" altLang="zh-TW" sz="2400" dirty="0"/>
              </a:p>
            </p:txBody>
          </p:sp>
        </mc:Choice>
        <mc:Fallback xmlns="">
          <p:sp>
            <p:nvSpPr>
              <p:cNvPr id="10" name="文字方塊 9">
                <a:extLst>
                  <a:ext uri="{FF2B5EF4-FFF2-40B4-BE49-F238E27FC236}">
                    <a16:creationId xmlns:a16="http://schemas.microsoft.com/office/drawing/2014/main" id="{60D385DD-6313-5F48-DB90-C7C916666291}"/>
                  </a:ext>
                </a:extLst>
              </p:cNvPr>
              <p:cNvSpPr txBox="1">
                <a:spLocks noRot="1" noChangeAspect="1" noMove="1" noResize="1" noEditPoints="1" noAdjustHandles="1" noChangeArrowheads="1" noChangeShapeType="1" noTextEdit="1"/>
              </p:cNvSpPr>
              <p:nvPr/>
            </p:nvSpPr>
            <p:spPr>
              <a:xfrm>
                <a:off x="977153" y="4639280"/>
                <a:ext cx="9502588" cy="694742"/>
              </a:xfrm>
              <a:prstGeom prst="rect">
                <a:avLst/>
              </a:prstGeom>
              <a:blipFill>
                <a:blip r:embed="rId6"/>
                <a:stretch>
                  <a:fillRect l="-9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89264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3ED1DB-CC02-E17E-7495-7A3DA3C95BD3}"/>
              </a:ext>
            </a:extLst>
          </p:cNvPr>
          <p:cNvSpPr>
            <a:spLocks noGrp="1"/>
          </p:cNvSpPr>
          <p:nvPr>
            <p:ph type="title"/>
          </p:nvPr>
        </p:nvSpPr>
        <p:spPr/>
        <p:txBody>
          <a:bodyPr/>
          <a:lstStyle/>
          <a:p>
            <a:r>
              <a:rPr kumimoji="1" lang="en-US" altLang="zh-TW" dirty="0"/>
              <a:t>Adam</a:t>
            </a:r>
            <a:endParaRPr kumimoji="1" lang="zh-TW" altLang="en-US" dirty="0"/>
          </a:p>
        </p:txBody>
      </p:sp>
      <p:sp>
        <p:nvSpPr>
          <p:cNvPr id="4" name="投影片編號版面配置區 3">
            <a:extLst>
              <a:ext uri="{FF2B5EF4-FFF2-40B4-BE49-F238E27FC236}">
                <a16:creationId xmlns:a16="http://schemas.microsoft.com/office/drawing/2014/main" id="{3F02EA67-8708-3360-B025-7C2AEA43F7EC}"/>
              </a:ext>
            </a:extLst>
          </p:cNvPr>
          <p:cNvSpPr>
            <a:spLocks noGrp="1"/>
          </p:cNvSpPr>
          <p:nvPr>
            <p:ph type="sldNum" sz="quarter" idx="12"/>
          </p:nvPr>
        </p:nvSpPr>
        <p:spPr/>
        <p:txBody>
          <a:bodyPr/>
          <a:lstStyle/>
          <a:p>
            <a:fld id="{6113E31D-E2AB-40D1-8B51-AFA5AFEF393A}" type="slidenum">
              <a:rPr lang="en-US" smtClean="0"/>
              <a:pPr/>
              <a:t>20</a:t>
            </a:fld>
            <a:endParaRPr lang="en-US" dirty="0"/>
          </a:p>
        </p:txBody>
      </p:sp>
      <p:pic>
        <p:nvPicPr>
          <p:cNvPr id="5" name="圖片 4">
            <a:extLst>
              <a:ext uri="{FF2B5EF4-FFF2-40B4-BE49-F238E27FC236}">
                <a16:creationId xmlns:a16="http://schemas.microsoft.com/office/drawing/2014/main" id="{9FF9A021-E052-17D1-B752-7344064BA244}"/>
              </a:ext>
            </a:extLst>
          </p:cNvPr>
          <p:cNvPicPr>
            <a:picLocks noChangeAspect="1"/>
          </p:cNvPicPr>
          <p:nvPr/>
        </p:nvPicPr>
        <p:blipFill>
          <a:blip r:embed="rId3"/>
          <a:stretch>
            <a:fillRect/>
          </a:stretch>
        </p:blipFill>
        <p:spPr>
          <a:xfrm>
            <a:off x="2209800" y="1626433"/>
            <a:ext cx="7772400" cy="4864543"/>
          </a:xfrm>
          <a:prstGeom prst="rect">
            <a:avLst/>
          </a:prstGeom>
        </p:spPr>
      </p:pic>
      <p:sp>
        <p:nvSpPr>
          <p:cNvPr id="8" name="文字方塊 7">
            <a:extLst>
              <a:ext uri="{FF2B5EF4-FFF2-40B4-BE49-F238E27FC236}">
                <a16:creationId xmlns:a16="http://schemas.microsoft.com/office/drawing/2014/main" id="{4C47B8B5-0BA7-A571-B52C-B86FA0959BE0}"/>
              </a:ext>
            </a:extLst>
          </p:cNvPr>
          <p:cNvSpPr txBox="1"/>
          <p:nvPr/>
        </p:nvSpPr>
        <p:spPr>
          <a:xfrm>
            <a:off x="5617029" y="3573780"/>
            <a:ext cx="1706880" cy="369332"/>
          </a:xfrm>
          <a:prstGeom prst="rect">
            <a:avLst/>
          </a:prstGeom>
          <a:noFill/>
        </p:spPr>
        <p:txBody>
          <a:bodyPr wrap="square">
            <a:spAutoFit/>
          </a:bodyPr>
          <a:lstStyle/>
          <a:p>
            <a:r>
              <a:rPr kumimoji="1" lang="en-US" altLang="zh-TW" dirty="0">
                <a:solidFill>
                  <a:srgbClr val="FF0000"/>
                </a:solidFill>
                <a:latin typeface="Microsoft JhengHei" panose="020B0604030504040204" pitchFamily="34" charset="-120"/>
                <a:ea typeface="Microsoft JhengHei" panose="020B0604030504040204" pitchFamily="34" charset="-120"/>
              </a:rPr>
              <a:t>M</a:t>
            </a:r>
            <a:r>
              <a:rPr kumimoji="1" lang="en-US" altLang="zh-TW" sz="1800" dirty="0">
                <a:solidFill>
                  <a:srgbClr val="FF0000"/>
                </a:solidFill>
                <a:latin typeface="Microsoft JhengHei" panose="020B0604030504040204" pitchFamily="34" charset="-120"/>
                <a:ea typeface="Microsoft JhengHei" panose="020B0604030504040204" pitchFamily="34" charset="-120"/>
              </a:rPr>
              <a:t>omentum</a:t>
            </a:r>
            <a:endParaRPr lang="zh-TW" altLang="en-US" dirty="0">
              <a:solidFill>
                <a:srgbClr val="FF0000"/>
              </a:solidFill>
            </a:endParaRPr>
          </a:p>
        </p:txBody>
      </p:sp>
      <p:sp>
        <p:nvSpPr>
          <p:cNvPr id="9" name="文字方塊 8">
            <a:extLst>
              <a:ext uri="{FF2B5EF4-FFF2-40B4-BE49-F238E27FC236}">
                <a16:creationId xmlns:a16="http://schemas.microsoft.com/office/drawing/2014/main" id="{F2351C67-7210-F3A2-D025-55117520F337}"/>
              </a:ext>
            </a:extLst>
          </p:cNvPr>
          <p:cNvSpPr txBox="1"/>
          <p:nvPr/>
        </p:nvSpPr>
        <p:spPr>
          <a:xfrm>
            <a:off x="5617028" y="3799131"/>
            <a:ext cx="2316479" cy="369332"/>
          </a:xfrm>
          <a:prstGeom prst="rect">
            <a:avLst/>
          </a:prstGeom>
          <a:noFill/>
        </p:spPr>
        <p:txBody>
          <a:bodyPr wrap="square">
            <a:spAutoFit/>
          </a:bodyPr>
          <a:lstStyle/>
          <a:p>
            <a:r>
              <a:rPr lang="en-US" altLang="zh-TW" dirty="0" err="1">
                <a:solidFill>
                  <a:schemeClr val="accent6"/>
                </a:solidFill>
              </a:rPr>
              <a:t>Adagrad</a:t>
            </a:r>
            <a:r>
              <a:rPr lang="en-US" altLang="zh-TW" dirty="0">
                <a:solidFill>
                  <a:schemeClr val="accent6"/>
                </a:solidFill>
              </a:rPr>
              <a:t>, </a:t>
            </a:r>
            <a:r>
              <a:rPr lang="en-US" altLang="zh-TW" dirty="0" err="1">
                <a:solidFill>
                  <a:schemeClr val="accent6"/>
                </a:solidFill>
              </a:rPr>
              <a:t>RMSProp</a:t>
            </a:r>
            <a:r>
              <a:rPr lang="en-US" altLang="zh-TW" dirty="0">
                <a:solidFill>
                  <a:schemeClr val="accent6"/>
                </a:solidFill>
              </a:rPr>
              <a:t> </a:t>
            </a:r>
            <a:endParaRPr lang="zh-TW" altLang="en-US" dirty="0">
              <a:solidFill>
                <a:schemeClr val="accent6"/>
              </a:solidFill>
            </a:endParaRPr>
          </a:p>
        </p:txBody>
      </p:sp>
      <p:cxnSp>
        <p:nvCxnSpPr>
          <p:cNvPr id="11" name="直線接點 10">
            <a:extLst>
              <a:ext uri="{FF2B5EF4-FFF2-40B4-BE49-F238E27FC236}">
                <a16:creationId xmlns:a16="http://schemas.microsoft.com/office/drawing/2014/main" id="{8EE9FE2C-7397-4871-7C49-E5FA2F89F916}"/>
              </a:ext>
            </a:extLst>
          </p:cNvPr>
          <p:cNvCxnSpPr/>
          <p:nvPr/>
        </p:nvCxnSpPr>
        <p:spPr>
          <a:xfrm>
            <a:off x="3065418" y="4067413"/>
            <a:ext cx="231648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6E433C28-86F2-B072-015A-C3ED38813893}"/>
              </a:ext>
            </a:extLst>
          </p:cNvPr>
          <p:cNvCxnSpPr/>
          <p:nvPr/>
        </p:nvCxnSpPr>
        <p:spPr>
          <a:xfrm>
            <a:off x="3122021" y="3841792"/>
            <a:ext cx="23164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6E266E4D-DD1C-AABB-6D33-8F631AFEE5EC}"/>
              </a:ext>
            </a:extLst>
          </p:cNvPr>
          <p:cNvCxnSpPr>
            <a:cxnSpLocks/>
          </p:cNvCxnSpPr>
          <p:nvPr/>
        </p:nvCxnSpPr>
        <p:spPr>
          <a:xfrm>
            <a:off x="4288970" y="6031196"/>
            <a:ext cx="77071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894A8B5B-F457-060F-C9D9-CCECE1CDB373}"/>
              </a:ext>
            </a:extLst>
          </p:cNvPr>
          <p:cNvSpPr txBox="1"/>
          <p:nvPr/>
        </p:nvSpPr>
        <p:spPr>
          <a:xfrm>
            <a:off x="3966711" y="2712064"/>
            <a:ext cx="1706880" cy="369332"/>
          </a:xfrm>
          <a:prstGeom prst="rect">
            <a:avLst/>
          </a:prstGeom>
          <a:noFill/>
        </p:spPr>
        <p:txBody>
          <a:bodyPr wrap="square">
            <a:spAutoFit/>
          </a:bodyPr>
          <a:lstStyle/>
          <a:p>
            <a:r>
              <a:rPr lang="en-US" altLang="zh-TW" dirty="0">
                <a:solidFill>
                  <a:srgbClr val="0070C0"/>
                </a:solidFill>
              </a:rPr>
              <a:t>Learning rate</a:t>
            </a:r>
            <a:endParaRPr lang="zh-TW" altLang="en-US" dirty="0">
              <a:solidFill>
                <a:srgbClr val="0070C0"/>
              </a:solidFill>
            </a:endParaRPr>
          </a:p>
        </p:txBody>
      </p:sp>
      <p:sp>
        <p:nvSpPr>
          <p:cNvPr id="7" name="矩形 6">
            <a:extLst>
              <a:ext uri="{FF2B5EF4-FFF2-40B4-BE49-F238E27FC236}">
                <a16:creationId xmlns:a16="http://schemas.microsoft.com/office/drawing/2014/main" id="{495F7705-9325-E6CD-0AB7-8B10E9C86D2D}"/>
              </a:ext>
            </a:extLst>
          </p:cNvPr>
          <p:cNvSpPr/>
          <p:nvPr/>
        </p:nvSpPr>
        <p:spPr>
          <a:xfrm>
            <a:off x="2535809" y="5354117"/>
            <a:ext cx="5872899" cy="703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B387B059-C7EA-2B02-3829-0E99632A6E54}"/>
              </a:ext>
            </a:extLst>
          </p:cNvPr>
          <p:cNvSpPr txBox="1"/>
          <p:nvPr/>
        </p:nvSpPr>
        <p:spPr>
          <a:xfrm>
            <a:off x="6809173" y="687744"/>
            <a:ext cx="4762341" cy="461665"/>
          </a:xfrm>
          <a:prstGeom prst="rect">
            <a:avLst/>
          </a:prstGeom>
          <a:noFill/>
        </p:spPr>
        <p:txBody>
          <a:bodyPr wrap="square">
            <a:spAutoFit/>
          </a:bodyPr>
          <a:lstStyle/>
          <a:p>
            <a:r>
              <a:rPr lang="en" altLang="zh-TW" sz="1200" dirty="0" err="1"/>
              <a:t>Kingma</a:t>
            </a:r>
            <a:r>
              <a:rPr lang="en" altLang="zh-TW" sz="1200" dirty="0"/>
              <a:t>, </a:t>
            </a:r>
            <a:r>
              <a:rPr lang="en" altLang="zh-TW" sz="1200" dirty="0" err="1"/>
              <a:t>Diederik</a:t>
            </a:r>
            <a:r>
              <a:rPr lang="en" altLang="zh-TW" sz="1200" dirty="0"/>
              <a:t> P., and Jimmy Ba. "Adam: A method for stochastic optimization." ICLR</a:t>
            </a:r>
            <a:r>
              <a:rPr lang="en" altLang="zh-TW" sz="1200" i="1" dirty="0"/>
              <a:t> </a:t>
            </a:r>
            <a:r>
              <a:rPr lang="en" altLang="zh-TW" sz="1200" dirty="0"/>
              <a:t>2015. </a:t>
            </a:r>
            <a:r>
              <a:rPr kumimoji="1" lang="en" altLang="zh-TW" sz="1200" dirty="0"/>
              <a:t>https://</a:t>
            </a:r>
            <a:r>
              <a:rPr kumimoji="1" lang="en" altLang="zh-TW" sz="1200" dirty="0" err="1"/>
              <a:t>arxiv.org</a:t>
            </a:r>
            <a:r>
              <a:rPr kumimoji="1" lang="en" altLang="zh-TW" sz="1200" dirty="0"/>
              <a:t>/abs/1412.6980</a:t>
            </a:r>
            <a:endParaRPr kumimoji="1" lang="zh-TW" altLang="en-US" sz="1200" dirty="0"/>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FE603E8E-523C-6AEF-72EE-6C1C3EFACE10}"/>
                  </a:ext>
                </a:extLst>
              </p:cNvPr>
              <p:cNvSpPr txBox="1"/>
              <p:nvPr/>
            </p:nvSpPr>
            <p:spPr>
              <a:xfrm>
                <a:off x="8501139" y="3597039"/>
                <a:ext cx="1974036" cy="923330"/>
              </a:xfrm>
              <a:prstGeom prst="rect">
                <a:avLst/>
              </a:prstGeom>
              <a:noFill/>
              <a:ln>
                <a:solidFill>
                  <a:srgbClr val="0070C0"/>
                </a:solidFill>
              </a:ln>
            </p:spPr>
            <p:txBody>
              <a:bodyPr wrap="square" rtlCol="0">
                <a:spAutoFit/>
              </a:bodyPr>
              <a:lstStyle/>
              <a:p>
                <a:r>
                  <a:rPr kumimoji="1" lang="en-US" altLang="zh-TW" dirty="0"/>
                  <a:t>[Adam]</a:t>
                </a:r>
              </a:p>
              <a:p>
                <a14:m>
                  <m:oMath xmlns:m="http://schemas.openxmlformats.org/officeDocument/2006/math">
                    <m:r>
                      <a:rPr lang="en-US" altLang="zh-TW" sz="1800" b="0" i="1" smtClean="0">
                        <a:latin typeface="Cambria Math" panose="02040503050406030204" pitchFamily="18" charset="0"/>
                      </a:rPr>
                      <m:t>𝑚</m:t>
                    </m:r>
                  </m:oMath>
                </a14:m>
                <a:r>
                  <a:rPr kumimoji="1" lang="zh-TW" altLang="en-US" dirty="0"/>
                  <a:t> 記錄梯度</a:t>
                </a:r>
                <a:endParaRPr kumimoji="1" lang="en-US" altLang="zh-TW" dirty="0"/>
              </a:p>
              <a:p>
                <a14:m>
                  <m:oMath xmlns:m="http://schemas.openxmlformats.org/officeDocument/2006/math">
                    <m:r>
                      <a:rPr lang="en-US" altLang="zh-TW" sz="1800" b="0" i="1" smtClean="0">
                        <a:latin typeface="Cambria Math" panose="02040503050406030204" pitchFamily="18" charset="0"/>
                      </a:rPr>
                      <m:t>𝑣</m:t>
                    </m:r>
                  </m:oMath>
                </a14:m>
                <a:r>
                  <a:rPr kumimoji="1" lang="en-US" altLang="zh-TW" dirty="0"/>
                  <a:t> </a:t>
                </a:r>
                <a:r>
                  <a:rPr kumimoji="1" lang="zh-TW" altLang="en-US" dirty="0"/>
                  <a:t>記錄梯度平方</a:t>
                </a:r>
              </a:p>
            </p:txBody>
          </p:sp>
        </mc:Choice>
        <mc:Fallback xmlns="">
          <p:sp>
            <p:nvSpPr>
              <p:cNvPr id="15" name="文字方塊 14">
                <a:extLst>
                  <a:ext uri="{FF2B5EF4-FFF2-40B4-BE49-F238E27FC236}">
                    <a16:creationId xmlns:a16="http://schemas.microsoft.com/office/drawing/2014/main" id="{FE603E8E-523C-6AEF-72EE-6C1C3EFACE10}"/>
                  </a:ext>
                </a:extLst>
              </p:cNvPr>
              <p:cNvSpPr txBox="1">
                <a:spLocks noRot="1" noChangeAspect="1" noMove="1" noResize="1" noEditPoints="1" noAdjustHandles="1" noChangeArrowheads="1" noChangeShapeType="1" noTextEdit="1"/>
              </p:cNvSpPr>
              <p:nvPr/>
            </p:nvSpPr>
            <p:spPr>
              <a:xfrm>
                <a:off x="8501139" y="3597039"/>
                <a:ext cx="1974036" cy="923330"/>
              </a:xfrm>
              <a:prstGeom prst="rect">
                <a:avLst/>
              </a:prstGeom>
              <a:blipFill>
                <a:blip r:embed="rId4"/>
                <a:stretch>
                  <a:fillRect l="-2548" t="-1333" b="-8000"/>
                </a:stretch>
              </a:blipFill>
              <a:ln>
                <a:solidFill>
                  <a:srgbClr val="0070C0"/>
                </a:solidFill>
              </a:ln>
            </p:spPr>
            <p:txBody>
              <a:bodyPr/>
              <a:lstStyle/>
              <a:p>
                <a:r>
                  <a:rPr lang="zh-TW" altLang="en-US">
                    <a:noFill/>
                  </a:rPr>
                  <a:t> </a:t>
                </a:r>
              </a:p>
            </p:txBody>
          </p:sp>
        </mc:Fallback>
      </mc:AlternateContent>
      <p:sp>
        <p:nvSpPr>
          <p:cNvPr id="16" name="文字方塊 15">
            <a:extLst>
              <a:ext uri="{FF2B5EF4-FFF2-40B4-BE49-F238E27FC236}">
                <a16:creationId xmlns:a16="http://schemas.microsoft.com/office/drawing/2014/main" id="{01EB24B8-45EE-B53F-8888-254B9FFAEEA4}"/>
              </a:ext>
            </a:extLst>
          </p:cNvPr>
          <p:cNvSpPr txBox="1"/>
          <p:nvPr/>
        </p:nvSpPr>
        <p:spPr>
          <a:xfrm>
            <a:off x="8637291" y="4951674"/>
            <a:ext cx="2689817" cy="369332"/>
          </a:xfrm>
          <a:prstGeom prst="rect">
            <a:avLst/>
          </a:prstGeom>
          <a:noFill/>
        </p:spPr>
        <p:txBody>
          <a:bodyPr wrap="square">
            <a:spAutoFit/>
          </a:bodyPr>
          <a:lstStyle/>
          <a:p>
            <a:r>
              <a:rPr lang="zh-TW" altLang="en-US" dirty="0">
                <a:solidFill>
                  <a:schemeClr val="accent6"/>
                </a:solidFill>
              </a:rPr>
              <a:t>移動平均取自 </a:t>
            </a:r>
            <a:r>
              <a:rPr lang="en-US" altLang="zh-TW" dirty="0" err="1">
                <a:solidFill>
                  <a:schemeClr val="accent6"/>
                </a:solidFill>
              </a:rPr>
              <a:t>RMSProp</a:t>
            </a:r>
            <a:r>
              <a:rPr lang="en-US" altLang="zh-TW" dirty="0">
                <a:solidFill>
                  <a:schemeClr val="accent6"/>
                </a:solidFill>
              </a:rPr>
              <a:t> </a:t>
            </a:r>
            <a:endParaRPr lang="zh-TW" altLang="en-US" dirty="0">
              <a:solidFill>
                <a:schemeClr val="accent6"/>
              </a:solidFill>
            </a:endParaRPr>
          </a:p>
        </p:txBody>
      </p:sp>
      <p:cxnSp>
        <p:nvCxnSpPr>
          <p:cNvPr id="17" name="直線接點 16">
            <a:extLst>
              <a:ext uri="{FF2B5EF4-FFF2-40B4-BE49-F238E27FC236}">
                <a16:creationId xmlns:a16="http://schemas.microsoft.com/office/drawing/2014/main" id="{D9D0C143-6859-1D66-55CD-A2A2590E9019}"/>
              </a:ext>
            </a:extLst>
          </p:cNvPr>
          <p:cNvCxnSpPr>
            <a:cxnSpLocks/>
          </p:cNvCxnSpPr>
          <p:nvPr/>
        </p:nvCxnSpPr>
        <p:spPr>
          <a:xfrm>
            <a:off x="3107079" y="5136340"/>
            <a:ext cx="293069"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2086322A-6C1F-A650-A83B-21B13506B5E0}"/>
              </a:ext>
            </a:extLst>
          </p:cNvPr>
          <p:cNvCxnSpPr>
            <a:cxnSpLocks/>
          </p:cNvCxnSpPr>
          <p:nvPr/>
        </p:nvCxnSpPr>
        <p:spPr>
          <a:xfrm>
            <a:off x="3065418" y="5345288"/>
            <a:ext cx="293069"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E56FA1F3-E39B-2B0D-36EF-391482595884}"/>
              </a:ext>
            </a:extLst>
          </p:cNvPr>
          <p:cNvCxnSpPr>
            <a:cxnSpLocks/>
          </p:cNvCxnSpPr>
          <p:nvPr/>
        </p:nvCxnSpPr>
        <p:spPr>
          <a:xfrm>
            <a:off x="4022704" y="5345288"/>
            <a:ext cx="651621"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28E4216F-5044-6644-B353-30C4A8C70D18}"/>
              </a:ext>
            </a:extLst>
          </p:cNvPr>
          <p:cNvCxnSpPr>
            <a:cxnSpLocks/>
          </p:cNvCxnSpPr>
          <p:nvPr/>
        </p:nvCxnSpPr>
        <p:spPr>
          <a:xfrm>
            <a:off x="4197024" y="5136340"/>
            <a:ext cx="651621"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CB98D567-7F8F-FC1E-15EC-D25FF0F3578E}"/>
              </a:ext>
            </a:extLst>
          </p:cNvPr>
          <p:cNvSpPr txBox="1"/>
          <p:nvPr/>
        </p:nvSpPr>
        <p:spPr>
          <a:xfrm>
            <a:off x="6691797" y="5705632"/>
            <a:ext cx="1241710" cy="369332"/>
          </a:xfrm>
          <a:prstGeom prst="rect">
            <a:avLst/>
          </a:prstGeom>
          <a:noFill/>
        </p:spPr>
        <p:txBody>
          <a:bodyPr wrap="square">
            <a:spAutoFit/>
          </a:bodyPr>
          <a:lstStyle/>
          <a:p>
            <a:r>
              <a:rPr lang="en-US" altLang="zh-TW" dirty="0" err="1">
                <a:solidFill>
                  <a:schemeClr val="accent6"/>
                </a:solidFill>
              </a:rPr>
              <a:t>Adagrad</a:t>
            </a:r>
            <a:endParaRPr lang="zh-TW" altLang="en-US" dirty="0"/>
          </a:p>
        </p:txBody>
      </p:sp>
    </p:spTree>
    <p:extLst>
      <p:ext uri="{BB962C8B-B14F-4D97-AF65-F5344CB8AC3E}">
        <p14:creationId xmlns:p14="http://schemas.microsoft.com/office/powerpoint/2010/main" val="304434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215091-E575-D498-64E0-3ED1E0836DDF}"/>
              </a:ext>
            </a:extLst>
          </p:cNvPr>
          <p:cNvSpPr>
            <a:spLocks noGrp="1"/>
          </p:cNvSpPr>
          <p:nvPr>
            <p:ph type="title"/>
          </p:nvPr>
        </p:nvSpPr>
        <p:spPr/>
        <p:txBody>
          <a:bodyPr>
            <a:normAutofit fontScale="90000"/>
          </a:bodyPr>
          <a:lstStyle/>
          <a:p>
            <a:r>
              <a:rPr kumimoji="1" lang="en-US" altLang="zh-TW" dirty="0"/>
              <a:t>[</a:t>
            </a:r>
            <a:r>
              <a:rPr kumimoji="1" lang="zh-TW" altLang="en-US" dirty="0"/>
              <a:t>實作細節</a:t>
            </a:r>
            <a:r>
              <a:rPr kumimoji="1" lang="en-US" altLang="zh-TW" dirty="0"/>
              <a:t>] </a:t>
            </a:r>
            <a:r>
              <a:rPr kumimoji="1" lang="zh-TW" altLang="en-US" dirty="0"/>
              <a:t>把 </a:t>
            </a:r>
            <a:r>
              <a:rPr kumimoji="1" lang="en-US" altLang="zh-TW" dirty="0"/>
              <a:t>L</a:t>
            </a:r>
            <a:r>
              <a:rPr kumimoji="1" lang="en-US" altLang="zh-TW" baseline="30000" dirty="0"/>
              <a:t>2</a:t>
            </a:r>
            <a:r>
              <a:rPr kumimoji="1" lang="en-US" altLang="zh-TW" dirty="0"/>
              <a:t> Regularization </a:t>
            </a:r>
            <a:r>
              <a:rPr kumimoji="1" lang="zh-TW" altLang="en-US" dirty="0"/>
              <a:t>加到 </a:t>
            </a:r>
            <a:r>
              <a:rPr kumimoji="1" lang="en-US" altLang="zh-TW" dirty="0"/>
              <a:t>SGD</a:t>
            </a:r>
            <a:endParaRPr kumimoji="1" lang="zh-TW" altLang="en-US" dirty="0"/>
          </a:p>
        </p:txBody>
      </p:sp>
      <p:sp>
        <p:nvSpPr>
          <p:cNvPr id="4" name="投影片編號版面配置區 3">
            <a:extLst>
              <a:ext uri="{FF2B5EF4-FFF2-40B4-BE49-F238E27FC236}">
                <a16:creationId xmlns:a16="http://schemas.microsoft.com/office/drawing/2014/main" id="{8EC6E979-5E72-DF4E-8BD9-1C6F1B17BAB9}"/>
              </a:ext>
            </a:extLst>
          </p:cNvPr>
          <p:cNvSpPr>
            <a:spLocks noGrp="1"/>
          </p:cNvSpPr>
          <p:nvPr>
            <p:ph type="sldNum" sz="quarter" idx="12"/>
          </p:nvPr>
        </p:nvSpPr>
        <p:spPr/>
        <p:txBody>
          <a:bodyPr/>
          <a:lstStyle/>
          <a:p>
            <a:fld id="{6113E31D-E2AB-40D1-8B51-AFA5AFEF393A}" type="slidenum">
              <a:rPr lang="en-US" smtClean="0"/>
              <a:pPr/>
              <a:t>21</a:t>
            </a:fld>
            <a:endParaRPr 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83A69BD5-461E-54CE-A9C7-0085EEED07C7}"/>
                  </a:ext>
                </a:extLst>
              </p:cNvPr>
              <p:cNvSpPr txBox="1"/>
              <p:nvPr/>
            </p:nvSpPr>
            <p:spPr>
              <a:xfrm>
                <a:off x="755580" y="2708217"/>
                <a:ext cx="6096000" cy="461665"/>
              </a:xfrm>
              <a:prstGeom prst="rect">
                <a:avLst/>
              </a:prstGeom>
              <a:noFill/>
            </p:spPr>
            <p:txBody>
              <a:bodyPr wrap="square">
                <a:spAutoFit/>
              </a:bodyPr>
              <a:lstStyle/>
              <a:p>
                <a:r>
                  <a:rPr lang="en-US" altLang="zh-TW" sz="2400" dirty="0"/>
                  <a:t>1️⃣ </a:t>
                </a:r>
                <a:r>
                  <a:rPr lang="zh-TW" altLang="en-US" sz="2400" dirty="0"/>
                  <a:t>計算梯度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m:t>
                        </m:r>
                      </m:e>
                      <m:sub>
                        <m:r>
                          <m:rPr>
                            <m:sty m:val="p"/>
                          </m:rPr>
                          <a:rPr lang="zh-TW" altLang="en-US" sz="2400" i="0">
                            <a:solidFill>
                              <a:schemeClr val="tx1"/>
                            </a:solidFill>
                            <a:latin typeface="Cambria Math" panose="02040503050406030204" pitchFamily="18" charset="0"/>
                          </a:rPr>
                          <m:t>w</m:t>
                        </m:r>
                      </m:sub>
                    </m:sSub>
                    <m:r>
                      <a:rPr lang="zh-TW" altLang="en-US" sz="2400" i="1">
                        <a:solidFill>
                          <a:schemeClr val="tx1"/>
                        </a:solidFill>
                        <a:latin typeface="Cambria Math" panose="02040503050406030204" pitchFamily="18" charset="0"/>
                      </a:rPr>
                      <m:t>𝑓</m:t>
                    </m:r>
                    <m:d>
                      <m:dPr>
                        <m:ctrlPr>
                          <a:rPr lang="zh-TW" altLang="en-US" sz="2400" i="1">
                            <a:solidFill>
                              <a:schemeClr val="tx1"/>
                            </a:solidFill>
                            <a:latin typeface="Cambria Math" panose="02040503050406030204" pitchFamily="18" charset="0"/>
                          </a:rPr>
                        </m:ctrlPr>
                      </m:dPr>
                      <m:e>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e>
                    </m:d>
                  </m:oMath>
                </a14:m>
                <a:endParaRPr lang="zh-TW" altLang="en-US" sz="2400" dirty="0">
                  <a:solidFill>
                    <a:schemeClr val="tx1"/>
                  </a:solidFill>
                </a:endParaRPr>
              </a:p>
            </p:txBody>
          </p:sp>
        </mc:Choice>
        <mc:Fallback xmlns="">
          <p:sp>
            <p:nvSpPr>
              <p:cNvPr id="5" name="文字方塊 4">
                <a:extLst>
                  <a:ext uri="{FF2B5EF4-FFF2-40B4-BE49-F238E27FC236}">
                    <a16:creationId xmlns:a16="http://schemas.microsoft.com/office/drawing/2014/main" id="{83A69BD5-461E-54CE-A9C7-0085EEED07C7}"/>
                  </a:ext>
                </a:extLst>
              </p:cNvPr>
              <p:cNvSpPr txBox="1">
                <a:spLocks noRot="1" noChangeAspect="1" noMove="1" noResize="1" noEditPoints="1" noAdjustHandles="1" noChangeArrowheads="1" noChangeShapeType="1" noTextEdit="1"/>
              </p:cNvSpPr>
              <p:nvPr/>
            </p:nvSpPr>
            <p:spPr>
              <a:xfrm>
                <a:off x="755580" y="2708217"/>
                <a:ext cx="6096000" cy="461665"/>
              </a:xfrm>
              <a:prstGeom prst="rect">
                <a:avLst/>
              </a:prstGeom>
              <a:blipFill>
                <a:blip r:embed="rId3"/>
                <a:stretch>
                  <a:fillRect l="-1663"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AB1FC23A-A871-3C78-370C-01CCBF3FA692}"/>
                  </a:ext>
                </a:extLst>
              </p:cNvPr>
              <p:cNvSpPr txBox="1"/>
              <p:nvPr/>
            </p:nvSpPr>
            <p:spPr>
              <a:xfrm>
                <a:off x="755580" y="3393141"/>
                <a:ext cx="9502588" cy="461665"/>
              </a:xfrm>
              <a:prstGeom prst="rect">
                <a:avLst/>
              </a:prstGeom>
              <a:noFill/>
            </p:spPr>
            <p:txBody>
              <a:bodyPr wrap="square">
                <a:spAutoFit/>
              </a:bodyPr>
              <a:lstStyle/>
              <a:p>
                <a:r>
                  <a:rPr lang="en-US" altLang="zh-TW" sz="2400" dirty="0"/>
                  <a:t>2️⃣ </a:t>
                </a:r>
                <a:r>
                  <a:rPr lang="zh-TW" altLang="en-US" sz="2400" dirty="0">
                    <a:solidFill>
                      <a:schemeClr val="tx1"/>
                    </a:solidFill>
                  </a:rPr>
                  <a:t>更新參數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𝜂</m:t>
                    </m:r>
                    <m:sSub>
                      <m:sSubPr>
                        <m:ctrlPr>
                          <a:rPr lang="zh-TW" altLang="en-US" sz="2400" i="1">
                            <a:latin typeface="Cambria Math" panose="02040503050406030204" pitchFamily="18" charset="0"/>
                          </a:rPr>
                        </m:ctrlPr>
                      </m:sSubPr>
                      <m:e>
                        <m:r>
                          <a:rPr lang="zh-TW" altLang="en-US" sz="2400" i="1">
                            <a:latin typeface="Cambria Math" panose="02040503050406030204" pitchFamily="18" charset="0"/>
                          </a:rPr>
                          <m:t>𝑔</m:t>
                        </m:r>
                      </m:e>
                      <m:sub>
                        <m:r>
                          <a:rPr lang="zh-TW" altLang="en-US" sz="2400" i="1">
                            <a:latin typeface="Cambria Math" panose="02040503050406030204" pitchFamily="18" charset="0"/>
                          </a:rPr>
                          <m:t>𝑡</m:t>
                        </m:r>
                      </m:sub>
                    </m:sSub>
                  </m:oMath>
                </a14:m>
                <a:endParaRPr lang="zh-TW" altLang="zh-TW" sz="2400" dirty="0"/>
              </a:p>
            </p:txBody>
          </p:sp>
        </mc:Choice>
        <mc:Fallback xmlns="">
          <p:sp>
            <p:nvSpPr>
              <p:cNvPr id="6" name="文字方塊 5">
                <a:extLst>
                  <a:ext uri="{FF2B5EF4-FFF2-40B4-BE49-F238E27FC236}">
                    <a16:creationId xmlns:a16="http://schemas.microsoft.com/office/drawing/2014/main" id="{AB1FC23A-A871-3C78-370C-01CCBF3FA692}"/>
                  </a:ext>
                </a:extLst>
              </p:cNvPr>
              <p:cNvSpPr txBox="1">
                <a:spLocks noRot="1" noChangeAspect="1" noMove="1" noResize="1" noEditPoints="1" noAdjustHandles="1" noChangeArrowheads="1" noChangeShapeType="1" noTextEdit="1"/>
              </p:cNvSpPr>
              <p:nvPr/>
            </p:nvSpPr>
            <p:spPr>
              <a:xfrm>
                <a:off x="755580" y="3393141"/>
                <a:ext cx="9502588" cy="461665"/>
              </a:xfrm>
              <a:prstGeom prst="rect">
                <a:avLst/>
              </a:prstGeom>
              <a:blipFill>
                <a:blip r:embed="rId4"/>
                <a:stretch>
                  <a:fillRect l="-1068"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hlinkClick r:id="rId5" action="ppaction://hlinksldjump"/>
                <a:extLst>
                  <a:ext uri="{FF2B5EF4-FFF2-40B4-BE49-F238E27FC236}">
                    <a16:creationId xmlns:a16="http://schemas.microsoft.com/office/drawing/2014/main" id="{F3C36C06-E2A0-9F9D-AF64-5C31119929D0}"/>
                  </a:ext>
                </a:extLst>
              </p:cNvPr>
              <p:cNvSpPr txBox="1"/>
              <p:nvPr/>
            </p:nvSpPr>
            <p:spPr>
              <a:xfrm>
                <a:off x="1594468" y="4894729"/>
                <a:ext cx="4642291" cy="856966"/>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sub>
                      </m:sSub>
                      <m:r>
                        <a:rPr lang="zh-TW" altLang="en-US"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zh-TW" altLang="en-US" sz="2400">
                          <a:latin typeface="Cambria Math" panose="02040503050406030204" pitchFamily="18" charset="0"/>
                        </a:rPr>
                        <m:t>−</m:t>
                      </m:r>
                      <m:r>
                        <m:rPr>
                          <m:sty m:val="p"/>
                        </m:rPr>
                        <a:rPr lang="zh-TW" altLang="en-US" sz="2400">
                          <a:latin typeface="Cambria Math" panose="02040503050406030204" pitchFamily="18" charset="0"/>
                        </a:rPr>
                        <m:t>η</m:t>
                      </m:r>
                      <m:r>
                        <a:rPr lang="en-US" altLang="zh-TW" sz="2400">
                          <a:latin typeface="Cambria Math" panose="02040503050406030204" pitchFamily="18" charset="0"/>
                        </a:rPr>
                        <m:t>(</m:t>
                      </m:r>
                      <m:f>
                        <m:fPr>
                          <m:ctrlPr>
                            <a:rPr lang="zh-TW" altLang="en-US" sz="2400" i="1">
                              <a:latin typeface="Cambria Math" panose="02040503050406030204" pitchFamily="18" charset="0"/>
                            </a:rPr>
                          </m:ctrlPr>
                        </m:fPr>
                        <m:num>
                          <m:r>
                            <a:rPr lang="zh-TW" altLang="en-US" sz="2400">
                              <a:latin typeface="Cambria Math" panose="02040503050406030204" pitchFamily="18" charset="0"/>
                            </a:rPr>
                            <m:t>𝜕</m:t>
                          </m:r>
                          <m:r>
                            <a:rPr lang="zh-TW" altLang="en-US" sz="2400">
                              <a:latin typeface="Cambria Math" panose="02040503050406030204" pitchFamily="18" charset="0"/>
                            </a:rPr>
                            <m:t>ℒ</m:t>
                          </m:r>
                        </m:num>
                        <m:den>
                          <m:r>
                            <a:rPr lang="zh-TW" altLang="en-US"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den>
                      </m:f>
                      <m:r>
                        <a:rPr lang="zh-TW" altLang="en-US" sz="2400">
                          <a:latin typeface="Cambria Math" panose="02040503050406030204" pitchFamily="18" charset="0"/>
                        </a:rPr>
                        <m:t>+</m:t>
                      </m:r>
                      <m:r>
                        <a:rPr lang="zh-TW" altLang="en-US" sz="2400" i="1">
                          <a:latin typeface="Cambria Math" panose="02040503050406030204" pitchFamily="18" charset="0"/>
                        </a:rPr>
                        <m:t>𝜆</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en-US" altLang="zh-TW" sz="2400">
                          <a:latin typeface="Cambria Math" panose="02040503050406030204" pitchFamily="18" charset="0"/>
                        </a:rPr>
                        <m:t>)</m:t>
                      </m:r>
                    </m:oMath>
                  </m:oMathPara>
                </a14:m>
                <a:endParaRPr lang="zh-TW" altLang="en-US" sz="2400" dirty="0"/>
              </a:p>
            </p:txBody>
          </p:sp>
        </mc:Choice>
        <mc:Fallback xmlns="">
          <p:sp>
            <p:nvSpPr>
              <p:cNvPr id="7" name="文字方塊 6">
                <a:extLst>
                  <a:ext uri="{FF2B5EF4-FFF2-40B4-BE49-F238E27FC236}">
                    <a16:creationId xmlns:a16="http://schemas.microsoft.com/office/drawing/2014/main" id="{F3C36C06-E2A0-9F9D-AF64-5C31119929D0}"/>
                  </a:ext>
                </a:extLst>
              </p:cNvPr>
              <p:cNvSpPr txBox="1">
                <a:spLocks noRot="1" noChangeAspect="1" noMove="1" noResize="1" noEditPoints="1" noAdjustHandles="1" noChangeArrowheads="1" noChangeShapeType="1" noTextEdit="1"/>
              </p:cNvSpPr>
              <p:nvPr/>
            </p:nvSpPr>
            <p:spPr>
              <a:xfrm>
                <a:off x="1594468" y="4894729"/>
                <a:ext cx="4642291" cy="856966"/>
              </a:xfrm>
              <a:prstGeom prst="rect">
                <a:avLst/>
              </a:prstGeom>
              <a:blipFill>
                <a:blip r:embed="rId6"/>
                <a:stretch>
                  <a:fillRect b="-1449"/>
                </a:stretch>
              </a:blipFill>
            </p:spPr>
            <p:txBody>
              <a:bodyPr/>
              <a:lstStyle/>
              <a:p>
                <a:r>
                  <a:rPr lang="zh-TW" altLang="en-US">
                    <a:noFill/>
                  </a:rPr>
                  <a:t> </a:t>
                </a:r>
              </a:p>
            </p:txBody>
          </p:sp>
        </mc:Fallback>
      </mc:AlternateContent>
      <p:sp>
        <p:nvSpPr>
          <p:cNvPr id="9" name="矩形 8">
            <a:extLst>
              <a:ext uri="{FF2B5EF4-FFF2-40B4-BE49-F238E27FC236}">
                <a16:creationId xmlns:a16="http://schemas.microsoft.com/office/drawing/2014/main" id="{5F9EDB0B-9206-3167-4250-B851C7D10B4A}"/>
              </a:ext>
            </a:extLst>
          </p:cNvPr>
          <p:cNvSpPr/>
          <p:nvPr/>
        </p:nvSpPr>
        <p:spPr>
          <a:xfrm>
            <a:off x="5031745" y="2708216"/>
            <a:ext cx="859010" cy="4616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6CC72A4-0BA9-5856-5AD3-30241DAA90D3}"/>
                  </a:ext>
                </a:extLst>
              </p:cNvPr>
              <p:cNvSpPr txBox="1"/>
              <p:nvPr/>
            </p:nvSpPr>
            <p:spPr>
              <a:xfrm>
                <a:off x="4511792" y="2708216"/>
                <a:ext cx="16495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 </m:t>
                      </m:r>
                      <m:r>
                        <a:rPr lang="en-US" altLang="zh-TW" sz="2400" i="1">
                          <a:solidFill>
                            <a:schemeClr val="tx1"/>
                          </a:solidFill>
                          <a:latin typeface="Cambria Math" panose="02040503050406030204" pitchFamily="18" charset="0"/>
                        </a:rPr>
                        <m:t>𝜆</m:t>
                      </m:r>
                      <m:sSub>
                        <m:sSubPr>
                          <m:ctrlPr>
                            <a:rPr lang="zh-TW" altLang="en-US" sz="2400" i="1">
                              <a:solidFill>
                                <a:schemeClr val="tx1"/>
                              </a:solidFill>
                              <a:latin typeface="Cambria Math" panose="02040503050406030204" pitchFamily="18" charset="0"/>
                            </a:rPr>
                          </m:ctrlPr>
                        </m:sSubPr>
                        <m:e>
                          <m:r>
                            <m:rPr>
                              <m:sty m:val="p"/>
                            </m:rPr>
                            <a:rPr lang="zh-TW" altLang="en-US" sz="240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a:solidFill>
                                <a:schemeClr val="tx1"/>
                              </a:solidFill>
                              <a:latin typeface="Cambria Math" panose="02040503050406030204" pitchFamily="18" charset="0"/>
                            </a:rPr>
                            <m:t>−1</m:t>
                          </m:r>
                        </m:sub>
                      </m:sSub>
                    </m:oMath>
                  </m:oMathPara>
                </a14:m>
                <a:endParaRPr lang="zh-TW" altLang="en-US" sz="2400" dirty="0">
                  <a:solidFill>
                    <a:schemeClr val="tx1"/>
                  </a:solidFill>
                </a:endParaRPr>
              </a:p>
            </p:txBody>
          </p:sp>
        </mc:Choice>
        <mc:Fallback xmlns="">
          <p:sp>
            <p:nvSpPr>
              <p:cNvPr id="11" name="文字方塊 10">
                <a:extLst>
                  <a:ext uri="{FF2B5EF4-FFF2-40B4-BE49-F238E27FC236}">
                    <a16:creationId xmlns:a16="http://schemas.microsoft.com/office/drawing/2014/main" id="{36CC72A4-0BA9-5856-5AD3-30241DAA90D3}"/>
                  </a:ext>
                </a:extLst>
              </p:cNvPr>
              <p:cNvSpPr txBox="1">
                <a:spLocks noRot="1" noChangeAspect="1" noMove="1" noResize="1" noEditPoints="1" noAdjustHandles="1" noChangeArrowheads="1" noChangeShapeType="1" noTextEdit="1"/>
              </p:cNvSpPr>
              <p:nvPr/>
            </p:nvSpPr>
            <p:spPr>
              <a:xfrm>
                <a:off x="4511792" y="2708216"/>
                <a:ext cx="1649506" cy="461665"/>
              </a:xfrm>
              <a:prstGeom prst="rect">
                <a:avLst/>
              </a:prstGeom>
              <a:blipFill>
                <a:blip r:embed="rId7"/>
                <a:stretch>
                  <a:fillRect b="-21622"/>
                </a:stretch>
              </a:blipFill>
            </p:spPr>
            <p:txBody>
              <a:bodyPr/>
              <a:lstStyle/>
              <a:p>
                <a:r>
                  <a:rPr lang="zh-TW" altLang="en-US">
                    <a:noFill/>
                  </a:rPr>
                  <a:t> </a:t>
                </a:r>
              </a:p>
            </p:txBody>
          </p:sp>
        </mc:Fallback>
      </mc:AlternateContent>
      <p:cxnSp>
        <p:nvCxnSpPr>
          <p:cNvPr id="13" name="直線箭頭接點 12">
            <a:extLst>
              <a:ext uri="{FF2B5EF4-FFF2-40B4-BE49-F238E27FC236}">
                <a16:creationId xmlns:a16="http://schemas.microsoft.com/office/drawing/2014/main" id="{51B3904A-0C93-E16A-2E5E-96E8631ABA37}"/>
              </a:ext>
            </a:extLst>
          </p:cNvPr>
          <p:cNvCxnSpPr>
            <a:cxnSpLocks/>
          </p:cNvCxnSpPr>
          <p:nvPr/>
        </p:nvCxnSpPr>
        <p:spPr>
          <a:xfrm>
            <a:off x="3561533" y="3953435"/>
            <a:ext cx="0" cy="941294"/>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EAE00E59-E393-65CF-09BD-B5555A97A01C}"/>
              </a:ext>
            </a:extLst>
          </p:cNvPr>
          <p:cNvSpPr txBox="1"/>
          <p:nvPr/>
        </p:nvSpPr>
        <p:spPr>
          <a:xfrm>
            <a:off x="3704974" y="4113906"/>
            <a:ext cx="1326771" cy="400110"/>
          </a:xfrm>
          <a:prstGeom prst="rect">
            <a:avLst/>
          </a:prstGeom>
          <a:noFill/>
        </p:spPr>
        <p:txBody>
          <a:bodyPr wrap="square">
            <a:spAutoFit/>
          </a:bodyPr>
          <a:lstStyle/>
          <a:p>
            <a:r>
              <a:rPr lang="zh-TW" altLang="en-US" sz="2000" dirty="0">
                <a:solidFill>
                  <a:srgbClr val="FF0000"/>
                </a:solidFill>
              </a:rPr>
              <a:t>等價於</a:t>
            </a:r>
          </a:p>
        </p:txBody>
      </p:sp>
      <p:sp>
        <p:nvSpPr>
          <p:cNvPr id="17" name="文字方塊 16">
            <a:extLst>
              <a:ext uri="{FF2B5EF4-FFF2-40B4-BE49-F238E27FC236}">
                <a16:creationId xmlns:a16="http://schemas.microsoft.com/office/drawing/2014/main" id="{4D16C1A1-78EF-AD0E-219F-683977C32028}"/>
              </a:ext>
            </a:extLst>
          </p:cNvPr>
          <p:cNvSpPr txBox="1"/>
          <p:nvPr/>
        </p:nvSpPr>
        <p:spPr>
          <a:xfrm>
            <a:off x="7395881" y="1475584"/>
            <a:ext cx="4303057" cy="738664"/>
          </a:xfrm>
          <a:prstGeom prst="rect">
            <a:avLst/>
          </a:prstGeom>
          <a:noFill/>
        </p:spPr>
        <p:txBody>
          <a:bodyPr wrap="square" rtlCol="0">
            <a:spAutoFit/>
          </a:bodyPr>
          <a:lstStyle/>
          <a:p>
            <a:r>
              <a:rPr kumimoji="1" lang="en" altLang="zh-TW" sz="1400" dirty="0"/>
              <a:t>Loshchilov, Ilya, and Frank Hutter. “Decoupled Weight Decay Regularization.” International Conference on Learning Representations</a:t>
            </a:r>
            <a:r>
              <a:rPr kumimoji="1" lang="zh-TW" altLang="en-US" sz="1400" dirty="0"/>
              <a:t> </a:t>
            </a:r>
            <a:r>
              <a:rPr kumimoji="1" lang="en-US" altLang="zh-TW" sz="1400" dirty="0"/>
              <a:t>(2019)</a:t>
            </a:r>
            <a:r>
              <a:rPr kumimoji="1" lang="en" altLang="zh-TW" sz="1400" dirty="0"/>
              <a:t>.</a:t>
            </a:r>
            <a:endParaRPr kumimoji="1" lang="zh-TW" altLang="en-US" sz="1400" dirty="0"/>
          </a:p>
        </p:txBody>
      </p:sp>
      <p:sp>
        <p:nvSpPr>
          <p:cNvPr id="18" name="文字方塊 17">
            <a:extLst>
              <a:ext uri="{FF2B5EF4-FFF2-40B4-BE49-F238E27FC236}">
                <a16:creationId xmlns:a16="http://schemas.microsoft.com/office/drawing/2014/main" id="{0755E275-D22F-E85A-2148-878EE6516C2C}"/>
              </a:ext>
            </a:extLst>
          </p:cNvPr>
          <p:cNvSpPr txBox="1"/>
          <p:nvPr/>
        </p:nvSpPr>
        <p:spPr>
          <a:xfrm>
            <a:off x="5973043" y="2617073"/>
            <a:ext cx="4827037" cy="707886"/>
          </a:xfrm>
          <a:prstGeom prst="rect">
            <a:avLst/>
          </a:prstGeom>
          <a:noFill/>
        </p:spPr>
        <p:txBody>
          <a:bodyPr wrap="square">
            <a:spAutoFit/>
          </a:bodyPr>
          <a:lstStyle/>
          <a:p>
            <a:r>
              <a:rPr lang="zh-TW" altLang="en-US" sz="2000" dirty="0">
                <a:solidFill>
                  <a:srgbClr val="0070C0"/>
                </a:solidFill>
              </a:rPr>
              <a:t>請見 </a:t>
            </a:r>
            <a:r>
              <a:rPr lang="en-US" altLang="zh-TW" sz="2000" dirty="0" err="1">
                <a:solidFill>
                  <a:srgbClr val="0070C0"/>
                </a:solidFill>
              </a:rPr>
              <a:t>AdamW</a:t>
            </a:r>
            <a:r>
              <a:rPr lang="en-US" altLang="zh-TW" sz="2000" dirty="0">
                <a:solidFill>
                  <a:srgbClr val="0070C0"/>
                </a:solidFill>
              </a:rPr>
              <a:t> </a:t>
            </a:r>
            <a:r>
              <a:rPr lang="zh-TW" altLang="en-US" sz="2000" dirty="0">
                <a:solidFill>
                  <a:srgbClr val="0070C0"/>
                </a:solidFill>
              </a:rPr>
              <a:t>論文 </a:t>
            </a:r>
            <a:r>
              <a:rPr lang="en-US" altLang="zh-TW" sz="2000" dirty="0">
                <a:solidFill>
                  <a:srgbClr val="0070C0"/>
                </a:solidFill>
              </a:rPr>
              <a:t>Proposition 1 proof</a:t>
            </a:r>
            <a:r>
              <a:rPr lang="zh-TW" altLang="en-US" sz="2000" dirty="0">
                <a:solidFill>
                  <a:srgbClr val="0070C0"/>
                </a:solidFill>
              </a:rPr>
              <a:t> </a:t>
            </a:r>
            <a:endParaRPr lang="en-US" altLang="zh-TW" sz="2000" dirty="0">
              <a:solidFill>
                <a:srgbClr val="0070C0"/>
              </a:solidFill>
            </a:endParaRPr>
          </a:p>
          <a:p>
            <a:r>
              <a:rPr lang="zh-TW" altLang="en-US" sz="2000" dirty="0">
                <a:solidFill>
                  <a:srgbClr val="0070C0"/>
                </a:solidFill>
              </a:rPr>
              <a:t>或本簡報</a:t>
            </a:r>
            <a:r>
              <a:rPr lang="en-US" altLang="zh-TW" sz="2000" dirty="0">
                <a:solidFill>
                  <a:srgbClr val="0070C0"/>
                </a:solidFill>
              </a:rPr>
              <a:t> p13</a:t>
            </a:r>
            <a:endParaRPr lang="zh-TW" altLang="en-US" sz="2000" dirty="0">
              <a:solidFill>
                <a:srgbClr val="0070C0"/>
              </a:solidFill>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023AD59A-31A7-A247-A24C-76DE88E58DCE}"/>
                  </a:ext>
                </a:extLst>
              </p:cNvPr>
              <p:cNvSpPr txBox="1"/>
              <p:nvPr/>
            </p:nvSpPr>
            <p:spPr>
              <a:xfrm>
                <a:off x="2124496" y="1550152"/>
                <a:ext cx="3582237"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en-US" sz="2800" i="1">
                              <a:latin typeface="Cambria Math" panose="02040503050406030204" pitchFamily="18" charset="0"/>
                            </a:rPr>
                          </m:ctrlPr>
                        </m:sSubPr>
                        <m:e>
                          <m:r>
                            <a:rPr lang="zh-TW" altLang="en-US" sz="2800">
                              <a:latin typeface="Cambria Math" panose="02040503050406030204" pitchFamily="18" charset="0"/>
                            </a:rPr>
                            <m:t>ℒ</m:t>
                          </m:r>
                        </m:e>
                        <m:sub>
                          <m:r>
                            <m:rPr>
                              <m:sty m:val="p"/>
                            </m:rPr>
                            <a:rPr lang="zh-TW" altLang="en-US" sz="2800">
                              <a:latin typeface="Cambria Math" panose="02040503050406030204" pitchFamily="18" charset="0"/>
                            </a:rPr>
                            <m:t>new</m:t>
                          </m:r>
                        </m:sub>
                      </m:sSub>
                      <m:r>
                        <a:rPr lang="zh-TW" altLang="en-US" sz="2800" i="0">
                          <a:solidFill>
                            <a:schemeClr val="tx1"/>
                          </a:solidFill>
                          <a:latin typeface="Cambria Math" panose="02040503050406030204" pitchFamily="18" charset="0"/>
                        </a:rPr>
                        <m:t>=</m:t>
                      </m:r>
                      <m:r>
                        <a:rPr lang="zh-TW" altLang="en-US" sz="2800" i="0">
                          <a:solidFill>
                            <a:schemeClr val="tx1"/>
                          </a:solidFill>
                          <a:latin typeface="Cambria Math" panose="02040503050406030204" pitchFamily="18" charset="0"/>
                        </a:rPr>
                        <m:t>ℒ</m:t>
                      </m:r>
                      <m:r>
                        <a:rPr lang="zh-TW" altLang="en-US" sz="2800" i="0">
                          <a:solidFill>
                            <a:schemeClr val="tx1"/>
                          </a:solidFill>
                          <a:latin typeface="Cambria Math" panose="02040503050406030204" pitchFamily="18" charset="0"/>
                        </a:rPr>
                        <m:t>+</m:t>
                      </m:r>
                      <m:r>
                        <a:rPr lang="en-US" altLang="zh-TW" sz="2800" i="1">
                          <a:latin typeface="Cambria Math" panose="02040503050406030204" pitchFamily="18" charset="0"/>
                        </a:rPr>
                        <m:t>𝜆</m:t>
                      </m:r>
                      <m:f>
                        <m:fPr>
                          <m:ctrlPr>
                            <a:rPr lang="zh-TW" altLang="en-US" sz="2800" i="1">
                              <a:latin typeface="Cambria Math" panose="02040503050406030204" pitchFamily="18" charset="0"/>
                            </a:rPr>
                          </m:ctrlPr>
                        </m:fPr>
                        <m:num>
                          <m:r>
                            <a:rPr lang="zh-TW" altLang="en-US" sz="2800">
                              <a:latin typeface="Cambria Math" panose="02040503050406030204" pitchFamily="18" charset="0"/>
                            </a:rPr>
                            <m:t>1</m:t>
                          </m:r>
                        </m:num>
                        <m:den>
                          <m:r>
                            <a:rPr lang="zh-TW" altLang="en-US" sz="2800">
                              <a:latin typeface="Cambria Math" panose="02040503050406030204" pitchFamily="18" charset="0"/>
                            </a:rPr>
                            <m:t>2</m:t>
                          </m:r>
                        </m:den>
                      </m:f>
                      <m:sSubSup>
                        <m:sSubSupPr>
                          <m:ctrlPr>
                            <a:rPr lang="zh-TW" altLang="zh-TW" sz="2800" i="1">
                              <a:latin typeface="Cambria Math" panose="02040503050406030204" pitchFamily="18" charset="0"/>
                            </a:rPr>
                          </m:ctrlPr>
                        </m:sSubSupPr>
                        <m:e>
                          <m:d>
                            <m:dPr>
                              <m:begChr m:val="‖"/>
                              <m:endChr m:val="‖"/>
                              <m:ctrlPr>
                                <a:rPr lang="zh-TW" altLang="en-US" sz="2800" i="1">
                                  <a:latin typeface="Cambria Math" panose="02040503050406030204" pitchFamily="18" charset="0"/>
                                </a:rPr>
                              </m:ctrlPr>
                            </m:dPr>
                            <m:e>
                              <m:r>
                                <m:rPr>
                                  <m:sty m:val="p"/>
                                </m:rPr>
                                <a:rPr lang="zh-TW" altLang="en-US" sz="2800">
                                  <a:latin typeface="Cambria Math" panose="02040503050406030204" pitchFamily="18" charset="0"/>
                                </a:rPr>
                                <m:t>w</m:t>
                              </m:r>
                            </m:e>
                          </m:d>
                        </m:e>
                        <m:sub>
                          <m:r>
                            <a:rPr lang="en-US" altLang="zh-TW" sz="2800" i="1">
                              <a:latin typeface="Cambria Math" panose="02040503050406030204" pitchFamily="18" charset="0"/>
                            </a:rPr>
                            <m:t>2</m:t>
                          </m:r>
                        </m:sub>
                        <m:sup>
                          <m:r>
                            <a:rPr lang="en-US" altLang="zh-TW" sz="2800" i="1">
                              <a:latin typeface="Cambria Math" panose="02040503050406030204" pitchFamily="18" charset="0"/>
                            </a:rPr>
                            <m:t>2</m:t>
                          </m:r>
                        </m:sup>
                      </m:sSubSup>
                    </m:oMath>
                  </m:oMathPara>
                </a14:m>
                <a:endParaRPr lang="zh-TW" altLang="en-US" sz="2800" dirty="0"/>
              </a:p>
            </p:txBody>
          </p:sp>
        </mc:Choice>
        <mc:Fallback xmlns="">
          <p:sp>
            <p:nvSpPr>
              <p:cNvPr id="3" name="文字方塊 2">
                <a:extLst>
                  <a:ext uri="{FF2B5EF4-FFF2-40B4-BE49-F238E27FC236}">
                    <a16:creationId xmlns:a16="http://schemas.microsoft.com/office/drawing/2014/main" id="{023AD59A-31A7-A247-A24C-76DE88E58DCE}"/>
                  </a:ext>
                </a:extLst>
              </p:cNvPr>
              <p:cNvSpPr txBox="1">
                <a:spLocks noRot="1" noChangeAspect="1" noMove="1" noResize="1" noEditPoints="1" noAdjustHandles="1" noChangeArrowheads="1" noChangeShapeType="1" noTextEdit="1"/>
              </p:cNvSpPr>
              <p:nvPr/>
            </p:nvSpPr>
            <p:spPr>
              <a:xfrm>
                <a:off x="2124496" y="1550152"/>
                <a:ext cx="3582237" cy="898964"/>
              </a:xfrm>
              <a:prstGeom prst="rect">
                <a:avLst/>
              </a:prstGeom>
              <a:blipFill>
                <a:blip r:embed="rId8"/>
                <a:stretch>
                  <a:fillRect l="-1060" b="-8333"/>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158DEF73-6912-8E44-1F3C-965358AE1555}"/>
              </a:ext>
            </a:extLst>
          </p:cNvPr>
          <p:cNvSpPr txBox="1"/>
          <p:nvPr/>
        </p:nvSpPr>
        <p:spPr>
          <a:xfrm>
            <a:off x="981652" y="1846051"/>
            <a:ext cx="1326771" cy="400110"/>
          </a:xfrm>
          <a:prstGeom prst="rect">
            <a:avLst/>
          </a:prstGeom>
          <a:noFill/>
        </p:spPr>
        <p:txBody>
          <a:bodyPr wrap="square">
            <a:spAutoFit/>
          </a:bodyPr>
          <a:lstStyle/>
          <a:p>
            <a:r>
              <a:rPr lang="zh-TW" altLang="en-US" sz="2000" dirty="0">
                <a:solidFill>
                  <a:srgbClr val="FF0000"/>
                </a:solidFill>
              </a:rPr>
              <a:t>總目標：</a:t>
            </a:r>
          </a:p>
        </p:txBody>
      </p:sp>
      <p:sp>
        <p:nvSpPr>
          <p:cNvPr id="10" name="文字方塊 9">
            <a:extLst>
              <a:ext uri="{FF2B5EF4-FFF2-40B4-BE49-F238E27FC236}">
                <a16:creationId xmlns:a16="http://schemas.microsoft.com/office/drawing/2014/main" id="{70AEA66D-6621-E838-3B6D-441518A91C4C}"/>
              </a:ext>
            </a:extLst>
          </p:cNvPr>
          <p:cNvSpPr txBox="1"/>
          <p:nvPr/>
        </p:nvSpPr>
        <p:spPr>
          <a:xfrm>
            <a:off x="981652" y="5142524"/>
            <a:ext cx="1326770" cy="400110"/>
          </a:xfrm>
          <a:prstGeom prst="rect">
            <a:avLst/>
          </a:prstGeom>
          <a:noFill/>
        </p:spPr>
        <p:txBody>
          <a:bodyPr wrap="square">
            <a:spAutoFit/>
          </a:bodyPr>
          <a:lstStyle/>
          <a:p>
            <a:r>
              <a:rPr lang="en-US" altLang="zh-TW" sz="2000" dirty="0">
                <a:solidFill>
                  <a:srgbClr val="FF0000"/>
                </a:solidFill>
              </a:rPr>
              <a:t>GD</a:t>
            </a:r>
            <a:r>
              <a:rPr lang="zh-TW" altLang="en-US" sz="2000" dirty="0">
                <a:solidFill>
                  <a:srgbClr val="FF0000"/>
                </a:solidFill>
              </a:rPr>
              <a:t>：</a:t>
            </a:r>
          </a:p>
        </p:txBody>
      </p:sp>
    </p:spTree>
    <p:extLst>
      <p:ext uri="{BB962C8B-B14F-4D97-AF65-F5344CB8AC3E}">
        <p14:creationId xmlns:p14="http://schemas.microsoft.com/office/powerpoint/2010/main" val="328212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animBg="1"/>
      <p:bldP spid="11" grpId="0"/>
      <p:bldP spid="15"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E06C-788C-52B8-97CA-33751CC8C6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5633F34-F875-9FAB-431A-5DE64376F19B}"/>
              </a:ext>
            </a:extLst>
          </p:cNvPr>
          <p:cNvSpPr>
            <a:spLocks noGrp="1"/>
          </p:cNvSpPr>
          <p:nvPr>
            <p:ph type="title"/>
          </p:nvPr>
        </p:nvSpPr>
        <p:spPr/>
        <p:txBody>
          <a:bodyPr>
            <a:normAutofit fontScale="90000"/>
          </a:bodyPr>
          <a:lstStyle/>
          <a:p>
            <a:r>
              <a:rPr kumimoji="1" lang="en-US" altLang="zh-TW" dirty="0"/>
              <a:t>[</a:t>
            </a:r>
            <a:r>
              <a:rPr kumimoji="1" lang="zh-TW" altLang="en-US" dirty="0"/>
              <a:t>實作細節</a:t>
            </a:r>
            <a:r>
              <a:rPr kumimoji="1" lang="en-US" altLang="zh-TW" dirty="0"/>
              <a:t>] </a:t>
            </a:r>
            <a:r>
              <a:rPr kumimoji="1" lang="zh-TW" altLang="en-US" dirty="0"/>
              <a:t>把 </a:t>
            </a:r>
            <a:r>
              <a:rPr kumimoji="1" lang="en-US" altLang="zh-TW" dirty="0"/>
              <a:t>L2 Regularization </a:t>
            </a:r>
            <a:r>
              <a:rPr kumimoji="1" lang="zh-TW" altLang="en-US" dirty="0"/>
              <a:t>加到 </a:t>
            </a:r>
            <a:r>
              <a:rPr kumimoji="1" lang="en-US" altLang="zh-TW" dirty="0"/>
              <a:t>Adam</a:t>
            </a:r>
            <a:endParaRPr kumimoji="1" lang="zh-TW" altLang="en-US" dirty="0"/>
          </a:p>
        </p:txBody>
      </p:sp>
      <p:sp>
        <p:nvSpPr>
          <p:cNvPr id="4" name="投影片編號版面配置區 3">
            <a:extLst>
              <a:ext uri="{FF2B5EF4-FFF2-40B4-BE49-F238E27FC236}">
                <a16:creationId xmlns:a16="http://schemas.microsoft.com/office/drawing/2014/main" id="{92458B38-6C84-60AE-D0F8-91668D6B23C4}"/>
              </a:ext>
            </a:extLst>
          </p:cNvPr>
          <p:cNvSpPr>
            <a:spLocks noGrp="1"/>
          </p:cNvSpPr>
          <p:nvPr>
            <p:ph type="sldNum" sz="quarter" idx="12"/>
          </p:nvPr>
        </p:nvSpPr>
        <p:spPr/>
        <p:txBody>
          <a:bodyPr/>
          <a:lstStyle/>
          <a:p>
            <a:fld id="{6113E31D-E2AB-40D1-8B51-AFA5AFEF393A}" type="slidenum">
              <a:rPr lang="en-US" smtClean="0"/>
              <a:pPr/>
              <a:t>22</a:t>
            </a:fld>
            <a:endParaRPr lang="en-US"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27A9ED2-0F25-9051-86A2-DBB0F59334EE}"/>
                  </a:ext>
                </a:extLst>
              </p:cNvPr>
              <p:cNvSpPr txBox="1"/>
              <p:nvPr/>
            </p:nvSpPr>
            <p:spPr>
              <a:xfrm>
                <a:off x="977153" y="2744076"/>
                <a:ext cx="6096000" cy="461665"/>
              </a:xfrm>
              <a:prstGeom prst="rect">
                <a:avLst/>
              </a:prstGeom>
              <a:noFill/>
            </p:spPr>
            <p:txBody>
              <a:bodyPr wrap="square">
                <a:spAutoFit/>
              </a:bodyPr>
              <a:lstStyle/>
              <a:p>
                <a:r>
                  <a:rPr lang="en-US" altLang="zh-TW" sz="2400" dirty="0"/>
                  <a:t>1️⃣ </a:t>
                </a:r>
                <a:r>
                  <a:rPr lang="zh-TW" altLang="en-US" sz="2400" dirty="0"/>
                  <a:t>計算梯度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m:t>
                        </m:r>
                      </m:e>
                      <m:sub>
                        <m:r>
                          <m:rPr>
                            <m:sty m:val="p"/>
                          </m:rPr>
                          <a:rPr lang="zh-TW" altLang="en-US" sz="2400" i="0">
                            <a:solidFill>
                              <a:schemeClr val="tx1"/>
                            </a:solidFill>
                            <a:latin typeface="Cambria Math" panose="02040503050406030204" pitchFamily="18" charset="0"/>
                          </a:rPr>
                          <m:t>w</m:t>
                        </m:r>
                      </m:sub>
                    </m:sSub>
                    <m:r>
                      <a:rPr lang="zh-TW" altLang="en-US" sz="2400" i="1">
                        <a:solidFill>
                          <a:schemeClr val="tx1"/>
                        </a:solidFill>
                        <a:latin typeface="Cambria Math" panose="02040503050406030204" pitchFamily="18" charset="0"/>
                      </a:rPr>
                      <m:t>𝑓</m:t>
                    </m:r>
                    <m:d>
                      <m:dPr>
                        <m:ctrlPr>
                          <a:rPr lang="zh-TW" altLang="en-US" sz="2400" i="1">
                            <a:solidFill>
                              <a:schemeClr val="tx1"/>
                            </a:solidFill>
                            <a:latin typeface="Cambria Math" panose="02040503050406030204" pitchFamily="18" charset="0"/>
                          </a:rPr>
                        </m:ctrlPr>
                      </m:dPr>
                      <m:e>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e>
                    </m:d>
                  </m:oMath>
                </a14:m>
                <a:endParaRPr lang="zh-TW" altLang="en-US" sz="2400" dirty="0">
                  <a:solidFill>
                    <a:schemeClr val="tx1"/>
                  </a:solidFill>
                </a:endParaRPr>
              </a:p>
            </p:txBody>
          </p:sp>
        </mc:Choice>
        <mc:Fallback xmlns="">
          <p:sp>
            <p:nvSpPr>
              <p:cNvPr id="7" name="文字方塊 6">
                <a:extLst>
                  <a:ext uri="{FF2B5EF4-FFF2-40B4-BE49-F238E27FC236}">
                    <a16:creationId xmlns:a16="http://schemas.microsoft.com/office/drawing/2014/main" id="{662C5CA2-BB84-0622-4FFD-E7246B8F538D}"/>
                  </a:ext>
                </a:extLst>
              </p:cNvPr>
              <p:cNvSpPr txBox="1">
                <a:spLocks noRot="1" noChangeAspect="1" noMove="1" noResize="1" noEditPoints="1" noAdjustHandles="1" noChangeArrowheads="1" noChangeShapeType="1" noTextEdit="1"/>
              </p:cNvSpPr>
              <p:nvPr/>
            </p:nvSpPr>
            <p:spPr>
              <a:xfrm>
                <a:off x="977153" y="2744076"/>
                <a:ext cx="6096000" cy="461665"/>
              </a:xfrm>
              <a:prstGeom prst="rect">
                <a:avLst/>
              </a:prstGeom>
              <a:blipFill>
                <a:blip r:embed="rId3"/>
                <a:stretch>
                  <a:fillRect l="-1455"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99597E36-CD6B-D745-18BF-ADF5D87D2108}"/>
                  </a:ext>
                </a:extLst>
              </p:cNvPr>
              <p:cNvSpPr txBox="1"/>
              <p:nvPr/>
            </p:nvSpPr>
            <p:spPr>
              <a:xfrm>
                <a:off x="977152" y="3372284"/>
                <a:ext cx="10363201" cy="461665"/>
              </a:xfrm>
              <a:prstGeom prst="rect">
                <a:avLst/>
              </a:prstGeom>
              <a:noFill/>
            </p:spPr>
            <p:txBody>
              <a:bodyPr wrap="square">
                <a:spAutoFit/>
              </a:bodyPr>
              <a:lstStyle/>
              <a:p>
                <a:r>
                  <a:rPr lang="en-US" altLang="zh-TW" sz="2400" dirty="0">
                    <a:solidFill>
                      <a:schemeClr val="bg1">
                        <a:lumMod val="50000"/>
                      </a:schemeClr>
                    </a:solidFill>
                  </a:rPr>
                  <a:t>2️⃣ </a:t>
                </a:r>
                <a:r>
                  <a:rPr lang="zh-TW" altLang="en-US" sz="2400" dirty="0">
                    <a:solidFill>
                      <a:schemeClr val="bg1">
                        <a:lumMod val="50000"/>
                      </a:schemeClr>
                    </a:solidFill>
                  </a:rPr>
                  <a:t>以移動平均紀錄梯度 </a:t>
                </a:r>
                <a14:m>
                  <m:oMath xmlns:m="http://schemas.openxmlformats.org/officeDocument/2006/math">
                    <m:sSub>
                      <m:sSubPr>
                        <m:ctrlPr>
                          <a:rPr lang="zh-TW" altLang="en-US" sz="2400" i="1" smtClean="0">
                            <a:solidFill>
                              <a:schemeClr val="bg1">
                                <a:lumMod val="50000"/>
                              </a:schemeClr>
                            </a:solidFill>
                            <a:latin typeface="Cambria Math" panose="02040503050406030204" pitchFamily="18" charset="0"/>
                          </a:rPr>
                        </m:ctrlPr>
                      </m:sSubPr>
                      <m:e>
                        <m:r>
                          <a:rPr lang="zh-TW" altLang="en-US" sz="2400" i="1">
                            <a:solidFill>
                              <a:schemeClr val="bg1">
                                <a:lumMod val="50000"/>
                              </a:schemeClr>
                            </a:solidFill>
                            <a:latin typeface="Cambria Math" panose="02040503050406030204" pitchFamily="18" charset="0"/>
                          </a:rPr>
                          <m:t>𝑔</m:t>
                        </m:r>
                      </m:e>
                      <m:sub>
                        <m:r>
                          <a:rPr lang="zh-TW" altLang="en-US" sz="2400" i="1">
                            <a:solidFill>
                              <a:schemeClr val="bg1">
                                <a:lumMod val="50000"/>
                              </a:schemeClr>
                            </a:solidFill>
                            <a:latin typeface="Cambria Math" panose="02040503050406030204" pitchFamily="18" charset="0"/>
                          </a:rPr>
                          <m:t>𝑡</m:t>
                        </m:r>
                      </m:sub>
                    </m:sSub>
                  </m:oMath>
                </a14:m>
                <a:r>
                  <a:rPr lang="en-US" altLang="zh-TW" sz="2400" dirty="0">
                    <a:solidFill>
                      <a:schemeClr val="bg1">
                        <a:lumMod val="50000"/>
                      </a:schemeClr>
                    </a:solidFill>
                  </a:rPr>
                  <a:t> (</a:t>
                </a:r>
                <a:r>
                  <a:rPr lang="zh-TW" altLang="en-US" sz="2400" dirty="0">
                    <a:solidFill>
                      <a:schemeClr val="bg1">
                        <a:lumMod val="50000"/>
                      </a:schemeClr>
                    </a:solidFill>
                  </a:rPr>
                  <a:t>為了對梯度動手腳 </a:t>
                </a:r>
                <a:r>
                  <a:rPr lang="en-US" altLang="zh-TW" sz="2400" dirty="0">
                    <a:solidFill>
                      <a:schemeClr val="bg1">
                        <a:lumMod val="50000"/>
                      </a:schemeClr>
                    </a:solidFill>
                  </a:rPr>
                  <a:t>-- Momentum)</a:t>
                </a:r>
                <a:endParaRPr lang="zh-TW" altLang="en-US" sz="2400" dirty="0">
                  <a:solidFill>
                    <a:schemeClr val="bg1">
                      <a:lumMod val="50000"/>
                    </a:schemeClr>
                  </a:solidFill>
                </a:endParaRPr>
              </a:p>
            </p:txBody>
          </p:sp>
        </mc:Choice>
        <mc:Fallback xmlns="">
          <p:sp>
            <p:nvSpPr>
              <p:cNvPr id="8" name="文字方塊 7">
                <a:extLst>
                  <a:ext uri="{FF2B5EF4-FFF2-40B4-BE49-F238E27FC236}">
                    <a16:creationId xmlns:a16="http://schemas.microsoft.com/office/drawing/2014/main" id="{99597E36-CD6B-D745-18BF-ADF5D87D2108}"/>
                  </a:ext>
                </a:extLst>
              </p:cNvPr>
              <p:cNvSpPr txBox="1">
                <a:spLocks noRot="1" noChangeAspect="1" noMove="1" noResize="1" noEditPoints="1" noAdjustHandles="1" noChangeArrowheads="1" noChangeShapeType="1" noTextEdit="1"/>
              </p:cNvSpPr>
              <p:nvPr/>
            </p:nvSpPr>
            <p:spPr>
              <a:xfrm>
                <a:off x="977152" y="3372284"/>
                <a:ext cx="10363201" cy="461665"/>
              </a:xfrm>
              <a:prstGeom prst="rect">
                <a:avLst/>
              </a:prstGeom>
              <a:blipFill>
                <a:blip r:embed="rId4"/>
                <a:stretch>
                  <a:fillRect l="-857"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CDD7EFE6-C343-1E66-E012-56ABF05C6794}"/>
                  </a:ext>
                </a:extLst>
              </p:cNvPr>
              <p:cNvSpPr txBox="1"/>
              <p:nvPr/>
            </p:nvSpPr>
            <p:spPr>
              <a:xfrm>
                <a:off x="977153" y="4000492"/>
                <a:ext cx="9502588" cy="472245"/>
              </a:xfrm>
              <a:prstGeom prst="rect">
                <a:avLst/>
              </a:prstGeom>
              <a:noFill/>
            </p:spPr>
            <p:txBody>
              <a:bodyPr wrap="square">
                <a:spAutoFit/>
              </a:bodyPr>
              <a:lstStyle/>
              <a:p>
                <a:r>
                  <a:rPr lang="en-US" altLang="zh-TW" sz="2400" dirty="0">
                    <a:solidFill>
                      <a:schemeClr val="bg1">
                        <a:lumMod val="50000"/>
                      </a:schemeClr>
                    </a:solidFill>
                  </a:rPr>
                  <a:t>3️⃣ </a:t>
                </a:r>
                <a:r>
                  <a:rPr lang="zh-TW" altLang="en-US" sz="2400" dirty="0">
                    <a:solidFill>
                      <a:schemeClr val="bg1">
                        <a:lumMod val="50000"/>
                      </a:schemeClr>
                    </a:solidFill>
                  </a:rPr>
                  <a:t>以移動平均紀錄梯度平方</a:t>
                </a:r>
                <a:r>
                  <a:rPr lang="en-US" altLang="zh-TW" sz="2400" dirty="0">
                    <a:solidFill>
                      <a:schemeClr val="bg1">
                        <a:lumMod val="50000"/>
                      </a:schemeClr>
                    </a:solidFill>
                  </a:rPr>
                  <a:t> </a:t>
                </a:r>
                <a14:m>
                  <m:oMath xmlns:m="http://schemas.openxmlformats.org/officeDocument/2006/math">
                    <m:sSubSup>
                      <m:sSubSupPr>
                        <m:ctrlPr>
                          <a:rPr lang="zh-TW" altLang="zh-TW" sz="2400" i="1">
                            <a:solidFill>
                              <a:schemeClr val="bg1">
                                <a:lumMod val="50000"/>
                              </a:schemeClr>
                            </a:solidFill>
                            <a:latin typeface="Cambria Math" panose="02040503050406030204" pitchFamily="18" charset="0"/>
                          </a:rPr>
                        </m:ctrlPr>
                      </m:sSubSupPr>
                      <m:e>
                        <m:r>
                          <a:rPr lang="en-US" altLang="zh-TW" sz="2400" i="1">
                            <a:solidFill>
                              <a:schemeClr val="bg1">
                                <a:lumMod val="50000"/>
                              </a:schemeClr>
                            </a:solidFill>
                            <a:latin typeface="Cambria Math" panose="02040503050406030204" pitchFamily="18" charset="0"/>
                          </a:rPr>
                          <m:t>𝑔</m:t>
                        </m:r>
                      </m:e>
                      <m:sub>
                        <m:r>
                          <a:rPr lang="en-US" altLang="zh-TW" sz="2400" i="1">
                            <a:solidFill>
                              <a:schemeClr val="bg1">
                                <a:lumMod val="50000"/>
                              </a:schemeClr>
                            </a:solidFill>
                            <a:latin typeface="Cambria Math" panose="02040503050406030204" pitchFamily="18" charset="0"/>
                          </a:rPr>
                          <m:t>𝑡</m:t>
                        </m:r>
                      </m:sub>
                      <m:sup>
                        <m:r>
                          <a:rPr lang="en-US" altLang="zh-TW" sz="2400" i="1">
                            <a:solidFill>
                              <a:schemeClr val="bg1">
                                <a:lumMod val="50000"/>
                              </a:schemeClr>
                            </a:solidFill>
                            <a:latin typeface="Cambria Math" panose="02040503050406030204" pitchFamily="18" charset="0"/>
                          </a:rPr>
                          <m:t>2</m:t>
                        </m:r>
                      </m:sup>
                    </m:sSubSup>
                  </m:oMath>
                </a14:m>
                <a:r>
                  <a:rPr lang="zh-TW" altLang="en-US" sz="2400" dirty="0">
                    <a:solidFill>
                      <a:schemeClr val="bg1">
                        <a:lumMod val="50000"/>
                      </a:schemeClr>
                    </a:solidFill>
                  </a:rPr>
                  <a:t> </a:t>
                </a:r>
                <a:r>
                  <a:rPr lang="en-US" altLang="zh-TW" sz="2400" dirty="0">
                    <a:solidFill>
                      <a:schemeClr val="bg1">
                        <a:lumMod val="50000"/>
                      </a:schemeClr>
                    </a:solidFill>
                  </a:rPr>
                  <a:t>(</a:t>
                </a:r>
                <a:r>
                  <a:rPr lang="zh-TW" altLang="en-US" sz="2400" dirty="0">
                    <a:solidFill>
                      <a:schemeClr val="bg1">
                        <a:lumMod val="50000"/>
                      </a:schemeClr>
                    </a:solidFill>
                  </a:rPr>
                  <a:t>為了調整學習率</a:t>
                </a:r>
                <a:r>
                  <a:rPr lang="en-US" altLang="zh-TW" sz="2400" dirty="0">
                    <a:solidFill>
                      <a:schemeClr val="bg1">
                        <a:lumMod val="50000"/>
                      </a:schemeClr>
                    </a:solidFill>
                  </a:rPr>
                  <a:t> -- Adagrad)</a:t>
                </a:r>
                <a:endParaRPr lang="zh-TW" altLang="zh-TW" sz="2400" dirty="0">
                  <a:solidFill>
                    <a:schemeClr val="bg1">
                      <a:lumMod val="50000"/>
                    </a:schemeClr>
                  </a:solidFill>
                </a:endParaRPr>
              </a:p>
            </p:txBody>
          </p:sp>
        </mc:Choice>
        <mc:Fallback xmlns="">
          <p:sp>
            <p:nvSpPr>
              <p:cNvPr id="9" name="文字方塊 8">
                <a:extLst>
                  <a:ext uri="{FF2B5EF4-FFF2-40B4-BE49-F238E27FC236}">
                    <a16:creationId xmlns:a16="http://schemas.microsoft.com/office/drawing/2014/main" id="{CDD7EFE6-C343-1E66-E012-56ABF05C6794}"/>
                  </a:ext>
                </a:extLst>
              </p:cNvPr>
              <p:cNvSpPr txBox="1">
                <a:spLocks noRot="1" noChangeAspect="1" noMove="1" noResize="1" noEditPoints="1" noAdjustHandles="1" noChangeArrowheads="1" noChangeShapeType="1" noTextEdit="1"/>
              </p:cNvSpPr>
              <p:nvPr/>
            </p:nvSpPr>
            <p:spPr>
              <a:xfrm>
                <a:off x="977153" y="4000492"/>
                <a:ext cx="9502588" cy="472245"/>
              </a:xfrm>
              <a:prstGeom prst="rect">
                <a:avLst/>
              </a:prstGeom>
              <a:blipFill>
                <a:blip r:embed="rId5"/>
                <a:stretch>
                  <a:fillRect l="-933" t="-10256" b="-256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82CD3D5E-D515-FAC9-E869-FC9AC25CEBCA}"/>
                  </a:ext>
                </a:extLst>
              </p:cNvPr>
              <p:cNvSpPr txBox="1"/>
              <p:nvPr/>
            </p:nvSpPr>
            <p:spPr>
              <a:xfrm>
                <a:off x="977153" y="4639280"/>
                <a:ext cx="9502588" cy="694742"/>
              </a:xfrm>
              <a:prstGeom prst="rect">
                <a:avLst/>
              </a:prstGeom>
              <a:noFill/>
            </p:spPr>
            <p:txBody>
              <a:bodyPr wrap="square">
                <a:spAutoFit/>
              </a:bodyPr>
              <a:lstStyle/>
              <a:p>
                <a:r>
                  <a:rPr lang="en-US" altLang="zh-TW" sz="2400" dirty="0">
                    <a:solidFill>
                      <a:schemeClr val="bg1">
                        <a:lumMod val="50000"/>
                      </a:schemeClr>
                    </a:solidFill>
                  </a:rPr>
                  <a:t>4️⃣ </a:t>
                </a:r>
                <a:r>
                  <a:rPr lang="zh-TW" altLang="en-US" sz="2400" dirty="0">
                    <a:solidFill>
                      <a:schemeClr val="bg1">
                        <a:lumMod val="50000"/>
                      </a:schemeClr>
                    </a:solidFill>
                  </a:rPr>
                  <a:t>更新參數 </a:t>
                </a:r>
                <a14:m>
                  <m:oMath xmlns:m="http://schemas.openxmlformats.org/officeDocument/2006/math">
                    <m:sSub>
                      <m:sSubPr>
                        <m:ctrlPr>
                          <a:rPr lang="zh-TW" altLang="zh-TW" sz="2400" i="1">
                            <a:solidFill>
                              <a:schemeClr val="bg1">
                                <a:lumMod val="50000"/>
                              </a:schemeClr>
                            </a:solidFill>
                            <a:latin typeface="Cambria Math" panose="02040503050406030204" pitchFamily="18" charset="0"/>
                          </a:rPr>
                        </m:ctrlPr>
                      </m:sSubPr>
                      <m:e>
                        <m:r>
                          <a:rPr lang="en-US" altLang="zh-TW" sz="2400" i="1">
                            <a:solidFill>
                              <a:schemeClr val="bg1">
                                <a:lumMod val="50000"/>
                              </a:schemeClr>
                            </a:solidFill>
                            <a:latin typeface="Cambria Math" panose="02040503050406030204" pitchFamily="18" charset="0"/>
                          </a:rPr>
                          <m:t>𝑤</m:t>
                        </m:r>
                      </m:e>
                      <m:sub>
                        <m:r>
                          <a:rPr lang="en-US" altLang="zh-TW" sz="2400" i="1">
                            <a:solidFill>
                              <a:schemeClr val="bg1">
                                <a:lumMod val="50000"/>
                              </a:schemeClr>
                            </a:solidFill>
                            <a:latin typeface="Cambria Math" panose="02040503050406030204" pitchFamily="18" charset="0"/>
                          </a:rPr>
                          <m:t>𝑡</m:t>
                        </m:r>
                      </m:sub>
                    </m:sSub>
                    <m:r>
                      <a:rPr lang="en-US" altLang="zh-TW" sz="2400" i="1">
                        <a:solidFill>
                          <a:schemeClr val="bg1">
                            <a:lumMod val="50000"/>
                          </a:schemeClr>
                        </a:solidFill>
                        <a:latin typeface="Cambria Math" panose="02040503050406030204" pitchFamily="18" charset="0"/>
                      </a:rPr>
                      <m:t>←</m:t>
                    </m:r>
                    <m:sSub>
                      <m:sSubPr>
                        <m:ctrlPr>
                          <a:rPr lang="zh-TW" altLang="zh-TW" sz="2400" i="1">
                            <a:solidFill>
                              <a:schemeClr val="bg1">
                                <a:lumMod val="50000"/>
                              </a:schemeClr>
                            </a:solidFill>
                            <a:latin typeface="Cambria Math" panose="02040503050406030204" pitchFamily="18" charset="0"/>
                          </a:rPr>
                        </m:ctrlPr>
                      </m:sSubPr>
                      <m:e>
                        <m:r>
                          <a:rPr lang="en-US" altLang="zh-TW" sz="2400" i="1">
                            <a:solidFill>
                              <a:schemeClr val="bg1">
                                <a:lumMod val="50000"/>
                              </a:schemeClr>
                            </a:solidFill>
                            <a:latin typeface="Cambria Math" panose="02040503050406030204" pitchFamily="18" charset="0"/>
                          </a:rPr>
                          <m:t>𝑤</m:t>
                        </m:r>
                      </m:e>
                      <m:sub>
                        <m:r>
                          <a:rPr lang="en-US" altLang="zh-TW" sz="2400" i="1">
                            <a:solidFill>
                              <a:schemeClr val="bg1">
                                <a:lumMod val="50000"/>
                              </a:schemeClr>
                            </a:solidFill>
                            <a:latin typeface="Cambria Math" panose="02040503050406030204" pitchFamily="18" charset="0"/>
                          </a:rPr>
                          <m:t>𝑡</m:t>
                        </m:r>
                        <m:r>
                          <a:rPr lang="en-US" altLang="zh-TW" sz="2400" i="1">
                            <a:solidFill>
                              <a:schemeClr val="bg1">
                                <a:lumMod val="50000"/>
                              </a:schemeClr>
                            </a:solidFill>
                            <a:latin typeface="Cambria Math" panose="02040503050406030204" pitchFamily="18" charset="0"/>
                          </a:rPr>
                          <m:t>−1</m:t>
                        </m:r>
                      </m:sub>
                    </m:sSub>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𝜂</m:t>
                    </m:r>
                    <m:sSub>
                      <m:sSubPr>
                        <m:ctrlPr>
                          <a:rPr lang="zh-TW" altLang="zh-TW" sz="2400" i="1">
                            <a:solidFill>
                              <a:schemeClr val="bg1">
                                <a:lumMod val="50000"/>
                              </a:schemeClr>
                            </a:solidFill>
                            <a:latin typeface="Cambria Math" panose="02040503050406030204" pitchFamily="18" charset="0"/>
                          </a:rPr>
                        </m:ctrlPr>
                      </m:sSubPr>
                      <m:e>
                        <m:acc>
                          <m:accPr>
                            <m:chr m:val="̂"/>
                            <m:ctrlPr>
                              <a:rPr lang="zh-TW" altLang="zh-TW" sz="2400" i="1">
                                <a:solidFill>
                                  <a:schemeClr val="bg1">
                                    <a:lumMod val="50000"/>
                                  </a:schemeClr>
                                </a:solidFill>
                                <a:latin typeface="Cambria Math" panose="02040503050406030204" pitchFamily="18" charset="0"/>
                              </a:rPr>
                            </m:ctrlPr>
                          </m:accPr>
                          <m:e>
                            <m:r>
                              <a:rPr lang="en-US" altLang="zh-TW" sz="2400" i="1">
                                <a:solidFill>
                                  <a:schemeClr val="bg1">
                                    <a:lumMod val="50000"/>
                                  </a:schemeClr>
                                </a:solidFill>
                                <a:latin typeface="Cambria Math" panose="02040503050406030204" pitchFamily="18" charset="0"/>
                              </a:rPr>
                              <m:t>𝑚</m:t>
                            </m:r>
                          </m:e>
                        </m:acc>
                      </m:e>
                      <m:sub>
                        <m:r>
                          <a:rPr lang="en-US" altLang="zh-TW" sz="2400" i="1">
                            <a:solidFill>
                              <a:schemeClr val="bg1">
                                <a:lumMod val="50000"/>
                              </a:schemeClr>
                            </a:solidFill>
                            <a:latin typeface="Cambria Math" panose="02040503050406030204" pitchFamily="18" charset="0"/>
                          </a:rPr>
                          <m:t>𝑡</m:t>
                        </m:r>
                      </m:sub>
                    </m:sSub>
                    <m:f>
                      <m:fPr>
                        <m:ctrlPr>
                          <a:rPr lang="zh-TW" altLang="zh-TW" sz="2400" i="1">
                            <a:solidFill>
                              <a:schemeClr val="bg1">
                                <a:lumMod val="50000"/>
                              </a:schemeClr>
                            </a:solidFill>
                            <a:latin typeface="Cambria Math" panose="02040503050406030204" pitchFamily="18" charset="0"/>
                          </a:rPr>
                        </m:ctrlPr>
                      </m:fPr>
                      <m:num>
                        <m:r>
                          <a:rPr lang="en-US" altLang="zh-TW" sz="2400" b="0" i="1" smtClean="0">
                            <a:solidFill>
                              <a:schemeClr val="bg1">
                                <a:lumMod val="50000"/>
                              </a:schemeClr>
                            </a:solidFill>
                            <a:latin typeface="Cambria Math" panose="02040503050406030204" pitchFamily="18" charset="0"/>
                          </a:rPr>
                          <m:t>1</m:t>
                        </m:r>
                      </m:num>
                      <m:den>
                        <m:rad>
                          <m:radPr>
                            <m:degHide m:val="on"/>
                            <m:ctrlPr>
                              <a:rPr lang="zh-TW" altLang="zh-TW" sz="2400" i="1">
                                <a:solidFill>
                                  <a:schemeClr val="bg1">
                                    <a:lumMod val="50000"/>
                                  </a:schemeClr>
                                </a:solidFill>
                                <a:latin typeface="Cambria Math" panose="02040503050406030204" pitchFamily="18" charset="0"/>
                              </a:rPr>
                            </m:ctrlPr>
                          </m:radPr>
                          <m:deg/>
                          <m:e>
                            <m:sSub>
                              <m:sSubPr>
                                <m:ctrlPr>
                                  <a:rPr lang="zh-TW" altLang="zh-TW" sz="2400" i="1">
                                    <a:solidFill>
                                      <a:schemeClr val="bg1">
                                        <a:lumMod val="50000"/>
                                      </a:schemeClr>
                                    </a:solidFill>
                                    <a:latin typeface="Cambria Math" panose="02040503050406030204" pitchFamily="18" charset="0"/>
                                  </a:rPr>
                                </m:ctrlPr>
                              </m:sSubPr>
                              <m:e>
                                <m:acc>
                                  <m:accPr>
                                    <m:chr m:val="̂"/>
                                    <m:ctrlPr>
                                      <a:rPr lang="zh-TW" altLang="zh-TW" sz="2400" i="1">
                                        <a:solidFill>
                                          <a:schemeClr val="bg1">
                                            <a:lumMod val="50000"/>
                                          </a:schemeClr>
                                        </a:solidFill>
                                        <a:latin typeface="Cambria Math" panose="02040503050406030204" pitchFamily="18" charset="0"/>
                                      </a:rPr>
                                    </m:ctrlPr>
                                  </m:accPr>
                                  <m:e>
                                    <m:r>
                                      <a:rPr lang="en-US" altLang="zh-TW" sz="2400" i="1">
                                        <a:solidFill>
                                          <a:schemeClr val="bg1">
                                            <a:lumMod val="50000"/>
                                          </a:schemeClr>
                                        </a:solidFill>
                                        <a:latin typeface="Cambria Math" panose="02040503050406030204" pitchFamily="18" charset="0"/>
                                      </a:rPr>
                                      <m:t>𝑣</m:t>
                                    </m:r>
                                  </m:e>
                                </m:acc>
                              </m:e>
                              <m:sub>
                                <m:r>
                                  <a:rPr lang="en-US" altLang="zh-TW" sz="2400" i="1">
                                    <a:solidFill>
                                      <a:schemeClr val="bg1">
                                        <a:lumMod val="50000"/>
                                      </a:schemeClr>
                                    </a:solidFill>
                                    <a:latin typeface="Cambria Math" panose="02040503050406030204" pitchFamily="18" charset="0"/>
                                  </a:rPr>
                                  <m:t>𝑡</m:t>
                                </m:r>
                              </m:sub>
                            </m:sSub>
                          </m:e>
                        </m:rad>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𝜖</m:t>
                        </m:r>
                      </m:den>
                    </m:f>
                  </m:oMath>
                </a14:m>
                <a:endParaRPr lang="zh-TW" altLang="zh-TW" sz="2400" dirty="0">
                  <a:solidFill>
                    <a:schemeClr val="bg1">
                      <a:lumMod val="50000"/>
                    </a:schemeClr>
                  </a:solidFill>
                </a:endParaRPr>
              </a:p>
            </p:txBody>
          </p:sp>
        </mc:Choice>
        <mc:Fallback xmlns="">
          <p:sp>
            <p:nvSpPr>
              <p:cNvPr id="10" name="文字方塊 9">
                <a:extLst>
                  <a:ext uri="{FF2B5EF4-FFF2-40B4-BE49-F238E27FC236}">
                    <a16:creationId xmlns:a16="http://schemas.microsoft.com/office/drawing/2014/main" id="{82CD3D5E-D515-FAC9-E869-FC9AC25CEBCA}"/>
                  </a:ext>
                </a:extLst>
              </p:cNvPr>
              <p:cNvSpPr txBox="1">
                <a:spLocks noRot="1" noChangeAspect="1" noMove="1" noResize="1" noEditPoints="1" noAdjustHandles="1" noChangeArrowheads="1" noChangeShapeType="1" noTextEdit="1"/>
              </p:cNvSpPr>
              <p:nvPr/>
            </p:nvSpPr>
            <p:spPr>
              <a:xfrm>
                <a:off x="977153" y="4639280"/>
                <a:ext cx="9502588" cy="694742"/>
              </a:xfrm>
              <a:prstGeom prst="rect">
                <a:avLst/>
              </a:prstGeom>
              <a:blipFill>
                <a:blip r:embed="rId6"/>
                <a:stretch>
                  <a:fillRect l="-933"/>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0949467C-1795-6795-ECC0-B27E8AB01315}"/>
              </a:ext>
            </a:extLst>
          </p:cNvPr>
          <p:cNvSpPr/>
          <p:nvPr/>
        </p:nvSpPr>
        <p:spPr>
          <a:xfrm>
            <a:off x="997759" y="2644419"/>
            <a:ext cx="5156857" cy="6175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2142D9C-6F6C-78B0-7DF5-91EE4D20B0D8}"/>
                  </a:ext>
                </a:extLst>
              </p:cNvPr>
              <p:cNvSpPr txBox="1"/>
              <p:nvPr/>
            </p:nvSpPr>
            <p:spPr>
              <a:xfrm>
                <a:off x="4687638" y="2733454"/>
                <a:ext cx="16495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FF0000"/>
                          </a:solidFill>
                          <a:latin typeface="Cambria Math" panose="02040503050406030204" pitchFamily="18" charset="0"/>
                        </a:rPr>
                        <m:t>+ </m:t>
                      </m:r>
                      <m:r>
                        <a:rPr lang="en-US" altLang="zh-TW" sz="2400" i="1">
                          <a:solidFill>
                            <a:srgbClr val="FF0000"/>
                          </a:solidFill>
                          <a:latin typeface="Cambria Math" panose="02040503050406030204" pitchFamily="18" charset="0"/>
                        </a:rPr>
                        <m:t>𝜆</m:t>
                      </m:r>
                      <m:sSub>
                        <m:sSubPr>
                          <m:ctrlPr>
                            <a:rPr lang="zh-TW" altLang="en-US" sz="2400" i="1">
                              <a:solidFill>
                                <a:srgbClr val="FF0000"/>
                              </a:solidFill>
                              <a:latin typeface="Cambria Math" panose="02040503050406030204" pitchFamily="18" charset="0"/>
                            </a:rPr>
                          </m:ctrlPr>
                        </m:sSubPr>
                        <m:e>
                          <m:r>
                            <m:rPr>
                              <m:sty m:val="p"/>
                            </m:rPr>
                            <a:rPr lang="zh-TW" altLang="en-US" sz="2400">
                              <a:solidFill>
                                <a:srgbClr val="FF0000"/>
                              </a:solidFill>
                              <a:latin typeface="Cambria Math" panose="02040503050406030204" pitchFamily="18" charset="0"/>
                            </a:rPr>
                            <m:t>w</m:t>
                          </m:r>
                        </m:e>
                        <m:sub>
                          <m:r>
                            <a:rPr lang="zh-TW" altLang="en-US" sz="2400" i="1">
                              <a:solidFill>
                                <a:srgbClr val="FF0000"/>
                              </a:solidFill>
                              <a:latin typeface="Cambria Math" panose="02040503050406030204" pitchFamily="18" charset="0"/>
                            </a:rPr>
                            <m:t>𝑡</m:t>
                          </m:r>
                          <m:r>
                            <a:rPr lang="zh-TW" altLang="en-US" sz="2400">
                              <a:solidFill>
                                <a:srgbClr val="FF0000"/>
                              </a:solidFill>
                              <a:latin typeface="Cambria Math" panose="02040503050406030204" pitchFamily="18" charset="0"/>
                            </a:rPr>
                            <m:t>−1</m:t>
                          </m:r>
                        </m:sub>
                      </m:sSub>
                    </m:oMath>
                  </m:oMathPara>
                </a14:m>
                <a:endParaRPr lang="zh-TW" altLang="en-US" sz="2400" dirty="0">
                  <a:solidFill>
                    <a:srgbClr val="FF0000"/>
                  </a:solidFill>
                </a:endParaRPr>
              </a:p>
            </p:txBody>
          </p:sp>
        </mc:Choice>
        <mc:Fallback xmlns="">
          <p:sp>
            <p:nvSpPr>
              <p:cNvPr id="11" name="文字方塊 10">
                <a:extLst>
                  <a:ext uri="{FF2B5EF4-FFF2-40B4-BE49-F238E27FC236}">
                    <a16:creationId xmlns:a16="http://schemas.microsoft.com/office/drawing/2014/main" id="{C2142D9C-6F6C-78B0-7DF5-91EE4D20B0D8}"/>
                  </a:ext>
                </a:extLst>
              </p:cNvPr>
              <p:cNvSpPr txBox="1">
                <a:spLocks noRot="1" noChangeAspect="1" noMove="1" noResize="1" noEditPoints="1" noAdjustHandles="1" noChangeArrowheads="1" noChangeShapeType="1" noTextEdit="1"/>
              </p:cNvSpPr>
              <p:nvPr/>
            </p:nvSpPr>
            <p:spPr>
              <a:xfrm>
                <a:off x="4687638" y="2733454"/>
                <a:ext cx="1649506" cy="461665"/>
              </a:xfrm>
              <a:prstGeom prst="rect">
                <a:avLst/>
              </a:prstGeom>
              <a:blipFill>
                <a:blip r:embed="rId7"/>
                <a:stretch>
                  <a:fillRect b="-21622"/>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D69B4D4C-261B-5F5B-1251-45D00AA62515}"/>
              </a:ext>
            </a:extLst>
          </p:cNvPr>
          <p:cNvSpPr txBox="1"/>
          <p:nvPr/>
        </p:nvSpPr>
        <p:spPr>
          <a:xfrm>
            <a:off x="1361032" y="2086779"/>
            <a:ext cx="10139305" cy="461665"/>
          </a:xfrm>
          <a:prstGeom prst="rect">
            <a:avLst/>
          </a:prstGeom>
          <a:noFill/>
        </p:spPr>
        <p:txBody>
          <a:bodyPr wrap="square">
            <a:spAutoFit/>
          </a:bodyPr>
          <a:lstStyle/>
          <a:p>
            <a:r>
              <a:rPr lang="zh-TW" altLang="en-US" sz="2400" dirty="0"/>
              <a:t>在</a:t>
            </a:r>
            <a:r>
              <a:rPr lang="en-US" altLang="zh-TW" sz="2400" dirty="0"/>
              <a:t>SGD</a:t>
            </a:r>
            <a:r>
              <a:rPr lang="zh-TW" altLang="en-US" sz="2400" dirty="0"/>
              <a:t>正確，</a:t>
            </a:r>
            <a:r>
              <a:rPr lang="zh-TW" altLang="en-US" sz="2400" dirty="0">
                <a:solidFill>
                  <a:srgbClr val="FF0000"/>
                </a:solidFill>
              </a:rPr>
              <a:t>但在</a:t>
            </a:r>
            <a:r>
              <a:rPr lang="en-US" altLang="zh-TW" sz="2400" dirty="0">
                <a:solidFill>
                  <a:srgbClr val="FF0000"/>
                </a:solidFill>
              </a:rPr>
              <a:t>Adam</a:t>
            </a:r>
            <a:r>
              <a:rPr lang="zh-TW" altLang="en-US" sz="2400" dirty="0">
                <a:solidFill>
                  <a:srgbClr val="FF0000"/>
                </a:solidFill>
              </a:rPr>
              <a:t>是錯的</a:t>
            </a:r>
            <a:r>
              <a:rPr lang="zh-TW" altLang="en-US" sz="2400" dirty="0"/>
              <a:t>，因為改變</a:t>
            </a:r>
            <a:r>
              <a:rPr lang="en-US" altLang="zh-TW" sz="2400" dirty="0"/>
              <a:t>1️⃣</a:t>
            </a:r>
            <a:r>
              <a:rPr lang="zh-TW" altLang="en-US" sz="2400" dirty="0"/>
              <a:t>的梯度</a:t>
            </a:r>
            <a:r>
              <a:rPr lang="zh-TW" altLang="en-US" sz="2400" dirty="0">
                <a:solidFill>
                  <a:srgbClr val="00B050"/>
                </a:solidFill>
              </a:rPr>
              <a:t>會影響到梯度紀錄</a:t>
            </a:r>
            <a:endParaRPr lang="zh-TW" altLang="zh-TW" sz="2400" dirty="0">
              <a:solidFill>
                <a:srgbClr val="00B050"/>
              </a:solidFill>
            </a:endParaRPr>
          </a:p>
        </p:txBody>
      </p:sp>
      <p:sp>
        <p:nvSpPr>
          <p:cNvPr id="14" name="文字方塊 13">
            <a:extLst>
              <a:ext uri="{FF2B5EF4-FFF2-40B4-BE49-F238E27FC236}">
                <a16:creationId xmlns:a16="http://schemas.microsoft.com/office/drawing/2014/main" id="{55B19996-8BE1-E194-6C7C-DDB49DB8F9DF}"/>
              </a:ext>
            </a:extLst>
          </p:cNvPr>
          <p:cNvSpPr txBox="1"/>
          <p:nvPr/>
        </p:nvSpPr>
        <p:spPr>
          <a:xfrm>
            <a:off x="2856809" y="6257465"/>
            <a:ext cx="6478381" cy="523220"/>
          </a:xfrm>
          <a:prstGeom prst="rect">
            <a:avLst/>
          </a:prstGeom>
          <a:noFill/>
        </p:spPr>
        <p:txBody>
          <a:bodyPr wrap="square" rtlCol="0">
            <a:spAutoFit/>
          </a:bodyPr>
          <a:lstStyle/>
          <a:p>
            <a:r>
              <a:rPr kumimoji="1" lang="en" altLang="zh-TW" sz="1400" dirty="0"/>
              <a:t>Loshchilov, Ilya, and Frank Hutter. “Decoupled Weight Decay Regularization.” International Conference on Learning Representations</a:t>
            </a:r>
            <a:r>
              <a:rPr kumimoji="1" lang="zh-TW" altLang="en-US" sz="1400" dirty="0"/>
              <a:t> </a:t>
            </a:r>
            <a:r>
              <a:rPr kumimoji="1" lang="en-US" altLang="zh-TW" sz="1400" dirty="0"/>
              <a:t>(2019)</a:t>
            </a:r>
            <a:r>
              <a:rPr kumimoji="1" lang="en" altLang="zh-TW" sz="1400" dirty="0"/>
              <a:t>.</a:t>
            </a:r>
            <a:endParaRPr kumimoji="1" lang="zh-TW" altLang="en-US" sz="1400" dirty="0"/>
          </a:p>
        </p:txBody>
      </p:sp>
    </p:spTree>
    <p:extLst>
      <p:ext uri="{BB962C8B-B14F-4D97-AF65-F5344CB8AC3E}">
        <p14:creationId xmlns:p14="http://schemas.microsoft.com/office/powerpoint/2010/main" val="70141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EAD9CD-568D-AD16-BE24-5FD747DD36CD}"/>
              </a:ext>
            </a:extLst>
          </p:cNvPr>
          <p:cNvSpPr>
            <a:spLocks noGrp="1"/>
          </p:cNvSpPr>
          <p:nvPr>
            <p:ph type="title"/>
          </p:nvPr>
        </p:nvSpPr>
        <p:spPr/>
        <p:txBody>
          <a:bodyPr/>
          <a:lstStyle/>
          <a:p>
            <a:r>
              <a:rPr kumimoji="1" lang="en-US" altLang="zh-TW" dirty="0" err="1"/>
              <a:t>AdamW</a:t>
            </a:r>
            <a:endParaRPr kumimoji="1" lang="zh-TW" altLang="en-US" dirty="0"/>
          </a:p>
        </p:txBody>
      </p:sp>
      <p:sp>
        <p:nvSpPr>
          <p:cNvPr id="3" name="內容版面配置區 2">
            <a:extLst>
              <a:ext uri="{FF2B5EF4-FFF2-40B4-BE49-F238E27FC236}">
                <a16:creationId xmlns:a16="http://schemas.microsoft.com/office/drawing/2014/main" id="{1E409FB2-FD05-39F5-EC31-5F054D41223D}"/>
              </a:ext>
            </a:extLst>
          </p:cNvPr>
          <p:cNvSpPr>
            <a:spLocks noGrp="1"/>
          </p:cNvSpPr>
          <p:nvPr>
            <p:ph idx="1"/>
          </p:nvPr>
        </p:nvSpPr>
        <p:spPr>
          <a:xfrm>
            <a:off x="653143" y="1846383"/>
            <a:ext cx="10918371" cy="660053"/>
          </a:xfrm>
        </p:spPr>
        <p:txBody>
          <a:bodyPr>
            <a:normAutofit/>
          </a:bodyPr>
          <a:lstStyle/>
          <a:p>
            <a:r>
              <a:rPr kumimoji="1" lang="en" altLang="zh-TW" sz="2400" dirty="0" err="1"/>
              <a:t>AdamW</a:t>
            </a:r>
            <a:r>
              <a:rPr kumimoji="1" lang="en" altLang="zh-TW" sz="2400" dirty="0"/>
              <a:t>: Adam with </a:t>
            </a:r>
            <a:r>
              <a:rPr kumimoji="1" lang="en" altLang="zh-TW" sz="2400" dirty="0">
                <a:solidFill>
                  <a:srgbClr val="0070C0"/>
                </a:solidFill>
              </a:rPr>
              <a:t>decoupled</a:t>
            </a:r>
            <a:r>
              <a:rPr kumimoji="1" lang="en" altLang="zh-TW" sz="2400" dirty="0"/>
              <a:t> weight decay</a:t>
            </a:r>
            <a:endParaRPr kumimoji="1" lang="zh-TW" altLang="en-US" sz="2400" dirty="0"/>
          </a:p>
        </p:txBody>
      </p:sp>
      <p:sp>
        <p:nvSpPr>
          <p:cNvPr id="4" name="投影片編號版面配置區 3">
            <a:extLst>
              <a:ext uri="{FF2B5EF4-FFF2-40B4-BE49-F238E27FC236}">
                <a16:creationId xmlns:a16="http://schemas.microsoft.com/office/drawing/2014/main" id="{E53F72E7-C4A9-AECE-2C83-191CD5695131}"/>
              </a:ext>
            </a:extLst>
          </p:cNvPr>
          <p:cNvSpPr>
            <a:spLocks noGrp="1"/>
          </p:cNvSpPr>
          <p:nvPr>
            <p:ph type="sldNum" sz="quarter" idx="12"/>
          </p:nvPr>
        </p:nvSpPr>
        <p:spPr/>
        <p:txBody>
          <a:bodyPr/>
          <a:lstStyle/>
          <a:p>
            <a:fld id="{6113E31D-E2AB-40D1-8B51-AFA5AFEF393A}" type="slidenum">
              <a:rPr lang="en-US" smtClean="0"/>
              <a:pPr/>
              <a:t>23</a:t>
            </a:fld>
            <a:endParaRPr lang="en-US" dirty="0"/>
          </a:p>
        </p:txBody>
      </p:sp>
      <p:sp>
        <p:nvSpPr>
          <p:cNvPr id="5" name="文字方塊 4">
            <a:extLst>
              <a:ext uri="{FF2B5EF4-FFF2-40B4-BE49-F238E27FC236}">
                <a16:creationId xmlns:a16="http://schemas.microsoft.com/office/drawing/2014/main" id="{733BE055-D616-3E7E-D5BD-8EDC857CDE83}"/>
              </a:ext>
            </a:extLst>
          </p:cNvPr>
          <p:cNvSpPr txBox="1"/>
          <p:nvPr/>
        </p:nvSpPr>
        <p:spPr>
          <a:xfrm>
            <a:off x="2856809" y="6257465"/>
            <a:ext cx="6478381" cy="523220"/>
          </a:xfrm>
          <a:prstGeom prst="rect">
            <a:avLst/>
          </a:prstGeom>
          <a:noFill/>
        </p:spPr>
        <p:txBody>
          <a:bodyPr wrap="square" rtlCol="0">
            <a:spAutoFit/>
          </a:bodyPr>
          <a:lstStyle/>
          <a:p>
            <a:r>
              <a:rPr kumimoji="1" lang="en" altLang="zh-TW" sz="1400" dirty="0"/>
              <a:t>Loshchilov, Ilya, and Frank Hutter. “Decoupled Weight Decay Regularization.” International Conference on Learning Representations</a:t>
            </a:r>
            <a:r>
              <a:rPr kumimoji="1" lang="zh-TW" altLang="en-US" sz="1400" dirty="0"/>
              <a:t> </a:t>
            </a:r>
            <a:r>
              <a:rPr kumimoji="1" lang="en-US" altLang="zh-TW" sz="1400" dirty="0"/>
              <a:t>(2019)</a:t>
            </a:r>
            <a:r>
              <a:rPr kumimoji="1" lang="en" altLang="zh-TW" sz="1400" dirty="0"/>
              <a:t>.</a:t>
            </a:r>
            <a:endParaRPr kumimoji="1" lang="zh-TW" altLang="en-US" sz="1400" dirty="0"/>
          </a:p>
        </p:txBody>
      </p:sp>
      <p:sp>
        <p:nvSpPr>
          <p:cNvPr id="6" name="文字方塊 5">
            <a:extLst>
              <a:ext uri="{FF2B5EF4-FFF2-40B4-BE49-F238E27FC236}">
                <a16:creationId xmlns:a16="http://schemas.microsoft.com/office/drawing/2014/main" id="{86F8625A-AE4B-F845-FED1-0DDE68D7332E}"/>
              </a:ext>
            </a:extLst>
          </p:cNvPr>
          <p:cNvSpPr txBox="1"/>
          <p:nvPr/>
        </p:nvSpPr>
        <p:spPr>
          <a:xfrm>
            <a:off x="3543301" y="1573823"/>
            <a:ext cx="1382779" cy="369332"/>
          </a:xfrm>
          <a:prstGeom prst="rect">
            <a:avLst/>
          </a:prstGeom>
          <a:noFill/>
        </p:spPr>
        <p:txBody>
          <a:bodyPr wrap="square" rtlCol="0">
            <a:spAutoFit/>
          </a:bodyPr>
          <a:lstStyle/>
          <a:p>
            <a:pPr algn="ctr"/>
            <a:r>
              <a:rPr kumimoji="1" lang="zh-TW" altLang="en-US" b="1" dirty="0">
                <a:solidFill>
                  <a:srgbClr val="0070C0"/>
                </a:solidFill>
              </a:rPr>
              <a:t>分離的</a:t>
            </a: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151F811-6EB7-F6B1-FC70-EFCCBC04822A}"/>
                  </a:ext>
                </a:extLst>
              </p:cNvPr>
              <p:cNvSpPr txBox="1"/>
              <p:nvPr/>
            </p:nvSpPr>
            <p:spPr>
              <a:xfrm>
                <a:off x="977153" y="2744075"/>
                <a:ext cx="6096000" cy="461665"/>
              </a:xfrm>
              <a:prstGeom prst="rect">
                <a:avLst/>
              </a:prstGeom>
              <a:noFill/>
            </p:spPr>
            <p:txBody>
              <a:bodyPr wrap="square">
                <a:spAutoFit/>
              </a:bodyPr>
              <a:lstStyle/>
              <a:p>
                <a:r>
                  <a:rPr lang="en-US" altLang="zh-TW" sz="2400" dirty="0"/>
                  <a:t>1️⃣ </a:t>
                </a:r>
                <a:r>
                  <a:rPr lang="zh-TW" altLang="en-US" sz="2400" dirty="0"/>
                  <a:t>計算梯度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m:t>
                        </m:r>
                      </m:e>
                      <m:sub>
                        <m:r>
                          <m:rPr>
                            <m:sty m:val="p"/>
                          </m:rPr>
                          <a:rPr lang="zh-TW" altLang="en-US" sz="2400" i="0">
                            <a:solidFill>
                              <a:schemeClr val="tx1"/>
                            </a:solidFill>
                            <a:latin typeface="Cambria Math" panose="02040503050406030204" pitchFamily="18" charset="0"/>
                          </a:rPr>
                          <m:t>w</m:t>
                        </m:r>
                      </m:sub>
                    </m:sSub>
                    <m:r>
                      <a:rPr lang="zh-TW" altLang="en-US" sz="2400" i="1">
                        <a:solidFill>
                          <a:schemeClr val="tx1"/>
                        </a:solidFill>
                        <a:latin typeface="Cambria Math" panose="02040503050406030204" pitchFamily="18" charset="0"/>
                      </a:rPr>
                      <m:t>𝑓</m:t>
                    </m:r>
                    <m:d>
                      <m:dPr>
                        <m:ctrlPr>
                          <a:rPr lang="zh-TW" altLang="en-US" sz="2400" i="1">
                            <a:solidFill>
                              <a:schemeClr val="tx1"/>
                            </a:solidFill>
                            <a:latin typeface="Cambria Math" panose="02040503050406030204" pitchFamily="18" charset="0"/>
                          </a:rPr>
                        </m:ctrlPr>
                      </m:dPr>
                      <m:e>
                        <m:sSub>
                          <m:sSubPr>
                            <m:ctrlPr>
                              <a:rPr lang="zh-TW" altLang="en-US" sz="2400" i="1">
                                <a:solidFill>
                                  <a:schemeClr val="tx1"/>
                                </a:solidFill>
                                <a:latin typeface="Cambria Math" panose="02040503050406030204" pitchFamily="18" charset="0"/>
                              </a:rPr>
                            </m:ctrlPr>
                          </m:sSubPr>
                          <m:e>
                            <m:r>
                              <m:rPr>
                                <m:sty m:val="p"/>
                              </m:rPr>
                              <a:rPr lang="zh-TW" altLang="en-US" sz="2400" i="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e>
                    </m:d>
                  </m:oMath>
                </a14:m>
                <a:endParaRPr lang="zh-TW" altLang="en-US" sz="2400" dirty="0">
                  <a:solidFill>
                    <a:schemeClr val="tx1"/>
                  </a:solidFill>
                </a:endParaRPr>
              </a:p>
            </p:txBody>
          </p:sp>
        </mc:Choice>
        <mc:Fallback xmlns="">
          <p:sp>
            <p:nvSpPr>
              <p:cNvPr id="12" name="文字方塊 11">
                <a:extLst>
                  <a:ext uri="{FF2B5EF4-FFF2-40B4-BE49-F238E27FC236}">
                    <a16:creationId xmlns:a16="http://schemas.microsoft.com/office/drawing/2014/main" id="{A151F811-6EB7-F6B1-FC70-EFCCBC04822A}"/>
                  </a:ext>
                </a:extLst>
              </p:cNvPr>
              <p:cNvSpPr txBox="1">
                <a:spLocks noRot="1" noChangeAspect="1" noMove="1" noResize="1" noEditPoints="1" noAdjustHandles="1" noChangeArrowheads="1" noChangeShapeType="1" noTextEdit="1"/>
              </p:cNvSpPr>
              <p:nvPr/>
            </p:nvSpPr>
            <p:spPr>
              <a:xfrm>
                <a:off x="977153" y="2744075"/>
                <a:ext cx="6096000" cy="461665"/>
              </a:xfrm>
              <a:prstGeom prst="rect">
                <a:avLst/>
              </a:prstGeom>
              <a:blipFill>
                <a:blip r:embed="rId3"/>
                <a:stretch>
                  <a:fillRect l="-1455"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FE7C6F99-604D-BE95-65FE-8C67621439F1}"/>
                  </a:ext>
                </a:extLst>
              </p:cNvPr>
              <p:cNvSpPr txBox="1"/>
              <p:nvPr/>
            </p:nvSpPr>
            <p:spPr>
              <a:xfrm>
                <a:off x="977152" y="3372284"/>
                <a:ext cx="10363201" cy="461665"/>
              </a:xfrm>
              <a:prstGeom prst="rect">
                <a:avLst/>
              </a:prstGeom>
              <a:noFill/>
            </p:spPr>
            <p:txBody>
              <a:bodyPr wrap="square">
                <a:spAutoFit/>
              </a:bodyPr>
              <a:lstStyle/>
              <a:p>
                <a:r>
                  <a:rPr lang="en-US" altLang="zh-TW" sz="2400" dirty="0">
                    <a:solidFill>
                      <a:schemeClr val="tx1"/>
                    </a:solidFill>
                  </a:rPr>
                  <a:t>2️⃣ </a:t>
                </a:r>
                <a:r>
                  <a:rPr lang="zh-TW" altLang="en-US" sz="2400" dirty="0">
                    <a:solidFill>
                      <a:schemeClr val="tx1"/>
                    </a:solidFill>
                  </a:rPr>
                  <a:t>以移動平均</a:t>
                </a:r>
                <a:r>
                  <a:rPr lang="zh-TW" altLang="en-US" sz="2400" dirty="0"/>
                  <a:t>紀錄梯度 </a:t>
                </a:r>
                <a14:m>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𝑔</m:t>
                        </m:r>
                      </m:e>
                      <m:sub>
                        <m:r>
                          <a:rPr lang="zh-TW" altLang="en-US" sz="2400" i="1">
                            <a:solidFill>
                              <a:schemeClr val="tx1"/>
                            </a:solidFill>
                            <a:latin typeface="Cambria Math" panose="02040503050406030204" pitchFamily="18" charset="0"/>
                          </a:rPr>
                          <m:t>𝑡</m:t>
                        </m:r>
                      </m:sub>
                    </m:sSub>
                  </m:oMath>
                </a14:m>
                <a:r>
                  <a:rPr lang="en-US" altLang="zh-TW" sz="2400" dirty="0">
                    <a:solidFill>
                      <a:schemeClr val="tx1"/>
                    </a:solidFill>
                  </a:rPr>
                  <a:t> (</a:t>
                </a:r>
                <a:r>
                  <a:rPr lang="zh-TW" altLang="en-US" sz="2400" dirty="0">
                    <a:solidFill>
                      <a:schemeClr val="tx1"/>
                    </a:solidFill>
                  </a:rPr>
                  <a:t>為了對梯度動手腳 </a:t>
                </a:r>
                <a:r>
                  <a:rPr lang="en-US" altLang="zh-TW" sz="2400" dirty="0">
                    <a:solidFill>
                      <a:schemeClr val="tx1"/>
                    </a:solidFill>
                  </a:rPr>
                  <a:t>-- Momentum)</a:t>
                </a:r>
                <a:endParaRPr lang="zh-TW" altLang="en-US" sz="2400" dirty="0">
                  <a:solidFill>
                    <a:schemeClr val="tx1"/>
                  </a:solidFill>
                </a:endParaRPr>
              </a:p>
            </p:txBody>
          </p:sp>
        </mc:Choice>
        <mc:Fallback xmlns="">
          <p:sp>
            <p:nvSpPr>
              <p:cNvPr id="13" name="文字方塊 12">
                <a:extLst>
                  <a:ext uri="{FF2B5EF4-FFF2-40B4-BE49-F238E27FC236}">
                    <a16:creationId xmlns:a16="http://schemas.microsoft.com/office/drawing/2014/main" id="{FE7C6F99-604D-BE95-65FE-8C67621439F1}"/>
                  </a:ext>
                </a:extLst>
              </p:cNvPr>
              <p:cNvSpPr txBox="1">
                <a:spLocks noRot="1" noChangeAspect="1" noMove="1" noResize="1" noEditPoints="1" noAdjustHandles="1" noChangeArrowheads="1" noChangeShapeType="1" noTextEdit="1"/>
              </p:cNvSpPr>
              <p:nvPr/>
            </p:nvSpPr>
            <p:spPr>
              <a:xfrm>
                <a:off x="977152" y="3372284"/>
                <a:ext cx="10363201" cy="461665"/>
              </a:xfrm>
              <a:prstGeom prst="rect">
                <a:avLst/>
              </a:prstGeom>
              <a:blipFill>
                <a:blip r:embed="rId4"/>
                <a:stretch>
                  <a:fillRect l="-857" t="-13514" b="-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265CD50-EA80-F64F-3977-CB028AD6CB8B}"/>
                  </a:ext>
                </a:extLst>
              </p:cNvPr>
              <p:cNvSpPr txBox="1"/>
              <p:nvPr/>
            </p:nvSpPr>
            <p:spPr>
              <a:xfrm>
                <a:off x="977153" y="4000492"/>
                <a:ext cx="9502588" cy="472245"/>
              </a:xfrm>
              <a:prstGeom prst="rect">
                <a:avLst/>
              </a:prstGeom>
              <a:noFill/>
            </p:spPr>
            <p:txBody>
              <a:bodyPr wrap="square">
                <a:spAutoFit/>
              </a:bodyPr>
              <a:lstStyle/>
              <a:p>
                <a:r>
                  <a:rPr lang="en-US" altLang="zh-TW" sz="2400" dirty="0">
                    <a:solidFill>
                      <a:schemeClr val="tx1"/>
                    </a:solidFill>
                  </a:rPr>
                  <a:t>3️⃣ </a:t>
                </a:r>
                <a:r>
                  <a:rPr lang="zh-TW" altLang="en-US" sz="2400" dirty="0">
                    <a:solidFill>
                      <a:schemeClr val="tx1"/>
                    </a:solidFill>
                  </a:rPr>
                  <a:t>以移動平均</a:t>
                </a:r>
                <a:r>
                  <a:rPr lang="zh-TW" altLang="en-US" sz="2400" dirty="0"/>
                  <a:t>紀錄梯度平方</a:t>
                </a:r>
                <a:r>
                  <a:rPr lang="en-US" altLang="zh-TW" sz="2400" dirty="0"/>
                  <a:t> </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𝑔</m:t>
                        </m:r>
                      </m:e>
                      <m:sub>
                        <m:r>
                          <a:rPr lang="en-US" altLang="zh-TW" sz="2400" i="1">
                            <a:latin typeface="Cambria Math" panose="02040503050406030204" pitchFamily="18" charset="0"/>
                          </a:rPr>
                          <m:t>𝑡</m:t>
                        </m:r>
                      </m:sub>
                      <m:sup>
                        <m:r>
                          <a:rPr lang="en-US" altLang="zh-TW" sz="2400" i="1">
                            <a:latin typeface="Cambria Math" panose="02040503050406030204" pitchFamily="18" charset="0"/>
                          </a:rPr>
                          <m:t>2</m:t>
                        </m:r>
                      </m:sup>
                    </m:sSubSup>
                  </m:oMath>
                </a14:m>
                <a:r>
                  <a:rPr lang="zh-TW" altLang="en-US" sz="2400" dirty="0"/>
                  <a:t> </a:t>
                </a:r>
                <a:r>
                  <a:rPr lang="en-US" altLang="zh-TW" sz="2400" dirty="0"/>
                  <a:t>(</a:t>
                </a:r>
                <a:r>
                  <a:rPr lang="zh-TW" altLang="en-US" sz="2400" dirty="0"/>
                  <a:t>為了調整學習率</a:t>
                </a:r>
                <a:r>
                  <a:rPr lang="en-US" altLang="zh-TW" sz="2400" dirty="0"/>
                  <a:t> -- Adagrad)</a:t>
                </a:r>
                <a:endParaRPr lang="zh-TW" altLang="zh-TW" sz="2400" dirty="0"/>
              </a:p>
            </p:txBody>
          </p:sp>
        </mc:Choice>
        <mc:Fallback xmlns="">
          <p:sp>
            <p:nvSpPr>
              <p:cNvPr id="14" name="文字方塊 13">
                <a:extLst>
                  <a:ext uri="{FF2B5EF4-FFF2-40B4-BE49-F238E27FC236}">
                    <a16:creationId xmlns:a16="http://schemas.microsoft.com/office/drawing/2014/main" id="{8265CD50-EA80-F64F-3977-CB028AD6CB8B}"/>
                  </a:ext>
                </a:extLst>
              </p:cNvPr>
              <p:cNvSpPr txBox="1">
                <a:spLocks noRot="1" noChangeAspect="1" noMove="1" noResize="1" noEditPoints="1" noAdjustHandles="1" noChangeArrowheads="1" noChangeShapeType="1" noTextEdit="1"/>
              </p:cNvSpPr>
              <p:nvPr/>
            </p:nvSpPr>
            <p:spPr>
              <a:xfrm>
                <a:off x="977153" y="4000492"/>
                <a:ext cx="9502588" cy="472245"/>
              </a:xfrm>
              <a:prstGeom prst="rect">
                <a:avLst/>
              </a:prstGeom>
              <a:blipFill>
                <a:blip r:embed="rId5"/>
                <a:stretch>
                  <a:fillRect l="-933" t="-10256" b="-256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87B6547C-2EB6-2F9E-8242-6051CF77F718}"/>
                  </a:ext>
                </a:extLst>
              </p:cNvPr>
              <p:cNvSpPr txBox="1"/>
              <p:nvPr/>
            </p:nvSpPr>
            <p:spPr>
              <a:xfrm>
                <a:off x="977153" y="4639280"/>
                <a:ext cx="9502588" cy="694742"/>
              </a:xfrm>
              <a:prstGeom prst="rect">
                <a:avLst/>
              </a:prstGeom>
              <a:noFill/>
            </p:spPr>
            <p:txBody>
              <a:bodyPr wrap="square">
                <a:spAutoFit/>
              </a:bodyPr>
              <a:lstStyle/>
              <a:p>
                <a:r>
                  <a:rPr lang="en-US" altLang="zh-TW" sz="2400" dirty="0">
                    <a:solidFill>
                      <a:schemeClr val="tx1"/>
                    </a:solidFill>
                  </a:rPr>
                  <a:t>4️⃣ </a:t>
                </a:r>
                <a:r>
                  <a:rPr lang="zh-TW" altLang="en-US" sz="2400" dirty="0">
                    <a:solidFill>
                      <a:schemeClr val="tx1"/>
                    </a:solidFill>
                  </a:rPr>
                  <a:t>更新參數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𝜂</m:t>
                    </m:r>
                    <m:r>
                      <a:rPr lang="en-US" altLang="zh-TW" sz="2400" b="0" i="1" smtClean="0">
                        <a:latin typeface="Cambria Math" panose="02040503050406030204" pitchFamily="18" charset="0"/>
                      </a:rPr>
                      <m:t>(</m:t>
                    </m:r>
                    <m:sSub>
                      <m:sSubPr>
                        <m:ctrlPr>
                          <a:rPr lang="zh-TW" altLang="zh-TW" sz="2400" i="1">
                            <a:latin typeface="Cambria Math" panose="02040503050406030204" pitchFamily="18" charset="0"/>
                          </a:rPr>
                        </m:ctrlPr>
                      </m:sSubPr>
                      <m:e>
                        <m:acc>
                          <m:accPr>
                            <m:chr m:val="̂"/>
                            <m:ctrlPr>
                              <a:rPr lang="zh-TW" altLang="zh-TW" sz="2400" i="1">
                                <a:latin typeface="Cambria Math" panose="02040503050406030204" pitchFamily="18" charset="0"/>
                              </a:rPr>
                            </m:ctrlPr>
                          </m:accPr>
                          <m:e>
                            <m:r>
                              <a:rPr lang="en-US" altLang="zh-TW" sz="2400" i="1">
                                <a:latin typeface="Cambria Math" panose="02040503050406030204" pitchFamily="18" charset="0"/>
                              </a:rPr>
                              <m:t>𝑚</m:t>
                            </m:r>
                          </m:e>
                        </m:acc>
                      </m:e>
                      <m:sub>
                        <m:r>
                          <a:rPr lang="en-US" altLang="zh-TW" sz="2400" i="1">
                            <a:latin typeface="Cambria Math" panose="02040503050406030204" pitchFamily="18" charset="0"/>
                          </a:rPr>
                          <m:t>𝑡</m:t>
                        </m:r>
                      </m:sub>
                    </m:sSub>
                    <m:f>
                      <m:fPr>
                        <m:ctrlPr>
                          <a:rPr lang="zh-TW" altLang="zh-TW" sz="2400" i="1">
                            <a:latin typeface="Cambria Math" panose="02040503050406030204" pitchFamily="18" charset="0"/>
                          </a:rPr>
                        </m:ctrlPr>
                      </m:fPr>
                      <m:num>
                        <m:r>
                          <a:rPr lang="en-US" altLang="zh-TW" sz="2400" i="1">
                            <a:latin typeface="Cambria Math" panose="02040503050406030204" pitchFamily="18" charset="0"/>
                          </a:rPr>
                          <m:t>1</m:t>
                        </m:r>
                      </m:num>
                      <m:den>
                        <m:rad>
                          <m:radPr>
                            <m:degHide m:val="on"/>
                            <m:ctrlPr>
                              <a:rPr lang="zh-TW" altLang="zh-TW" sz="2400" i="1">
                                <a:latin typeface="Cambria Math" panose="02040503050406030204" pitchFamily="18" charset="0"/>
                              </a:rPr>
                            </m:ctrlPr>
                          </m:radPr>
                          <m:deg/>
                          <m:e>
                            <m:sSub>
                              <m:sSubPr>
                                <m:ctrlPr>
                                  <a:rPr lang="zh-TW" altLang="zh-TW" sz="2400" i="1">
                                    <a:latin typeface="Cambria Math" panose="02040503050406030204" pitchFamily="18" charset="0"/>
                                  </a:rPr>
                                </m:ctrlPr>
                              </m:sSubPr>
                              <m:e>
                                <m:acc>
                                  <m:accPr>
                                    <m:chr m:val="̂"/>
                                    <m:ctrlPr>
                                      <a:rPr lang="zh-TW" altLang="zh-TW" sz="2400" i="1">
                                        <a:latin typeface="Cambria Math" panose="02040503050406030204" pitchFamily="18" charset="0"/>
                                      </a:rPr>
                                    </m:ctrlPr>
                                  </m:accPr>
                                  <m:e>
                                    <m:r>
                                      <a:rPr lang="en-US" altLang="zh-TW" sz="2400" i="1">
                                        <a:latin typeface="Cambria Math" panose="02040503050406030204" pitchFamily="18" charset="0"/>
                                      </a:rPr>
                                      <m:t>𝑣</m:t>
                                    </m:r>
                                  </m:e>
                                </m:acc>
                              </m:e>
                              <m:sub>
                                <m:r>
                                  <a:rPr lang="en-US" altLang="zh-TW" sz="2400" i="1">
                                    <a:latin typeface="Cambria Math" panose="02040503050406030204" pitchFamily="18" charset="0"/>
                                  </a:rPr>
                                  <m:t>𝑡</m:t>
                                </m:r>
                              </m:sub>
                            </m:sSub>
                          </m:e>
                        </m:rad>
                        <m:r>
                          <a:rPr lang="en-US" altLang="zh-TW" sz="2400" i="1">
                            <a:latin typeface="Cambria Math" panose="02040503050406030204" pitchFamily="18" charset="0"/>
                          </a:rPr>
                          <m:t>+</m:t>
                        </m:r>
                        <m:r>
                          <a:rPr lang="en-US" altLang="zh-TW" sz="2400" i="1">
                            <a:latin typeface="Cambria Math" panose="02040503050406030204" pitchFamily="18" charset="0"/>
                          </a:rPr>
                          <m:t>𝜖</m:t>
                        </m:r>
                      </m:den>
                    </m:f>
                    <m:r>
                      <a:rPr lang="en-US" altLang="zh-TW" sz="2400" b="0" i="1" smtClean="0">
                        <a:solidFill>
                          <a:srgbClr val="FF0000"/>
                        </a:solidFill>
                        <a:latin typeface="Cambria Math" panose="02040503050406030204" pitchFamily="18" charset="0"/>
                      </a:rPr>
                      <m:t>+</m:t>
                    </m:r>
                    <m:r>
                      <a:rPr lang="zh-TW" altLang="en-US" sz="2400" i="1">
                        <a:solidFill>
                          <a:srgbClr val="FF0000"/>
                        </a:solidFill>
                        <a:latin typeface="Cambria Math" panose="02040503050406030204" pitchFamily="18" charset="0"/>
                      </a:rPr>
                      <m:t>𝜆</m:t>
                    </m:r>
                    <m:sSub>
                      <m:sSubPr>
                        <m:ctrlPr>
                          <a:rPr lang="zh-TW" altLang="en-US" sz="2400" i="1">
                            <a:solidFill>
                              <a:srgbClr val="FF0000"/>
                            </a:solidFill>
                            <a:latin typeface="Cambria Math" panose="02040503050406030204" pitchFamily="18" charset="0"/>
                          </a:rPr>
                        </m:ctrlPr>
                      </m:sSubPr>
                      <m:e>
                        <m:r>
                          <a:rPr lang="zh-TW" altLang="en-US" sz="2400" i="1">
                            <a:solidFill>
                              <a:srgbClr val="FF0000"/>
                            </a:solidFill>
                            <a:latin typeface="Cambria Math" panose="02040503050406030204" pitchFamily="18" charset="0"/>
                          </a:rPr>
                          <m:t>𝑤</m:t>
                        </m:r>
                      </m:e>
                      <m:sub>
                        <m:r>
                          <a:rPr lang="en-US" altLang="zh-TW" sz="2400" b="0" i="1" smtClean="0">
                            <a:solidFill>
                              <a:srgbClr val="FF0000"/>
                            </a:solidFill>
                            <a:latin typeface="Cambria Math" panose="02040503050406030204" pitchFamily="18" charset="0"/>
                          </a:rPr>
                          <m:t>𝑡</m:t>
                        </m:r>
                        <m:r>
                          <a:rPr lang="en-US" altLang="zh-TW" sz="2400" b="0" i="1" smtClean="0">
                            <a:solidFill>
                              <a:srgbClr val="FF0000"/>
                            </a:solidFill>
                            <a:latin typeface="Cambria Math" panose="02040503050406030204" pitchFamily="18" charset="0"/>
                          </a:rPr>
                          <m:t>−1</m:t>
                        </m:r>
                      </m:sub>
                    </m:sSub>
                    <m:r>
                      <a:rPr lang="en-US" altLang="zh-TW" sz="2400" b="0" i="1" smtClean="0">
                        <a:latin typeface="Cambria Math" panose="02040503050406030204" pitchFamily="18" charset="0"/>
                      </a:rPr>
                      <m:t>)</m:t>
                    </m:r>
                  </m:oMath>
                </a14:m>
                <a:endParaRPr lang="zh-TW" altLang="zh-TW" sz="2400" dirty="0"/>
              </a:p>
            </p:txBody>
          </p:sp>
        </mc:Choice>
        <mc:Fallback xmlns="">
          <p:sp>
            <p:nvSpPr>
              <p:cNvPr id="15" name="文字方塊 14">
                <a:extLst>
                  <a:ext uri="{FF2B5EF4-FFF2-40B4-BE49-F238E27FC236}">
                    <a16:creationId xmlns:a16="http://schemas.microsoft.com/office/drawing/2014/main" id="{87B6547C-2EB6-2F9E-8242-6051CF77F718}"/>
                  </a:ext>
                </a:extLst>
              </p:cNvPr>
              <p:cNvSpPr txBox="1">
                <a:spLocks noRot="1" noChangeAspect="1" noMove="1" noResize="1" noEditPoints="1" noAdjustHandles="1" noChangeArrowheads="1" noChangeShapeType="1" noTextEdit="1"/>
              </p:cNvSpPr>
              <p:nvPr/>
            </p:nvSpPr>
            <p:spPr>
              <a:xfrm>
                <a:off x="977153" y="4639280"/>
                <a:ext cx="9502588" cy="694742"/>
              </a:xfrm>
              <a:prstGeom prst="rect">
                <a:avLst/>
              </a:prstGeom>
              <a:blipFill>
                <a:blip r:embed="rId6"/>
                <a:stretch>
                  <a:fillRect l="-9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5F56DA3A-9906-5F27-C45E-0FEFF9D251FB}"/>
                  </a:ext>
                </a:extLst>
              </p:cNvPr>
              <p:cNvSpPr txBox="1"/>
              <p:nvPr/>
            </p:nvSpPr>
            <p:spPr>
              <a:xfrm>
                <a:off x="4714015" y="2744075"/>
                <a:ext cx="16495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 </m:t>
                      </m:r>
                      <m:r>
                        <a:rPr lang="en-US" altLang="zh-TW" sz="2400" i="1">
                          <a:solidFill>
                            <a:schemeClr val="tx1"/>
                          </a:solidFill>
                          <a:latin typeface="Cambria Math" panose="02040503050406030204" pitchFamily="18" charset="0"/>
                        </a:rPr>
                        <m:t>𝜆</m:t>
                      </m:r>
                      <m:sSub>
                        <m:sSubPr>
                          <m:ctrlPr>
                            <a:rPr lang="zh-TW" altLang="en-US" sz="2400" i="1">
                              <a:solidFill>
                                <a:schemeClr val="tx1"/>
                              </a:solidFill>
                              <a:latin typeface="Cambria Math" panose="02040503050406030204" pitchFamily="18" charset="0"/>
                            </a:rPr>
                          </m:ctrlPr>
                        </m:sSubPr>
                        <m:e>
                          <m:r>
                            <m:rPr>
                              <m:sty m:val="p"/>
                            </m:rPr>
                            <a:rPr lang="zh-TW" altLang="en-US" sz="2400">
                              <a:solidFill>
                                <a:schemeClr val="tx1"/>
                              </a:solidFill>
                              <a:latin typeface="Cambria Math" panose="02040503050406030204" pitchFamily="18" charset="0"/>
                            </a:rPr>
                            <m:t>w</m:t>
                          </m:r>
                        </m:e>
                        <m:sub>
                          <m:r>
                            <a:rPr lang="zh-TW" altLang="en-US" sz="2400" i="1">
                              <a:solidFill>
                                <a:schemeClr val="tx1"/>
                              </a:solidFill>
                              <a:latin typeface="Cambria Math" panose="02040503050406030204" pitchFamily="18" charset="0"/>
                            </a:rPr>
                            <m:t>𝑡</m:t>
                          </m:r>
                          <m:r>
                            <a:rPr lang="zh-TW" altLang="en-US" sz="2400">
                              <a:solidFill>
                                <a:schemeClr val="tx1"/>
                              </a:solidFill>
                              <a:latin typeface="Cambria Math" panose="02040503050406030204" pitchFamily="18" charset="0"/>
                            </a:rPr>
                            <m:t>−1</m:t>
                          </m:r>
                        </m:sub>
                      </m:sSub>
                    </m:oMath>
                  </m:oMathPara>
                </a14:m>
                <a:endParaRPr lang="zh-TW" altLang="en-US" sz="2400" dirty="0">
                  <a:solidFill>
                    <a:schemeClr val="tx1"/>
                  </a:solidFill>
                </a:endParaRPr>
              </a:p>
            </p:txBody>
          </p:sp>
        </mc:Choice>
        <mc:Fallback xmlns="">
          <p:sp>
            <p:nvSpPr>
              <p:cNvPr id="19" name="文字方塊 18">
                <a:extLst>
                  <a:ext uri="{FF2B5EF4-FFF2-40B4-BE49-F238E27FC236}">
                    <a16:creationId xmlns:a16="http://schemas.microsoft.com/office/drawing/2014/main" id="{5F56DA3A-9906-5F27-C45E-0FEFF9D251FB}"/>
                  </a:ext>
                </a:extLst>
              </p:cNvPr>
              <p:cNvSpPr txBox="1">
                <a:spLocks noRot="1" noChangeAspect="1" noMove="1" noResize="1" noEditPoints="1" noAdjustHandles="1" noChangeArrowheads="1" noChangeShapeType="1" noTextEdit="1"/>
              </p:cNvSpPr>
              <p:nvPr/>
            </p:nvSpPr>
            <p:spPr>
              <a:xfrm>
                <a:off x="4714015" y="2744075"/>
                <a:ext cx="1649506" cy="461665"/>
              </a:xfrm>
              <a:prstGeom prst="rect">
                <a:avLst/>
              </a:prstGeom>
              <a:blipFill>
                <a:blip r:embed="rId8"/>
                <a:stretch>
                  <a:fillRect b="-21622"/>
                </a:stretch>
              </a:blipFill>
            </p:spPr>
            <p:txBody>
              <a:bodyPr/>
              <a:lstStyle/>
              <a:p>
                <a:r>
                  <a:rPr lang="zh-TW" altLang="en-US">
                    <a:noFill/>
                  </a:rPr>
                  <a:t> </a:t>
                </a:r>
              </a:p>
            </p:txBody>
          </p:sp>
        </mc:Fallback>
      </mc:AlternateContent>
      <p:cxnSp>
        <p:nvCxnSpPr>
          <p:cNvPr id="21" name="直線接點 20">
            <a:extLst>
              <a:ext uri="{FF2B5EF4-FFF2-40B4-BE49-F238E27FC236}">
                <a16:creationId xmlns:a16="http://schemas.microsoft.com/office/drawing/2014/main" id="{F3E44EAD-E681-2388-BA56-9CD02EC98927}"/>
              </a:ext>
            </a:extLst>
          </p:cNvPr>
          <p:cNvCxnSpPr/>
          <p:nvPr/>
        </p:nvCxnSpPr>
        <p:spPr>
          <a:xfrm>
            <a:off x="5046782" y="2770841"/>
            <a:ext cx="1049215" cy="461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47BE5E2-5022-0567-1F49-526391F7D664}"/>
              </a:ext>
            </a:extLst>
          </p:cNvPr>
          <p:cNvCxnSpPr>
            <a:cxnSpLocks/>
          </p:cNvCxnSpPr>
          <p:nvPr/>
        </p:nvCxnSpPr>
        <p:spPr>
          <a:xfrm flipH="1">
            <a:off x="5046782" y="2770841"/>
            <a:ext cx="1049215" cy="46166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6328340-4EF1-4321-BAB4-A818A29CD8A4}"/>
                  </a:ext>
                </a:extLst>
              </p:cNvPr>
              <p:cNvSpPr txBox="1"/>
              <p:nvPr/>
            </p:nvSpPr>
            <p:spPr>
              <a:xfrm>
                <a:off x="2525422" y="5334022"/>
                <a:ext cx="4642291" cy="856966"/>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sub>
                      </m:sSub>
                      <m:r>
                        <a:rPr lang="zh-TW" altLang="en-US"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zh-TW" altLang="en-US" sz="2400">
                          <a:latin typeface="Cambria Math" panose="02040503050406030204" pitchFamily="18" charset="0"/>
                        </a:rPr>
                        <m:t>−</m:t>
                      </m:r>
                      <m:r>
                        <m:rPr>
                          <m:sty m:val="p"/>
                        </m:rPr>
                        <a:rPr lang="zh-TW" altLang="en-US" sz="2400">
                          <a:latin typeface="Cambria Math" panose="02040503050406030204" pitchFamily="18" charset="0"/>
                        </a:rPr>
                        <m:t>η</m:t>
                      </m:r>
                      <m:r>
                        <a:rPr lang="en-US" altLang="zh-TW" sz="2400">
                          <a:latin typeface="Cambria Math" panose="02040503050406030204" pitchFamily="18" charset="0"/>
                        </a:rPr>
                        <m:t>(</m:t>
                      </m:r>
                      <m:f>
                        <m:fPr>
                          <m:ctrlPr>
                            <a:rPr lang="zh-TW" altLang="en-US" sz="2400" i="1">
                              <a:latin typeface="Cambria Math" panose="02040503050406030204" pitchFamily="18" charset="0"/>
                            </a:rPr>
                          </m:ctrlPr>
                        </m:fPr>
                        <m:num>
                          <m:r>
                            <a:rPr lang="zh-TW" altLang="en-US" sz="2400">
                              <a:latin typeface="Cambria Math" panose="02040503050406030204" pitchFamily="18" charset="0"/>
                            </a:rPr>
                            <m:t>𝜕</m:t>
                          </m:r>
                          <m:r>
                            <a:rPr lang="zh-TW" altLang="en-US" sz="2400">
                              <a:latin typeface="Cambria Math" panose="02040503050406030204" pitchFamily="18" charset="0"/>
                            </a:rPr>
                            <m:t>ℒ</m:t>
                          </m:r>
                        </m:num>
                        <m:den>
                          <m:r>
                            <a:rPr lang="zh-TW" altLang="en-US" sz="2400">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den>
                      </m:f>
                      <m:r>
                        <a:rPr lang="zh-TW" altLang="en-US" sz="2400">
                          <a:latin typeface="Cambria Math" panose="02040503050406030204" pitchFamily="18" charset="0"/>
                        </a:rPr>
                        <m:t>+</m:t>
                      </m:r>
                      <m:r>
                        <a:rPr lang="zh-TW" altLang="en-US" sz="2400" i="1">
                          <a:latin typeface="Cambria Math" panose="02040503050406030204" pitchFamily="18" charset="0"/>
                        </a:rPr>
                        <m:t>𝜆</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𝑡</m:t>
                          </m:r>
                          <m:r>
                            <a:rPr lang="en-US" altLang="zh-TW" sz="2400" i="1">
                              <a:latin typeface="Cambria Math" panose="02040503050406030204" pitchFamily="18" charset="0"/>
                            </a:rPr>
                            <m:t>−1</m:t>
                          </m:r>
                        </m:sub>
                      </m:sSub>
                      <m:r>
                        <a:rPr lang="en-US" altLang="zh-TW" sz="2400">
                          <a:latin typeface="Cambria Math" panose="02040503050406030204" pitchFamily="18" charset="0"/>
                        </a:rPr>
                        <m:t>)</m:t>
                      </m:r>
                    </m:oMath>
                  </m:oMathPara>
                </a14:m>
                <a:endParaRPr lang="zh-TW" altLang="en-US" sz="2400" dirty="0"/>
              </a:p>
            </p:txBody>
          </p:sp>
        </mc:Choice>
        <mc:Fallback xmlns="">
          <p:sp>
            <p:nvSpPr>
              <p:cNvPr id="7" name="文字方塊 6">
                <a:extLst>
                  <a:ext uri="{FF2B5EF4-FFF2-40B4-BE49-F238E27FC236}">
                    <a16:creationId xmlns:a16="http://schemas.microsoft.com/office/drawing/2014/main" id="{86328340-4EF1-4321-BAB4-A818A29CD8A4}"/>
                  </a:ext>
                </a:extLst>
              </p:cNvPr>
              <p:cNvSpPr txBox="1">
                <a:spLocks noRot="1" noChangeAspect="1" noMove="1" noResize="1" noEditPoints="1" noAdjustHandles="1" noChangeArrowheads="1" noChangeShapeType="1" noTextEdit="1"/>
              </p:cNvSpPr>
              <p:nvPr/>
            </p:nvSpPr>
            <p:spPr>
              <a:xfrm>
                <a:off x="2525422" y="5334022"/>
                <a:ext cx="4642291" cy="856966"/>
              </a:xfrm>
              <a:prstGeom prst="rect">
                <a:avLst/>
              </a:prstGeom>
              <a:blipFill>
                <a:blip r:embed="rId9"/>
                <a:stretch>
                  <a:fillRect b="-29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9225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9"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4E9B15-5FB1-AC7D-1ABD-E9A40DEC1E21}"/>
              </a:ext>
            </a:extLst>
          </p:cNvPr>
          <p:cNvSpPr>
            <a:spLocks noGrp="1"/>
          </p:cNvSpPr>
          <p:nvPr>
            <p:ph type="title"/>
          </p:nvPr>
        </p:nvSpPr>
        <p:spPr/>
        <p:txBody>
          <a:bodyPr/>
          <a:lstStyle/>
          <a:p>
            <a:r>
              <a:rPr kumimoji="1" lang="en-US" altLang="zh-TW" dirty="0"/>
              <a:t>Performance: Adam vs. </a:t>
            </a:r>
            <a:r>
              <a:rPr kumimoji="1" lang="en-US" altLang="zh-TW" dirty="0" err="1"/>
              <a:t>AdamW</a:t>
            </a:r>
            <a:endParaRPr kumimoji="1" lang="zh-TW" altLang="en-US" dirty="0"/>
          </a:p>
        </p:txBody>
      </p:sp>
      <p:sp>
        <p:nvSpPr>
          <p:cNvPr id="4" name="投影片編號版面配置區 3">
            <a:extLst>
              <a:ext uri="{FF2B5EF4-FFF2-40B4-BE49-F238E27FC236}">
                <a16:creationId xmlns:a16="http://schemas.microsoft.com/office/drawing/2014/main" id="{754C991F-36E1-18B5-F157-F14B0A7B032A}"/>
              </a:ext>
            </a:extLst>
          </p:cNvPr>
          <p:cNvSpPr>
            <a:spLocks noGrp="1"/>
          </p:cNvSpPr>
          <p:nvPr>
            <p:ph type="sldNum" sz="quarter" idx="12"/>
          </p:nvPr>
        </p:nvSpPr>
        <p:spPr/>
        <p:txBody>
          <a:bodyPr/>
          <a:lstStyle/>
          <a:p>
            <a:fld id="{6113E31D-E2AB-40D1-8B51-AFA5AFEF393A}" type="slidenum">
              <a:rPr lang="en-US" smtClean="0"/>
              <a:pPr/>
              <a:t>24</a:t>
            </a:fld>
            <a:endParaRPr lang="en-US" dirty="0"/>
          </a:p>
        </p:txBody>
      </p:sp>
      <p:pic>
        <p:nvPicPr>
          <p:cNvPr id="5" name="圖片 4">
            <a:extLst>
              <a:ext uri="{FF2B5EF4-FFF2-40B4-BE49-F238E27FC236}">
                <a16:creationId xmlns:a16="http://schemas.microsoft.com/office/drawing/2014/main" id="{D229C399-033C-71AC-BEB5-BED2CBFDA964}"/>
              </a:ext>
            </a:extLst>
          </p:cNvPr>
          <p:cNvPicPr>
            <a:picLocks noChangeAspect="1"/>
          </p:cNvPicPr>
          <p:nvPr/>
        </p:nvPicPr>
        <p:blipFill>
          <a:blip r:embed="rId2"/>
          <a:stretch>
            <a:fillRect/>
          </a:stretch>
        </p:blipFill>
        <p:spPr>
          <a:xfrm>
            <a:off x="1247420" y="1979659"/>
            <a:ext cx="9697158" cy="3687651"/>
          </a:xfrm>
          <a:prstGeom prst="rect">
            <a:avLst/>
          </a:prstGeom>
        </p:spPr>
      </p:pic>
      <p:sp>
        <p:nvSpPr>
          <p:cNvPr id="6" name="文字方塊 5">
            <a:extLst>
              <a:ext uri="{FF2B5EF4-FFF2-40B4-BE49-F238E27FC236}">
                <a16:creationId xmlns:a16="http://schemas.microsoft.com/office/drawing/2014/main" id="{2E957E69-D705-3660-56F5-36D45F7088E0}"/>
              </a:ext>
            </a:extLst>
          </p:cNvPr>
          <p:cNvSpPr txBox="1"/>
          <p:nvPr/>
        </p:nvSpPr>
        <p:spPr>
          <a:xfrm>
            <a:off x="2856809" y="6257465"/>
            <a:ext cx="6478381" cy="523220"/>
          </a:xfrm>
          <a:prstGeom prst="rect">
            <a:avLst/>
          </a:prstGeom>
          <a:noFill/>
        </p:spPr>
        <p:txBody>
          <a:bodyPr wrap="square" rtlCol="0">
            <a:spAutoFit/>
          </a:bodyPr>
          <a:lstStyle/>
          <a:p>
            <a:r>
              <a:rPr kumimoji="1" lang="en" altLang="zh-TW" sz="1400" dirty="0"/>
              <a:t>Loshchilov, Ilya, and Frank Hutter. “Decoupled Weight Decay Regularization.” International Conference on Learning Representations</a:t>
            </a:r>
            <a:r>
              <a:rPr kumimoji="1" lang="zh-TW" altLang="en-US" sz="1400" dirty="0"/>
              <a:t> </a:t>
            </a:r>
            <a:r>
              <a:rPr kumimoji="1" lang="en-US" altLang="zh-TW" sz="1400" dirty="0"/>
              <a:t>(2019)</a:t>
            </a:r>
            <a:r>
              <a:rPr kumimoji="1" lang="en" altLang="zh-TW" sz="1400" dirty="0"/>
              <a:t>.</a:t>
            </a:r>
            <a:endParaRPr kumimoji="1" lang="zh-TW" altLang="en-US" sz="1400" dirty="0"/>
          </a:p>
        </p:txBody>
      </p:sp>
    </p:spTree>
    <p:extLst>
      <p:ext uri="{BB962C8B-B14F-4D97-AF65-F5344CB8AC3E}">
        <p14:creationId xmlns:p14="http://schemas.microsoft.com/office/powerpoint/2010/main" val="2847552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2DCEDB-7867-C669-135C-2BB0FED70BF8}"/>
              </a:ext>
            </a:extLst>
          </p:cNvPr>
          <p:cNvSpPr>
            <a:spLocks noGrp="1"/>
          </p:cNvSpPr>
          <p:nvPr>
            <p:ph type="title"/>
          </p:nvPr>
        </p:nvSpPr>
        <p:spPr/>
        <p:txBody>
          <a:bodyPr/>
          <a:lstStyle/>
          <a:p>
            <a:r>
              <a:rPr kumimoji="1" lang="zh-TW" altLang="en-US" dirty="0"/>
              <a:t>延伸學習</a:t>
            </a:r>
          </a:p>
        </p:txBody>
      </p:sp>
      <p:sp>
        <p:nvSpPr>
          <p:cNvPr id="3" name="內容版面配置區 2">
            <a:extLst>
              <a:ext uri="{FF2B5EF4-FFF2-40B4-BE49-F238E27FC236}">
                <a16:creationId xmlns:a16="http://schemas.microsoft.com/office/drawing/2014/main" id="{775DED34-1C08-E9B0-774D-ACB369A5A956}"/>
              </a:ext>
            </a:extLst>
          </p:cNvPr>
          <p:cNvSpPr>
            <a:spLocks noGrp="1"/>
          </p:cNvSpPr>
          <p:nvPr>
            <p:ph idx="1"/>
          </p:nvPr>
        </p:nvSpPr>
        <p:spPr/>
        <p:txBody>
          <a:bodyPr/>
          <a:lstStyle/>
          <a:p>
            <a:r>
              <a:rPr kumimoji="1" lang="zh-TW" altLang="en-US" dirty="0"/>
              <a:t>李宏毅老師影片</a:t>
            </a:r>
            <a:endParaRPr kumimoji="1" lang="en-US" altLang="zh-TW" dirty="0"/>
          </a:p>
          <a:p>
            <a:r>
              <a:rPr kumimoji="1" lang="en" altLang="zh-TW" dirty="0"/>
              <a:t>https://</a:t>
            </a:r>
            <a:r>
              <a:rPr kumimoji="1" lang="en" altLang="zh-TW" dirty="0" err="1"/>
              <a:t>youtu.be</a:t>
            </a:r>
            <a:r>
              <a:rPr kumimoji="1" lang="en" altLang="zh-TW" dirty="0"/>
              <a:t>/xki61j7z-30?si=ofWigNuHKkTdPC4f&amp;t=3463</a:t>
            </a:r>
            <a:endParaRPr kumimoji="1" lang="zh-TW" altLang="en-US" dirty="0"/>
          </a:p>
        </p:txBody>
      </p:sp>
      <p:sp>
        <p:nvSpPr>
          <p:cNvPr id="4" name="投影片編號版面配置區 3">
            <a:extLst>
              <a:ext uri="{FF2B5EF4-FFF2-40B4-BE49-F238E27FC236}">
                <a16:creationId xmlns:a16="http://schemas.microsoft.com/office/drawing/2014/main" id="{410A4255-727F-5A51-F83C-AEF91C496887}"/>
              </a:ext>
            </a:extLst>
          </p:cNvPr>
          <p:cNvSpPr>
            <a:spLocks noGrp="1"/>
          </p:cNvSpPr>
          <p:nvPr>
            <p:ph type="sldNum" sz="quarter" idx="12"/>
          </p:nvPr>
        </p:nvSpPr>
        <p:spPr/>
        <p:txBody>
          <a:bodyPr/>
          <a:lstStyle/>
          <a:p>
            <a:fld id="{6113E31D-E2AB-40D1-8B51-AFA5AFEF393A}" type="slidenum">
              <a:rPr lang="en-US" smtClean="0"/>
              <a:pPr/>
              <a:t>25</a:t>
            </a:fld>
            <a:endParaRPr lang="en-US" dirty="0"/>
          </a:p>
        </p:txBody>
      </p:sp>
    </p:spTree>
    <p:extLst>
      <p:ext uri="{BB962C8B-B14F-4D97-AF65-F5344CB8AC3E}">
        <p14:creationId xmlns:p14="http://schemas.microsoft.com/office/powerpoint/2010/main" val="61406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65CD-1F5E-505C-97E6-EAA22210901C}"/>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36B2BB75-BF72-13CB-4FDC-4639CBDB2186}"/>
              </a:ext>
            </a:extLst>
          </p:cNvPr>
          <p:cNvSpPr>
            <a:spLocks noGrp="1"/>
          </p:cNvSpPr>
          <p:nvPr>
            <p:ph type="title"/>
          </p:nvPr>
        </p:nvSpPr>
        <p:spPr>
          <a:xfrm>
            <a:off x="413238" y="2772849"/>
            <a:ext cx="3516924" cy="1312302"/>
          </a:xfrm>
        </p:spPr>
        <p:txBody>
          <a:bodyPr anchor="ctr">
            <a:normAutofit fontScale="90000"/>
          </a:bodyPr>
          <a:lstStyle/>
          <a:p>
            <a:r>
              <a:rPr lang="en-US" altLang="zh-TW" sz="4800" dirty="0"/>
              <a:t>Batch Normalization </a:t>
            </a:r>
            <a:endParaRPr lang="zh-TW" altLang="en-US" sz="4800" dirty="0"/>
          </a:p>
        </p:txBody>
      </p:sp>
      <p:sp>
        <p:nvSpPr>
          <p:cNvPr id="4" name="投影片編號版面配置區 3">
            <a:extLst>
              <a:ext uri="{FF2B5EF4-FFF2-40B4-BE49-F238E27FC236}">
                <a16:creationId xmlns:a16="http://schemas.microsoft.com/office/drawing/2014/main" id="{E6A74680-6E34-41F1-310C-6236D3173DF0}"/>
              </a:ext>
            </a:extLst>
          </p:cNvPr>
          <p:cNvSpPr>
            <a:spLocks noGrp="1"/>
          </p:cNvSpPr>
          <p:nvPr>
            <p:ph type="sldNum" sz="quarter" idx="12"/>
          </p:nvPr>
        </p:nvSpPr>
        <p:spPr/>
        <p:txBody>
          <a:bodyPr/>
          <a:lstStyle/>
          <a:p>
            <a:fld id="{6113E31D-E2AB-40D1-8B51-AFA5AFEF393A}" type="slidenum">
              <a:rPr lang="en-US" smtClean="0"/>
              <a:pPr/>
              <a:t>26</a:t>
            </a:fld>
            <a:endParaRPr lang="en-US" dirty="0"/>
          </a:p>
        </p:txBody>
      </p:sp>
    </p:spTree>
    <p:extLst>
      <p:ext uri="{BB962C8B-B14F-4D97-AF65-F5344CB8AC3E}">
        <p14:creationId xmlns:p14="http://schemas.microsoft.com/office/powerpoint/2010/main" val="3143076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0B0836-2FF1-EAA4-BFD5-1150AFA1DE19}"/>
              </a:ext>
            </a:extLst>
          </p:cNvPr>
          <p:cNvSpPr>
            <a:spLocks noGrp="1"/>
          </p:cNvSpPr>
          <p:nvPr>
            <p:ph type="title"/>
          </p:nvPr>
        </p:nvSpPr>
        <p:spPr/>
        <p:txBody>
          <a:bodyPr/>
          <a:lstStyle/>
          <a:p>
            <a:r>
              <a:rPr kumimoji="1" lang="en" altLang="zh-TW" dirty="0"/>
              <a:t>The whole CNN</a:t>
            </a:r>
            <a:endParaRPr kumimoji="1" lang="zh-TW" altLang="en-US" dirty="0"/>
          </a:p>
        </p:txBody>
      </p:sp>
      <p:sp>
        <p:nvSpPr>
          <p:cNvPr id="4" name="投影片編號版面配置區 3">
            <a:extLst>
              <a:ext uri="{FF2B5EF4-FFF2-40B4-BE49-F238E27FC236}">
                <a16:creationId xmlns:a16="http://schemas.microsoft.com/office/drawing/2014/main" id="{083485EA-0D68-1364-71AB-83173001C236}"/>
              </a:ext>
            </a:extLst>
          </p:cNvPr>
          <p:cNvSpPr>
            <a:spLocks noGrp="1"/>
          </p:cNvSpPr>
          <p:nvPr>
            <p:ph type="sldNum" sz="quarter" idx="12"/>
          </p:nvPr>
        </p:nvSpPr>
        <p:spPr/>
        <p:txBody>
          <a:bodyPr/>
          <a:lstStyle/>
          <a:p>
            <a:fld id="{6113E31D-E2AB-40D1-8B51-AFA5AFEF393A}" type="slidenum">
              <a:rPr lang="en-US" smtClean="0"/>
              <a:pPr/>
              <a:t>27</a:t>
            </a:fld>
            <a:endParaRPr lang="en-US" dirty="0"/>
          </a:p>
        </p:txBody>
      </p:sp>
      <p:pic>
        <p:nvPicPr>
          <p:cNvPr id="5" name="圖片 4" descr="一張含有 寵物, 室內, 狗飼養, corgi 的圖片&#10;&#10;自動產生的描述">
            <a:extLst>
              <a:ext uri="{FF2B5EF4-FFF2-40B4-BE49-F238E27FC236}">
                <a16:creationId xmlns:a16="http://schemas.microsoft.com/office/drawing/2014/main" id="{38F48D60-A46D-4AF1-1392-A95FB3F79C40}"/>
              </a:ext>
            </a:extLst>
          </p:cNvPr>
          <p:cNvPicPr>
            <a:picLocks noChangeAspect="1"/>
          </p:cNvPicPr>
          <p:nvPr/>
        </p:nvPicPr>
        <p:blipFill rotWithShape="1">
          <a:blip r:embed="rId2">
            <a:extLst>
              <a:ext uri="{28A0092B-C50C-407E-A947-70E740481C1C}">
                <a14:useLocalDpi xmlns:a14="http://schemas.microsoft.com/office/drawing/2010/main" val="0"/>
              </a:ext>
            </a:extLst>
          </a:blip>
          <a:srcRect l="11134" t="24003" r="17757" b="22533"/>
          <a:stretch/>
        </p:blipFill>
        <p:spPr>
          <a:xfrm>
            <a:off x="789943" y="1827791"/>
            <a:ext cx="1842214" cy="1846729"/>
          </a:xfrm>
          <a:prstGeom prst="rect">
            <a:avLst/>
          </a:prstGeom>
        </p:spPr>
      </p:pic>
      <p:sp>
        <p:nvSpPr>
          <p:cNvPr id="6" name="矩形 5">
            <a:extLst>
              <a:ext uri="{FF2B5EF4-FFF2-40B4-BE49-F238E27FC236}">
                <a16:creationId xmlns:a16="http://schemas.microsoft.com/office/drawing/2014/main" id="{5290DFC0-1D61-D377-38CC-E7844B1C34AE}"/>
              </a:ext>
            </a:extLst>
          </p:cNvPr>
          <p:cNvSpPr/>
          <p:nvPr/>
        </p:nvSpPr>
        <p:spPr>
          <a:xfrm>
            <a:off x="3433170" y="2161390"/>
            <a:ext cx="1478280" cy="367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Convolution</a:t>
            </a:r>
            <a:endParaRPr kumimoji="1" lang="zh-TW" altLang="en-US" dirty="0"/>
          </a:p>
        </p:txBody>
      </p:sp>
      <p:sp>
        <p:nvSpPr>
          <p:cNvPr id="7" name="矩形 6">
            <a:extLst>
              <a:ext uri="{FF2B5EF4-FFF2-40B4-BE49-F238E27FC236}">
                <a16:creationId xmlns:a16="http://schemas.microsoft.com/office/drawing/2014/main" id="{817CABF8-94B3-6A15-5200-8112C8935D8C}"/>
              </a:ext>
            </a:extLst>
          </p:cNvPr>
          <p:cNvSpPr/>
          <p:nvPr/>
        </p:nvSpPr>
        <p:spPr>
          <a:xfrm>
            <a:off x="3433170" y="2939368"/>
            <a:ext cx="1478280" cy="270349"/>
          </a:xfrm>
          <a:prstGeom prst="rect">
            <a:avLst/>
          </a:prstGeom>
          <a:solidFill>
            <a:schemeClr val="accent2">
              <a:lumMod val="40000"/>
              <a:lumOff val="6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1600" dirty="0" err="1"/>
              <a:t>BatchNorm</a:t>
            </a:r>
            <a:endParaRPr kumimoji="1" lang="zh-TW" altLang="en-US" sz="1600" dirty="0"/>
          </a:p>
        </p:txBody>
      </p:sp>
      <p:sp>
        <p:nvSpPr>
          <p:cNvPr id="8" name="矩形 7">
            <a:extLst>
              <a:ext uri="{FF2B5EF4-FFF2-40B4-BE49-F238E27FC236}">
                <a16:creationId xmlns:a16="http://schemas.microsoft.com/office/drawing/2014/main" id="{62E73D49-B84A-BD0C-91BF-4B6949C17A77}"/>
              </a:ext>
            </a:extLst>
          </p:cNvPr>
          <p:cNvSpPr/>
          <p:nvPr/>
        </p:nvSpPr>
        <p:spPr>
          <a:xfrm>
            <a:off x="3433170" y="3619918"/>
            <a:ext cx="1478280" cy="367777"/>
          </a:xfrm>
          <a:prstGeom prst="rect">
            <a:avLst/>
          </a:prstGeom>
          <a:solidFill>
            <a:schemeClr val="accent6">
              <a:lumMod val="60000"/>
              <a:lumOff val="40000"/>
            </a:schemeClr>
          </a:solidFill>
          <a:ln>
            <a:solidFill>
              <a:schemeClr val="accent6"/>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Pooling</a:t>
            </a:r>
            <a:endParaRPr kumimoji="1" lang="zh-TW" altLang="en-US" dirty="0"/>
          </a:p>
        </p:txBody>
      </p:sp>
      <p:sp>
        <p:nvSpPr>
          <p:cNvPr id="12" name="矩形 11">
            <a:extLst>
              <a:ext uri="{FF2B5EF4-FFF2-40B4-BE49-F238E27FC236}">
                <a16:creationId xmlns:a16="http://schemas.microsoft.com/office/drawing/2014/main" id="{745DBA5C-48F0-F33D-7B08-924B0D55375B}"/>
              </a:ext>
            </a:extLst>
          </p:cNvPr>
          <p:cNvSpPr/>
          <p:nvPr/>
        </p:nvSpPr>
        <p:spPr>
          <a:xfrm>
            <a:off x="3433170" y="4397896"/>
            <a:ext cx="1478280" cy="367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Convolution</a:t>
            </a:r>
            <a:endParaRPr kumimoji="1" lang="zh-TW" altLang="en-US" dirty="0"/>
          </a:p>
        </p:txBody>
      </p:sp>
      <p:sp>
        <p:nvSpPr>
          <p:cNvPr id="14" name="矩形 13">
            <a:extLst>
              <a:ext uri="{FF2B5EF4-FFF2-40B4-BE49-F238E27FC236}">
                <a16:creationId xmlns:a16="http://schemas.microsoft.com/office/drawing/2014/main" id="{32CD66F9-F9EA-BC8A-29A6-FA7229702F81}"/>
              </a:ext>
            </a:extLst>
          </p:cNvPr>
          <p:cNvSpPr/>
          <p:nvPr/>
        </p:nvSpPr>
        <p:spPr>
          <a:xfrm>
            <a:off x="3433170" y="5175874"/>
            <a:ext cx="1478280" cy="270349"/>
          </a:xfrm>
          <a:prstGeom prst="rect">
            <a:avLst/>
          </a:prstGeom>
          <a:solidFill>
            <a:schemeClr val="accent2">
              <a:lumMod val="40000"/>
              <a:lumOff val="6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1600" dirty="0" err="1"/>
              <a:t>BatchNorm</a:t>
            </a:r>
            <a:endParaRPr kumimoji="1" lang="zh-TW" altLang="en-US" sz="1600" dirty="0"/>
          </a:p>
        </p:txBody>
      </p:sp>
      <p:sp>
        <p:nvSpPr>
          <p:cNvPr id="15" name="矩形 14">
            <a:extLst>
              <a:ext uri="{FF2B5EF4-FFF2-40B4-BE49-F238E27FC236}">
                <a16:creationId xmlns:a16="http://schemas.microsoft.com/office/drawing/2014/main" id="{1BD4D183-04E3-6AE8-31AE-F48261757729}"/>
              </a:ext>
            </a:extLst>
          </p:cNvPr>
          <p:cNvSpPr/>
          <p:nvPr/>
        </p:nvSpPr>
        <p:spPr>
          <a:xfrm>
            <a:off x="3433170" y="5856423"/>
            <a:ext cx="1478280" cy="367777"/>
          </a:xfrm>
          <a:prstGeom prst="rect">
            <a:avLst/>
          </a:prstGeom>
          <a:solidFill>
            <a:schemeClr val="accent6">
              <a:lumMod val="60000"/>
              <a:lumOff val="40000"/>
            </a:schemeClr>
          </a:solidFill>
          <a:ln>
            <a:solidFill>
              <a:schemeClr val="accent6"/>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Pooling</a:t>
            </a:r>
            <a:endParaRPr kumimoji="1" lang="zh-TW" altLang="en-US" dirty="0"/>
          </a:p>
        </p:txBody>
      </p:sp>
      <p:cxnSp>
        <p:nvCxnSpPr>
          <p:cNvPr id="17" name="直線箭頭接點 16">
            <a:extLst>
              <a:ext uri="{FF2B5EF4-FFF2-40B4-BE49-F238E27FC236}">
                <a16:creationId xmlns:a16="http://schemas.microsoft.com/office/drawing/2014/main" id="{82924233-30CF-AA0F-FFD8-50833C194ACB}"/>
              </a:ext>
            </a:extLst>
          </p:cNvPr>
          <p:cNvCxnSpPr>
            <a:cxnSpLocks/>
            <a:stCxn id="14" idx="2"/>
            <a:endCxn id="15" idx="0"/>
          </p:cNvCxnSpPr>
          <p:nvPr/>
        </p:nvCxnSpPr>
        <p:spPr>
          <a:xfrm>
            <a:off x="4172310" y="5446223"/>
            <a:ext cx="0" cy="4102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19">
            <a:extLst>
              <a:ext uri="{FF2B5EF4-FFF2-40B4-BE49-F238E27FC236}">
                <a16:creationId xmlns:a16="http://schemas.microsoft.com/office/drawing/2014/main" id="{810E8B50-C78B-E302-6A39-419453B015C6}"/>
              </a:ext>
            </a:extLst>
          </p:cNvPr>
          <p:cNvCxnSpPr>
            <a:cxnSpLocks/>
            <a:stCxn id="12" idx="2"/>
            <a:endCxn id="14" idx="0"/>
          </p:cNvCxnSpPr>
          <p:nvPr/>
        </p:nvCxnSpPr>
        <p:spPr>
          <a:xfrm>
            <a:off x="4172310" y="4765673"/>
            <a:ext cx="0" cy="410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22">
            <a:extLst>
              <a:ext uri="{FF2B5EF4-FFF2-40B4-BE49-F238E27FC236}">
                <a16:creationId xmlns:a16="http://schemas.microsoft.com/office/drawing/2014/main" id="{222929CC-69E0-4A93-7CBB-87D96EE2D12A}"/>
              </a:ext>
            </a:extLst>
          </p:cNvPr>
          <p:cNvCxnSpPr>
            <a:cxnSpLocks/>
            <a:stCxn id="8" idx="2"/>
            <a:endCxn id="12" idx="0"/>
          </p:cNvCxnSpPr>
          <p:nvPr/>
        </p:nvCxnSpPr>
        <p:spPr>
          <a:xfrm>
            <a:off x="4172310" y="3987695"/>
            <a:ext cx="0" cy="410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箭頭接點 25">
            <a:extLst>
              <a:ext uri="{FF2B5EF4-FFF2-40B4-BE49-F238E27FC236}">
                <a16:creationId xmlns:a16="http://schemas.microsoft.com/office/drawing/2014/main" id="{0106BF96-0DA8-4FCF-FDA2-ACD1C337BF51}"/>
              </a:ext>
            </a:extLst>
          </p:cNvPr>
          <p:cNvCxnSpPr>
            <a:cxnSpLocks/>
            <a:stCxn id="7" idx="2"/>
            <a:endCxn id="8" idx="0"/>
          </p:cNvCxnSpPr>
          <p:nvPr/>
        </p:nvCxnSpPr>
        <p:spPr>
          <a:xfrm>
            <a:off x="4172310" y="3209717"/>
            <a:ext cx="0" cy="410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170584EA-4083-4F20-74CD-46569A1EFD9B}"/>
              </a:ext>
            </a:extLst>
          </p:cNvPr>
          <p:cNvCxnSpPr>
            <a:cxnSpLocks/>
            <a:stCxn id="6" idx="2"/>
            <a:endCxn id="7" idx="0"/>
          </p:cNvCxnSpPr>
          <p:nvPr/>
        </p:nvCxnSpPr>
        <p:spPr>
          <a:xfrm>
            <a:off x="4172310" y="2529167"/>
            <a:ext cx="0" cy="410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肘形接點 32">
            <a:extLst>
              <a:ext uri="{FF2B5EF4-FFF2-40B4-BE49-F238E27FC236}">
                <a16:creationId xmlns:a16="http://schemas.microsoft.com/office/drawing/2014/main" id="{8E4222A5-9518-4515-C567-7D02CE7EF07F}"/>
              </a:ext>
            </a:extLst>
          </p:cNvPr>
          <p:cNvCxnSpPr>
            <a:stCxn id="5" idx="3"/>
            <a:endCxn id="6" idx="0"/>
          </p:cNvCxnSpPr>
          <p:nvPr/>
        </p:nvCxnSpPr>
        <p:spPr>
          <a:xfrm flipV="1">
            <a:off x="2632157" y="2161390"/>
            <a:ext cx="1540153" cy="589766"/>
          </a:xfrm>
          <a:prstGeom prst="bentConnector4">
            <a:avLst>
              <a:gd name="adj1" fmla="val 26004"/>
              <a:gd name="adj2" fmla="val 14364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EA95DE7D-F114-BF6B-83E4-0FE9DC3F689F}"/>
              </a:ext>
            </a:extLst>
          </p:cNvPr>
          <p:cNvSpPr/>
          <p:nvPr/>
        </p:nvSpPr>
        <p:spPr>
          <a:xfrm>
            <a:off x="5712463" y="3619918"/>
            <a:ext cx="1478280" cy="367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Convolution</a:t>
            </a:r>
            <a:endParaRPr kumimoji="1" lang="zh-TW" altLang="en-US" dirty="0"/>
          </a:p>
        </p:txBody>
      </p:sp>
      <p:sp>
        <p:nvSpPr>
          <p:cNvPr id="36" name="矩形 35">
            <a:extLst>
              <a:ext uri="{FF2B5EF4-FFF2-40B4-BE49-F238E27FC236}">
                <a16:creationId xmlns:a16="http://schemas.microsoft.com/office/drawing/2014/main" id="{C8F01520-C937-4548-D98B-2D1C36DC0DB3}"/>
              </a:ext>
            </a:extLst>
          </p:cNvPr>
          <p:cNvSpPr/>
          <p:nvPr/>
        </p:nvSpPr>
        <p:spPr>
          <a:xfrm>
            <a:off x="5712463" y="2939368"/>
            <a:ext cx="1478280" cy="270349"/>
          </a:xfrm>
          <a:prstGeom prst="rect">
            <a:avLst/>
          </a:prstGeom>
          <a:solidFill>
            <a:schemeClr val="accent2">
              <a:lumMod val="40000"/>
              <a:lumOff val="6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1600" dirty="0" err="1"/>
              <a:t>BatchNorm</a:t>
            </a:r>
            <a:endParaRPr kumimoji="1" lang="zh-TW" altLang="en-US" sz="1600" dirty="0"/>
          </a:p>
        </p:txBody>
      </p:sp>
      <p:sp>
        <p:nvSpPr>
          <p:cNvPr id="37" name="矩形 36">
            <a:extLst>
              <a:ext uri="{FF2B5EF4-FFF2-40B4-BE49-F238E27FC236}">
                <a16:creationId xmlns:a16="http://schemas.microsoft.com/office/drawing/2014/main" id="{B22F50E5-CFE1-6D86-500B-BF3205C910BD}"/>
              </a:ext>
            </a:extLst>
          </p:cNvPr>
          <p:cNvSpPr/>
          <p:nvPr/>
        </p:nvSpPr>
        <p:spPr>
          <a:xfrm>
            <a:off x="5712463" y="2161389"/>
            <a:ext cx="1478280" cy="367777"/>
          </a:xfrm>
          <a:prstGeom prst="rect">
            <a:avLst/>
          </a:prstGeom>
          <a:solidFill>
            <a:schemeClr val="accent6">
              <a:lumMod val="60000"/>
              <a:lumOff val="40000"/>
            </a:schemeClr>
          </a:solidFill>
          <a:ln>
            <a:solidFill>
              <a:schemeClr val="accent6"/>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Pooling</a:t>
            </a:r>
            <a:endParaRPr kumimoji="1" lang="zh-TW" altLang="en-US" dirty="0"/>
          </a:p>
        </p:txBody>
      </p:sp>
      <p:sp>
        <p:nvSpPr>
          <p:cNvPr id="38" name="矩形 37">
            <a:extLst>
              <a:ext uri="{FF2B5EF4-FFF2-40B4-BE49-F238E27FC236}">
                <a16:creationId xmlns:a16="http://schemas.microsoft.com/office/drawing/2014/main" id="{4045CAF1-AA66-A35D-34C4-11A8FE037048}"/>
              </a:ext>
            </a:extLst>
          </p:cNvPr>
          <p:cNvSpPr/>
          <p:nvPr/>
        </p:nvSpPr>
        <p:spPr>
          <a:xfrm>
            <a:off x="8081563" y="2161390"/>
            <a:ext cx="1478280" cy="367777"/>
          </a:xfrm>
          <a:prstGeom prst="rect">
            <a:avLst/>
          </a:prstGeom>
          <a:solidFill>
            <a:schemeClr val="tx1">
              <a:lumMod val="50000"/>
              <a:lumOff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Flatten</a:t>
            </a:r>
            <a:endParaRPr kumimoji="1" lang="zh-TW" altLang="en-US" dirty="0"/>
          </a:p>
        </p:txBody>
      </p:sp>
      <p:sp>
        <p:nvSpPr>
          <p:cNvPr id="39" name="矩形 38">
            <a:extLst>
              <a:ext uri="{FF2B5EF4-FFF2-40B4-BE49-F238E27FC236}">
                <a16:creationId xmlns:a16="http://schemas.microsoft.com/office/drawing/2014/main" id="{0D5F31B3-32D8-249F-3F5D-A4F3077FBDBC}"/>
              </a:ext>
            </a:extLst>
          </p:cNvPr>
          <p:cNvSpPr/>
          <p:nvPr/>
        </p:nvSpPr>
        <p:spPr>
          <a:xfrm>
            <a:off x="8081563" y="3114068"/>
            <a:ext cx="1478280" cy="873627"/>
          </a:xfrm>
          <a:prstGeom prst="rect">
            <a:avLst/>
          </a:prstGeom>
          <a:solidFill>
            <a:schemeClr val="tx1">
              <a:lumMod val="50000"/>
              <a:lumOff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en-US" altLang="zh-TW" dirty="0"/>
              <a:t>Fully-connected Networks</a:t>
            </a:r>
            <a:endParaRPr kumimoji="1" lang="zh-TW" altLang="en-US" dirty="0"/>
          </a:p>
        </p:txBody>
      </p:sp>
      <p:sp>
        <p:nvSpPr>
          <p:cNvPr id="41" name="圓角矩形 40">
            <a:extLst>
              <a:ext uri="{FF2B5EF4-FFF2-40B4-BE49-F238E27FC236}">
                <a16:creationId xmlns:a16="http://schemas.microsoft.com/office/drawing/2014/main" id="{D7DFCDCC-BFD5-3FA2-1B1E-D8F96FD3ED0A}"/>
              </a:ext>
            </a:extLst>
          </p:cNvPr>
          <p:cNvSpPr/>
          <p:nvPr/>
        </p:nvSpPr>
        <p:spPr>
          <a:xfrm>
            <a:off x="7933368" y="4581784"/>
            <a:ext cx="1774669" cy="8076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b="1" dirty="0">
                <a:solidFill>
                  <a:schemeClr val="tx1"/>
                </a:solidFill>
              </a:rPr>
              <a:t>Classification</a:t>
            </a:r>
            <a:endParaRPr kumimoji="1" lang="zh-TW" altLang="en-US" b="1" dirty="0">
              <a:solidFill>
                <a:schemeClr val="tx1"/>
              </a:solidFill>
            </a:endParaRPr>
          </a:p>
        </p:txBody>
      </p:sp>
      <p:cxnSp>
        <p:nvCxnSpPr>
          <p:cNvPr id="42" name="直線箭頭接點 41">
            <a:extLst>
              <a:ext uri="{FF2B5EF4-FFF2-40B4-BE49-F238E27FC236}">
                <a16:creationId xmlns:a16="http://schemas.microsoft.com/office/drawing/2014/main" id="{99480CCB-B3E7-728E-B76D-E60A5DF7CE8A}"/>
              </a:ext>
            </a:extLst>
          </p:cNvPr>
          <p:cNvCxnSpPr>
            <a:cxnSpLocks/>
            <a:stCxn id="36" idx="0"/>
            <a:endCxn id="37" idx="2"/>
          </p:cNvCxnSpPr>
          <p:nvPr/>
        </p:nvCxnSpPr>
        <p:spPr>
          <a:xfrm flipV="1">
            <a:off x="6451603" y="2529166"/>
            <a:ext cx="0" cy="410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箭頭接點 44">
            <a:extLst>
              <a:ext uri="{FF2B5EF4-FFF2-40B4-BE49-F238E27FC236}">
                <a16:creationId xmlns:a16="http://schemas.microsoft.com/office/drawing/2014/main" id="{57482C9B-2778-30A4-FD9A-732437152C6A}"/>
              </a:ext>
            </a:extLst>
          </p:cNvPr>
          <p:cNvCxnSpPr>
            <a:cxnSpLocks/>
            <a:stCxn id="35" idx="0"/>
            <a:endCxn id="36" idx="2"/>
          </p:cNvCxnSpPr>
          <p:nvPr/>
        </p:nvCxnSpPr>
        <p:spPr>
          <a:xfrm flipV="1">
            <a:off x="6451603" y="3209717"/>
            <a:ext cx="0" cy="410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肘形接點 47">
            <a:extLst>
              <a:ext uri="{FF2B5EF4-FFF2-40B4-BE49-F238E27FC236}">
                <a16:creationId xmlns:a16="http://schemas.microsoft.com/office/drawing/2014/main" id="{8896412A-A417-58C7-2FAC-16ED643B8504}"/>
              </a:ext>
            </a:extLst>
          </p:cNvPr>
          <p:cNvCxnSpPr>
            <a:cxnSpLocks/>
            <a:stCxn id="15" idx="2"/>
          </p:cNvCxnSpPr>
          <p:nvPr/>
        </p:nvCxnSpPr>
        <p:spPr>
          <a:xfrm rot="5400000" flipH="1" flipV="1">
            <a:off x="4603905" y="4376501"/>
            <a:ext cx="1416103" cy="2279295"/>
          </a:xfrm>
          <a:prstGeom prst="bentConnector4">
            <a:avLst>
              <a:gd name="adj1" fmla="val -16143"/>
              <a:gd name="adj2" fmla="val 999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字方塊 49">
            <a:extLst>
              <a:ext uri="{FF2B5EF4-FFF2-40B4-BE49-F238E27FC236}">
                <a16:creationId xmlns:a16="http://schemas.microsoft.com/office/drawing/2014/main" id="{F2823384-BA6A-093D-75B9-B5AA2C2509E9}"/>
              </a:ext>
            </a:extLst>
          </p:cNvPr>
          <p:cNvSpPr txBox="1"/>
          <p:nvPr/>
        </p:nvSpPr>
        <p:spPr>
          <a:xfrm>
            <a:off x="6158420" y="4093193"/>
            <a:ext cx="923330" cy="506093"/>
          </a:xfrm>
          <a:prstGeom prst="rect">
            <a:avLst/>
          </a:prstGeom>
          <a:noFill/>
        </p:spPr>
        <p:txBody>
          <a:bodyPr vert="eaVert" wrap="square" rtlCol="0" anchor="ctr">
            <a:spAutoFit/>
          </a:bodyPr>
          <a:lstStyle/>
          <a:p>
            <a:r>
              <a:rPr kumimoji="1" lang="en-US" altLang="zh-TW" sz="4800" dirty="0"/>
              <a:t>…</a:t>
            </a:r>
            <a:endParaRPr kumimoji="1" lang="zh-TW" altLang="en-US" sz="4800" dirty="0"/>
          </a:p>
        </p:txBody>
      </p:sp>
      <p:cxnSp>
        <p:nvCxnSpPr>
          <p:cNvPr id="54" name="肘形接點 53">
            <a:extLst>
              <a:ext uri="{FF2B5EF4-FFF2-40B4-BE49-F238E27FC236}">
                <a16:creationId xmlns:a16="http://schemas.microsoft.com/office/drawing/2014/main" id="{37C6F649-4852-1E8A-C89A-E0F49BCFFA0D}"/>
              </a:ext>
            </a:extLst>
          </p:cNvPr>
          <p:cNvCxnSpPr>
            <a:cxnSpLocks/>
            <a:stCxn id="37" idx="0"/>
            <a:endCxn id="38" idx="0"/>
          </p:cNvCxnSpPr>
          <p:nvPr/>
        </p:nvCxnSpPr>
        <p:spPr>
          <a:xfrm rot="16200000" flipH="1">
            <a:off x="7636152" y="976839"/>
            <a:ext cx="1" cy="2369100"/>
          </a:xfrm>
          <a:prstGeom prst="bentConnector3">
            <a:avLst>
              <a:gd name="adj1" fmla="val -228600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箭頭接點 62">
            <a:extLst>
              <a:ext uri="{FF2B5EF4-FFF2-40B4-BE49-F238E27FC236}">
                <a16:creationId xmlns:a16="http://schemas.microsoft.com/office/drawing/2014/main" id="{38E39F11-A556-6D19-1C14-7B8C4E74D85B}"/>
              </a:ext>
            </a:extLst>
          </p:cNvPr>
          <p:cNvCxnSpPr>
            <a:cxnSpLocks/>
            <a:stCxn id="38" idx="2"/>
            <a:endCxn id="39" idx="0"/>
          </p:cNvCxnSpPr>
          <p:nvPr/>
        </p:nvCxnSpPr>
        <p:spPr>
          <a:xfrm>
            <a:off x="8820703" y="2529167"/>
            <a:ext cx="0" cy="584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箭頭接點 65">
            <a:extLst>
              <a:ext uri="{FF2B5EF4-FFF2-40B4-BE49-F238E27FC236}">
                <a16:creationId xmlns:a16="http://schemas.microsoft.com/office/drawing/2014/main" id="{609651EC-D953-FB0D-6019-DD2010F2822C}"/>
              </a:ext>
            </a:extLst>
          </p:cNvPr>
          <p:cNvCxnSpPr>
            <a:cxnSpLocks/>
            <a:stCxn id="39" idx="2"/>
            <a:endCxn id="41" idx="0"/>
          </p:cNvCxnSpPr>
          <p:nvPr/>
        </p:nvCxnSpPr>
        <p:spPr>
          <a:xfrm>
            <a:off x="8820703" y="3987695"/>
            <a:ext cx="0" cy="5940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728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ADF92E-B5A8-D2C9-16E4-EE0DB245DD71}"/>
              </a:ext>
            </a:extLst>
          </p:cNvPr>
          <p:cNvSpPr>
            <a:spLocks noGrp="1"/>
          </p:cNvSpPr>
          <p:nvPr>
            <p:ph type="title"/>
          </p:nvPr>
        </p:nvSpPr>
        <p:spPr/>
        <p:txBody>
          <a:bodyPr/>
          <a:lstStyle/>
          <a:p>
            <a:r>
              <a:rPr kumimoji="1" lang="en-US" altLang="zh-TW" dirty="0"/>
              <a:t>Batch Normalization (</a:t>
            </a:r>
            <a:r>
              <a:rPr kumimoji="1" lang="en-US" altLang="zh-TW" dirty="0" err="1"/>
              <a:t>BatchNorm</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24841A6B-01EF-5CBE-F220-27940AAD0857}"/>
              </a:ext>
            </a:extLst>
          </p:cNvPr>
          <p:cNvSpPr>
            <a:spLocks noGrp="1"/>
          </p:cNvSpPr>
          <p:nvPr>
            <p:ph type="sldNum" sz="quarter" idx="12"/>
          </p:nvPr>
        </p:nvSpPr>
        <p:spPr/>
        <p:txBody>
          <a:bodyPr/>
          <a:lstStyle/>
          <a:p>
            <a:fld id="{6113E31D-E2AB-40D1-8B51-AFA5AFEF393A}" type="slidenum">
              <a:rPr lang="en-US" smtClean="0"/>
              <a:pPr/>
              <a:t>28</a:t>
            </a:fld>
            <a:endParaRPr lang="en-US" dirty="0"/>
          </a:p>
        </p:txBody>
      </p:sp>
      <p:sp>
        <p:nvSpPr>
          <p:cNvPr id="6" name="文字方塊 5">
            <a:extLst>
              <a:ext uri="{FF2B5EF4-FFF2-40B4-BE49-F238E27FC236}">
                <a16:creationId xmlns:a16="http://schemas.microsoft.com/office/drawing/2014/main" id="{FFA76626-3C10-AE6F-B4B3-8FF3F784CD37}"/>
              </a:ext>
            </a:extLst>
          </p:cNvPr>
          <p:cNvSpPr txBox="1"/>
          <p:nvPr/>
        </p:nvSpPr>
        <p:spPr>
          <a:xfrm>
            <a:off x="636815" y="1552560"/>
            <a:ext cx="10918370" cy="11323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err="1">
                <a:ea typeface="Microsoft JhengHei" panose="020B0604030504040204" pitchFamily="34" charset="-120"/>
              </a:rPr>
              <a:t>BatchNorm</a:t>
            </a:r>
            <a:r>
              <a:rPr kumimoji="1" lang="zh-TW" altLang="en-US" sz="2400" dirty="0">
                <a:ea typeface="Microsoft JhengHei" panose="020B0604030504040204" pitchFamily="34" charset="-120"/>
              </a:rPr>
              <a:t> 對數值進行轉換，使得轉換後的數值的平均值為零、標準差為</a:t>
            </a:r>
            <a:r>
              <a:rPr kumimoji="1" lang="en-US" altLang="zh-TW" sz="2400" dirty="0">
                <a:ea typeface="Microsoft JhengHei" panose="020B0604030504040204" pitchFamily="34" charset="-120"/>
              </a:rPr>
              <a:t>1</a:t>
            </a:r>
          </a:p>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類似於統計上的 </a:t>
            </a:r>
            <a:r>
              <a:rPr kumimoji="1" lang="en-US" altLang="zh-TW" sz="2400" dirty="0">
                <a:ea typeface="Microsoft JhengHei" panose="020B0604030504040204" pitchFamily="34" charset="-120"/>
              </a:rPr>
              <a:t>Z-score</a:t>
            </a:r>
            <a:r>
              <a:rPr kumimoji="1" lang="zh-TW" altLang="en-US" sz="2400" dirty="0">
                <a:ea typeface="Microsoft JhengHei" panose="020B0604030504040204" pitchFamily="34" charset="-120"/>
              </a:rPr>
              <a:t> </a:t>
            </a:r>
            <a:r>
              <a:rPr kumimoji="1" lang="en" altLang="zh-TW" sz="2400" dirty="0">
                <a:ea typeface="Microsoft JhengHei" panose="020B0604030504040204" pitchFamily="34" charset="-120"/>
              </a:rPr>
              <a:t>standardization</a:t>
            </a:r>
            <a:endParaRPr kumimoji="1" lang="zh-TW" altLang="en-US" sz="2400" dirty="0">
              <a:ea typeface="Microsoft JhengHei" panose="020B0604030504040204" pitchFamily="34" charset="-120"/>
            </a:endParaRPr>
          </a:p>
        </p:txBody>
      </p:sp>
      <p:pic>
        <p:nvPicPr>
          <p:cNvPr id="3" name="圖片 2" descr="一張含有 繪圖, 圖表, 螢幕擷取畫面, 行 的圖片&#10;&#10;自動產生的描述">
            <a:extLst>
              <a:ext uri="{FF2B5EF4-FFF2-40B4-BE49-F238E27FC236}">
                <a16:creationId xmlns:a16="http://schemas.microsoft.com/office/drawing/2014/main" id="{DB885088-417F-5078-A48D-BEAF7C033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990" y="2757726"/>
            <a:ext cx="8098578" cy="3926244"/>
          </a:xfrm>
          <a:prstGeom prst="rect">
            <a:avLst/>
          </a:prstGeom>
        </p:spPr>
      </p:pic>
      <p:sp>
        <p:nvSpPr>
          <p:cNvPr id="5" name="矩形 4">
            <a:extLst>
              <a:ext uri="{FF2B5EF4-FFF2-40B4-BE49-F238E27FC236}">
                <a16:creationId xmlns:a16="http://schemas.microsoft.com/office/drawing/2014/main" id="{361EACC4-7982-5F94-5D06-AA6192B712F3}"/>
              </a:ext>
            </a:extLst>
          </p:cNvPr>
          <p:cNvSpPr/>
          <p:nvPr/>
        </p:nvSpPr>
        <p:spPr>
          <a:xfrm>
            <a:off x="2567353" y="6308396"/>
            <a:ext cx="3528647" cy="3518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E8CC1F52-6B5B-4EC0-5AA7-933541E85AB9}"/>
              </a:ext>
            </a:extLst>
          </p:cNvPr>
          <p:cNvSpPr/>
          <p:nvPr/>
        </p:nvSpPr>
        <p:spPr>
          <a:xfrm>
            <a:off x="6688921" y="6308396"/>
            <a:ext cx="3528647" cy="3518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76865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667A0C-9EE4-ADCF-7F04-ED0B18D8B8C5}"/>
              </a:ext>
            </a:extLst>
          </p:cNvPr>
          <p:cNvSpPr>
            <a:spLocks noGrp="1"/>
          </p:cNvSpPr>
          <p:nvPr>
            <p:ph type="title"/>
          </p:nvPr>
        </p:nvSpPr>
        <p:spPr/>
        <p:txBody>
          <a:bodyPr/>
          <a:lstStyle/>
          <a:p>
            <a:r>
              <a:rPr kumimoji="1" lang="en-US" altLang="zh-TW" dirty="0"/>
              <a:t>MLP </a:t>
            </a:r>
            <a:r>
              <a:rPr kumimoji="1" lang="zh-TW" altLang="en-US" dirty="0"/>
              <a:t>中的 </a:t>
            </a:r>
            <a:r>
              <a:rPr kumimoji="1" lang="en-US" altLang="zh-TW" dirty="0" err="1"/>
              <a:t>BatchNorm</a:t>
            </a:r>
            <a:endParaRPr kumimoji="1" lang="zh-TW" altLang="en-US" dirty="0"/>
          </a:p>
        </p:txBody>
      </p:sp>
      <p:sp>
        <p:nvSpPr>
          <p:cNvPr id="4" name="投影片編號版面配置區 3">
            <a:extLst>
              <a:ext uri="{FF2B5EF4-FFF2-40B4-BE49-F238E27FC236}">
                <a16:creationId xmlns:a16="http://schemas.microsoft.com/office/drawing/2014/main" id="{053799D2-EFE6-72B3-DFB0-1E2782D75DE4}"/>
              </a:ext>
            </a:extLst>
          </p:cNvPr>
          <p:cNvSpPr>
            <a:spLocks noGrp="1"/>
          </p:cNvSpPr>
          <p:nvPr>
            <p:ph type="sldNum" sz="quarter" idx="12"/>
          </p:nvPr>
        </p:nvSpPr>
        <p:spPr/>
        <p:txBody>
          <a:bodyPr/>
          <a:lstStyle/>
          <a:p>
            <a:fld id="{6113E31D-E2AB-40D1-8B51-AFA5AFEF393A}" type="slidenum">
              <a:rPr lang="en-US" smtClean="0"/>
              <a:pPr/>
              <a:t>29</a:t>
            </a:fld>
            <a:endParaRPr lang="en-US" dirty="0"/>
          </a:p>
        </p:txBody>
      </p:sp>
      <p:sp>
        <p:nvSpPr>
          <p:cNvPr id="37" name="橢圓 36">
            <a:extLst>
              <a:ext uri="{FF2B5EF4-FFF2-40B4-BE49-F238E27FC236}">
                <a16:creationId xmlns:a16="http://schemas.microsoft.com/office/drawing/2014/main" id="{54EC4411-331F-89FB-75D5-1E780B508F33}"/>
              </a:ext>
            </a:extLst>
          </p:cNvPr>
          <p:cNvSpPr/>
          <p:nvPr/>
        </p:nvSpPr>
        <p:spPr>
          <a:xfrm>
            <a:off x="830674" y="2811670"/>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橢圓 37">
            <a:extLst>
              <a:ext uri="{FF2B5EF4-FFF2-40B4-BE49-F238E27FC236}">
                <a16:creationId xmlns:a16="http://schemas.microsoft.com/office/drawing/2014/main" id="{F2CD7406-DBA1-DA07-237D-F37725D41694}"/>
              </a:ext>
            </a:extLst>
          </p:cNvPr>
          <p:cNvSpPr/>
          <p:nvPr/>
        </p:nvSpPr>
        <p:spPr>
          <a:xfrm>
            <a:off x="830674" y="3999876"/>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39" name="直線接點 38">
            <a:extLst>
              <a:ext uri="{FF2B5EF4-FFF2-40B4-BE49-F238E27FC236}">
                <a16:creationId xmlns:a16="http://schemas.microsoft.com/office/drawing/2014/main" id="{7B2A1C90-B12D-ADAA-9CF8-1CCC0857296A}"/>
              </a:ext>
            </a:extLst>
          </p:cNvPr>
          <p:cNvCxnSpPr>
            <a:cxnSpLocks/>
            <a:stCxn id="37" idx="6"/>
            <a:endCxn id="42" idx="2"/>
          </p:cNvCxnSpPr>
          <p:nvPr/>
        </p:nvCxnSpPr>
        <p:spPr>
          <a:xfrm>
            <a:off x="1402174" y="3097420"/>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7276F505-0068-4061-C421-07059C4A60AC}"/>
              </a:ext>
            </a:extLst>
          </p:cNvPr>
          <p:cNvCxnSpPr>
            <a:cxnSpLocks/>
            <a:stCxn id="38" idx="6"/>
            <a:endCxn id="41" idx="2"/>
          </p:cNvCxnSpPr>
          <p:nvPr/>
        </p:nvCxnSpPr>
        <p:spPr>
          <a:xfrm flipV="1">
            <a:off x="1402174" y="3097420"/>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橢圓 40">
            <a:extLst>
              <a:ext uri="{FF2B5EF4-FFF2-40B4-BE49-F238E27FC236}">
                <a16:creationId xmlns:a16="http://schemas.microsoft.com/office/drawing/2014/main" id="{1EEA0174-7951-FB79-3246-935E6D0F44D8}"/>
              </a:ext>
            </a:extLst>
          </p:cNvPr>
          <p:cNvSpPr/>
          <p:nvPr/>
        </p:nvSpPr>
        <p:spPr>
          <a:xfrm>
            <a:off x="2579464" y="2811670"/>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橢圓 41">
            <a:extLst>
              <a:ext uri="{FF2B5EF4-FFF2-40B4-BE49-F238E27FC236}">
                <a16:creationId xmlns:a16="http://schemas.microsoft.com/office/drawing/2014/main" id="{AF6A8F57-F0B9-D7F2-5FD3-68BF763B92F6}"/>
              </a:ext>
            </a:extLst>
          </p:cNvPr>
          <p:cNvSpPr/>
          <p:nvPr/>
        </p:nvSpPr>
        <p:spPr>
          <a:xfrm>
            <a:off x="2579464" y="3999876"/>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43" name="直線接點 42">
            <a:extLst>
              <a:ext uri="{FF2B5EF4-FFF2-40B4-BE49-F238E27FC236}">
                <a16:creationId xmlns:a16="http://schemas.microsoft.com/office/drawing/2014/main" id="{42BE92B8-261E-A54F-292F-0204865C24EB}"/>
              </a:ext>
            </a:extLst>
          </p:cNvPr>
          <p:cNvCxnSpPr>
            <a:cxnSpLocks/>
          </p:cNvCxnSpPr>
          <p:nvPr/>
        </p:nvCxnSpPr>
        <p:spPr>
          <a:xfrm>
            <a:off x="1402174" y="3097420"/>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AD7BB64D-8BA3-796F-8DD5-F8DDA7FE6438}"/>
              </a:ext>
            </a:extLst>
          </p:cNvPr>
          <p:cNvCxnSpPr>
            <a:cxnSpLocks/>
            <a:stCxn id="38" idx="6"/>
            <a:endCxn id="42" idx="2"/>
          </p:cNvCxnSpPr>
          <p:nvPr/>
        </p:nvCxnSpPr>
        <p:spPr>
          <a:xfrm>
            <a:off x="1402174" y="4285626"/>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F0A0A78-3B18-CEDD-82AA-3837114A46E7}"/>
                  </a:ext>
                </a:extLst>
              </p:cNvPr>
              <p:cNvSpPr txBox="1"/>
              <p:nvPr/>
            </p:nvSpPr>
            <p:spPr>
              <a:xfrm>
                <a:off x="936389" y="2897365"/>
                <a:ext cx="322139"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48" name="文字方塊 47">
                <a:extLst>
                  <a:ext uri="{FF2B5EF4-FFF2-40B4-BE49-F238E27FC236}">
                    <a16:creationId xmlns:a16="http://schemas.microsoft.com/office/drawing/2014/main" id="{6F0A0A78-3B18-CEDD-82AA-3837114A46E7}"/>
                  </a:ext>
                </a:extLst>
              </p:cNvPr>
              <p:cNvSpPr txBox="1">
                <a:spLocks noRot="1" noChangeAspect="1" noMove="1" noResize="1" noEditPoints="1" noAdjustHandles="1" noChangeArrowheads="1" noChangeShapeType="1" noTextEdit="1"/>
              </p:cNvSpPr>
              <p:nvPr/>
            </p:nvSpPr>
            <p:spPr>
              <a:xfrm>
                <a:off x="936389" y="2897365"/>
                <a:ext cx="322139" cy="400110"/>
              </a:xfrm>
              <a:prstGeom prst="rect">
                <a:avLst/>
              </a:prstGeom>
              <a:blipFill>
                <a:blip r:embed="rId2"/>
                <a:stretch>
                  <a:fillRect r="-2307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12937082-04B4-ED50-AA11-27CE89F1AB35}"/>
                  </a:ext>
                </a:extLst>
              </p:cNvPr>
              <p:cNvSpPr txBox="1"/>
              <p:nvPr/>
            </p:nvSpPr>
            <p:spPr>
              <a:xfrm>
                <a:off x="912606" y="4066361"/>
                <a:ext cx="44485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en-US" altLang="zh-TW" sz="2000" b="0" i="1" smtClean="0">
                              <a:latin typeface="Cambria Math" panose="02040503050406030204" pitchFamily="18" charset="0"/>
                            </a:rPr>
                            <m:t>𝑛</m:t>
                          </m:r>
                        </m:sub>
                      </m:sSub>
                    </m:oMath>
                  </m:oMathPara>
                </a14:m>
                <a:endParaRPr lang="zh-TW" altLang="en-US" sz="2000" dirty="0"/>
              </a:p>
            </p:txBody>
          </p:sp>
        </mc:Choice>
        <mc:Fallback xmlns="">
          <p:sp>
            <p:nvSpPr>
              <p:cNvPr id="49" name="文字方塊 48">
                <a:extLst>
                  <a:ext uri="{FF2B5EF4-FFF2-40B4-BE49-F238E27FC236}">
                    <a16:creationId xmlns:a16="http://schemas.microsoft.com/office/drawing/2014/main" id="{12937082-04B4-ED50-AA11-27CE89F1AB35}"/>
                  </a:ext>
                </a:extLst>
              </p:cNvPr>
              <p:cNvSpPr txBox="1">
                <a:spLocks noRot="1" noChangeAspect="1" noMove="1" noResize="1" noEditPoints="1" noAdjustHandles="1" noChangeArrowheads="1" noChangeShapeType="1" noTextEdit="1"/>
              </p:cNvSpPr>
              <p:nvPr/>
            </p:nvSpPr>
            <p:spPr>
              <a:xfrm>
                <a:off x="912606" y="4066361"/>
                <a:ext cx="444852" cy="40011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2C3D8883-F7CC-F3CF-EA83-49762FBEBCC8}"/>
                  </a:ext>
                </a:extLst>
              </p:cNvPr>
              <p:cNvSpPr txBox="1"/>
              <p:nvPr/>
            </p:nvSpPr>
            <p:spPr>
              <a:xfrm>
                <a:off x="2636481" y="2897365"/>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50" name="文字方塊 49">
                <a:extLst>
                  <a:ext uri="{FF2B5EF4-FFF2-40B4-BE49-F238E27FC236}">
                    <a16:creationId xmlns:a16="http://schemas.microsoft.com/office/drawing/2014/main" id="{2C3D8883-F7CC-F3CF-EA83-49762FBEBCC8}"/>
                  </a:ext>
                </a:extLst>
              </p:cNvPr>
              <p:cNvSpPr txBox="1">
                <a:spLocks noRot="1" noChangeAspect="1" noMove="1" noResize="1" noEditPoints="1" noAdjustHandles="1" noChangeArrowheads="1" noChangeShapeType="1" noTextEdit="1"/>
              </p:cNvSpPr>
              <p:nvPr/>
            </p:nvSpPr>
            <p:spPr>
              <a:xfrm>
                <a:off x="2636481" y="2897365"/>
                <a:ext cx="515874"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5C6847CF-8AF3-FA1D-EF01-309014A358AB}"/>
                  </a:ext>
                </a:extLst>
              </p:cNvPr>
              <p:cNvSpPr txBox="1"/>
              <p:nvPr/>
            </p:nvSpPr>
            <p:spPr>
              <a:xfrm>
                <a:off x="2612992" y="4085571"/>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51" name="文字方塊 50">
                <a:extLst>
                  <a:ext uri="{FF2B5EF4-FFF2-40B4-BE49-F238E27FC236}">
                    <a16:creationId xmlns:a16="http://schemas.microsoft.com/office/drawing/2014/main" id="{5C6847CF-8AF3-FA1D-EF01-309014A358AB}"/>
                  </a:ext>
                </a:extLst>
              </p:cNvPr>
              <p:cNvSpPr txBox="1">
                <a:spLocks noRot="1" noChangeAspect="1" noMove="1" noResize="1" noEditPoints="1" noAdjustHandles="1" noChangeArrowheads="1" noChangeShapeType="1" noTextEdit="1"/>
              </p:cNvSpPr>
              <p:nvPr/>
            </p:nvSpPr>
            <p:spPr>
              <a:xfrm>
                <a:off x="2612992" y="4085571"/>
                <a:ext cx="504444" cy="424796"/>
              </a:xfrm>
              <a:prstGeom prst="rect">
                <a:avLst/>
              </a:prstGeom>
              <a:blipFill>
                <a:blip r:embed="rId5"/>
                <a:stretch>
                  <a:fillRect b="-8571"/>
                </a:stretch>
              </a:blipFill>
            </p:spPr>
            <p:txBody>
              <a:bodyPr/>
              <a:lstStyle/>
              <a:p>
                <a:r>
                  <a:rPr lang="zh-TW" altLang="en-US">
                    <a:noFill/>
                  </a:rPr>
                  <a:t> </a:t>
                </a:r>
              </a:p>
            </p:txBody>
          </p:sp>
        </mc:Fallback>
      </mc:AlternateContent>
      <p:sp>
        <p:nvSpPr>
          <p:cNvPr id="57" name="文字方塊 56">
            <a:extLst>
              <a:ext uri="{FF2B5EF4-FFF2-40B4-BE49-F238E27FC236}">
                <a16:creationId xmlns:a16="http://schemas.microsoft.com/office/drawing/2014/main" id="{5D66460D-0E90-4220-DA5C-95AB08FE15F3}"/>
              </a:ext>
            </a:extLst>
          </p:cNvPr>
          <p:cNvSpPr txBox="1"/>
          <p:nvPr/>
        </p:nvSpPr>
        <p:spPr>
          <a:xfrm rot="5400000">
            <a:off x="833940" y="3629768"/>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58" name="文字方塊 57">
            <a:extLst>
              <a:ext uri="{FF2B5EF4-FFF2-40B4-BE49-F238E27FC236}">
                <a16:creationId xmlns:a16="http://schemas.microsoft.com/office/drawing/2014/main" id="{D01F52D3-17E5-A806-6EBE-7E59C4595E00}"/>
              </a:ext>
            </a:extLst>
          </p:cNvPr>
          <p:cNvSpPr txBox="1"/>
          <p:nvPr/>
        </p:nvSpPr>
        <p:spPr>
          <a:xfrm rot="5400000">
            <a:off x="2578450" y="3629768"/>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60" name="矩形 59">
            <a:extLst>
              <a:ext uri="{FF2B5EF4-FFF2-40B4-BE49-F238E27FC236}">
                <a16:creationId xmlns:a16="http://schemas.microsoft.com/office/drawing/2014/main" id="{3BA3F778-8DCC-F0A7-F51C-96FE18E063D5}"/>
              </a:ext>
            </a:extLst>
          </p:cNvPr>
          <p:cNvSpPr/>
          <p:nvPr/>
        </p:nvSpPr>
        <p:spPr>
          <a:xfrm>
            <a:off x="2489200" y="2570480"/>
            <a:ext cx="792480" cy="227583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096DE832-2955-44A4-433C-70C3DE0D4CAE}"/>
                  </a:ext>
                </a:extLst>
              </p:cNvPr>
              <p:cNvSpPr txBox="1"/>
              <p:nvPr/>
            </p:nvSpPr>
            <p:spPr>
              <a:xfrm>
                <a:off x="3454400" y="1534160"/>
                <a:ext cx="3413760" cy="369332"/>
              </a:xfrm>
              <a:prstGeom prst="rect">
                <a:avLst/>
              </a:prstGeom>
              <a:noFill/>
            </p:spPr>
            <p:txBody>
              <a:bodyPr wrap="square" rtlCol="0">
                <a:spAutoFit/>
              </a:bodyPr>
              <a:lstStyle/>
              <a:p>
                <a:r>
                  <a:rPr kumimoji="1" lang="zh-TW" altLang="en-US" dirty="0">
                    <a:solidFill>
                      <a:schemeClr val="tx1"/>
                    </a:solidFill>
                    <a:latin typeface="Microsoft JhengHei" panose="020B0604030504040204" pitchFamily="34" charset="-120"/>
                    <a:ea typeface="Microsoft JhengHei" panose="020B0604030504040204" pitchFamily="34" charset="-120"/>
                  </a:rPr>
                  <a:t>計算：</a:t>
                </a:r>
                <a14:m>
                  <m:oMath xmlns:m="http://schemas.openxmlformats.org/officeDocument/2006/math">
                    <m:r>
                      <a:rPr lang="en-US" altLang="zh-TW" sz="1800" i="1" kern="100" smtClean="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𝜇</m:t>
                    </m:r>
                  </m:oMath>
                </a14:m>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平均數</a:t>
                </a:r>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a:t>
                </a:r>
                <a:r>
                  <a:rPr lang="zh-TW" altLang="en-US"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 </a:t>
                </a:r>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&amp; </a:t>
                </a:r>
                <a14:m>
                  <m:oMath xmlns:m="http://schemas.openxmlformats.org/officeDocument/2006/math">
                    <m:r>
                      <a:rPr lang="en-US" altLang="zh-TW" i="1">
                        <a:latin typeface="Cambria Math" panose="02040503050406030204" pitchFamily="18" charset="0"/>
                      </a:rPr>
                      <m:t>𝜎</m:t>
                    </m:r>
                  </m:oMath>
                </a14:m>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kern="100" dirty="0">
                    <a:latin typeface="Microsoft JhengHei" panose="020B0604030504040204" pitchFamily="34" charset="-120"/>
                    <a:ea typeface="Microsoft JhengHei" panose="020B0604030504040204" pitchFamily="34" charset="-120"/>
                    <a:cs typeface="Times New Roman" panose="02020603050405020304" pitchFamily="18" charset="0"/>
                  </a:rPr>
                  <a:t>標準差</a:t>
                </a:r>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a:t>
                </a:r>
                <a:endParaRPr lang="zh-TW" altLang="zh-TW" dirty="0">
                  <a:latin typeface="Microsoft JhengHei" panose="020B0604030504040204" pitchFamily="34" charset="-120"/>
                  <a:ea typeface="Microsoft JhengHei" panose="020B0604030504040204" pitchFamily="34" charset="-120"/>
                </a:endParaRPr>
              </a:p>
            </p:txBody>
          </p:sp>
        </mc:Choice>
        <mc:Fallback xmlns="">
          <p:sp>
            <p:nvSpPr>
              <p:cNvPr id="61" name="文字方塊 60">
                <a:extLst>
                  <a:ext uri="{FF2B5EF4-FFF2-40B4-BE49-F238E27FC236}">
                    <a16:creationId xmlns:a16="http://schemas.microsoft.com/office/drawing/2014/main" id="{096DE832-2955-44A4-433C-70C3DE0D4CAE}"/>
                  </a:ext>
                </a:extLst>
              </p:cNvPr>
              <p:cNvSpPr txBox="1">
                <a:spLocks noRot="1" noChangeAspect="1" noMove="1" noResize="1" noEditPoints="1" noAdjustHandles="1" noChangeArrowheads="1" noChangeShapeType="1" noTextEdit="1"/>
              </p:cNvSpPr>
              <p:nvPr/>
            </p:nvSpPr>
            <p:spPr>
              <a:xfrm>
                <a:off x="3454400" y="1534160"/>
                <a:ext cx="3413760" cy="369332"/>
              </a:xfrm>
              <a:prstGeom prst="rect">
                <a:avLst/>
              </a:prstGeom>
              <a:blipFill>
                <a:blip r:embed="rId6"/>
                <a:stretch>
                  <a:fillRect l="-1859" t="-6667" b="-23333"/>
                </a:stretch>
              </a:blipFill>
            </p:spPr>
            <p:txBody>
              <a:bodyPr/>
              <a:lstStyle/>
              <a:p>
                <a:r>
                  <a:rPr lang="zh-TW" altLang="en-US">
                    <a:noFill/>
                  </a:rPr>
                  <a:t> </a:t>
                </a:r>
              </a:p>
            </p:txBody>
          </p:sp>
        </mc:Fallback>
      </mc:AlternateContent>
      <p:cxnSp>
        <p:nvCxnSpPr>
          <p:cNvPr id="63" name="肘形接點 62">
            <a:extLst>
              <a:ext uri="{FF2B5EF4-FFF2-40B4-BE49-F238E27FC236}">
                <a16:creationId xmlns:a16="http://schemas.microsoft.com/office/drawing/2014/main" id="{F03AF852-46BC-B85A-82D1-3FB1F3B2FA30}"/>
              </a:ext>
            </a:extLst>
          </p:cNvPr>
          <p:cNvCxnSpPr>
            <a:stCxn id="60" idx="0"/>
            <a:endCxn id="61" idx="1"/>
          </p:cNvCxnSpPr>
          <p:nvPr/>
        </p:nvCxnSpPr>
        <p:spPr>
          <a:xfrm rot="5400000" flipH="1" flipV="1">
            <a:off x="2744093" y="1860173"/>
            <a:ext cx="851654" cy="568960"/>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橢圓 63">
            <a:extLst>
              <a:ext uri="{FF2B5EF4-FFF2-40B4-BE49-F238E27FC236}">
                <a16:creationId xmlns:a16="http://schemas.microsoft.com/office/drawing/2014/main" id="{C3E3F7A8-2EE9-EBC7-4695-91C69073B793}"/>
              </a:ext>
            </a:extLst>
          </p:cNvPr>
          <p:cNvSpPr/>
          <p:nvPr/>
        </p:nvSpPr>
        <p:spPr>
          <a:xfrm>
            <a:off x="4346915" y="2811670"/>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橢圓 64">
            <a:extLst>
              <a:ext uri="{FF2B5EF4-FFF2-40B4-BE49-F238E27FC236}">
                <a16:creationId xmlns:a16="http://schemas.microsoft.com/office/drawing/2014/main" id="{270B74A9-E328-AF2C-3EEE-1B373E310EC3}"/>
              </a:ext>
            </a:extLst>
          </p:cNvPr>
          <p:cNvSpPr/>
          <p:nvPr/>
        </p:nvSpPr>
        <p:spPr>
          <a:xfrm>
            <a:off x="4346915" y="3999876"/>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66" name="文字方塊 65">
                <a:extLst>
                  <a:ext uri="{FF2B5EF4-FFF2-40B4-BE49-F238E27FC236}">
                    <a16:creationId xmlns:a16="http://schemas.microsoft.com/office/drawing/2014/main" id="{9164DB17-C0EC-D60B-88A4-1DEBAA2AD1DD}"/>
                  </a:ext>
                </a:extLst>
              </p:cNvPr>
              <p:cNvSpPr txBox="1"/>
              <p:nvPr/>
            </p:nvSpPr>
            <p:spPr>
              <a:xfrm>
                <a:off x="4403932" y="2897365"/>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66" name="文字方塊 65">
                <a:extLst>
                  <a:ext uri="{FF2B5EF4-FFF2-40B4-BE49-F238E27FC236}">
                    <a16:creationId xmlns:a16="http://schemas.microsoft.com/office/drawing/2014/main" id="{9164DB17-C0EC-D60B-88A4-1DEBAA2AD1DD}"/>
                  </a:ext>
                </a:extLst>
              </p:cNvPr>
              <p:cNvSpPr txBox="1">
                <a:spLocks noRot="1" noChangeAspect="1" noMove="1" noResize="1" noEditPoints="1" noAdjustHandles="1" noChangeArrowheads="1" noChangeShapeType="1" noTextEdit="1"/>
              </p:cNvSpPr>
              <p:nvPr/>
            </p:nvSpPr>
            <p:spPr>
              <a:xfrm>
                <a:off x="4403932" y="2897365"/>
                <a:ext cx="515874" cy="40011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a:extLst>
                  <a:ext uri="{FF2B5EF4-FFF2-40B4-BE49-F238E27FC236}">
                    <a16:creationId xmlns:a16="http://schemas.microsoft.com/office/drawing/2014/main" id="{A67EA603-BAF4-CC45-7620-95CBAD85CBEA}"/>
                  </a:ext>
                </a:extLst>
              </p:cNvPr>
              <p:cNvSpPr txBox="1"/>
              <p:nvPr/>
            </p:nvSpPr>
            <p:spPr>
              <a:xfrm>
                <a:off x="4380443" y="4085571"/>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67" name="文字方塊 66">
                <a:extLst>
                  <a:ext uri="{FF2B5EF4-FFF2-40B4-BE49-F238E27FC236}">
                    <a16:creationId xmlns:a16="http://schemas.microsoft.com/office/drawing/2014/main" id="{A67EA603-BAF4-CC45-7620-95CBAD85CBEA}"/>
                  </a:ext>
                </a:extLst>
              </p:cNvPr>
              <p:cNvSpPr txBox="1">
                <a:spLocks noRot="1" noChangeAspect="1" noMove="1" noResize="1" noEditPoints="1" noAdjustHandles="1" noChangeArrowheads="1" noChangeShapeType="1" noTextEdit="1"/>
              </p:cNvSpPr>
              <p:nvPr/>
            </p:nvSpPr>
            <p:spPr>
              <a:xfrm>
                <a:off x="4380443" y="4085571"/>
                <a:ext cx="504444" cy="424796"/>
              </a:xfrm>
              <a:prstGeom prst="rect">
                <a:avLst/>
              </a:prstGeom>
              <a:blipFill>
                <a:blip r:embed="rId8"/>
                <a:stretch>
                  <a:fillRect b="-8571"/>
                </a:stretch>
              </a:blipFill>
            </p:spPr>
            <p:txBody>
              <a:bodyPr/>
              <a:lstStyle/>
              <a:p>
                <a:r>
                  <a:rPr lang="zh-TW" altLang="en-US">
                    <a:noFill/>
                  </a:rPr>
                  <a:t> </a:t>
                </a:r>
              </a:p>
            </p:txBody>
          </p:sp>
        </mc:Fallback>
      </mc:AlternateContent>
      <p:sp>
        <p:nvSpPr>
          <p:cNvPr id="68" name="文字方塊 67">
            <a:extLst>
              <a:ext uri="{FF2B5EF4-FFF2-40B4-BE49-F238E27FC236}">
                <a16:creationId xmlns:a16="http://schemas.microsoft.com/office/drawing/2014/main" id="{48D66048-BB9F-222A-D662-EAC8F572C8D3}"/>
              </a:ext>
            </a:extLst>
          </p:cNvPr>
          <p:cNvSpPr txBox="1"/>
          <p:nvPr/>
        </p:nvSpPr>
        <p:spPr>
          <a:xfrm rot="5400000">
            <a:off x="4345901" y="3629768"/>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cxnSp>
        <p:nvCxnSpPr>
          <p:cNvPr id="69" name="直線接點 68">
            <a:extLst>
              <a:ext uri="{FF2B5EF4-FFF2-40B4-BE49-F238E27FC236}">
                <a16:creationId xmlns:a16="http://schemas.microsoft.com/office/drawing/2014/main" id="{17BFF798-BB0C-07DC-54A2-5AF46F7B83EF}"/>
              </a:ext>
            </a:extLst>
          </p:cNvPr>
          <p:cNvCxnSpPr>
            <a:cxnSpLocks/>
            <a:stCxn id="50" idx="3"/>
            <a:endCxn id="64" idx="2"/>
          </p:cNvCxnSpPr>
          <p:nvPr/>
        </p:nvCxnSpPr>
        <p:spPr>
          <a:xfrm>
            <a:off x="3152355" y="3097420"/>
            <a:ext cx="1194560"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87467220-ABB2-5A79-2E07-1217247A22F0}"/>
              </a:ext>
            </a:extLst>
          </p:cNvPr>
          <p:cNvCxnSpPr>
            <a:cxnSpLocks/>
            <a:stCxn id="42" idx="6"/>
            <a:endCxn id="65" idx="2"/>
          </p:cNvCxnSpPr>
          <p:nvPr/>
        </p:nvCxnSpPr>
        <p:spPr>
          <a:xfrm>
            <a:off x="3150964" y="4285626"/>
            <a:ext cx="1195951"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F4E487E8-7115-62EF-4254-B2FA6F9EE8D0}"/>
                  </a:ext>
                </a:extLst>
              </p:cNvPr>
              <p:cNvSpPr txBox="1"/>
              <p:nvPr/>
            </p:nvSpPr>
            <p:spPr>
              <a:xfrm>
                <a:off x="5708355" y="2642231"/>
                <a:ext cx="2319610" cy="9103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h</m:t>
                          </m:r>
                          <m:r>
                            <a:rPr lang="en-US" altLang="zh-TW" sz="2800" b="0" i="1" smtClean="0">
                              <a:solidFill>
                                <a:schemeClr val="tx1"/>
                              </a:solidFill>
                              <a:latin typeface="Cambria Math" panose="02040503050406030204" pitchFamily="18" charset="0"/>
                            </a:rPr>
                            <m:t>′</m:t>
                          </m:r>
                        </m:e>
                        <m:sub>
                          <m:r>
                            <a:rPr lang="zh-TW" altLang="en-US" sz="2800" i="0">
                              <a:solidFill>
                                <a:schemeClr val="tx1"/>
                              </a:solidFill>
                              <a:latin typeface="Cambria Math" panose="02040503050406030204" pitchFamily="18" charset="0"/>
                            </a:rPr>
                            <m:t>1</m:t>
                          </m:r>
                        </m:sub>
                      </m:sSub>
                      <m:r>
                        <a:rPr lang="en-US" altLang="zh-TW" sz="2800" b="0" i="1" smtClean="0">
                          <a:solidFill>
                            <a:schemeClr val="tx1"/>
                          </a:solidFill>
                          <a:latin typeface="Cambria Math" panose="02040503050406030204" pitchFamily="18" charset="0"/>
                        </a:rPr>
                        <m:t>=</m:t>
                      </m:r>
                      <m:f>
                        <m:fPr>
                          <m:ctrlPr>
                            <a:rPr lang="en-US" altLang="zh-TW" sz="2800" b="0" i="1" kern="100" smtClean="0">
                              <a:solidFill>
                                <a:schemeClr val="tx1"/>
                              </a:solidFill>
                              <a:latin typeface="Cambria Math" panose="02040503050406030204" pitchFamily="18" charset="0"/>
                              <a:cs typeface="Times New Roman" panose="02020603050405020304" pitchFamily="18" charset="0"/>
                            </a:rPr>
                          </m:ctrlPr>
                        </m:fPr>
                        <m:num>
                          <m:sSub>
                            <m:sSubPr>
                              <m:ctrlPr>
                                <a:rPr lang="zh-TW" altLang="en-US" sz="2800" i="1">
                                  <a:solidFill>
                                    <a:schemeClr val="tx1"/>
                                  </a:solidFill>
                                  <a:latin typeface="Cambria Math" panose="02040503050406030204" pitchFamily="18" charset="0"/>
                                </a:rPr>
                              </m:ctrlPr>
                            </m:sSubPr>
                            <m:e>
                              <m:r>
                                <a:rPr lang="en-US" altLang="zh-TW" sz="2800" i="1">
                                  <a:solidFill>
                                    <a:schemeClr val="tx1"/>
                                  </a:solidFill>
                                  <a:latin typeface="Cambria Math" panose="02040503050406030204" pitchFamily="18" charset="0"/>
                                </a:rPr>
                                <m:t>h</m:t>
                              </m:r>
                            </m:e>
                            <m:sub>
                              <m:r>
                                <a:rPr lang="zh-TW" altLang="en-US" sz="2800">
                                  <a:solidFill>
                                    <a:schemeClr val="tx1"/>
                                  </a:solidFill>
                                  <a:latin typeface="Cambria Math" panose="02040503050406030204" pitchFamily="18" charset="0"/>
                                </a:rPr>
                                <m:t>1</m:t>
                              </m:r>
                            </m:sub>
                          </m:sSub>
                          <m:r>
                            <a:rPr lang="en-US" altLang="zh-TW" sz="2800" b="0" i="1" smtClean="0">
                              <a:solidFill>
                                <a:schemeClr val="tx1"/>
                              </a:solidFill>
                              <a:latin typeface="Cambria Math" panose="02040503050406030204" pitchFamily="18" charset="0"/>
                            </a:rPr>
                            <m:t>−</m:t>
                          </m:r>
                          <m:r>
                            <a:rPr lang="en-US" altLang="zh-TW" sz="2800" i="1" kern="100">
                              <a:solidFill>
                                <a:schemeClr val="tx1"/>
                              </a:solidFill>
                              <a:latin typeface="Cambria Math" panose="02040503050406030204" pitchFamily="18" charset="0"/>
                              <a:cs typeface="Times New Roman" panose="02020603050405020304" pitchFamily="18" charset="0"/>
                            </a:rPr>
                            <m:t>𝜇</m:t>
                          </m:r>
                        </m:num>
                        <m:den>
                          <m:r>
                            <a:rPr lang="en-US" altLang="zh-TW" sz="2800" i="1">
                              <a:solidFill>
                                <a:schemeClr val="tx1"/>
                              </a:solidFill>
                              <a:latin typeface="Cambria Math" panose="02040503050406030204" pitchFamily="18" charset="0"/>
                            </a:rPr>
                            <m:t>𝜎</m:t>
                          </m:r>
                        </m:den>
                      </m:f>
                    </m:oMath>
                  </m:oMathPara>
                </a14:m>
                <a:endParaRPr lang="zh-TW" altLang="en-US" sz="2800" dirty="0">
                  <a:solidFill>
                    <a:schemeClr val="tx1"/>
                  </a:solidFill>
                </a:endParaRPr>
              </a:p>
            </p:txBody>
          </p:sp>
        </mc:Choice>
        <mc:Fallback xmlns="">
          <p:sp>
            <p:nvSpPr>
              <p:cNvPr id="78" name="文字方塊 77">
                <a:extLst>
                  <a:ext uri="{FF2B5EF4-FFF2-40B4-BE49-F238E27FC236}">
                    <a16:creationId xmlns:a16="http://schemas.microsoft.com/office/drawing/2014/main" id="{F4E487E8-7115-62EF-4254-B2FA6F9EE8D0}"/>
                  </a:ext>
                </a:extLst>
              </p:cNvPr>
              <p:cNvSpPr txBox="1">
                <a:spLocks noRot="1" noChangeAspect="1" noMove="1" noResize="1" noEditPoints="1" noAdjustHandles="1" noChangeArrowheads="1" noChangeShapeType="1" noTextEdit="1"/>
              </p:cNvSpPr>
              <p:nvPr/>
            </p:nvSpPr>
            <p:spPr>
              <a:xfrm>
                <a:off x="5708355" y="2642231"/>
                <a:ext cx="2319610" cy="910377"/>
              </a:xfrm>
              <a:prstGeom prst="rect">
                <a:avLst/>
              </a:prstGeom>
              <a:blipFill>
                <a:blip r:embed="rId9"/>
                <a:stretch>
                  <a:fillRect b="-41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9" name="文字方塊 78">
                <a:extLst>
                  <a:ext uri="{FF2B5EF4-FFF2-40B4-BE49-F238E27FC236}">
                    <a16:creationId xmlns:a16="http://schemas.microsoft.com/office/drawing/2014/main" id="{DB00FC11-D74B-C225-FEB1-0A543DCAD987}"/>
                  </a:ext>
                </a:extLst>
              </p:cNvPr>
              <p:cNvSpPr txBox="1"/>
              <p:nvPr/>
            </p:nvSpPr>
            <p:spPr>
              <a:xfrm>
                <a:off x="5708355" y="3768482"/>
                <a:ext cx="2319610" cy="9228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h</m:t>
                          </m:r>
                          <m:r>
                            <a:rPr lang="en-US" altLang="zh-TW" sz="2800" b="0" i="1" smtClean="0">
                              <a:solidFill>
                                <a:schemeClr val="tx1"/>
                              </a:solidFill>
                              <a:latin typeface="Cambria Math" panose="02040503050406030204" pitchFamily="18" charset="0"/>
                            </a:rPr>
                            <m:t>′</m:t>
                          </m:r>
                        </m:e>
                        <m:sub>
                          <m:r>
                            <a:rPr lang="en-US" altLang="zh-TW" sz="2800" b="0" i="1" smtClean="0">
                              <a:solidFill>
                                <a:schemeClr val="tx1"/>
                              </a:solidFill>
                              <a:latin typeface="Cambria Math" panose="02040503050406030204" pitchFamily="18" charset="0"/>
                            </a:rPr>
                            <m:t>𝑗</m:t>
                          </m:r>
                        </m:sub>
                      </m:sSub>
                      <m:r>
                        <a:rPr lang="en-US" altLang="zh-TW" sz="2800" b="0" i="1" smtClean="0">
                          <a:solidFill>
                            <a:schemeClr val="tx1"/>
                          </a:solidFill>
                          <a:latin typeface="Cambria Math" panose="02040503050406030204" pitchFamily="18" charset="0"/>
                        </a:rPr>
                        <m:t>=</m:t>
                      </m:r>
                      <m:f>
                        <m:fPr>
                          <m:ctrlPr>
                            <a:rPr lang="en-US" altLang="zh-TW" sz="2800" b="0" i="1" kern="100" smtClean="0">
                              <a:solidFill>
                                <a:schemeClr val="tx1"/>
                              </a:solidFill>
                              <a:latin typeface="Cambria Math" panose="02040503050406030204" pitchFamily="18" charset="0"/>
                              <a:cs typeface="Times New Roman" panose="02020603050405020304" pitchFamily="18" charset="0"/>
                            </a:rPr>
                          </m:ctrlPr>
                        </m:fPr>
                        <m:num>
                          <m:sSub>
                            <m:sSubPr>
                              <m:ctrlPr>
                                <a:rPr lang="zh-TW" altLang="en-US" sz="2800" i="1">
                                  <a:solidFill>
                                    <a:schemeClr val="tx1"/>
                                  </a:solidFill>
                                  <a:latin typeface="Cambria Math" panose="02040503050406030204" pitchFamily="18" charset="0"/>
                                </a:rPr>
                              </m:ctrlPr>
                            </m:sSubPr>
                            <m:e>
                              <m:r>
                                <a:rPr lang="en-US" altLang="zh-TW" sz="2800" i="1">
                                  <a:solidFill>
                                    <a:schemeClr val="tx1"/>
                                  </a:solidFill>
                                  <a:latin typeface="Cambria Math" panose="02040503050406030204" pitchFamily="18" charset="0"/>
                                </a:rPr>
                                <m:t>h</m:t>
                              </m:r>
                            </m:e>
                            <m:sub>
                              <m:r>
                                <a:rPr lang="en-US" altLang="zh-TW" sz="2800" i="1">
                                  <a:latin typeface="Cambria Math" panose="02040503050406030204" pitchFamily="18" charset="0"/>
                                </a:rPr>
                                <m:t>𝑗</m:t>
                              </m:r>
                            </m:sub>
                          </m:sSub>
                          <m:r>
                            <a:rPr lang="en-US" altLang="zh-TW" sz="2800" b="0" i="1" smtClean="0">
                              <a:solidFill>
                                <a:schemeClr val="tx1"/>
                              </a:solidFill>
                              <a:latin typeface="Cambria Math" panose="02040503050406030204" pitchFamily="18" charset="0"/>
                            </a:rPr>
                            <m:t>−</m:t>
                          </m:r>
                          <m:r>
                            <a:rPr lang="en-US" altLang="zh-TW" sz="2800" i="1" kern="100">
                              <a:solidFill>
                                <a:schemeClr val="tx1"/>
                              </a:solidFill>
                              <a:latin typeface="Cambria Math" panose="02040503050406030204" pitchFamily="18" charset="0"/>
                              <a:cs typeface="Times New Roman" panose="02020603050405020304" pitchFamily="18" charset="0"/>
                            </a:rPr>
                            <m:t>𝜇</m:t>
                          </m:r>
                        </m:num>
                        <m:den>
                          <m:r>
                            <a:rPr lang="en-US" altLang="zh-TW" sz="2800" i="1">
                              <a:solidFill>
                                <a:schemeClr val="tx1"/>
                              </a:solidFill>
                              <a:latin typeface="Cambria Math" panose="02040503050406030204" pitchFamily="18" charset="0"/>
                            </a:rPr>
                            <m:t>𝜎</m:t>
                          </m:r>
                        </m:den>
                      </m:f>
                    </m:oMath>
                  </m:oMathPara>
                </a14:m>
                <a:endParaRPr lang="zh-TW" altLang="en-US" sz="2800" dirty="0">
                  <a:solidFill>
                    <a:schemeClr val="tx1"/>
                  </a:solidFill>
                </a:endParaRPr>
              </a:p>
            </p:txBody>
          </p:sp>
        </mc:Choice>
        <mc:Fallback xmlns="">
          <p:sp>
            <p:nvSpPr>
              <p:cNvPr id="79" name="文字方塊 78">
                <a:extLst>
                  <a:ext uri="{FF2B5EF4-FFF2-40B4-BE49-F238E27FC236}">
                    <a16:creationId xmlns:a16="http://schemas.microsoft.com/office/drawing/2014/main" id="{DB00FC11-D74B-C225-FEB1-0A543DCAD987}"/>
                  </a:ext>
                </a:extLst>
              </p:cNvPr>
              <p:cNvSpPr txBox="1">
                <a:spLocks noRot="1" noChangeAspect="1" noMove="1" noResize="1" noEditPoints="1" noAdjustHandles="1" noChangeArrowheads="1" noChangeShapeType="1" noTextEdit="1"/>
              </p:cNvSpPr>
              <p:nvPr/>
            </p:nvSpPr>
            <p:spPr>
              <a:xfrm>
                <a:off x="5708355" y="3768482"/>
                <a:ext cx="2319610" cy="922881"/>
              </a:xfrm>
              <a:prstGeom prst="rect">
                <a:avLst/>
              </a:prstGeom>
              <a:blipFill>
                <a:blip r:embed="rId10"/>
                <a:stretch>
                  <a:fillRect b="-2703"/>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A1681D01-6AAE-C2DF-8285-4193B427871E}"/>
              </a:ext>
            </a:extLst>
          </p:cNvPr>
          <p:cNvSpPr txBox="1"/>
          <p:nvPr/>
        </p:nvSpPr>
        <p:spPr>
          <a:xfrm>
            <a:off x="2590799" y="6240302"/>
            <a:ext cx="7808259" cy="523220"/>
          </a:xfrm>
          <a:prstGeom prst="rect">
            <a:avLst/>
          </a:prstGeom>
          <a:noFill/>
        </p:spPr>
        <p:txBody>
          <a:bodyPr wrap="square" rtlCol="0">
            <a:spAutoFit/>
          </a:bodyPr>
          <a:lstStyle/>
          <a:p>
            <a:r>
              <a:rPr kumimoji="1" lang="en" altLang="zh-TW" sz="1400" dirty="0" err="1"/>
              <a:t>Ioffe</a:t>
            </a:r>
            <a:r>
              <a:rPr kumimoji="1" lang="en" altLang="zh-TW" sz="1400" dirty="0"/>
              <a:t>, Sergey, and Christian </a:t>
            </a:r>
            <a:r>
              <a:rPr kumimoji="1" lang="en" altLang="zh-TW" sz="1400" dirty="0" err="1"/>
              <a:t>Szegedy</a:t>
            </a:r>
            <a:r>
              <a:rPr kumimoji="1" lang="en" altLang="zh-TW" sz="1400" dirty="0"/>
              <a:t>. "Batch normalization: Accelerating deep network training by reducing internal covariate shift." International conference on machine learning. 2015.</a:t>
            </a:r>
            <a:endParaRPr kumimoji="1" lang="zh-TW" altLang="en-US" sz="1400" dirty="0"/>
          </a:p>
        </p:txBody>
      </p:sp>
    </p:spTree>
    <p:extLst>
      <p:ext uri="{BB962C8B-B14F-4D97-AF65-F5344CB8AC3E}">
        <p14:creationId xmlns:p14="http://schemas.microsoft.com/office/powerpoint/2010/main" val="579686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C9B3A2-0B0A-D4CF-1BF1-2868961864C8}"/>
              </a:ext>
            </a:extLst>
          </p:cNvPr>
          <p:cNvSpPr>
            <a:spLocks noGrp="1"/>
          </p:cNvSpPr>
          <p:nvPr>
            <p:ph type="title"/>
          </p:nvPr>
        </p:nvSpPr>
        <p:spPr/>
        <p:txBody>
          <a:bodyPr/>
          <a:lstStyle/>
          <a:p>
            <a:r>
              <a:rPr kumimoji="1" lang="en-US" altLang="zh-TW" dirty="0" err="1"/>
              <a:t>BatchNorm</a:t>
            </a:r>
            <a:r>
              <a:rPr kumimoji="1" lang="en-US" altLang="zh-TW" dirty="0"/>
              <a:t> During </a:t>
            </a:r>
            <a:r>
              <a:rPr kumimoji="1" lang="en-US" altLang="zh-TW" dirty="0">
                <a:solidFill>
                  <a:schemeClr val="tx1"/>
                </a:solidFill>
              </a:rPr>
              <a:t>Training</a:t>
            </a:r>
            <a:endParaRPr kumimoji="1" lang="zh-TW" altLang="en-US" dirty="0">
              <a:solidFill>
                <a:schemeClr val="tx1"/>
              </a:solidFill>
            </a:endParaRPr>
          </a:p>
        </p:txBody>
      </p:sp>
      <p:sp>
        <p:nvSpPr>
          <p:cNvPr id="4" name="投影片編號版面配置區 3">
            <a:extLst>
              <a:ext uri="{FF2B5EF4-FFF2-40B4-BE49-F238E27FC236}">
                <a16:creationId xmlns:a16="http://schemas.microsoft.com/office/drawing/2014/main" id="{5E151C7C-B877-CCFA-8334-D98892D22822}"/>
              </a:ext>
            </a:extLst>
          </p:cNvPr>
          <p:cNvSpPr>
            <a:spLocks noGrp="1"/>
          </p:cNvSpPr>
          <p:nvPr>
            <p:ph type="sldNum" sz="quarter" idx="12"/>
          </p:nvPr>
        </p:nvSpPr>
        <p:spPr/>
        <p:txBody>
          <a:bodyPr/>
          <a:lstStyle/>
          <a:p>
            <a:fld id="{6113E31D-E2AB-40D1-8B51-AFA5AFEF393A}" type="slidenum">
              <a:rPr lang="en-US" smtClean="0"/>
              <a:pPr/>
              <a:t>30</a:t>
            </a:fld>
            <a:endParaRPr lang="en-US" dirty="0"/>
          </a:p>
        </p:txBody>
      </p:sp>
      <p:pic>
        <p:nvPicPr>
          <p:cNvPr id="1026" name="Picture 2">
            <a:extLst>
              <a:ext uri="{FF2B5EF4-FFF2-40B4-BE49-F238E27FC236}">
                <a16:creationId xmlns:a16="http://schemas.microsoft.com/office/drawing/2014/main" id="{3C519A73-CBB1-AC4F-1211-866A2807F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888" y="1683161"/>
            <a:ext cx="9062224" cy="4265618"/>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98D14189-25C4-A2BB-633D-1D5A471F74FC}"/>
              </a:ext>
            </a:extLst>
          </p:cNvPr>
          <p:cNvSpPr txBox="1"/>
          <p:nvPr/>
        </p:nvSpPr>
        <p:spPr>
          <a:xfrm>
            <a:off x="3553379" y="6042021"/>
            <a:ext cx="5620216" cy="738664"/>
          </a:xfrm>
          <a:prstGeom prst="rect">
            <a:avLst/>
          </a:prstGeom>
          <a:noFill/>
        </p:spPr>
        <p:txBody>
          <a:bodyPr wrap="square" rtlCol="0">
            <a:spAutoFit/>
          </a:bodyPr>
          <a:lstStyle/>
          <a:p>
            <a:r>
              <a:rPr kumimoji="1" lang="en" altLang="zh-TW" sz="1400" dirty="0"/>
              <a:t>Figure source: https://</a:t>
            </a:r>
            <a:r>
              <a:rPr kumimoji="1" lang="en" altLang="zh-TW" sz="1400" dirty="0" err="1"/>
              <a:t>stackoverow.com</a:t>
            </a:r>
            <a:r>
              <a:rPr kumimoji="1" lang="en" altLang="zh-TW" sz="1400" dirty="0"/>
              <a:t>/questions/65613694/calculation-of-mean-and-variance-in-flbatch-normalization-in-convolutional-neural</a:t>
            </a:r>
            <a:endParaRPr kumimoji="1" lang="zh-TW" altLang="en-US" sz="1400" dirty="0"/>
          </a:p>
        </p:txBody>
      </p:sp>
    </p:spTree>
    <p:extLst>
      <p:ext uri="{BB962C8B-B14F-4D97-AF65-F5344CB8AC3E}">
        <p14:creationId xmlns:p14="http://schemas.microsoft.com/office/powerpoint/2010/main" val="506732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443ED3FE-7824-5311-B88B-C9CF24988481}"/>
              </a:ext>
            </a:extLst>
          </p:cNvPr>
          <p:cNvGraphicFramePr>
            <a:graphicFrameLocks noGrp="1"/>
          </p:cNvGraphicFramePr>
          <p:nvPr>
            <p:extLst>
              <p:ext uri="{D42A27DB-BD31-4B8C-83A1-F6EECF244321}">
                <p14:modId xmlns:p14="http://schemas.microsoft.com/office/powerpoint/2010/main" val="1574137697"/>
              </p:ext>
            </p:extLst>
          </p:nvPr>
        </p:nvGraphicFramePr>
        <p:xfrm>
          <a:off x="2720085" y="2141990"/>
          <a:ext cx="2139964" cy="2138596"/>
        </p:xfrm>
        <a:graphic>
          <a:graphicData uri="http://schemas.openxmlformats.org/drawingml/2006/table">
            <a:tbl>
              <a:tblPr firstRow="1" bandRow="1">
                <a:tableStyleId>{5C22544A-7EE6-4342-B048-85BDC9FD1C3A}</a:tableStyleId>
              </a:tblPr>
              <a:tblGrid>
                <a:gridCol w="534991">
                  <a:extLst>
                    <a:ext uri="{9D8B030D-6E8A-4147-A177-3AD203B41FA5}">
                      <a16:colId xmlns:a16="http://schemas.microsoft.com/office/drawing/2014/main" val="1106812764"/>
                    </a:ext>
                  </a:extLst>
                </a:gridCol>
                <a:gridCol w="534991">
                  <a:extLst>
                    <a:ext uri="{9D8B030D-6E8A-4147-A177-3AD203B41FA5}">
                      <a16:colId xmlns:a16="http://schemas.microsoft.com/office/drawing/2014/main" val="69789686"/>
                    </a:ext>
                  </a:extLst>
                </a:gridCol>
                <a:gridCol w="534991">
                  <a:extLst>
                    <a:ext uri="{9D8B030D-6E8A-4147-A177-3AD203B41FA5}">
                      <a16:colId xmlns:a16="http://schemas.microsoft.com/office/drawing/2014/main" val="3642642527"/>
                    </a:ext>
                  </a:extLst>
                </a:gridCol>
                <a:gridCol w="534991">
                  <a:extLst>
                    <a:ext uri="{9D8B030D-6E8A-4147-A177-3AD203B41FA5}">
                      <a16:colId xmlns:a16="http://schemas.microsoft.com/office/drawing/2014/main" val="4117180886"/>
                    </a:ext>
                  </a:extLst>
                </a:gridCol>
              </a:tblGrid>
              <a:tr h="534649">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3</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761505"/>
                  </a:ext>
                </a:extLst>
              </a:tr>
              <a:tr h="534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6291338"/>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910320"/>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5694970"/>
                  </a:ext>
                </a:extLst>
              </a:tr>
            </a:tbl>
          </a:graphicData>
        </a:graphic>
      </p:graphicFrame>
      <p:graphicFrame>
        <p:nvGraphicFramePr>
          <p:cNvPr id="10" name="表格 9">
            <a:extLst>
              <a:ext uri="{FF2B5EF4-FFF2-40B4-BE49-F238E27FC236}">
                <a16:creationId xmlns:a16="http://schemas.microsoft.com/office/drawing/2014/main" id="{E82BFE53-3332-40A4-9967-F8C5F6437355}"/>
              </a:ext>
            </a:extLst>
          </p:cNvPr>
          <p:cNvGraphicFramePr>
            <a:graphicFrameLocks noGrp="1"/>
          </p:cNvGraphicFramePr>
          <p:nvPr>
            <p:extLst>
              <p:ext uri="{D42A27DB-BD31-4B8C-83A1-F6EECF244321}">
                <p14:modId xmlns:p14="http://schemas.microsoft.com/office/powerpoint/2010/main" val="2792605881"/>
              </p:ext>
            </p:extLst>
          </p:nvPr>
        </p:nvGraphicFramePr>
        <p:xfrm>
          <a:off x="2587782" y="2250846"/>
          <a:ext cx="2139964" cy="2138596"/>
        </p:xfrm>
        <a:graphic>
          <a:graphicData uri="http://schemas.openxmlformats.org/drawingml/2006/table">
            <a:tbl>
              <a:tblPr firstRow="1" bandRow="1">
                <a:tableStyleId>{5C22544A-7EE6-4342-B048-85BDC9FD1C3A}</a:tableStyleId>
              </a:tblPr>
              <a:tblGrid>
                <a:gridCol w="534991">
                  <a:extLst>
                    <a:ext uri="{9D8B030D-6E8A-4147-A177-3AD203B41FA5}">
                      <a16:colId xmlns:a16="http://schemas.microsoft.com/office/drawing/2014/main" val="1106812764"/>
                    </a:ext>
                  </a:extLst>
                </a:gridCol>
                <a:gridCol w="534991">
                  <a:extLst>
                    <a:ext uri="{9D8B030D-6E8A-4147-A177-3AD203B41FA5}">
                      <a16:colId xmlns:a16="http://schemas.microsoft.com/office/drawing/2014/main" val="69789686"/>
                    </a:ext>
                  </a:extLst>
                </a:gridCol>
                <a:gridCol w="534991">
                  <a:extLst>
                    <a:ext uri="{9D8B030D-6E8A-4147-A177-3AD203B41FA5}">
                      <a16:colId xmlns:a16="http://schemas.microsoft.com/office/drawing/2014/main" val="3642642527"/>
                    </a:ext>
                  </a:extLst>
                </a:gridCol>
                <a:gridCol w="534991">
                  <a:extLst>
                    <a:ext uri="{9D8B030D-6E8A-4147-A177-3AD203B41FA5}">
                      <a16:colId xmlns:a16="http://schemas.microsoft.com/office/drawing/2014/main" val="4117180886"/>
                    </a:ext>
                  </a:extLst>
                </a:gridCol>
              </a:tblGrid>
              <a:tr h="534649">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3</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761505"/>
                  </a:ext>
                </a:extLst>
              </a:tr>
              <a:tr h="534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6291338"/>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910320"/>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5694970"/>
                  </a:ext>
                </a:extLst>
              </a:tr>
            </a:tbl>
          </a:graphicData>
        </a:graphic>
      </p:graphicFrame>
      <p:sp>
        <p:nvSpPr>
          <p:cNvPr id="2" name="標題 1">
            <a:extLst>
              <a:ext uri="{FF2B5EF4-FFF2-40B4-BE49-F238E27FC236}">
                <a16:creationId xmlns:a16="http://schemas.microsoft.com/office/drawing/2014/main" id="{A026F11D-559B-4F93-3C00-96991F1EE0FC}"/>
              </a:ext>
            </a:extLst>
          </p:cNvPr>
          <p:cNvSpPr>
            <a:spLocks noGrp="1"/>
          </p:cNvSpPr>
          <p:nvPr>
            <p:ph type="title"/>
          </p:nvPr>
        </p:nvSpPr>
        <p:spPr/>
        <p:txBody>
          <a:bodyPr/>
          <a:lstStyle/>
          <a:p>
            <a:r>
              <a:rPr kumimoji="1" lang="en-US" altLang="zh-TW" dirty="0"/>
              <a:t>CNN</a:t>
            </a:r>
            <a:r>
              <a:rPr kumimoji="1" lang="zh-TW" altLang="en-US" dirty="0"/>
              <a:t> 中的 </a:t>
            </a:r>
            <a:r>
              <a:rPr kumimoji="1" lang="en" altLang="zh-TW" dirty="0" err="1"/>
              <a:t>BatchNorm</a:t>
            </a:r>
            <a:endParaRPr kumimoji="1" lang="zh-TW" altLang="en-US" dirty="0"/>
          </a:p>
        </p:txBody>
      </p:sp>
      <p:graphicFrame>
        <p:nvGraphicFramePr>
          <p:cNvPr id="8" name="表格 7">
            <a:extLst>
              <a:ext uri="{FF2B5EF4-FFF2-40B4-BE49-F238E27FC236}">
                <a16:creationId xmlns:a16="http://schemas.microsoft.com/office/drawing/2014/main" id="{F1C69F49-803D-CA1D-BBB6-2F03994B9798}"/>
              </a:ext>
            </a:extLst>
          </p:cNvPr>
          <p:cNvGraphicFramePr>
            <a:graphicFrameLocks noGrp="1"/>
          </p:cNvGraphicFramePr>
          <p:nvPr>
            <p:extLst>
              <p:ext uri="{D42A27DB-BD31-4B8C-83A1-F6EECF244321}">
                <p14:modId xmlns:p14="http://schemas.microsoft.com/office/powerpoint/2010/main" val="3918437845"/>
              </p:ext>
            </p:extLst>
          </p:nvPr>
        </p:nvGraphicFramePr>
        <p:xfrm>
          <a:off x="2455479" y="2359702"/>
          <a:ext cx="2139964" cy="2138596"/>
        </p:xfrm>
        <a:graphic>
          <a:graphicData uri="http://schemas.openxmlformats.org/drawingml/2006/table">
            <a:tbl>
              <a:tblPr firstRow="1" bandRow="1">
                <a:tableStyleId>{5C22544A-7EE6-4342-B048-85BDC9FD1C3A}</a:tableStyleId>
              </a:tblPr>
              <a:tblGrid>
                <a:gridCol w="534991">
                  <a:extLst>
                    <a:ext uri="{9D8B030D-6E8A-4147-A177-3AD203B41FA5}">
                      <a16:colId xmlns:a16="http://schemas.microsoft.com/office/drawing/2014/main" val="1106812764"/>
                    </a:ext>
                  </a:extLst>
                </a:gridCol>
                <a:gridCol w="534991">
                  <a:extLst>
                    <a:ext uri="{9D8B030D-6E8A-4147-A177-3AD203B41FA5}">
                      <a16:colId xmlns:a16="http://schemas.microsoft.com/office/drawing/2014/main" val="69789686"/>
                    </a:ext>
                  </a:extLst>
                </a:gridCol>
                <a:gridCol w="534991">
                  <a:extLst>
                    <a:ext uri="{9D8B030D-6E8A-4147-A177-3AD203B41FA5}">
                      <a16:colId xmlns:a16="http://schemas.microsoft.com/office/drawing/2014/main" val="3642642527"/>
                    </a:ext>
                  </a:extLst>
                </a:gridCol>
                <a:gridCol w="534991">
                  <a:extLst>
                    <a:ext uri="{9D8B030D-6E8A-4147-A177-3AD203B41FA5}">
                      <a16:colId xmlns:a16="http://schemas.microsoft.com/office/drawing/2014/main" val="4117180886"/>
                    </a:ext>
                  </a:extLst>
                </a:gridCol>
              </a:tblGrid>
              <a:tr h="534649">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3</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761505"/>
                  </a:ext>
                </a:extLst>
              </a:tr>
              <a:tr h="534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6291338"/>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910320"/>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5694970"/>
                  </a:ext>
                </a:extLst>
              </a:tr>
            </a:tbl>
          </a:graphicData>
        </a:graphic>
      </p:graphicFrame>
      <p:sp>
        <p:nvSpPr>
          <p:cNvPr id="4" name="投影片編號版面配置區 3">
            <a:extLst>
              <a:ext uri="{FF2B5EF4-FFF2-40B4-BE49-F238E27FC236}">
                <a16:creationId xmlns:a16="http://schemas.microsoft.com/office/drawing/2014/main" id="{C35C1809-B700-5D22-2907-F0104440279F}"/>
              </a:ext>
            </a:extLst>
          </p:cNvPr>
          <p:cNvSpPr>
            <a:spLocks noGrp="1"/>
          </p:cNvSpPr>
          <p:nvPr>
            <p:ph type="sldNum" sz="quarter" idx="12"/>
          </p:nvPr>
        </p:nvSpPr>
        <p:spPr/>
        <p:txBody>
          <a:bodyPr/>
          <a:lstStyle/>
          <a:p>
            <a:fld id="{6113E31D-E2AB-40D1-8B51-AFA5AFEF393A}" type="slidenum">
              <a:rPr lang="en-US" smtClean="0"/>
              <a:pPr/>
              <a:t>31</a:t>
            </a:fld>
            <a:endParaRPr lang="en-US" dirty="0"/>
          </a:p>
        </p:txBody>
      </p:sp>
      <p:graphicFrame>
        <p:nvGraphicFramePr>
          <p:cNvPr id="7" name="表格 6">
            <a:extLst>
              <a:ext uri="{FF2B5EF4-FFF2-40B4-BE49-F238E27FC236}">
                <a16:creationId xmlns:a16="http://schemas.microsoft.com/office/drawing/2014/main" id="{8D3FB9D4-5782-B023-CF98-C1D18F321E9C}"/>
              </a:ext>
            </a:extLst>
          </p:cNvPr>
          <p:cNvGraphicFramePr>
            <a:graphicFrameLocks noGrp="1"/>
          </p:cNvGraphicFramePr>
          <p:nvPr>
            <p:extLst>
              <p:ext uri="{D42A27DB-BD31-4B8C-83A1-F6EECF244321}">
                <p14:modId xmlns:p14="http://schemas.microsoft.com/office/powerpoint/2010/main" val="2389995349"/>
              </p:ext>
            </p:extLst>
          </p:nvPr>
        </p:nvGraphicFramePr>
        <p:xfrm>
          <a:off x="2303080" y="2508750"/>
          <a:ext cx="2139964" cy="2138596"/>
        </p:xfrm>
        <a:graphic>
          <a:graphicData uri="http://schemas.openxmlformats.org/drawingml/2006/table">
            <a:tbl>
              <a:tblPr firstRow="1" bandRow="1">
                <a:tableStyleId>{5C22544A-7EE6-4342-B048-85BDC9FD1C3A}</a:tableStyleId>
              </a:tblPr>
              <a:tblGrid>
                <a:gridCol w="534991">
                  <a:extLst>
                    <a:ext uri="{9D8B030D-6E8A-4147-A177-3AD203B41FA5}">
                      <a16:colId xmlns:a16="http://schemas.microsoft.com/office/drawing/2014/main" val="1106812764"/>
                    </a:ext>
                  </a:extLst>
                </a:gridCol>
                <a:gridCol w="534991">
                  <a:extLst>
                    <a:ext uri="{9D8B030D-6E8A-4147-A177-3AD203B41FA5}">
                      <a16:colId xmlns:a16="http://schemas.microsoft.com/office/drawing/2014/main" val="69789686"/>
                    </a:ext>
                  </a:extLst>
                </a:gridCol>
                <a:gridCol w="534991">
                  <a:extLst>
                    <a:ext uri="{9D8B030D-6E8A-4147-A177-3AD203B41FA5}">
                      <a16:colId xmlns:a16="http://schemas.microsoft.com/office/drawing/2014/main" val="3642642527"/>
                    </a:ext>
                  </a:extLst>
                </a:gridCol>
                <a:gridCol w="534991">
                  <a:extLst>
                    <a:ext uri="{9D8B030D-6E8A-4147-A177-3AD203B41FA5}">
                      <a16:colId xmlns:a16="http://schemas.microsoft.com/office/drawing/2014/main" val="4117180886"/>
                    </a:ext>
                  </a:extLst>
                </a:gridCol>
              </a:tblGrid>
              <a:tr h="534649">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3</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761505"/>
                  </a:ext>
                </a:extLst>
              </a:tr>
              <a:tr h="534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6291338"/>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910320"/>
                  </a:ext>
                </a:extLst>
              </a:tr>
              <a:tr h="534649">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0</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1</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2300" b="0" dirty="0">
                          <a:solidFill>
                            <a:schemeClr val="tx1"/>
                          </a:solidFill>
                          <a:latin typeface="+mn-lt"/>
                        </a:rPr>
                        <a:t>2</a:t>
                      </a:r>
                      <a:endParaRPr lang="zh-TW" altLang="en-US" sz="23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5694970"/>
                  </a:ext>
                </a:extLst>
              </a:tr>
            </a:tbl>
          </a:graphicData>
        </a:graphic>
      </p:graphicFrame>
      <p:graphicFrame>
        <p:nvGraphicFramePr>
          <p:cNvPr id="6" name="表格 5">
            <a:extLst>
              <a:ext uri="{FF2B5EF4-FFF2-40B4-BE49-F238E27FC236}">
                <a16:creationId xmlns:a16="http://schemas.microsoft.com/office/drawing/2014/main" id="{5E415662-F7DD-C1E5-BB2B-9F466728E7F3}"/>
              </a:ext>
            </a:extLst>
          </p:cNvPr>
          <p:cNvGraphicFramePr>
            <a:graphicFrameLocks noGrp="1"/>
          </p:cNvGraphicFramePr>
          <p:nvPr>
            <p:extLst>
              <p:ext uri="{D42A27DB-BD31-4B8C-83A1-F6EECF244321}">
                <p14:modId xmlns:p14="http://schemas.microsoft.com/office/powerpoint/2010/main" val="1889853107"/>
              </p:ext>
            </p:extLst>
          </p:nvPr>
        </p:nvGraphicFramePr>
        <p:xfrm>
          <a:off x="2181156" y="2637702"/>
          <a:ext cx="2139964" cy="2138596"/>
        </p:xfrm>
        <a:graphic>
          <a:graphicData uri="http://schemas.openxmlformats.org/drawingml/2006/table">
            <a:tbl>
              <a:tblPr firstRow="1" bandRow="1">
                <a:tableStyleId>{5C22544A-7EE6-4342-B048-85BDC9FD1C3A}</a:tableStyleId>
              </a:tblPr>
              <a:tblGrid>
                <a:gridCol w="534991">
                  <a:extLst>
                    <a:ext uri="{9D8B030D-6E8A-4147-A177-3AD203B41FA5}">
                      <a16:colId xmlns:a16="http://schemas.microsoft.com/office/drawing/2014/main" val="1106812764"/>
                    </a:ext>
                  </a:extLst>
                </a:gridCol>
                <a:gridCol w="534991">
                  <a:extLst>
                    <a:ext uri="{9D8B030D-6E8A-4147-A177-3AD203B41FA5}">
                      <a16:colId xmlns:a16="http://schemas.microsoft.com/office/drawing/2014/main" val="69789686"/>
                    </a:ext>
                  </a:extLst>
                </a:gridCol>
                <a:gridCol w="534991">
                  <a:extLst>
                    <a:ext uri="{9D8B030D-6E8A-4147-A177-3AD203B41FA5}">
                      <a16:colId xmlns:a16="http://schemas.microsoft.com/office/drawing/2014/main" val="3642642527"/>
                    </a:ext>
                  </a:extLst>
                </a:gridCol>
                <a:gridCol w="534991">
                  <a:extLst>
                    <a:ext uri="{9D8B030D-6E8A-4147-A177-3AD203B41FA5}">
                      <a16:colId xmlns:a16="http://schemas.microsoft.com/office/drawing/2014/main" val="4117180886"/>
                    </a:ext>
                  </a:extLst>
                </a:gridCol>
              </a:tblGrid>
              <a:tr h="534649">
                <a:tc>
                  <a:txBody>
                    <a:bodyPr/>
                    <a:lstStyle/>
                    <a:p>
                      <a:pPr algn="ctr"/>
                      <a:r>
                        <a:rPr lang="en-US" altLang="zh-TW" sz="1800" b="0" dirty="0">
                          <a:solidFill>
                            <a:schemeClr val="tx1"/>
                          </a:solidFill>
                          <a:latin typeface="+mn-lt"/>
                        </a:rPr>
                        <a:t>x0</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x2</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x3</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761505"/>
                  </a:ext>
                </a:extLst>
              </a:tr>
              <a:tr h="534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x4</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x5</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x6</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x7</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6291338"/>
                  </a:ext>
                </a:extLst>
              </a:tr>
              <a:tr h="534649">
                <a:tc>
                  <a:txBody>
                    <a:bodyPr/>
                    <a:lstStyle/>
                    <a:p>
                      <a:pPr algn="ctr"/>
                      <a:r>
                        <a:rPr lang="en-US" altLang="zh-TW" sz="1800" b="0" dirty="0">
                          <a:solidFill>
                            <a:schemeClr val="tx1"/>
                          </a:solidFill>
                          <a:latin typeface="+mn-lt"/>
                        </a:rPr>
                        <a:t>x8</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x9</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x10</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x11</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910320"/>
                  </a:ext>
                </a:extLst>
              </a:tr>
              <a:tr h="534649">
                <a:tc>
                  <a:txBody>
                    <a:bodyPr/>
                    <a:lstStyle/>
                    <a:p>
                      <a:pPr algn="ctr"/>
                      <a:r>
                        <a:rPr lang="en-US" altLang="zh-TW" sz="1800" b="0" dirty="0">
                          <a:solidFill>
                            <a:schemeClr val="tx1"/>
                          </a:solidFill>
                          <a:latin typeface="+mn-lt"/>
                        </a:rPr>
                        <a:t>x12</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x13</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x14</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800" b="0" dirty="0">
                          <a:solidFill>
                            <a:schemeClr val="tx1"/>
                          </a:solidFill>
                          <a:latin typeface="+mn-lt"/>
                        </a:rPr>
                        <a:t>x15</a:t>
                      </a:r>
                      <a:endParaRPr lang="zh-TW" altLang="en-US" sz="1800" b="0" dirty="0">
                        <a:solidFill>
                          <a:schemeClr val="tx1"/>
                        </a:solidFill>
                        <a:latin typeface="+mn-lt"/>
                      </a:endParaRPr>
                    </a:p>
                  </a:txBody>
                  <a:tcPr marL="70858" marR="70858" marT="35429" marB="35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5694970"/>
                  </a:ext>
                </a:extLst>
              </a:tr>
            </a:tbl>
          </a:graphicData>
        </a:graphic>
      </p:graphicFrame>
      <p:sp>
        <p:nvSpPr>
          <p:cNvPr id="11" name="文字方塊 10">
            <a:extLst>
              <a:ext uri="{FF2B5EF4-FFF2-40B4-BE49-F238E27FC236}">
                <a16:creationId xmlns:a16="http://schemas.microsoft.com/office/drawing/2014/main" id="{242E7360-0280-4169-6E58-8BA56AD41933}"/>
              </a:ext>
            </a:extLst>
          </p:cNvPr>
          <p:cNvSpPr txBox="1"/>
          <p:nvPr/>
        </p:nvSpPr>
        <p:spPr>
          <a:xfrm>
            <a:off x="2150843" y="4938167"/>
            <a:ext cx="2200589" cy="461665"/>
          </a:xfrm>
          <a:prstGeom prst="rect">
            <a:avLst/>
          </a:prstGeom>
          <a:noFill/>
        </p:spPr>
        <p:txBody>
          <a:bodyPr wrap="square" rtlCol="0">
            <a:spAutoFit/>
          </a:bodyPr>
          <a:lstStyle/>
          <a:p>
            <a:pPr algn="ctr"/>
            <a:r>
              <a:rPr kumimoji="1" lang="en-US" altLang="zh-TW" sz="2400" dirty="0"/>
              <a:t>(</a:t>
            </a:r>
            <a:r>
              <a:rPr kumimoji="1" lang="en-US" altLang="zh-TW" sz="2400" dirty="0">
                <a:solidFill>
                  <a:srgbClr val="FF0000"/>
                </a:solidFill>
              </a:rPr>
              <a:t>5</a:t>
            </a:r>
            <a:r>
              <a:rPr kumimoji="1" lang="en-US" altLang="zh-TW" sz="2400" dirty="0"/>
              <a:t>, </a:t>
            </a:r>
            <a:r>
              <a:rPr kumimoji="1" lang="en-US" altLang="zh-TW" sz="2400" dirty="0">
                <a:solidFill>
                  <a:srgbClr val="0070C0"/>
                </a:solidFill>
              </a:rPr>
              <a:t>4</a:t>
            </a:r>
            <a:r>
              <a:rPr kumimoji="1" lang="en-US" altLang="zh-TW" sz="2400" dirty="0"/>
              <a:t>, </a:t>
            </a:r>
            <a:r>
              <a:rPr kumimoji="1" lang="en-US" altLang="zh-TW" sz="2400" dirty="0">
                <a:solidFill>
                  <a:schemeClr val="accent6"/>
                </a:solidFill>
              </a:rPr>
              <a:t>4</a:t>
            </a:r>
            <a:r>
              <a:rPr kumimoji="1" lang="en-US" altLang="zh-TW" sz="2400" dirty="0"/>
              <a:t>)</a:t>
            </a:r>
            <a:endParaRPr kumimoji="1" lang="zh-TW" altLang="en-US" sz="2400" dirty="0"/>
          </a:p>
        </p:txBody>
      </p:sp>
      <p:sp>
        <p:nvSpPr>
          <p:cNvPr id="13" name="文字方塊 12">
            <a:extLst>
              <a:ext uri="{FF2B5EF4-FFF2-40B4-BE49-F238E27FC236}">
                <a16:creationId xmlns:a16="http://schemas.microsoft.com/office/drawing/2014/main" id="{A3A86EC4-8F73-F30F-ED4C-94AF399822A1}"/>
              </a:ext>
            </a:extLst>
          </p:cNvPr>
          <p:cNvSpPr txBox="1"/>
          <p:nvPr/>
        </p:nvSpPr>
        <p:spPr>
          <a:xfrm>
            <a:off x="1148603" y="5429676"/>
            <a:ext cx="4448918" cy="461665"/>
          </a:xfrm>
          <a:prstGeom prst="rect">
            <a:avLst/>
          </a:prstGeom>
          <a:noFill/>
        </p:spPr>
        <p:txBody>
          <a:bodyPr wrap="square" rtlCol="0">
            <a:spAutoFit/>
          </a:bodyPr>
          <a:lstStyle/>
          <a:p>
            <a:pPr algn="ctr"/>
            <a:r>
              <a:rPr kumimoji="1" lang="en-US" altLang="zh-TW" sz="2400" dirty="0"/>
              <a:t>(</a:t>
            </a:r>
            <a:r>
              <a:rPr kumimoji="1" lang="en-US" altLang="zh-TW" sz="2400" dirty="0" err="1">
                <a:solidFill>
                  <a:srgbClr val="FF0000"/>
                </a:solidFill>
              </a:rPr>
              <a:t>batch_size</a:t>
            </a:r>
            <a:r>
              <a:rPr kumimoji="1" lang="en-US" altLang="zh-TW" sz="2400" dirty="0"/>
              <a:t>, </a:t>
            </a:r>
            <a:r>
              <a:rPr kumimoji="1" lang="en-US" altLang="zh-TW" sz="2400" dirty="0">
                <a:solidFill>
                  <a:srgbClr val="0070C0"/>
                </a:solidFill>
              </a:rPr>
              <a:t>height</a:t>
            </a:r>
            <a:r>
              <a:rPr kumimoji="1" lang="en-US" altLang="zh-TW" sz="2400" dirty="0"/>
              <a:t>, </a:t>
            </a:r>
            <a:r>
              <a:rPr kumimoji="1" lang="en-US" altLang="zh-TW" sz="2400" dirty="0">
                <a:solidFill>
                  <a:schemeClr val="accent6"/>
                </a:solidFill>
              </a:rPr>
              <a:t>width</a:t>
            </a:r>
            <a:r>
              <a:rPr kumimoji="1" lang="en-US" altLang="zh-TW" sz="2400" dirty="0"/>
              <a:t>)</a:t>
            </a:r>
            <a:endParaRPr kumimoji="1" lang="zh-TW" altLang="en-US" sz="2400" dirty="0"/>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05BCC09D-5032-8B54-8AD9-CB3E5C12D18F}"/>
                  </a:ext>
                </a:extLst>
              </p:cNvPr>
              <p:cNvSpPr txBox="1"/>
              <p:nvPr/>
            </p:nvSpPr>
            <p:spPr>
              <a:xfrm>
                <a:off x="6096000" y="3162549"/>
                <a:ext cx="4780085" cy="830997"/>
              </a:xfrm>
              <a:prstGeom prst="rect">
                <a:avLst/>
              </a:prstGeom>
              <a:noFill/>
            </p:spPr>
            <p:txBody>
              <a:bodyPr wrap="square">
                <a:spAutoFit/>
              </a:bodyPr>
              <a:lstStyle/>
              <a:p>
                <a14:m>
                  <m:oMath xmlns:m="http://schemas.openxmlformats.org/officeDocument/2006/math">
                    <m:r>
                      <a:rPr lang="en-US" altLang="zh-TW" sz="2400" i="1" kern="100" smtClean="0">
                        <a:solidFill>
                          <a:schemeClr val="tx1"/>
                        </a:solidFill>
                        <a:latin typeface="Cambria Math" panose="02040503050406030204" pitchFamily="18" charset="0"/>
                        <a:cs typeface="Times New Roman" panose="02020603050405020304" pitchFamily="18" charset="0"/>
                      </a:rPr>
                      <m:t>𝜇</m:t>
                    </m:r>
                  </m:oMath>
                </a14:m>
                <a:r>
                  <a:rPr lang="en-US" altLang="zh-TW" sz="2400" dirty="0"/>
                  <a:t> </a:t>
                </a:r>
                <a:r>
                  <a:rPr lang="zh-TW" altLang="en-US" sz="2400" dirty="0"/>
                  <a:t>計算自這個 </a:t>
                </a:r>
                <a:r>
                  <a:rPr lang="en-US" altLang="zh-TW" sz="2400" dirty="0"/>
                  <a:t>batch </a:t>
                </a:r>
                <a:r>
                  <a:rPr lang="zh-TW" altLang="en-US" sz="2400" dirty="0"/>
                  <a:t>的每一個值</a:t>
                </a:r>
                <a:endParaRPr lang="en-US" altLang="zh-TW" sz="2400" dirty="0"/>
              </a:p>
              <a:p>
                <a14:m>
                  <m:oMath xmlns:m="http://schemas.openxmlformats.org/officeDocument/2006/math">
                    <m:r>
                      <a:rPr lang="en-US" altLang="zh-TW" sz="2400" i="1" smtClean="0">
                        <a:latin typeface="Cambria Math" panose="02040503050406030204" pitchFamily="18" charset="0"/>
                      </a:rPr>
                      <m:t>𝜎</m:t>
                    </m:r>
                  </m:oMath>
                </a14:m>
                <a:r>
                  <a:rPr lang="zh-TW" altLang="en-US" sz="2400" dirty="0"/>
                  <a:t> 計算自這個 </a:t>
                </a:r>
                <a:r>
                  <a:rPr lang="en-US" altLang="zh-TW" sz="2400" dirty="0"/>
                  <a:t>batch </a:t>
                </a:r>
                <a:r>
                  <a:rPr lang="zh-TW" altLang="en-US" sz="2400" dirty="0"/>
                  <a:t>的每一個值</a:t>
                </a:r>
                <a:endParaRPr lang="en-US" altLang="zh-TW" sz="2400" dirty="0"/>
              </a:p>
            </p:txBody>
          </p:sp>
        </mc:Choice>
        <mc:Fallback xmlns="">
          <p:sp>
            <p:nvSpPr>
              <p:cNvPr id="15" name="文字方塊 14">
                <a:extLst>
                  <a:ext uri="{FF2B5EF4-FFF2-40B4-BE49-F238E27FC236}">
                    <a16:creationId xmlns:a16="http://schemas.microsoft.com/office/drawing/2014/main" id="{05BCC09D-5032-8B54-8AD9-CB3E5C12D18F}"/>
                  </a:ext>
                </a:extLst>
              </p:cNvPr>
              <p:cNvSpPr txBox="1">
                <a:spLocks noRot="1" noChangeAspect="1" noMove="1" noResize="1" noEditPoints="1" noAdjustHandles="1" noChangeArrowheads="1" noChangeShapeType="1" noTextEdit="1"/>
              </p:cNvSpPr>
              <p:nvPr/>
            </p:nvSpPr>
            <p:spPr>
              <a:xfrm>
                <a:off x="6096000" y="3162549"/>
                <a:ext cx="4780085" cy="830997"/>
              </a:xfrm>
              <a:prstGeom prst="rect">
                <a:avLst/>
              </a:prstGeom>
              <a:blipFill>
                <a:blip r:embed="rId2"/>
                <a:stretch>
                  <a:fillRect l="-265" t="-6061" b="-16667"/>
                </a:stretch>
              </a:blipFill>
            </p:spPr>
            <p:txBody>
              <a:bodyPr/>
              <a:lstStyle/>
              <a:p>
                <a:r>
                  <a:rPr lang="zh-TW" altLang="en-US">
                    <a:noFill/>
                  </a:rPr>
                  <a:t> </a:t>
                </a:r>
              </a:p>
            </p:txBody>
          </p:sp>
        </mc:Fallback>
      </mc:AlternateContent>
      <p:sp>
        <p:nvSpPr>
          <p:cNvPr id="16" name="右中括弧 15">
            <a:extLst>
              <a:ext uri="{FF2B5EF4-FFF2-40B4-BE49-F238E27FC236}">
                <a16:creationId xmlns:a16="http://schemas.microsoft.com/office/drawing/2014/main" id="{1BDB3AD3-001C-F3CC-5E6D-99817DFE0B92}"/>
              </a:ext>
            </a:extLst>
          </p:cNvPr>
          <p:cNvSpPr/>
          <p:nvPr/>
        </p:nvSpPr>
        <p:spPr>
          <a:xfrm rot="2446797">
            <a:off x="4755928" y="4282305"/>
            <a:ext cx="75941" cy="645287"/>
          </a:xfrm>
          <a:prstGeom prst="rightBracket">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18" name="文字方塊 17">
            <a:extLst>
              <a:ext uri="{FF2B5EF4-FFF2-40B4-BE49-F238E27FC236}">
                <a16:creationId xmlns:a16="http://schemas.microsoft.com/office/drawing/2014/main" id="{2623758F-D788-3EB1-3284-D9DBA434F8B8}"/>
              </a:ext>
            </a:extLst>
          </p:cNvPr>
          <p:cNvSpPr txBox="1"/>
          <p:nvPr/>
        </p:nvSpPr>
        <p:spPr>
          <a:xfrm>
            <a:off x="4793898" y="4498298"/>
            <a:ext cx="1423844" cy="369332"/>
          </a:xfrm>
          <a:prstGeom prst="rect">
            <a:avLst/>
          </a:prstGeom>
          <a:noFill/>
        </p:spPr>
        <p:txBody>
          <a:bodyPr wrap="square">
            <a:spAutoFit/>
          </a:bodyPr>
          <a:lstStyle/>
          <a:p>
            <a:pPr algn="ctr"/>
            <a:r>
              <a:rPr kumimoji="1" lang="en-US" altLang="zh-TW" sz="1800" dirty="0" err="1">
                <a:solidFill>
                  <a:srgbClr val="FF0000"/>
                </a:solidFill>
              </a:rPr>
              <a:t>batch_size</a:t>
            </a:r>
            <a:endParaRPr lang="zh-TW" altLang="en-US" dirty="0"/>
          </a:p>
        </p:txBody>
      </p:sp>
      <p:sp>
        <p:nvSpPr>
          <p:cNvPr id="19" name="文字方塊 18">
            <a:extLst>
              <a:ext uri="{FF2B5EF4-FFF2-40B4-BE49-F238E27FC236}">
                <a16:creationId xmlns:a16="http://schemas.microsoft.com/office/drawing/2014/main" id="{9F4C115A-A43C-E87C-9422-219D0CA33478}"/>
              </a:ext>
            </a:extLst>
          </p:cNvPr>
          <p:cNvSpPr txBox="1"/>
          <p:nvPr/>
        </p:nvSpPr>
        <p:spPr>
          <a:xfrm>
            <a:off x="3285892" y="6287733"/>
            <a:ext cx="5620216" cy="523220"/>
          </a:xfrm>
          <a:prstGeom prst="rect">
            <a:avLst/>
          </a:prstGeom>
          <a:noFill/>
        </p:spPr>
        <p:txBody>
          <a:bodyPr wrap="square" rtlCol="0">
            <a:spAutoFit/>
          </a:bodyPr>
          <a:lstStyle/>
          <a:p>
            <a:r>
              <a:rPr kumimoji="1" lang="zh-TW" altLang="en-US" sz="1400" dirty="0"/>
              <a:t>參考：</a:t>
            </a:r>
            <a:r>
              <a:rPr kumimoji="1" lang="en" altLang="zh-TW" sz="1400" dirty="0"/>
              <a:t>https://</a:t>
            </a:r>
            <a:r>
              <a:rPr kumimoji="1" lang="en" altLang="zh-TW" sz="1400" dirty="0" err="1"/>
              <a:t>stackoverow.com</a:t>
            </a:r>
            <a:r>
              <a:rPr kumimoji="1" lang="en" altLang="zh-TW" sz="1400" dirty="0"/>
              <a:t>/questions/65613694/calculation-of-mean-and-variance-in-flbatch-normalization-in-convolutional-neural</a:t>
            </a:r>
            <a:endParaRPr kumimoji="1" lang="zh-TW" altLang="en-US" sz="1400" dirty="0"/>
          </a:p>
        </p:txBody>
      </p:sp>
    </p:spTree>
    <p:extLst>
      <p:ext uri="{BB962C8B-B14F-4D97-AF65-F5344CB8AC3E}">
        <p14:creationId xmlns:p14="http://schemas.microsoft.com/office/powerpoint/2010/main" val="493992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D3757-05C4-6CCF-9A76-05EDACB7F13D}"/>
              </a:ext>
            </a:extLst>
          </p:cNvPr>
          <p:cNvSpPr>
            <a:spLocks noGrp="1"/>
          </p:cNvSpPr>
          <p:nvPr>
            <p:ph type="title"/>
          </p:nvPr>
        </p:nvSpPr>
        <p:spPr/>
        <p:txBody>
          <a:bodyPr/>
          <a:lstStyle/>
          <a:p>
            <a:r>
              <a:rPr kumimoji="1" lang="en-US" altLang="zh-TW" dirty="0" err="1"/>
              <a:t>BatchNorm</a:t>
            </a:r>
            <a:r>
              <a:rPr kumimoji="1" lang="en-US" altLang="zh-TW" dirty="0"/>
              <a:t> During Test (Inference)</a:t>
            </a:r>
            <a:endParaRPr kumimoji="1" lang="zh-TW" altLang="en-US" dirty="0"/>
          </a:p>
        </p:txBody>
      </p:sp>
      <p:sp>
        <p:nvSpPr>
          <p:cNvPr id="4" name="投影片編號版面配置區 3">
            <a:extLst>
              <a:ext uri="{FF2B5EF4-FFF2-40B4-BE49-F238E27FC236}">
                <a16:creationId xmlns:a16="http://schemas.microsoft.com/office/drawing/2014/main" id="{3BB12D0E-87EA-F795-B0E8-BFEAB1516C3E}"/>
              </a:ext>
            </a:extLst>
          </p:cNvPr>
          <p:cNvSpPr>
            <a:spLocks noGrp="1"/>
          </p:cNvSpPr>
          <p:nvPr>
            <p:ph type="sldNum" sz="quarter" idx="12"/>
          </p:nvPr>
        </p:nvSpPr>
        <p:spPr/>
        <p:txBody>
          <a:bodyPr/>
          <a:lstStyle/>
          <a:p>
            <a:fld id="{6113E31D-E2AB-40D1-8B51-AFA5AFEF393A}" type="slidenum">
              <a:rPr lang="en-US" smtClean="0"/>
              <a:pPr/>
              <a:t>32</a:t>
            </a:fld>
            <a:endParaRPr lang="en-US" dirty="0"/>
          </a:p>
        </p:txBody>
      </p:sp>
      <p:sp>
        <p:nvSpPr>
          <p:cNvPr id="5" name="橢圓 4">
            <a:extLst>
              <a:ext uri="{FF2B5EF4-FFF2-40B4-BE49-F238E27FC236}">
                <a16:creationId xmlns:a16="http://schemas.microsoft.com/office/drawing/2014/main" id="{93A40E81-EB54-E4FA-6702-1F88C917E733}"/>
              </a:ext>
            </a:extLst>
          </p:cNvPr>
          <p:cNvSpPr/>
          <p:nvPr/>
        </p:nvSpPr>
        <p:spPr>
          <a:xfrm>
            <a:off x="1626124" y="2158779"/>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橢圓 5">
            <a:extLst>
              <a:ext uri="{FF2B5EF4-FFF2-40B4-BE49-F238E27FC236}">
                <a16:creationId xmlns:a16="http://schemas.microsoft.com/office/drawing/2014/main" id="{C3FDEAC2-C8FE-F406-B444-AD629113D98E}"/>
              </a:ext>
            </a:extLst>
          </p:cNvPr>
          <p:cNvSpPr/>
          <p:nvPr/>
        </p:nvSpPr>
        <p:spPr>
          <a:xfrm>
            <a:off x="1626124" y="334698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7" name="直線接點 6">
            <a:extLst>
              <a:ext uri="{FF2B5EF4-FFF2-40B4-BE49-F238E27FC236}">
                <a16:creationId xmlns:a16="http://schemas.microsoft.com/office/drawing/2014/main" id="{5DF31681-D49E-7CB3-FE0B-A15E768B4CF4}"/>
              </a:ext>
            </a:extLst>
          </p:cNvPr>
          <p:cNvCxnSpPr>
            <a:cxnSpLocks/>
            <a:stCxn id="5" idx="6"/>
            <a:endCxn id="10" idx="2"/>
          </p:cNvCxnSpPr>
          <p:nvPr/>
        </p:nvCxnSpPr>
        <p:spPr>
          <a:xfrm>
            <a:off x="2197624" y="2444529"/>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095452ED-AF6E-F382-B0E5-E4D770835FDE}"/>
              </a:ext>
            </a:extLst>
          </p:cNvPr>
          <p:cNvCxnSpPr>
            <a:cxnSpLocks/>
            <a:stCxn id="6" idx="6"/>
            <a:endCxn id="9" idx="2"/>
          </p:cNvCxnSpPr>
          <p:nvPr/>
        </p:nvCxnSpPr>
        <p:spPr>
          <a:xfrm flipV="1">
            <a:off x="2197624" y="2444529"/>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9F43F3B7-ED15-88FF-876F-0CDD10A5CD95}"/>
              </a:ext>
            </a:extLst>
          </p:cNvPr>
          <p:cNvSpPr/>
          <p:nvPr/>
        </p:nvSpPr>
        <p:spPr>
          <a:xfrm>
            <a:off x="3374914" y="2158779"/>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604DF703-95C9-4291-2FB8-6BC5C4D0288A}"/>
              </a:ext>
            </a:extLst>
          </p:cNvPr>
          <p:cNvSpPr/>
          <p:nvPr/>
        </p:nvSpPr>
        <p:spPr>
          <a:xfrm>
            <a:off x="3374914" y="334698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1" name="直線接點 10">
            <a:extLst>
              <a:ext uri="{FF2B5EF4-FFF2-40B4-BE49-F238E27FC236}">
                <a16:creationId xmlns:a16="http://schemas.microsoft.com/office/drawing/2014/main" id="{BC4D87D5-3A60-450A-7A4B-D18213F2B6D6}"/>
              </a:ext>
            </a:extLst>
          </p:cNvPr>
          <p:cNvCxnSpPr>
            <a:cxnSpLocks/>
          </p:cNvCxnSpPr>
          <p:nvPr/>
        </p:nvCxnSpPr>
        <p:spPr>
          <a:xfrm>
            <a:off x="2197624" y="2444529"/>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42B70F69-BF78-1526-17BF-B553B32C230A}"/>
              </a:ext>
            </a:extLst>
          </p:cNvPr>
          <p:cNvCxnSpPr>
            <a:cxnSpLocks/>
            <a:stCxn id="6" idx="6"/>
            <a:endCxn id="10" idx="2"/>
          </p:cNvCxnSpPr>
          <p:nvPr/>
        </p:nvCxnSpPr>
        <p:spPr>
          <a:xfrm>
            <a:off x="2197624" y="3632735"/>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E066B5A6-117D-A2E0-03B2-48128DDEF1CB}"/>
                  </a:ext>
                </a:extLst>
              </p:cNvPr>
              <p:cNvSpPr txBox="1"/>
              <p:nvPr/>
            </p:nvSpPr>
            <p:spPr>
              <a:xfrm>
                <a:off x="1731839" y="2244474"/>
                <a:ext cx="322139"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13" name="文字方塊 12">
                <a:extLst>
                  <a:ext uri="{FF2B5EF4-FFF2-40B4-BE49-F238E27FC236}">
                    <a16:creationId xmlns:a16="http://schemas.microsoft.com/office/drawing/2014/main" id="{E066B5A6-117D-A2E0-03B2-48128DDEF1CB}"/>
                  </a:ext>
                </a:extLst>
              </p:cNvPr>
              <p:cNvSpPr txBox="1">
                <a:spLocks noRot="1" noChangeAspect="1" noMove="1" noResize="1" noEditPoints="1" noAdjustHandles="1" noChangeArrowheads="1" noChangeShapeType="1" noTextEdit="1"/>
              </p:cNvSpPr>
              <p:nvPr/>
            </p:nvSpPr>
            <p:spPr>
              <a:xfrm>
                <a:off x="1731839" y="2244474"/>
                <a:ext cx="322139" cy="400110"/>
              </a:xfrm>
              <a:prstGeom prst="rect">
                <a:avLst/>
              </a:prstGeom>
              <a:blipFill>
                <a:blip r:embed="rId3"/>
                <a:stretch>
                  <a:fillRect r="-1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427421E3-240F-1F94-88A1-461C9CE27AFE}"/>
                  </a:ext>
                </a:extLst>
              </p:cNvPr>
              <p:cNvSpPr txBox="1"/>
              <p:nvPr/>
            </p:nvSpPr>
            <p:spPr>
              <a:xfrm>
                <a:off x="1708056" y="3413470"/>
                <a:ext cx="44485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en-US" altLang="zh-TW" sz="2000" b="0" i="1" smtClean="0">
                              <a:latin typeface="Cambria Math" panose="02040503050406030204" pitchFamily="18" charset="0"/>
                            </a:rPr>
                            <m:t>𝑛</m:t>
                          </m:r>
                        </m:sub>
                      </m:sSub>
                    </m:oMath>
                  </m:oMathPara>
                </a14:m>
                <a:endParaRPr lang="zh-TW" altLang="en-US" sz="2000" dirty="0"/>
              </a:p>
            </p:txBody>
          </p:sp>
        </mc:Choice>
        <mc:Fallback xmlns="">
          <p:sp>
            <p:nvSpPr>
              <p:cNvPr id="14" name="文字方塊 13">
                <a:extLst>
                  <a:ext uri="{FF2B5EF4-FFF2-40B4-BE49-F238E27FC236}">
                    <a16:creationId xmlns:a16="http://schemas.microsoft.com/office/drawing/2014/main" id="{427421E3-240F-1F94-88A1-461C9CE27AFE}"/>
                  </a:ext>
                </a:extLst>
              </p:cNvPr>
              <p:cNvSpPr txBox="1">
                <a:spLocks noRot="1" noChangeAspect="1" noMove="1" noResize="1" noEditPoints="1" noAdjustHandles="1" noChangeArrowheads="1" noChangeShapeType="1" noTextEdit="1"/>
              </p:cNvSpPr>
              <p:nvPr/>
            </p:nvSpPr>
            <p:spPr>
              <a:xfrm>
                <a:off x="1708056" y="3413470"/>
                <a:ext cx="444852"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E6720FD7-B3AD-F0B6-5E11-296FE18AE837}"/>
                  </a:ext>
                </a:extLst>
              </p:cNvPr>
              <p:cNvSpPr txBox="1"/>
              <p:nvPr/>
            </p:nvSpPr>
            <p:spPr>
              <a:xfrm>
                <a:off x="3431931" y="2244474"/>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15" name="文字方塊 14">
                <a:extLst>
                  <a:ext uri="{FF2B5EF4-FFF2-40B4-BE49-F238E27FC236}">
                    <a16:creationId xmlns:a16="http://schemas.microsoft.com/office/drawing/2014/main" id="{E6720FD7-B3AD-F0B6-5E11-296FE18AE837}"/>
                  </a:ext>
                </a:extLst>
              </p:cNvPr>
              <p:cNvSpPr txBox="1">
                <a:spLocks noRot="1" noChangeAspect="1" noMove="1" noResize="1" noEditPoints="1" noAdjustHandles="1" noChangeArrowheads="1" noChangeShapeType="1" noTextEdit="1"/>
              </p:cNvSpPr>
              <p:nvPr/>
            </p:nvSpPr>
            <p:spPr>
              <a:xfrm>
                <a:off x="3431931" y="2244474"/>
                <a:ext cx="515874" cy="40011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2B363C6-6353-013C-D2BF-809D39E3CACE}"/>
                  </a:ext>
                </a:extLst>
              </p:cNvPr>
              <p:cNvSpPr txBox="1"/>
              <p:nvPr/>
            </p:nvSpPr>
            <p:spPr>
              <a:xfrm>
                <a:off x="3408442" y="3432680"/>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16" name="文字方塊 15">
                <a:extLst>
                  <a:ext uri="{FF2B5EF4-FFF2-40B4-BE49-F238E27FC236}">
                    <a16:creationId xmlns:a16="http://schemas.microsoft.com/office/drawing/2014/main" id="{C2B363C6-6353-013C-D2BF-809D39E3CACE}"/>
                  </a:ext>
                </a:extLst>
              </p:cNvPr>
              <p:cNvSpPr txBox="1">
                <a:spLocks noRot="1" noChangeAspect="1" noMove="1" noResize="1" noEditPoints="1" noAdjustHandles="1" noChangeArrowheads="1" noChangeShapeType="1" noTextEdit="1"/>
              </p:cNvSpPr>
              <p:nvPr/>
            </p:nvSpPr>
            <p:spPr>
              <a:xfrm>
                <a:off x="3408442" y="3432680"/>
                <a:ext cx="504444" cy="424796"/>
              </a:xfrm>
              <a:prstGeom prst="rect">
                <a:avLst/>
              </a:prstGeom>
              <a:blipFill>
                <a:blip r:embed="rId6"/>
                <a:stretch>
                  <a:fillRect b="-8824"/>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9FF42B37-7D8D-98D0-93C3-14C1F0CEC574}"/>
              </a:ext>
            </a:extLst>
          </p:cNvPr>
          <p:cNvSpPr txBox="1"/>
          <p:nvPr/>
        </p:nvSpPr>
        <p:spPr>
          <a:xfrm rot="5400000">
            <a:off x="1629390" y="2976877"/>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18" name="文字方塊 17">
            <a:extLst>
              <a:ext uri="{FF2B5EF4-FFF2-40B4-BE49-F238E27FC236}">
                <a16:creationId xmlns:a16="http://schemas.microsoft.com/office/drawing/2014/main" id="{8FC1EC7C-B19A-86E9-9070-BD425AC9BBD0}"/>
              </a:ext>
            </a:extLst>
          </p:cNvPr>
          <p:cNvSpPr txBox="1"/>
          <p:nvPr/>
        </p:nvSpPr>
        <p:spPr>
          <a:xfrm rot="5400000">
            <a:off x="3373900" y="2976877"/>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19" name="矩形 18">
            <a:extLst>
              <a:ext uri="{FF2B5EF4-FFF2-40B4-BE49-F238E27FC236}">
                <a16:creationId xmlns:a16="http://schemas.microsoft.com/office/drawing/2014/main" id="{D8985E06-1BCD-495D-4330-111D7E41C982}"/>
              </a:ext>
            </a:extLst>
          </p:cNvPr>
          <p:cNvSpPr/>
          <p:nvPr/>
        </p:nvSpPr>
        <p:spPr>
          <a:xfrm>
            <a:off x="3284650" y="1917589"/>
            <a:ext cx="792480" cy="227583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F6881E1D-7A80-9401-8200-00E1207E49F6}"/>
                  </a:ext>
                </a:extLst>
              </p:cNvPr>
              <p:cNvSpPr txBox="1"/>
              <p:nvPr/>
            </p:nvSpPr>
            <p:spPr>
              <a:xfrm>
                <a:off x="4249850" y="1499116"/>
                <a:ext cx="3413760" cy="369332"/>
              </a:xfrm>
              <a:prstGeom prst="rect">
                <a:avLst/>
              </a:prstGeom>
              <a:noFill/>
            </p:spPr>
            <p:txBody>
              <a:bodyPr wrap="square" rtlCol="0">
                <a:spAutoFit/>
              </a:bodyPr>
              <a:lstStyle/>
              <a:p>
                <a:r>
                  <a:rPr kumimoji="1" lang="zh-TW" altLang="en-US" dirty="0">
                    <a:solidFill>
                      <a:schemeClr val="tx1"/>
                    </a:solidFill>
                    <a:latin typeface="Microsoft JhengHei" panose="020B0604030504040204" pitchFamily="34" charset="-120"/>
                    <a:ea typeface="Microsoft JhengHei" panose="020B0604030504040204" pitchFamily="34" charset="-120"/>
                  </a:rPr>
                  <a:t>計算：</a:t>
                </a:r>
                <a14:m>
                  <m:oMath xmlns:m="http://schemas.openxmlformats.org/officeDocument/2006/math">
                    <m:r>
                      <a:rPr lang="en-US" altLang="zh-TW" sz="1800" i="1" kern="100" smtClean="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𝜇</m:t>
                    </m:r>
                  </m:oMath>
                </a14:m>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平均數</a:t>
                </a:r>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a:t>
                </a:r>
                <a:r>
                  <a:rPr lang="zh-TW" altLang="en-US"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 </a:t>
                </a:r>
                <a:r>
                  <a:rPr lang="en-US" altLang="zh-TW" sz="1800" kern="100" dirty="0">
                    <a:solidFill>
                      <a:schemeClr val="tx1"/>
                    </a:solidFill>
                    <a:effectLst/>
                    <a:latin typeface="Microsoft JhengHei" panose="020B0604030504040204" pitchFamily="34" charset="-120"/>
                    <a:ea typeface="Microsoft JhengHei" panose="020B0604030504040204" pitchFamily="34" charset="-120"/>
                    <a:cs typeface="Times New Roman" panose="02020603050405020304" pitchFamily="18" charset="0"/>
                  </a:rPr>
                  <a:t>&amp; </a:t>
                </a:r>
                <a14:m>
                  <m:oMath xmlns:m="http://schemas.openxmlformats.org/officeDocument/2006/math">
                    <m:r>
                      <a:rPr lang="en-US" altLang="zh-TW" i="1">
                        <a:latin typeface="Cambria Math" panose="02040503050406030204" pitchFamily="18" charset="0"/>
                      </a:rPr>
                      <m:t>𝜎</m:t>
                    </m:r>
                  </m:oMath>
                </a14:m>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kern="100" dirty="0">
                    <a:latin typeface="Microsoft JhengHei" panose="020B0604030504040204" pitchFamily="34" charset="-120"/>
                    <a:ea typeface="Microsoft JhengHei" panose="020B0604030504040204" pitchFamily="34" charset="-120"/>
                    <a:cs typeface="Times New Roman" panose="02020603050405020304" pitchFamily="18" charset="0"/>
                  </a:rPr>
                  <a:t>標準差</a:t>
                </a:r>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a:t>
                </a:r>
                <a:endParaRPr lang="zh-TW" altLang="zh-TW" dirty="0">
                  <a:latin typeface="Microsoft JhengHei" panose="020B0604030504040204" pitchFamily="34" charset="-120"/>
                  <a:ea typeface="Microsoft JhengHei" panose="020B0604030504040204" pitchFamily="34" charset="-120"/>
                </a:endParaRPr>
              </a:p>
            </p:txBody>
          </p:sp>
        </mc:Choice>
        <mc:Fallback xmlns="">
          <p:sp>
            <p:nvSpPr>
              <p:cNvPr id="20" name="文字方塊 19">
                <a:extLst>
                  <a:ext uri="{FF2B5EF4-FFF2-40B4-BE49-F238E27FC236}">
                    <a16:creationId xmlns:a16="http://schemas.microsoft.com/office/drawing/2014/main" id="{F6881E1D-7A80-9401-8200-00E1207E49F6}"/>
                  </a:ext>
                </a:extLst>
              </p:cNvPr>
              <p:cNvSpPr txBox="1">
                <a:spLocks noRot="1" noChangeAspect="1" noMove="1" noResize="1" noEditPoints="1" noAdjustHandles="1" noChangeArrowheads="1" noChangeShapeType="1" noTextEdit="1"/>
              </p:cNvSpPr>
              <p:nvPr/>
            </p:nvSpPr>
            <p:spPr>
              <a:xfrm>
                <a:off x="4249850" y="1499116"/>
                <a:ext cx="3413760" cy="369332"/>
              </a:xfrm>
              <a:prstGeom prst="rect">
                <a:avLst/>
              </a:prstGeom>
              <a:blipFill>
                <a:blip r:embed="rId7"/>
                <a:stretch>
                  <a:fillRect l="-1481" t="-10000" b="-23333"/>
                </a:stretch>
              </a:blipFill>
            </p:spPr>
            <p:txBody>
              <a:bodyPr/>
              <a:lstStyle/>
              <a:p>
                <a:r>
                  <a:rPr lang="zh-TW" altLang="en-US">
                    <a:noFill/>
                  </a:rPr>
                  <a:t> </a:t>
                </a:r>
              </a:p>
            </p:txBody>
          </p:sp>
        </mc:Fallback>
      </mc:AlternateContent>
      <p:cxnSp>
        <p:nvCxnSpPr>
          <p:cNvPr id="21" name="肘形接點 20">
            <a:extLst>
              <a:ext uri="{FF2B5EF4-FFF2-40B4-BE49-F238E27FC236}">
                <a16:creationId xmlns:a16="http://schemas.microsoft.com/office/drawing/2014/main" id="{2A37180C-3AC5-B321-538B-EBB24F3007BE}"/>
              </a:ext>
            </a:extLst>
          </p:cNvPr>
          <p:cNvCxnSpPr>
            <a:stCxn id="19" idx="0"/>
            <a:endCxn id="20" idx="1"/>
          </p:cNvCxnSpPr>
          <p:nvPr/>
        </p:nvCxnSpPr>
        <p:spPr>
          <a:xfrm rot="5400000" flipH="1" flipV="1">
            <a:off x="3848467" y="1516206"/>
            <a:ext cx="233807" cy="568960"/>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橢圓 21">
            <a:extLst>
              <a:ext uri="{FF2B5EF4-FFF2-40B4-BE49-F238E27FC236}">
                <a16:creationId xmlns:a16="http://schemas.microsoft.com/office/drawing/2014/main" id="{81B2B729-BE09-EDD2-E0DE-2731CF347BCE}"/>
              </a:ext>
            </a:extLst>
          </p:cNvPr>
          <p:cNvSpPr/>
          <p:nvPr/>
        </p:nvSpPr>
        <p:spPr>
          <a:xfrm>
            <a:off x="5142365" y="2158779"/>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橢圓 22">
            <a:extLst>
              <a:ext uri="{FF2B5EF4-FFF2-40B4-BE49-F238E27FC236}">
                <a16:creationId xmlns:a16="http://schemas.microsoft.com/office/drawing/2014/main" id="{F1019F8D-9914-17E1-0F28-543F4B1CBE6E}"/>
              </a:ext>
            </a:extLst>
          </p:cNvPr>
          <p:cNvSpPr/>
          <p:nvPr/>
        </p:nvSpPr>
        <p:spPr>
          <a:xfrm>
            <a:off x="5142365" y="334698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3807044D-2135-5A76-F418-49D04F725C98}"/>
                  </a:ext>
                </a:extLst>
              </p:cNvPr>
              <p:cNvSpPr txBox="1"/>
              <p:nvPr/>
            </p:nvSpPr>
            <p:spPr>
              <a:xfrm>
                <a:off x="5199382" y="2244474"/>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24" name="文字方塊 23">
                <a:extLst>
                  <a:ext uri="{FF2B5EF4-FFF2-40B4-BE49-F238E27FC236}">
                    <a16:creationId xmlns:a16="http://schemas.microsoft.com/office/drawing/2014/main" id="{3807044D-2135-5A76-F418-49D04F725C98}"/>
                  </a:ext>
                </a:extLst>
              </p:cNvPr>
              <p:cNvSpPr txBox="1">
                <a:spLocks noRot="1" noChangeAspect="1" noMove="1" noResize="1" noEditPoints="1" noAdjustHandles="1" noChangeArrowheads="1" noChangeShapeType="1" noTextEdit="1"/>
              </p:cNvSpPr>
              <p:nvPr/>
            </p:nvSpPr>
            <p:spPr>
              <a:xfrm>
                <a:off x="5199382" y="2244474"/>
                <a:ext cx="515874" cy="40011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9C98F1F2-A287-6861-0191-064A5A07135F}"/>
                  </a:ext>
                </a:extLst>
              </p:cNvPr>
              <p:cNvSpPr txBox="1"/>
              <p:nvPr/>
            </p:nvSpPr>
            <p:spPr>
              <a:xfrm>
                <a:off x="5175893" y="3432680"/>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25" name="文字方塊 24">
                <a:extLst>
                  <a:ext uri="{FF2B5EF4-FFF2-40B4-BE49-F238E27FC236}">
                    <a16:creationId xmlns:a16="http://schemas.microsoft.com/office/drawing/2014/main" id="{9C98F1F2-A287-6861-0191-064A5A07135F}"/>
                  </a:ext>
                </a:extLst>
              </p:cNvPr>
              <p:cNvSpPr txBox="1">
                <a:spLocks noRot="1" noChangeAspect="1" noMove="1" noResize="1" noEditPoints="1" noAdjustHandles="1" noChangeArrowheads="1" noChangeShapeType="1" noTextEdit="1"/>
              </p:cNvSpPr>
              <p:nvPr/>
            </p:nvSpPr>
            <p:spPr>
              <a:xfrm>
                <a:off x="5175893" y="3432680"/>
                <a:ext cx="504444" cy="424796"/>
              </a:xfrm>
              <a:prstGeom prst="rect">
                <a:avLst/>
              </a:prstGeom>
              <a:blipFill>
                <a:blip r:embed="rId9"/>
                <a:stretch>
                  <a:fillRect b="-8824"/>
                </a:stretch>
              </a:blipFill>
            </p:spPr>
            <p:txBody>
              <a:bodyPr/>
              <a:lstStyle/>
              <a:p>
                <a:r>
                  <a:rPr lang="zh-TW" altLang="en-US">
                    <a:noFill/>
                  </a:rPr>
                  <a:t> </a:t>
                </a:r>
              </a:p>
            </p:txBody>
          </p:sp>
        </mc:Fallback>
      </mc:AlternateContent>
      <p:sp>
        <p:nvSpPr>
          <p:cNvPr id="26" name="文字方塊 25">
            <a:extLst>
              <a:ext uri="{FF2B5EF4-FFF2-40B4-BE49-F238E27FC236}">
                <a16:creationId xmlns:a16="http://schemas.microsoft.com/office/drawing/2014/main" id="{AF7E60FC-AFC1-272E-053C-8E196429AADE}"/>
              </a:ext>
            </a:extLst>
          </p:cNvPr>
          <p:cNvSpPr txBox="1"/>
          <p:nvPr/>
        </p:nvSpPr>
        <p:spPr>
          <a:xfrm rot="5400000">
            <a:off x="5141351" y="2976877"/>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cxnSp>
        <p:nvCxnSpPr>
          <p:cNvPr id="27" name="直線接點 26">
            <a:extLst>
              <a:ext uri="{FF2B5EF4-FFF2-40B4-BE49-F238E27FC236}">
                <a16:creationId xmlns:a16="http://schemas.microsoft.com/office/drawing/2014/main" id="{BEA1B716-AD45-8E93-3428-65F2595FD53D}"/>
              </a:ext>
            </a:extLst>
          </p:cNvPr>
          <p:cNvCxnSpPr>
            <a:cxnSpLocks/>
            <a:stCxn id="15" idx="3"/>
            <a:endCxn id="22" idx="2"/>
          </p:cNvCxnSpPr>
          <p:nvPr/>
        </p:nvCxnSpPr>
        <p:spPr>
          <a:xfrm>
            <a:off x="3947805" y="2444529"/>
            <a:ext cx="1194560"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29DC7BAD-AABE-6EDE-DD78-9D93CE837F9C}"/>
              </a:ext>
            </a:extLst>
          </p:cNvPr>
          <p:cNvCxnSpPr>
            <a:cxnSpLocks/>
            <a:stCxn id="10" idx="6"/>
            <a:endCxn id="23" idx="2"/>
          </p:cNvCxnSpPr>
          <p:nvPr/>
        </p:nvCxnSpPr>
        <p:spPr>
          <a:xfrm>
            <a:off x="3946414" y="3632735"/>
            <a:ext cx="1195951"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橢圓 53">
            <a:extLst>
              <a:ext uri="{FF2B5EF4-FFF2-40B4-BE49-F238E27FC236}">
                <a16:creationId xmlns:a16="http://schemas.microsoft.com/office/drawing/2014/main" id="{4E10E65E-CE5D-ECF5-3903-4FF29812BC51}"/>
              </a:ext>
            </a:extLst>
          </p:cNvPr>
          <p:cNvSpPr/>
          <p:nvPr/>
        </p:nvSpPr>
        <p:spPr>
          <a:xfrm>
            <a:off x="1626124" y="463230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橢圓 54">
            <a:extLst>
              <a:ext uri="{FF2B5EF4-FFF2-40B4-BE49-F238E27FC236}">
                <a16:creationId xmlns:a16="http://schemas.microsoft.com/office/drawing/2014/main" id="{22661829-B11D-263B-4B68-14D894522958}"/>
              </a:ext>
            </a:extLst>
          </p:cNvPr>
          <p:cNvSpPr/>
          <p:nvPr/>
        </p:nvSpPr>
        <p:spPr>
          <a:xfrm>
            <a:off x="1626124" y="582051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6" name="直線接點 55">
            <a:extLst>
              <a:ext uri="{FF2B5EF4-FFF2-40B4-BE49-F238E27FC236}">
                <a16:creationId xmlns:a16="http://schemas.microsoft.com/office/drawing/2014/main" id="{82A7955A-840F-6520-6D7B-569A24818B4A}"/>
              </a:ext>
            </a:extLst>
          </p:cNvPr>
          <p:cNvCxnSpPr>
            <a:cxnSpLocks/>
            <a:stCxn id="54" idx="6"/>
            <a:endCxn id="59" idx="2"/>
          </p:cNvCxnSpPr>
          <p:nvPr/>
        </p:nvCxnSpPr>
        <p:spPr>
          <a:xfrm>
            <a:off x="2197624" y="4918055"/>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F8C946D4-BA8E-1226-0784-FE3C57D1FFDB}"/>
              </a:ext>
            </a:extLst>
          </p:cNvPr>
          <p:cNvCxnSpPr>
            <a:cxnSpLocks/>
            <a:stCxn id="55" idx="6"/>
            <a:endCxn id="58" idx="2"/>
          </p:cNvCxnSpPr>
          <p:nvPr/>
        </p:nvCxnSpPr>
        <p:spPr>
          <a:xfrm flipV="1">
            <a:off x="2197624" y="4918055"/>
            <a:ext cx="1177290" cy="11882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A82DBB7E-5A53-A1BE-BC2F-AB57268ED220}"/>
              </a:ext>
            </a:extLst>
          </p:cNvPr>
          <p:cNvSpPr/>
          <p:nvPr/>
        </p:nvSpPr>
        <p:spPr>
          <a:xfrm>
            <a:off x="3374914" y="463230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橢圓 58">
            <a:extLst>
              <a:ext uri="{FF2B5EF4-FFF2-40B4-BE49-F238E27FC236}">
                <a16:creationId xmlns:a16="http://schemas.microsoft.com/office/drawing/2014/main" id="{03635034-7943-36F1-C854-38C195ED11AC}"/>
              </a:ext>
            </a:extLst>
          </p:cNvPr>
          <p:cNvSpPr/>
          <p:nvPr/>
        </p:nvSpPr>
        <p:spPr>
          <a:xfrm>
            <a:off x="3374914" y="582051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60" name="直線接點 59">
            <a:extLst>
              <a:ext uri="{FF2B5EF4-FFF2-40B4-BE49-F238E27FC236}">
                <a16:creationId xmlns:a16="http://schemas.microsoft.com/office/drawing/2014/main" id="{00728864-D7A9-CE17-AA65-4BDCB010C3A8}"/>
              </a:ext>
            </a:extLst>
          </p:cNvPr>
          <p:cNvCxnSpPr>
            <a:cxnSpLocks/>
          </p:cNvCxnSpPr>
          <p:nvPr/>
        </p:nvCxnSpPr>
        <p:spPr>
          <a:xfrm>
            <a:off x="2197624" y="4918055"/>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F181CE0C-083F-CCEE-6354-AEC82972425B}"/>
              </a:ext>
            </a:extLst>
          </p:cNvPr>
          <p:cNvCxnSpPr>
            <a:cxnSpLocks/>
            <a:stCxn id="55" idx="6"/>
            <a:endCxn id="59" idx="2"/>
          </p:cNvCxnSpPr>
          <p:nvPr/>
        </p:nvCxnSpPr>
        <p:spPr>
          <a:xfrm>
            <a:off x="2197624" y="6106261"/>
            <a:ext cx="1177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B658909B-550C-F975-6C96-2CCAA72B2BB9}"/>
                  </a:ext>
                </a:extLst>
              </p:cNvPr>
              <p:cNvSpPr txBox="1"/>
              <p:nvPr/>
            </p:nvSpPr>
            <p:spPr>
              <a:xfrm>
                <a:off x="1731839" y="4718000"/>
                <a:ext cx="322139"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62" name="文字方塊 61">
                <a:extLst>
                  <a:ext uri="{FF2B5EF4-FFF2-40B4-BE49-F238E27FC236}">
                    <a16:creationId xmlns:a16="http://schemas.microsoft.com/office/drawing/2014/main" id="{B658909B-550C-F975-6C96-2CCAA72B2BB9}"/>
                  </a:ext>
                </a:extLst>
              </p:cNvPr>
              <p:cNvSpPr txBox="1">
                <a:spLocks noRot="1" noChangeAspect="1" noMove="1" noResize="1" noEditPoints="1" noAdjustHandles="1" noChangeArrowheads="1" noChangeShapeType="1" noTextEdit="1"/>
              </p:cNvSpPr>
              <p:nvPr/>
            </p:nvSpPr>
            <p:spPr>
              <a:xfrm>
                <a:off x="1731839" y="4718000"/>
                <a:ext cx="322139" cy="400110"/>
              </a:xfrm>
              <a:prstGeom prst="rect">
                <a:avLst/>
              </a:prstGeom>
              <a:blipFill>
                <a:blip r:embed="rId10"/>
                <a:stretch>
                  <a:fillRect r="-1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90201FF3-8F18-A8AA-4169-75B4CDDA2896}"/>
                  </a:ext>
                </a:extLst>
              </p:cNvPr>
              <p:cNvSpPr txBox="1"/>
              <p:nvPr/>
            </p:nvSpPr>
            <p:spPr>
              <a:xfrm>
                <a:off x="1708056" y="5886996"/>
                <a:ext cx="44485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en-US" altLang="zh-TW" sz="2000" b="0" i="1" smtClean="0">
                              <a:latin typeface="Cambria Math" panose="02040503050406030204" pitchFamily="18" charset="0"/>
                            </a:rPr>
                            <m:t>𝑛</m:t>
                          </m:r>
                        </m:sub>
                      </m:sSub>
                    </m:oMath>
                  </m:oMathPara>
                </a14:m>
                <a:endParaRPr lang="zh-TW" altLang="en-US" sz="2000" dirty="0"/>
              </a:p>
            </p:txBody>
          </p:sp>
        </mc:Choice>
        <mc:Fallback xmlns="">
          <p:sp>
            <p:nvSpPr>
              <p:cNvPr id="63" name="文字方塊 62">
                <a:extLst>
                  <a:ext uri="{FF2B5EF4-FFF2-40B4-BE49-F238E27FC236}">
                    <a16:creationId xmlns:a16="http://schemas.microsoft.com/office/drawing/2014/main" id="{90201FF3-8F18-A8AA-4169-75B4CDDA2896}"/>
                  </a:ext>
                </a:extLst>
              </p:cNvPr>
              <p:cNvSpPr txBox="1">
                <a:spLocks noRot="1" noChangeAspect="1" noMove="1" noResize="1" noEditPoints="1" noAdjustHandles="1" noChangeArrowheads="1" noChangeShapeType="1" noTextEdit="1"/>
              </p:cNvSpPr>
              <p:nvPr/>
            </p:nvSpPr>
            <p:spPr>
              <a:xfrm>
                <a:off x="1708056" y="5886996"/>
                <a:ext cx="444852" cy="400110"/>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767500ED-3D28-F352-7A7E-7B75D2F9930B}"/>
                  </a:ext>
                </a:extLst>
              </p:cNvPr>
              <p:cNvSpPr txBox="1"/>
              <p:nvPr/>
            </p:nvSpPr>
            <p:spPr>
              <a:xfrm>
                <a:off x="3431931" y="4718000"/>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64" name="文字方塊 63">
                <a:extLst>
                  <a:ext uri="{FF2B5EF4-FFF2-40B4-BE49-F238E27FC236}">
                    <a16:creationId xmlns:a16="http://schemas.microsoft.com/office/drawing/2014/main" id="{767500ED-3D28-F352-7A7E-7B75D2F9930B}"/>
                  </a:ext>
                </a:extLst>
              </p:cNvPr>
              <p:cNvSpPr txBox="1">
                <a:spLocks noRot="1" noChangeAspect="1" noMove="1" noResize="1" noEditPoints="1" noAdjustHandles="1" noChangeArrowheads="1" noChangeShapeType="1" noTextEdit="1"/>
              </p:cNvSpPr>
              <p:nvPr/>
            </p:nvSpPr>
            <p:spPr>
              <a:xfrm>
                <a:off x="3431931" y="4718000"/>
                <a:ext cx="515874" cy="400110"/>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E51BDCA9-17BD-C0A6-A001-DCB6E6D21004}"/>
                  </a:ext>
                </a:extLst>
              </p:cNvPr>
              <p:cNvSpPr txBox="1"/>
              <p:nvPr/>
            </p:nvSpPr>
            <p:spPr>
              <a:xfrm>
                <a:off x="3408442" y="5906206"/>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65" name="文字方塊 64">
                <a:extLst>
                  <a:ext uri="{FF2B5EF4-FFF2-40B4-BE49-F238E27FC236}">
                    <a16:creationId xmlns:a16="http://schemas.microsoft.com/office/drawing/2014/main" id="{E51BDCA9-17BD-C0A6-A001-DCB6E6D21004}"/>
                  </a:ext>
                </a:extLst>
              </p:cNvPr>
              <p:cNvSpPr txBox="1">
                <a:spLocks noRot="1" noChangeAspect="1" noMove="1" noResize="1" noEditPoints="1" noAdjustHandles="1" noChangeArrowheads="1" noChangeShapeType="1" noTextEdit="1"/>
              </p:cNvSpPr>
              <p:nvPr/>
            </p:nvSpPr>
            <p:spPr>
              <a:xfrm>
                <a:off x="3408442" y="5906206"/>
                <a:ext cx="504444" cy="424796"/>
              </a:xfrm>
              <a:prstGeom prst="rect">
                <a:avLst/>
              </a:prstGeom>
              <a:blipFill>
                <a:blip r:embed="rId13"/>
                <a:stretch>
                  <a:fillRect b="-8824"/>
                </a:stretch>
              </a:blipFill>
            </p:spPr>
            <p:txBody>
              <a:bodyPr/>
              <a:lstStyle/>
              <a:p>
                <a:r>
                  <a:rPr lang="zh-TW" altLang="en-US">
                    <a:noFill/>
                  </a:rPr>
                  <a:t> </a:t>
                </a:r>
              </a:p>
            </p:txBody>
          </p:sp>
        </mc:Fallback>
      </mc:AlternateContent>
      <p:sp>
        <p:nvSpPr>
          <p:cNvPr id="66" name="文字方塊 65">
            <a:extLst>
              <a:ext uri="{FF2B5EF4-FFF2-40B4-BE49-F238E27FC236}">
                <a16:creationId xmlns:a16="http://schemas.microsoft.com/office/drawing/2014/main" id="{7C117977-E20A-0EC7-3FFE-3AC1B09C954E}"/>
              </a:ext>
            </a:extLst>
          </p:cNvPr>
          <p:cNvSpPr txBox="1"/>
          <p:nvPr/>
        </p:nvSpPr>
        <p:spPr>
          <a:xfrm rot="5400000">
            <a:off x="1629390" y="5450403"/>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67" name="文字方塊 66">
            <a:extLst>
              <a:ext uri="{FF2B5EF4-FFF2-40B4-BE49-F238E27FC236}">
                <a16:creationId xmlns:a16="http://schemas.microsoft.com/office/drawing/2014/main" id="{0194FE71-DA0A-7290-7EA1-D30668B59A47}"/>
              </a:ext>
            </a:extLst>
          </p:cNvPr>
          <p:cNvSpPr txBox="1"/>
          <p:nvPr/>
        </p:nvSpPr>
        <p:spPr>
          <a:xfrm rot="5400000">
            <a:off x="3373900" y="5450403"/>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sp>
        <p:nvSpPr>
          <p:cNvPr id="68" name="橢圓 67">
            <a:extLst>
              <a:ext uri="{FF2B5EF4-FFF2-40B4-BE49-F238E27FC236}">
                <a16:creationId xmlns:a16="http://schemas.microsoft.com/office/drawing/2014/main" id="{71AB77CE-8C28-1CB9-20BB-F8E1B8D45B31}"/>
              </a:ext>
            </a:extLst>
          </p:cNvPr>
          <p:cNvSpPr/>
          <p:nvPr/>
        </p:nvSpPr>
        <p:spPr>
          <a:xfrm>
            <a:off x="5142365" y="463230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橢圓 68">
            <a:extLst>
              <a:ext uri="{FF2B5EF4-FFF2-40B4-BE49-F238E27FC236}">
                <a16:creationId xmlns:a16="http://schemas.microsoft.com/office/drawing/2014/main" id="{E524A00B-64E4-272C-6FAB-7D34D836FDF5}"/>
              </a:ext>
            </a:extLst>
          </p:cNvPr>
          <p:cNvSpPr/>
          <p:nvPr/>
        </p:nvSpPr>
        <p:spPr>
          <a:xfrm>
            <a:off x="5142365" y="582051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70" name="文字方塊 69">
                <a:extLst>
                  <a:ext uri="{FF2B5EF4-FFF2-40B4-BE49-F238E27FC236}">
                    <a16:creationId xmlns:a16="http://schemas.microsoft.com/office/drawing/2014/main" id="{ABE91A00-3871-368A-2F55-8D59E8C54D19}"/>
                  </a:ext>
                </a:extLst>
              </p:cNvPr>
              <p:cNvSpPr txBox="1"/>
              <p:nvPr/>
            </p:nvSpPr>
            <p:spPr>
              <a:xfrm>
                <a:off x="5199382" y="4718000"/>
                <a:ext cx="515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zh-TW" altLang="en-US" sz="2000" i="0">
                              <a:latin typeface="Cambria Math" panose="02040503050406030204" pitchFamily="18" charset="0"/>
                            </a:rPr>
                            <m:t>1</m:t>
                          </m:r>
                        </m:sub>
                      </m:sSub>
                    </m:oMath>
                  </m:oMathPara>
                </a14:m>
                <a:endParaRPr lang="zh-TW" altLang="en-US" sz="2000" dirty="0"/>
              </a:p>
            </p:txBody>
          </p:sp>
        </mc:Choice>
        <mc:Fallback xmlns="">
          <p:sp>
            <p:nvSpPr>
              <p:cNvPr id="70" name="文字方塊 69">
                <a:extLst>
                  <a:ext uri="{FF2B5EF4-FFF2-40B4-BE49-F238E27FC236}">
                    <a16:creationId xmlns:a16="http://schemas.microsoft.com/office/drawing/2014/main" id="{ABE91A00-3871-368A-2F55-8D59E8C54D19}"/>
                  </a:ext>
                </a:extLst>
              </p:cNvPr>
              <p:cNvSpPr txBox="1">
                <a:spLocks noRot="1" noChangeAspect="1" noMove="1" noResize="1" noEditPoints="1" noAdjustHandles="1" noChangeArrowheads="1" noChangeShapeType="1" noTextEdit="1"/>
              </p:cNvSpPr>
              <p:nvPr/>
            </p:nvSpPr>
            <p:spPr>
              <a:xfrm>
                <a:off x="5199382" y="4718000"/>
                <a:ext cx="515874" cy="40011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a:extLst>
                  <a:ext uri="{FF2B5EF4-FFF2-40B4-BE49-F238E27FC236}">
                    <a16:creationId xmlns:a16="http://schemas.microsoft.com/office/drawing/2014/main" id="{BD436ED9-AA03-A985-3C50-6C7612D1CF95}"/>
                  </a:ext>
                </a:extLst>
              </p:cNvPr>
              <p:cNvSpPr txBox="1"/>
              <p:nvPr/>
            </p:nvSpPr>
            <p:spPr>
              <a:xfrm>
                <a:off x="5175893" y="5906206"/>
                <a:ext cx="504444" cy="424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000" i="1" smtClean="0">
                              <a:solidFill>
                                <a:srgbClr val="836967"/>
                              </a:solidFill>
                              <a:latin typeface="Cambria Math" panose="02040503050406030204" pitchFamily="18" charset="0"/>
                            </a:rPr>
                          </m:ctrlPr>
                        </m:sSubPr>
                        <m:e>
                          <m:r>
                            <a:rPr lang="en-US" altLang="zh-TW" sz="2000" b="0" i="1" smtClean="0">
                              <a:latin typeface="Cambria Math" panose="02040503050406030204" pitchFamily="18" charset="0"/>
                            </a:rPr>
                            <m:t>h</m:t>
                          </m:r>
                          <m:r>
                            <a:rPr lang="en-US" altLang="zh-TW" sz="2000" b="0" i="1" smtClean="0">
                              <a:latin typeface="Cambria Math" panose="02040503050406030204" pitchFamily="18" charset="0"/>
                            </a:rPr>
                            <m:t>′</m:t>
                          </m:r>
                        </m:e>
                        <m:sub>
                          <m:r>
                            <a:rPr lang="en-US" altLang="zh-TW" sz="2000" b="0" i="1" smtClean="0">
                              <a:latin typeface="Cambria Math" panose="02040503050406030204" pitchFamily="18" charset="0"/>
                            </a:rPr>
                            <m:t>𝑗</m:t>
                          </m:r>
                        </m:sub>
                      </m:sSub>
                    </m:oMath>
                  </m:oMathPara>
                </a14:m>
                <a:endParaRPr lang="zh-TW" altLang="en-US" sz="2000" dirty="0"/>
              </a:p>
            </p:txBody>
          </p:sp>
        </mc:Choice>
        <mc:Fallback xmlns="">
          <p:sp>
            <p:nvSpPr>
              <p:cNvPr id="71" name="文字方塊 70">
                <a:extLst>
                  <a:ext uri="{FF2B5EF4-FFF2-40B4-BE49-F238E27FC236}">
                    <a16:creationId xmlns:a16="http://schemas.microsoft.com/office/drawing/2014/main" id="{BD436ED9-AA03-A985-3C50-6C7612D1CF95}"/>
                  </a:ext>
                </a:extLst>
              </p:cNvPr>
              <p:cNvSpPr txBox="1">
                <a:spLocks noRot="1" noChangeAspect="1" noMove="1" noResize="1" noEditPoints="1" noAdjustHandles="1" noChangeArrowheads="1" noChangeShapeType="1" noTextEdit="1"/>
              </p:cNvSpPr>
              <p:nvPr/>
            </p:nvSpPr>
            <p:spPr>
              <a:xfrm>
                <a:off x="5175893" y="5906206"/>
                <a:ext cx="504444" cy="424796"/>
              </a:xfrm>
              <a:prstGeom prst="rect">
                <a:avLst/>
              </a:prstGeom>
              <a:blipFill>
                <a:blip r:embed="rId15"/>
                <a:stretch>
                  <a:fillRect b="-8824"/>
                </a:stretch>
              </a:blipFill>
            </p:spPr>
            <p:txBody>
              <a:bodyPr/>
              <a:lstStyle/>
              <a:p>
                <a:r>
                  <a:rPr lang="zh-TW" altLang="en-US">
                    <a:noFill/>
                  </a:rPr>
                  <a:t> </a:t>
                </a:r>
              </a:p>
            </p:txBody>
          </p:sp>
        </mc:Fallback>
      </mc:AlternateContent>
      <p:sp>
        <p:nvSpPr>
          <p:cNvPr id="72" name="文字方塊 71">
            <a:extLst>
              <a:ext uri="{FF2B5EF4-FFF2-40B4-BE49-F238E27FC236}">
                <a16:creationId xmlns:a16="http://schemas.microsoft.com/office/drawing/2014/main" id="{F52DBFA6-D799-17B2-ABD8-0F3091291E27}"/>
              </a:ext>
            </a:extLst>
          </p:cNvPr>
          <p:cNvSpPr txBox="1"/>
          <p:nvPr/>
        </p:nvSpPr>
        <p:spPr>
          <a:xfrm rot="5400000">
            <a:off x="5141351" y="5450403"/>
            <a:ext cx="726141" cy="461665"/>
          </a:xfrm>
          <a:prstGeom prst="rect">
            <a:avLst/>
          </a:prstGeom>
          <a:noFill/>
        </p:spPr>
        <p:txBody>
          <a:bodyPr wrap="square" rtlCol="0">
            <a:spAutoFit/>
          </a:bodyPr>
          <a:lstStyle/>
          <a:p>
            <a:r>
              <a:rPr kumimoji="1" lang="en-US" altLang="zh-TW" sz="2400" b="1" dirty="0"/>
              <a:t>...</a:t>
            </a:r>
            <a:endParaRPr kumimoji="1" lang="zh-TW" altLang="en-US" sz="2400" b="1" dirty="0"/>
          </a:p>
        </p:txBody>
      </p:sp>
      <p:cxnSp>
        <p:nvCxnSpPr>
          <p:cNvPr id="73" name="直線接點 72">
            <a:extLst>
              <a:ext uri="{FF2B5EF4-FFF2-40B4-BE49-F238E27FC236}">
                <a16:creationId xmlns:a16="http://schemas.microsoft.com/office/drawing/2014/main" id="{DF7BBA38-A4E2-9F1C-D7CF-1F7525E8C1E4}"/>
              </a:ext>
            </a:extLst>
          </p:cNvPr>
          <p:cNvCxnSpPr>
            <a:cxnSpLocks/>
            <a:stCxn id="64" idx="3"/>
            <a:endCxn id="68" idx="2"/>
          </p:cNvCxnSpPr>
          <p:nvPr/>
        </p:nvCxnSpPr>
        <p:spPr>
          <a:xfrm>
            <a:off x="3947805" y="4918055"/>
            <a:ext cx="1194560"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86F4C09C-3B45-98DD-2708-E5FA3FBA3F10}"/>
              </a:ext>
            </a:extLst>
          </p:cNvPr>
          <p:cNvCxnSpPr>
            <a:cxnSpLocks/>
            <a:stCxn id="59" idx="6"/>
            <a:endCxn id="69" idx="2"/>
          </p:cNvCxnSpPr>
          <p:nvPr/>
        </p:nvCxnSpPr>
        <p:spPr>
          <a:xfrm>
            <a:off x="3946414" y="6106261"/>
            <a:ext cx="1195951" cy="0"/>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左中括弧 74">
            <a:extLst>
              <a:ext uri="{FF2B5EF4-FFF2-40B4-BE49-F238E27FC236}">
                <a16:creationId xmlns:a16="http://schemas.microsoft.com/office/drawing/2014/main" id="{4B42AAE5-1D24-34E4-BCBC-1F5B6CC09EE8}"/>
              </a:ext>
            </a:extLst>
          </p:cNvPr>
          <p:cNvSpPr/>
          <p:nvPr/>
        </p:nvSpPr>
        <p:spPr>
          <a:xfrm>
            <a:off x="1435194" y="4761896"/>
            <a:ext cx="74341" cy="1569106"/>
          </a:xfrm>
          <a:prstGeom prst="leftBracket">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76" name="文字方塊 75">
            <a:extLst>
              <a:ext uri="{FF2B5EF4-FFF2-40B4-BE49-F238E27FC236}">
                <a16:creationId xmlns:a16="http://schemas.microsoft.com/office/drawing/2014/main" id="{D556EDC5-A679-753D-9C11-6E2CAD704388}"/>
              </a:ext>
            </a:extLst>
          </p:cNvPr>
          <p:cNvSpPr txBox="1"/>
          <p:nvPr/>
        </p:nvSpPr>
        <p:spPr>
          <a:xfrm>
            <a:off x="332245" y="5236650"/>
            <a:ext cx="1177290" cy="646331"/>
          </a:xfrm>
          <a:prstGeom prst="rect">
            <a:avLst/>
          </a:prstGeom>
          <a:noFill/>
        </p:spPr>
        <p:txBody>
          <a:bodyPr wrap="square" rtlCol="0">
            <a:spAutoFit/>
          </a:bodyPr>
          <a:lstStyle/>
          <a:p>
            <a:r>
              <a:rPr kumimoji="1" lang="zh-TW" altLang="en-US" dirty="0">
                <a:latin typeface="Microsoft JhengHei" panose="020B0604030504040204" pitchFamily="34" charset="-120"/>
                <a:ea typeface="Microsoft JhengHei" panose="020B0604030504040204" pitchFamily="34" charset="-120"/>
              </a:rPr>
              <a:t>假設只有</a:t>
            </a:r>
            <a:r>
              <a:rPr kumimoji="1" lang="en-US" altLang="zh-TW" dirty="0">
                <a:latin typeface="Microsoft JhengHei" panose="020B0604030504040204" pitchFamily="34" charset="-120"/>
                <a:ea typeface="Microsoft JhengHei" panose="020B0604030504040204" pitchFamily="34" charset="-120"/>
              </a:rPr>
              <a:t>1</a:t>
            </a:r>
            <a:r>
              <a:rPr kumimoji="1" lang="zh-TW" altLang="en-US" dirty="0">
                <a:latin typeface="Microsoft JhengHei" panose="020B0604030504040204" pitchFamily="34" charset="-120"/>
                <a:ea typeface="Microsoft JhengHei" panose="020B0604030504040204" pitchFamily="34" charset="-120"/>
              </a:rPr>
              <a:t>張影像</a:t>
            </a:r>
          </a:p>
        </p:txBody>
      </p:sp>
      <p:sp>
        <p:nvSpPr>
          <p:cNvPr id="77" name="文字方塊 76">
            <a:extLst>
              <a:ext uri="{FF2B5EF4-FFF2-40B4-BE49-F238E27FC236}">
                <a16:creationId xmlns:a16="http://schemas.microsoft.com/office/drawing/2014/main" id="{50DEB0F3-B16D-198F-292E-1B0E2AA41DB1}"/>
              </a:ext>
            </a:extLst>
          </p:cNvPr>
          <p:cNvSpPr txBox="1"/>
          <p:nvPr/>
        </p:nvSpPr>
        <p:spPr>
          <a:xfrm>
            <a:off x="381827" y="4092458"/>
            <a:ext cx="1242905" cy="369332"/>
          </a:xfrm>
          <a:prstGeom prst="rect">
            <a:avLst/>
          </a:prstGeom>
          <a:noFill/>
        </p:spPr>
        <p:txBody>
          <a:bodyPr wrap="square" rtlCol="0">
            <a:spAutoFit/>
          </a:bodyPr>
          <a:lstStyle/>
          <a:p>
            <a:r>
              <a:rPr kumimoji="1" lang="en-US" altLang="zh-TW" b="1" dirty="0">
                <a:latin typeface="Microsoft JhengHei" panose="020B0604030504040204" pitchFamily="34" charset="-120"/>
                <a:ea typeface="Microsoft JhengHei" panose="020B0604030504040204" pitchFamily="34" charset="-120"/>
              </a:rPr>
              <a:t>Inference</a:t>
            </a:r>
            <a:endParaRPr kumimoji="1" lang="zh-TW" altLang="en-US" b="1" dirty="0">
              <a:latin typeface="Microsoft JhengHei" panose="020B0604030504040204" pitchFamily="34" charset="-120"/>
              <a:ea typeface="Microsoft JhengHei" panose="020B0604030504040204" pitchFamily="34" charset="-120"/>
            </a:endParaRPr>
          </a:p>
        </p:txBody>
      </p:sp>
      <p:sp>
        <p:nvSpPr>
          <p:cNvPr id="78" name="文字方塊 77">
            <a:extLst>
              <a:ext uri="{FF2B5EF4-FFF2-40B4-BE49-F238E27FC236}">
                <a16:creationId xmlns:a16="http://schemas.microsoft.com/office/drawing/2014/main" id="{6EC47FDA-C2D4-A5C5-FA9A-63714E238A4E}"/>
              </a:ext>
            </a:extLst>
          </p:cNvPr>
          <p:cNvSpPr txBox="1"/>
          <p:nvPr/>
        </p:nvSpPr>
        <p:spPr>
          <a:xfrm>
            <a:off x="381827" y="1530250"/>
            <a:ext cx="1242905" cy="369332"/>
          </a:xfrm>
          <a:prstGeom prst="rect">
            <a:avLst/>
          </a:prstGeom>
          <a:noFill/>
        </p:spPr>
        <p:txBody>
          <a:bodyPr wrap="square" rtlCol="0">
            <a:spAutoFit/>
          </a:bodyPr>
          <a:lstStyle/>
          <a:p>
            <a:r>
              <a:rPr kumimoji="1" lang="en-US" altLang="zh-TW" b="1" dirty="0">
                <a:latin typeface="Microsoft JhengHei" panose="020B0604030504040204" pitchFamily="34" charset="-120"/>
                <a:ea typeface="Microsoft JhengHei" panose="020B0604030504040204" pitchFamily="34" charset="-120"/>
              </a:rPr>
              <a:t>Training</a:t>
            </a:r>
            <a:endParaRPr kumimoji="1" lang="zh-TW" altLang="en-US" b="1" dirty="0">
              <a:latin typeface="Microsoft JhengHei" panose="020B0604030504040204" pitchFamily="34" charset="-120"/>
              <a:ea typeface="Microsoft JhengHei" panose="020B0604030504040204" pitchFamily="34" charset="-120"/>
            </a:endParaRPr>
          </a:p>
        </p:txBody>
      </p:sp>
      <p:sp>
        <p:nvSpPr>
          <p:cNvPr id="79" name="文字方塊 78">
            <a:extLst>
              <a:ext uri="{FF2B5EF4-FFF2-40B4-BE49-F238E27FC236}">
                <a16:creationId xmlns:a16="http://schemas.microsoft.com/office/drawing/2014/main" id="{3172E2CF-3350-599F-2FC6-E94D84A045A9}"/>
              </a:ext>
            </a:extLst>
          </p:cNvPr>
          <p:cNvSpPr txBox="1"/>
          <p:nvPr/>
        </p:nvSpPr>
        <p:spPr>
          <a:xfrm>
            <a:off x="6385931" y="2244474"/>
            <a:ext cx="2832410" cy="400110"/>
          </a:xfrm>
          <a:prstGeom prst="rect">
            <a:avLst/>
          </a:prstGeom>
          <a:noFill/>
        </p:spPr>
        <p:txBody>
          <a:bodyPr wrap="square" rtlCol="0">
            <a:spAutoFit/>
          </a:bodyPr>
          <a:lstStyle/>
          <a:p>
            <a:r>
              <a:rPr kumimoji="1" lang="en-US" altLang="zh-TW" sz="2000" dirty="0"/>
              <a:t>Moving average</a:t>
            </a:r>
            <a:endParaRPr kumimoji="1" lang="zh-TW" altLang="en-US" sz="2000" dirty="0"/>
          </a:p>
        </p:txBody>
      </p:sp>
      <mc:AlternateContent xmlns:mc="http://schemas.openxmlformats.org/markup-compatibility/2006" xmlns:a14="http://schemas.microsoft.com/office/drawing/2010/main">
        <mc:Choice Requires="a14">
          <p:sp>
            <p:nvSpPr>
              <p:cNvPr id="81" name="文字方塊 80">
                <a:extLst>
                  <a:ext uri="{FF2B5EF4-FFF2-40B4-BE49-F238E27FC236}">
                    <a16:creationId xmlns:a16="http://schemas.microsoft.com/office/drawing/2014/main" id="{06D8DC03-B473-5CB1-2DF0-569C063D714B}"/>
                  </a:ext>
                </a:extLst>
              </p:cNvPr>
              <p:cNvSpPr txBox="1"/>
              <p:nvPr/>
            </p:nvSpPr>
            <p:spPr>
              <a:xfrm>
                <a:off x="6906586" y="2730279"/>
                <a:ext cx="35237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𝜇</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𝛼</m:t>
                      </m:r>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𝜇</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d>
                        <m:dPr>
                          <m:ctrlPr>
                            <a:rPr lang="zh-TW" altLang="en-US" sz="2400" i="1">
                              <a:solidFill>
                                <a:schemeClr val="tx1"/>
                              </a:solidFill>
                              <a:latin typeface="Cambria Math" panose="02040503050406030204" pitchFamily="18" charset="0"/>
                            </a:rPr>
                          </m:ctrlPr>
                        </m:dPr>
                        <m:e>
                          <m:r>
                            <a:rPr lang="zh-TW" altLang="en-US" sz="2400" i="0">
                              <a:solidFill>
                                <a:schemeClr val="tx1"/>
                              </a:solidFill>
                              <a:latin typeface="Cambria Math" panose="02040503050406030204" pitchFamily="18" charset="0"/>
                            </a:rPr>
                            <m:t>1−</m:t>
                          </m:r>
                          <m:r>
                            <a:rPr lang="zh-TW" altLang="en-US" sz="2400" i="1">
                              <a:solidFill>
                                <a:schemeClr val="tx1"/>
                              </a:solidFill>
                              <a:latin typeface="Cambria Math" panose="02040503050406030204" pitchFamily="18" charset="0"/>
                            </a:rPr>
                            <m:t>𝛼</m:t>
                          </m:r>
                        </m:e>
                      </m:d>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𝜇</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oMath>
                  </m:oMathPara>
                </a14:m>
                <a:endParaRPr lang="zh-TW" altLang="en-US" sz="2400" dirty="0">
                  <a:solidFill>
                    <a:schemeClr val="tx1"/>
                  </a:solidFill>
                </a:endParaRPr>
              </a:p>
            </p:txBody>
          </p:sp>
        </mc:Choice>
        <mc:Fallback xmlns="">
          <p:sp>
            <p:nvSpPr>
              <p:cNvPr id="81" name="文字方塊 80">
                <a:extLst>
                  <a:ext uri="{FF2B5EF4-FFF2-40B4-BE49-F238E27FC236}">
                    <a16:creationId xmlns:a16="http://schemas.microsoft.com/office/drawing/2014/main" id="{06D8DC03-B473-5CB1-2DF0-569C063D714B}"/>
                  </a:ext>
                </a:extLst>
              </p:cNvPr>
              <p:cNvSpPr txBox="1">
                <a:spLocks noRot="1" noChangeAspect="1" noMove="1" noResize="1" noEditPoints="1" noAdjustHandles="1" noChangeArrowheads="1" noChangeShapeType="1" noTextEdit="1"/>
              </p:cNvSpPr>
              <p:nvPr/>
            </p:nvSpPr>
            <p:spPr>
              <a:xfrm>
                <a:off x="6906586" y="2730279"/>
                <a:ext cx="3523786" cy="461665"/>
              </a:xfrm>
              <a:prstGeom prst="rect">
                <a:avLst/>
              </a:prstGeom>
              <a:blipFill>
                <a:blip r:embed="rId16"/>
                <a:stretch>
                  <a:fillRect b="-81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2" name="文字方塊 81">
                <a:extLst>
                  <a:ext uri="{FF2B5EF4-FFF2-40B4-BE49-F238E27FC236}">
                    <a16:creationId xmlns:a16="http://schemas.microsoft.com/office/drawing/2014/main" id="{40AD5AA1-284F-550C-6F2C-627FF6708051}"/>
                  </a:ext>
                </a:extLst>
              </p:cNvPr>
              <p:cNvSpPr txBox="1"/>
              <p:nvPr/>
            </p:nvSpPr>
            <p:spPr>
              <a:xfrm>
                <a:off x="6906586" y="3339947"/>
                <a:ext cx="352378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400" i="1" smtClean="0">
                              <a:solidFill>
                                <a:schemeClr val="tx1"/>
                              </a:solidFill>
                              <a:latin typeface="Cambria Math" panose="02040503050406030204" pitchFamily="18" charset="0"/>
                            </a:rPr>
                          </m:ctrlPr>
                        </m:sSubPr>
                        <m:e>
                          <m:r>
                            <a:rPr lang="en-US" altLang="zh-TW" sz="2400" i="1">
                              <a:latin typeface="Cambria Math" panose="02040503050406030204" pitchFamily="18" charset="0"/>
                            </a:rPr>
                            <m:t>𝜎</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𝛼</m:t>
                      </m:r>
                      <m:sSub>
                        <m:sSubPr>
                          <m:ctrlPr>
                            <a:rPr lang="zh-TW" altLang="en-US" sz="2400" i="1">
                              <a:solidFill>
                                <a:schemeClr val="tx1"/>
                              </a:solidFill>
                              <a:latin typeface="Cambria Math" panose="02040503050406030204" pitchFamily="18" charset="0"/>
                            </a:rPr>
                          </m:ctrlPr>
                        </m:sSubPr>
                        <m:e>
                          <m:r>
                            <a:rPr lang="en-US" altLang="zh-TW" sz="2400" i="1">
                              <a:latin typeface="Cambria Math" panose="02040503050406030204" pitchFamily="18" charset="0"/>
                            </a:rPr>
                            <m:t>𝜎</m:t>
                          </m:r>
                        </m:e>
                        <m:sub>
                          <m:r>
                            <a:rPr lang="zh-TW" altLang="en-US" sz="2400" i="1">
                              <a:solidFill>
                                <a:schemeClr val="tx1"/>
                              </a:solidFill>
                              <a:latin typeface="Cambria Math" panose="02040503050406030204" pitchFamily="18" charset="0"/>
                            </a:rPr>
                            <m:t>𝑡</m:t>
                          </m:r>
                        </m:sub>
                      </m:sSub>
                      <m:r>
                        <a:rPr lang="zh-TW" altLang="en-US" sz="2400" i="0">
                          <a:solidFill>
                            <a:schemeClr val="tx1"/>
                          </a:solidFill>
                          <a:latin typeface="Cambria Math" panose="02040503050406030204" pitchFamily="18" charset="0"/>
                        </a:rPr>
                        <m:t>+</m:t>
                      </m:r>
                      <m:d>
                        <m:dPr>
                          <m:ctrlPr>
                            <a:rPr lang="zh-TW" altLang="en-US" sz="2400" i="1">
                              <a:solidFill>
                                <a:schemeClr val="tx1"/>
                              </a:solidFill>
                              <a:latin typeface="Cambria Math" panose="02040503050406030204" pitchFamily="18" charset="0"/>
                            </a:rPr>
                          </m:ctrlPr>
                        </m:dPr>
                        <m:e>
                          <m:r>
                            <a:rPr lang="zh-TW" altLang="en-US" sz="2400" i="0">
                              <a:solidFill>
                                <a:schemeClr val="tx1"/>
                              </a:solidFill>
                              <a:latin typeface="Cambria Math" panose="02040503050406030204" pitchFamily="18" charset="0"/>
                            </a:rPr>
                            <m:t>1−</m:t>
                          </m:r>
                          <m:r>
                            <a:rPr lang="zh-TW" altLang="en-US" sz="2400" i="1">
                              <a:solidFill>
                                <a:schemeClr val="tx1"/>
                              </a:solidFill>
                              <a:latin typeface="Cambria Math" panose="02040503050406030204" pitchFamily="18" charset="0"/>
                            </a:rPr>
                            <m:t>𝛼</m:t>
                          </m:r>
                        </m:e>
                      </m:d>
                      <m:sSub>
                        <m:sSubPr>
                          <m:ctrlPr>
                            <a:rPr lang="zh-TW" altLang="en-US" sz="2400" i="1">
                              <a:solidFill>
                                <a:schemeClr val="tx1"/>
                              </a:solidFill>
                              <a:latin typeface="Cambria Math" panose="02040503050406030204" pitchFamily="18" charset="0"/>
                            </a:rPr>
                          </m:ctrlPr>
                        </m:sSubPr>
                        <m:e>
                          <m:r>
                            <a:rPr lang="en-US" altLang="zh-TW" sz="2400" i="1">
                              <a:latin typeface="Cambria Math" panose="02040503050406030204" pitchFamily="18" charset="0"/>
                            </a:rPr>
                            <m:t>𝜎</m:t>
                          </m:r>
                        </m:e>
                        <m:sub>
                          <m:r>
                            <a:rPr lang="zh-TW" altLang="en-US" sz="2400" i="1">
                              <a:solidFill>
                                <a:schemeClr val="tx1"/>
                              </a:solidFill>
                              <a:latin typeface="Cambria Math" panose="02040503050406030204" pitchFamily="18" charset="0"/>
                            </a:rPr>
                            <m:t>𝑡</m:t>
                          </m:r>
                          <m:r>
                            <a:rPr lang="zh-TW" altLang="en-US" sz="2400" i="0">
                              <a:solidFill>
                                <a:schemeClr val="tx1"/>
                              </a:solidFill>
                              <a:latin typeface="Cambria Math" panose="02040503050406030204" pitchFamily="18" charset="0"/>
                            </a:rPr>
                            <m:t>−1</m:t>
                          </m:r>
                        </m:sub>
                      </m:sSub>
                    </m:oMath>
                  </m:oMathPara>
                </a14:m>
                <a:endParaRPr lang="zh-TW" altLang="en-US" sz="2400" dirty="0">
                  <a:solidFill>
                    <a:schemeClr val="tx1"/>
                  </a:solidFill>
                </a:endParaRPr>
              </a:p>
            </p:txBody>
          </p:sp>
        </mc:Choice>
        <mc:Fallback xmlns="">
          <p:sp>
            <p:nvSpPr>
              <p:cNvPr id="82" name="文字方塊 81">
                <a:extLst>
                  <a:ext uri="{FF2B5EF4-FFF2-40B4-BE49-F238E27FC236}">
                    <a16:creationId xmlns:a16="http://schemas.microsoft.com/office/drawing/2014/main" id="{40AD5AA1-284F-550C-6F2C-627FF6708051}"/>
                  </a:ext>
                </a:extLst>
              </p:cNvPr>
              <p:cNvSpPr txBox="1">
                <a:spLocks noRot="1" noChangeAspect="1" noMove="1" noResize="1" noEditPoints="1" noAdjustHandles="1" noChangeArrowheads="1" noChangeShapeType="1" noTextEdit="1"/>
              </p:cNvSpPr>
              <p:nvPr/>
            </p:nvSpPr>
            <p:spPr>
              <a:xfrm>
                <a:off x="6906586" y="3339947"/>
                <a:ext cx="3523786" cy="461665"/>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3" name="文字方塊 82">
                <a:extLst>
                  <a:ext uri="{FF2B5EF4-FFF2-40B4-BE49-F238E27FC236}">
                    <a16:creationId xmlns:a16="http://schemas.microsoft.com/office/drawing/2014/main" id="{8C048B1D-8F37-7A96-303F-849A01B160CB}"/>
                  </a:ext>
                </a:extLst>
              </p:cNvPr>
              <p:cNvSpPr txBox="1"/>
              <p:nvPr/>
            </p:nvSpPr>
            <p:spPr>
              <a:xfrm>
                <a:off x="7019651" y="4479834"/>
                <a:ext cx="2319610" cy="9827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h</m:t>
                          </m:r>
                          <m:r>
                            <a:rPr lang="en-US" altLang="zh-TW" sz="2800" b="0" i="1" smtClean="0">
                              <a:solidFill>
                                <a:schemeClr val="tx1"/>
                              </a:solidFill>
                              <a:latin typeface="Cambria Math" panose="02040503050406030204" pitchFamily="18" charset="0"/>
                            </a:rPr>
                            <m:t>′</m:t>
                          </m:r>
                        </m:e>
                        <m:sub>
                          <m:r>
                            <a:rPr lang="zh-TW" altLang="en-US" sz="2800" i="0">
                              <a:solidFill>
                                <a:schemeClr val="tx1"/>
                              </a:solidFill>
                              <a:latin typeface="Cambria Math" panose="02040503050406030204" pitchFamily="18" charset="0"/>
                            </a:rPr>
                            <m:t>1</m:t>
                          </m:r>
                        </m:sub>
                      </m:sSub>
                      <m:r>
                        <a:rPr lang="en-US" altLang="zh-TW" sz="2800" b="0" i="1" smtClean="0">
                          <a:solidFill>
                            <a:schemeClr val="tx1"/>
                          </a:solidFill>
                          <a:latin typeface="Cambria Math" panose="02040503050406030204" pitchFamily="18" charset="0"/>
                        </a:rPr>
                        <m:t>=</m:t>
                      </m:r>
                      <m:f>
                        <m:fPr>
                          <m:ctrlPr>
                            <a:rPr lang="en-US" altLang="zh-TW" sz="2800" b="0" i="1" kern="100" smtClean="0">
                              <a:solidFill>
                                <a:schemeClr val="tx1"/>
                              </a:solidFill>
                              <a:latin typeface="Cambria Math" panose="02040503050406030204" pitchFamily="18" charset="0"/>
                              <a:cs typeface="Times New Roman" panose="02020603050405020304" pitchFamily="18" charset="0"/>
                            </a:rPr>
                          </m:ctrlPr>
                        </m:fPr>
                        <m:num>
                          <m:sSub>
                            <m:sSubPr>
                              <m:ctrlPr>
                                <a:rPr lang="zh-TW" altLang="en-US" sz="2800" i="1">
                                  <a:solidFill>
                                    <a:schemeClr val="tx1"/>
                                  </a:solidFill>
                                  <a:latin typeface="Cambria Math" panose="02040503050406030204" pitchFamily="18" charset="0"/>
                                </a:rPr>
                              </m:ctrlPr>
                            </m:sSubPr>
                            <m:e>
                              <m:r>
                                <a:rPr lang="en-US" altLang="zh-TW" sz="2800" i="1">
                                  <a:solidFill>
                                    <a:schemeClr val="tx1"/>
                                  </a:solidFill>
                                  <a:latin typeface="Cambria Math" panose="02040503050406030204" pitchFamily="18" charset="0"/>
                                </a:rPr>
                                <m:t>h</m:t>
                              </m:r>
                            </m:e>
                            <m:sub>
                              <m:r>
                                <a:rPr lang="zh-TW" altLang="en-US" sz="2800">
                                  <a:solidFill>
                                    <a:schemeClr val="tx1"/>
                                  </a:solidFill>
                                  <a:latin typeface="Cambria Math" panose="02040503050406030204" pitchFamily="18" charset="0"/>
                                </a:rPr>
                                <m:t>1</m:t>
                              </m:r>
                            </m:sub>
                          </m:sSub>
                          <m:r>
                            <a:rPr lang="en-US" altLang="zh-TW" sz="2800" b="0" i="1" smtClean="0">
                              <a:solidFill>
                                <a:schemeClr val="tx1"/>
                              </a:solidFill>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𝜇</m:t>
                              </m:r>
                            </m:e>
                            <m:sub>
                              <m:r>
                                <a:rPr lang="zh-TW" altLang="en-US" sz="2800" i="1">
                                  <a:latin typeface="Cambria Math" panose="02040503050406030204" pitchFamily="18" charset="0"/>
                                </a:rPr>
                                <m:t>𝑡</m:t>
                              </m:r>
                            </m:sub>
                          </m:sSub>
                        </m:num>
                        <m:den>
                          <m:sSub>
                            <m:sSubPr>
                              <m:ctrlPr>
                                <a:rPr lang="zh-TW" altLang="en-US" sz="2800" i="1">
                                  <a:latin typeface="Cambria Math" panose="02040503050406030204" pitchFamily="18" charset="0"/>
                                </a:rPr>
                              </m:ctrlPr>
                            </m:sSubPr>
                            <m:e>
                              <m:r>
                                <a:rPr lang="en-US" altLang="zh-TW" sz="2800" i="1">
                                  <a:latin typeface="Cambria Math" panose="02040503050406030204" pitchFamily="18" charset="0"/>
                                </a:rPr>
                                <m:t>𝜎</m:t>
                              </m:r>
                            </m:e>
                            <m:sub>
                              <m:r>
                                <a:rPr lang="zh-TW" altLang="en-US" sz="2800" i="1">
                                  <a:latin typeface="Cambria Math" panose="02040503050406030204" pitchFamily="18" charset="0"/>
                                </a:rPr>
                                <m:t>𝑡</m:t>
                              </m:r>
                            </m:sub>
                          </m:sSub>
                        </m:den>
                      </m:f>
                    </m:oMath>
                  </m:oMathPara>
                </a14:m>
                <a:endParaRPr lang="zh-TW" altLang="en-US" sz="2800" dirty="0">
                  <a:solidFill>
                    <a:schemeClr val="tx1"/>
                  </a:solidFill>
                </a:endParaRPr>
              </a:p>
            </p:txBody>
          </p:sp>
        </mc:Choice>
        <mc:Fallback xmlns="">
          <p:sp>
            <p:nvSpPr>
              <p:cNvPr id="83" name="文字方塊 82">
                <a:extLst>
                  <a:ext uri="{FF2B5EF4-FFF2-40B4-BE49-F238E27FC236}">
                    <a16:creationId xmlns:a16="http://schemas.microsoft.com/office/drawing/2014/main" id="{8C048B1D-8F37-7A96-303F-849A01B160CB}"/>
                  </a:ext>
                </a:extLst>
              </p:cNvPr>
              <p:cNvSpPr txBox="1">
                <a:spLocks noRot="1" noChangeAspect="1" noMove="1" noResize="1" noEditPoints="1" noAdjustHandles="1" noChangeArrowheads="1" noChangeShapeType="1" noTextEdit="1"/>
              </p:cNvSpPr>
              <p:nvPr/>
            </p:nvSpPr>
            <p:spPr>
              <a:xfrm>
                <a:off x="7019651" y="4479834"/>
                <a:ext cx="2319610" cy="982770"/>
              </a:xfrm>
              <a:prstGeom prst="rect">
                <a:avLst/>
              </a:prstGeom>
              <a:blipFill>
                <a:blip r:embed="rId18"/>
                <a:stretch>
                  <a:fillRect b="-25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B14E43E0-5D1E-0B6A-D577-8D2EE368070C}"/>
                  </a:ext>
                </a:extLst>
              </p:cNvPr>
              <p:cNvSpPr txBox="1"/>
              <p:nvPr/>
            </p:nvSpPr>
            <p:spPr>
              <a:xfrm>
                <a:off x="7019651" y="5606085"/>
                <a:ext cx="2319610" cy="9952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80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h</m:t>
                          </m:r>
                          <m:r>
                            <a:rPr lang="en-US" altLang="zh-TW" sz="2800" b="0" i="1" smtClean="0">
                              <a:solidFill>
                                <a:schemeClr val="tx1"/>
                              </a:solidFill>
                              <a:latin typeface="Cambria Math" panose="02040503050406030204" pitchFamily="18" charset="0"/>
                            </a:rPr>
                            <m:t>′</m:t>
                          </m:r>
                        </m:e>
                        <m:sub>
                          <m:r>
                            <a:rPr lang="en-US" altLang="zh-TW" sz="2800" b="0" i="1" smtClean="0">
                              <a:solidFill>
                                <a:schemeClr val="tx1"/>
                              </a:solidFill>
                              <a:latin typeface="Cambria Math" panose="02040503050406030204" pitchFamily="18" charset="0"/>
                            </a:rPr>
                            <m:t>𝑗</m:t>
                          </m:r>
                        </m:sub>
                      </m:sSub>
                      <m:r>
                        <a:rPr lang="en-US" altLang="zh-TW" sz="2800" b="0" i="1" smtClean="0">
                          <a:solidFill>
                            <a:schemeClr val="tx1"/>
                          </a:solidFill>
                          <a:latin typeface="Cambria Math" panose="02040503050406030204" pitchFamily="18" charset="0"/>
                        </a:rPr>
                        <m:t>=</m:t>
                      </m:r>
                      <m:f>
                        <m:fPr>
                          <m:ctrlPr>
                            <a:rPr lang="en-US" altLang="zh-TW" sz="2800" b="0" i="1" kern="100" smtClean="0">
                              <a:solidFill>
                                <a:schemeClr val="tx1"/>
                              </a:solidFill>
                              <a:latin typeface="Cambria Math" panose="02040503050406030204" pitchFamily="18" charset="0"/>
                              <a:cs typeface="Times New Roman" panose="02020603050405020304" pitchFamily="18" charset="0"/>
                            </a:rPr>
                          </m:ctrlPr>
                        </m:fPr>
                        <m:num>
                          <m:sSub>
                            <m:sSubPr>
                              <m:ctrlPr>
                                <a:rPr lang="zh-TW" altLang="en-US" sz="2800" i="1">
                                  <a:solidFill>
                                    <a:schemeClr val="tx1"/>
                                  </a:solidFill>
                                  <a:latin typeface="Cambria Math" panose="02040503050406030204" pitchFamily="18" charset="0"/>
                                </a:rPr>
                              </m:ctrlPr>
                            </m:sSubPr>
                            <m:e>
                              <m:r>
                                <a:rPr lang="en-US" altLang="zh-TW" sz="2800" i="1">
                                  <a:solidFill>
                                    <a:schemeClr val="tx1"/>
                                  </a:solidFill>
                                  <a:latin typeface="Cambria Math" panose="02040503050406030204" pitchFamily="18" charset="0"/>
                                </a:rPr>
                                <m:t>h</m:t>
                              </m:r>
                            </m:e>
                            <m:sub>
                              <m:r>
                                <a:rPr lang="en-US" altLang="zh-TW" sz="2800" i="1">
                                  <a:latin typeface="Cambria Math" panose="02040503050406030204" pitchFamily="18" charset="0"/>
                                </a:rPr>
                                <m:t>𝑗</m:t>
                              </m:r>
                            </m:sub>
                          </m:sSub>
                          <m:r>
                            <a:rPr lang="en-US" altLang="zh-TW" sz="2800" b="0" i="1" smtClean="0">
                              <a:solidFill>
                                <a:schemeClr val="tx1"/>
                              </a:solidFill>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𝜇</m:t>
                              </m:r>
                            </m:e>
                            <m:sub>
                              <m:r>
                                <a:rPr lang="zh-TW" altLang="en-US" sz="2800" i="1">
                                  <a:latin typeface="Cambria Math" panose="02040503050406030204" pitchFamily="18" charset="0"/>
                                </a:rPr>
                                <m:t>𝑡</m:t>
                              </m:r>
                            </m:sub>
                          </m:sSub>
                        </m:num>
                        <m:den>
                          <m:sSub>
                            <m:sSubPr>
                              <m:ctrlPr>
                                <a:rPr lang="zh-TW" altLang="en-US" sz="2800" i="1">
                                  <a:latin typeface="Cambria Math" panose="02040503050406030204" pitchFamily="18" charset="0"/>
                                </a:rPr>
                              </m:ctrlPr>
                            </m:sSubPr>
                            <m:e>
                              <m:r>
                                <a:rPr lang="en-US" altLang="zh-TW" sz="2800" i="1">
                                  <a:latin typeface="Cambria Math" panose="02040503050406030204" pitchFamily="18" charset="0"/>
                                </a:rPr>
                                <m:t>𝜎</m:t>
                              </m:r>
                            </m:e>
                            <m:sub>
                              <m:r>
                                <a:rPr lang="zh-TW" altLang="en-US" sz="2800" i="1">
                                  <a:latin typeface="Cambria Math" panose="02040503050406030204" pitchFamily="18" charset="0"/>
                                </a:rPr>
                                <m:t>𝑡</m:t>
                              </m:r>
                            </m:sub>
                          </m:sSub>
                        </m:den>
                      </m:f>
                    </m:oMath>
                  </m:oMathPara>
                </a14:m>
                <a:endParaRPr lang="zh-TW" altLang="en-US" sz="2800" dirty="0">
                  <a:solidFill>
                    <a:schemeClr val="tx1"/>
                  </a:solidFill>
                </a:endParaRPr>
              </a:p>
            </p:txBody>
          </p:sp>
        </mc:Choice>
        <mc:Fallback xmlns="">
          <p:sp>
            <p:nvSpPr>
              <p:cNvPr id="84" name="文字方塊 83">
                <a:extLst>
                  <a:ext uri="{FF2B5EF4-FFF2-40B4-BE49-F238E27FC236}">
                    <a16:creationId xmlns:a16="http://schemas.microsoft.com/office/drawing/2014/main" id="{B14E43E0-5D1E-0B6A-D577-8D2EE368070C}"/>
                  </a:ext>
                </a:extLst>
              </p:cNvPr>
              <p:cNvSpPr txBox="1">
                <a:spLocks noRot="1" noChangeAspect="1" noMove="1" noResize="1" noEditPoints="1" noAdjustHandles="1" noChangeArrowheads="1" noChangeShapeType="1" noTextEdit="1"/>
              </p:cNvSpPr>
              <p:nvPr/>
            </p:nvSpPr>
            <p:spPr>
              <a:xfrm>
                <a:off x="7019651" y="5606085"/>
                <a:ext cx="2319610" cy="995272"/>
              </a:xfrm>
              <a:prstGeom prst="rect">
                <a:avLst/>
              </a:prstGeom>
              <a:blipFill>
                <a:blip r:embed="rId19"/>
                <a:stretch>
                  <a:fillRect b="-3797"/>
                </a:stretch>
              </a:blipFill>
            </p:spPr>
            <p:txBody>
              <a:bodyPr/>
              <a:lstStyle/>
              <a:p>
                <a:r>
                  <a:rPr lang="zh-TW" altLang="en-US">
                    <a:noFill/>
                  </a:rPr>
                  <a:t> </a:t>
                </a:r>
              </a:p>
            </p:txBody>
          </p:sp>
        </mc:Fallback>
      </mc:AlternateContent>
      <p:sp>
        <p:nvSpPr>
          <p:cNvPr id="86" name="文字方塊 85">
            <a:extLst>
              <a:ext uri="{FF2B5EF4-FFF2-40B4-BE49-F238E27FC236}">
                <a16:creationId xmlns:a16="http://schemas.microsoft.com/office/drawing/2014/main" id="{C24BCBA9-CB64-4174-B7B4-C036FF614DE5}"/>
              </a:ext>
            </a:extLst>
          </p:cNvPr>
          <p:cNvSpPr txBox="1"/>
          <p:nvPr/>
        </p:nvSpPr>
        <p:spPr>
          <a:xfrm>
            <a:off x="8274343" y="1416797"/>
            <a:ext cx="3383531" cy="523220"/>
          </a:xfrm>
          <a:prstGeom prst="rect">
            <a:avLst/>
          </a:prstGeom>
          <a:noFill/>
        </p:spPr>
        <p:txBody>
          <a:bodyPr wrap="square">
            <a:spAutoFit/>
          </a:bodyPr>
          <a:lstStyle/>
          <a:p>
            <a:r>
              <a:rPr kumimoji="1" lang="en" altLang="zh-TW" sz="1400" dirty="0"/>
              <a:t>https://</a:t>
            </a:r>
            <a:r>
              <a:rPr kumimoji="1" lang="en" altLang="zh-TW" sz="1400" dirty="0" err="1"/>
              <a:t>pytorch.org</a:t>
            </a:r>
            <a:r>
              <a:rPr kumimoji="1" lang="en" altLang="zh-TW" sz="1400" dirty="0"/>
              <a:t>/docs/stable/generated/torch.nn.BatchNorm2d.html</a:t>
            </a:r>
            <a:endParaRPr kumimoji="1" lang="zh-TW" altLang="en-US" sz="1400"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7AB3D31-27EC-E638-12CA-5EAFB1F6DCFF}"/>
                  </a:ext>
                </a:extLst>
              </p:cNvPr>
              <p:cNvSpPr txBox="1"/>
              <p:nvPr/>
            </p:nvSpPr>
            <p:spPr>
              <a:xfrm>
                <a:off x="7019651" y="3982206"/>
                <a:ext cx="3523786" cy="369332"/>
              </a:xfrm>
              <a:prstGeom prst="rect">
                <a:avLst/>
              </a:prstGeom>
              <a:noFill/>
            </p:spPr>
            <p:txBody>
              <a:bodyPr wrap="square" rtlCol="0">
                <a:spAutoFit/>
              </a:bodyPr>
              <a:lstStyle/>
              <a:p>
                <a:r>
                  <a:rPr kumimoji="1" lang="en-US" altLang="zh-TW" dirty="0">
                    <a:solidFill>
                      <a:schemeClr val="accent1"/>
                    </a:solidFill>
                  </a:rPr>
                  <a:t>momentum (</a:t>
                </a:r>
                <a14:m>
                  <m:oMath xmlns:m="http://schemas.openxmlformats.org/officeDocument/2006/math">
                    <m:r>
                      <a:rPr lang="zh-TW" altLang="en-US" sz="1800" i="1" smtClean="0">
                        <a:solidFill>
                          <a:schemeClr val="accent1"/>
                        </a:solidFill>
                        <a:latin typeface="Cambria Math" panose="02040503050406030204" pitchFamily="18" charset="0"/>
                      </a:rPr>
                      <m:t>𝛼</m:t>
                    </m:r>
                  </m:oMath>
                </a14:m>
                <a:r>
                  <a:rPr kumimoji="1" lang="en-US" altLang="zh-TW" dirty="0">
                    <a:solidFill>
                      <a:schemeClr val="accent1"/>
                    </a:solidFill>
                  </a:rPr>
                  <a:t>) </a:t>
                </a:r>
                <a:r>
                  <a:rPr kumimoji="1" lang="zh-TW" altLang="en-US" dirty="0">
                    <a:solidFill>
                      <a:schemeClr val="accent1"/>
                    </a:solidFill>
                  </a:rPr>
                  <a:t>常見設定為</a:t>
                </a:r>
                <a:r>
                  <a:rPr kumimoji="1" lang="en-US" altLang="zh-TW" dirty="0">
                    <a:solidFill>
                      <a:schemeClr val="accent1"/>
                    </a:solidFill>
                  </a:rPr>
                  <a:t>0.1</a:t>
                </a:r>
                <a:endParaRPr kumimoji="1" lang="zh-TW" altLang="en-US" dirty="0">
                  <a:solidFill>
                    <a:schemeClr val="accent1"/>
                  </a:solidFill>
                </a:endParaRPr>
              </a:p>
            </p:txBody>
          </p:sp>
        </mc:Choice>
        <mc:Fallback xmlns="">
          <p:sp>
            <p:nvSpPr>
              <p:cNvPr id="3" name="文字方塊 2">
                <a:extLst>
                  <a:ext uri="{FF2B5EF4-FFF2-40B4-BE49-F238E27FC236}">
                    <a16:creationId xmlns:a16="http://schemas.microsoft.com/office/drawing/2014/main" id="{B7AB3D31-27EC-E638-12CA-5EAFB1F6DCFF}"/>
                  </a:ext>
                </a:extLst>
              </p:cNvPr>
              <p:cNvSpPr txBox="1">
                <a:spLocks noRot="1" noChangeAspect="1" noMove="1" noResize="1" noEditPoints="1" noAdjustHandles="1" noChangeArrowheads="1" noChangeShapeType="1" noTextEdit="1"/>
              </p:cNvSpPr>
              <p:nvPr/>
            </p:nvSpPr>
            <p:spPr>
              <a:xfrm>
                <a:off x="7019651" y="3982206"/>
                <a:ext cx="3523786" cy="369332"/>
              </a:xfrm>
              <a:prstGeom prst="rect">
                <a:avLst/>
              </a:prstGeom>
              <a:blipFill>
                <a:blip r:embed="rId20"/>
                <a:stretch>
                  <a:fillRect l="-1434" t="-10000" b="-2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6693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8" grpId="0" animBg="1"/>
      <p:bldP spid="59" grpId="0" animBg="1"/>
      <p:bldP spid="62" grpId="0"/>
      <p:bldP spid="63" grpId="0"/>
      <p:bldP spid="64" grpId="0"/>
      <p:bldP spid="65" grpId="0"/>
      <p:bldP spid="66" grpId="0"/>
      <p:bldP spid="67" grpId="0"/>
      <p:bldP spid="68" grpId="0" animBg="1"/>
      <p:bldP spid="69" grpId="0" animBg="1"/>
      <p:bldP spid="70" grpId="0"/>
      <p:bldP spid="71" grpId="0"/>
      <p:bldP spid="72" grpId="0"/>
      <p:bldP spid="75" grpId="0" animBg="1"/>
      <p:bldP spid="76" grpId="0"/>
      <p:bldP spid="77" grpId="0"/>
      <p:bldP spid="83" grpId="0"/>
      <p:bldP spid="8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28A601-AD70-3DF3-7375-726CFCA09399}"/>
              </a:ext>
            </a:extLst>
          </p:cNvPr>
          <p:cNvSpPr>
            <a:spLocks noGrp="1"/>
          </p:cNvSpPr>
          <p:nvPr>
            <p:ph type="title"/>
          </p:nvPr>
        </p:nvSpPr>
        <p:spPr/>
        <p:txBody>
          <a:bodyPr/>
          <a:lstStyle/>
          <a:p>
            <a:r>
              <a:rPr kumimoji="1" lang="en-US" altLang="zh-TW" dirty="0"/>
              <a:t>[</a:t>
            </a:r>
            <a:r>
              <a:rPr kumimoji="1" lang="zh-TW" altLang="en-US" dirty="0"/>
              <a:t>觀察</a:t>
            </a:r>
            <a:r>
              <a:rPr kumimoji="1" lang="en-US" altLang="zh-TW" dirty="0"/>
              <a:t>] </a:t>
            </a:r>
            <a:r>
              <a:rPr kumimoji="1" lang="en-US" altLang="zh-TW" dirty="0" err="1"/>
              <a:t>BatchNorm</a:t>
            </a:r>
            <a:endParaRPr kumimoji="1" lang="zh-TW" altLang="en-US" dirty="0"/>
          </a:p>
        </p:txBody>
      </p:sp>
      <p:sp>
        <p:nvSpPr>
          <p:cNvPr id="3" name="內容版面配置區 2">
            <a:extLst>
              <a:ext uri="{FF2B5EF4-FFF2-40B4-BE49-F238E27FC236}">
                <a16:creationId xmlns:a16="http://schemas.microsoft.com/office/drawing/2014/main" id="{FF0D9C9C-7838-2C8C-E049-AC7741CE952F}"/>
              </a:ext>
            </a:extLst>
          </p:cNvPr>
          <p:cNvSpPr>
            <a:spLocks noGrp="1"/>
          </p:cNvSpPr>
          <p:nvPr>
            <p:ph idx="1"/>
          </p:nvPr>
        </p:nvSpPr>
        <p:spPr/>
        <p:txBody>
          <a:bodyPr/>
          <a:lstStyle/>
          <a:p>
            <a:pPr marL="342900" indent="-342900">
              <a:lnSpc>
                <a:spcPct val="150000"/>
              </a:lnSpc>
              <a:buFont typeface="Arial" panose="020B0604020202020204" pitchFamily="34" charset="0"/>
              <a:buChar char="•"/>
            </a:pPr>
            <a:r>
              <a:rPr kumimoji="1" lang="en-US" altLang="zh-TW" sz="2400" dirty="0" err="1">
                <a:ea typeface="Microsoft JhengHei" panose="020B0604030504040204" pitchFamily="34" charset="-120"/>
              </a:rPr>
              <a:t>BatchNorm</a:t>
            </a:r>
            <a:r>
              <a:rPr kumimoji="1" lang="en-US" altLang="zh-TW" sz="2400" dirty="0">
                <a:ea typeface="Microsoft JhengHei" panose="020B0604030504040204" pitchFamily="34" charset="-120"/>
              </a:rPr>
              <a:t> </a:t>
            </a:r>
            <a:r>
              <a:rPr kumimoji="1" lang="zh-TW" altLang="en-US" sz="2400" dirty="0">
                <a:ea typeface="Microsoft JhengHei" panose="020B0604030504040204" pitchFamily="34" charset="-120"/>
              </a:rPr>
              <a:t>可以：</a:t>
            </a:r>
          </a:p>
          <a:p>
            <a:pPr marL="800100" lvl="1" indent="-342900">
              <a:lnSpc>
                <a:spcPct val="150000"/>
              </a:lnSpc>
              <a:buFont typeface="Arial" panose="020B0604020202020204" pitchFamily="34" charset="0"/>
              <a:buChar char="•"/>
            </a:pPr>
            <a:r>
              <a:rPr kumimoji="1" lang="zh-TW" altLang="en-US" sz="2400" dirty="0">
                <a:ea typeface="Microsoft JhengHei" panose="020B0604030504040204" pitchFamily="34" charset="-120"/>
              </a:rPr>
              <a:t>減少不同特徵尺度帶來的偏差，避免梯度爆炸或消失</a:t>
            </a:r>
            <a:endParaRPr kumimoji="1" lang="en-US" altLang="zh-TW" sz="2400" dirty="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zh-TW" altLang="en-US" sz="2400" dirty="0">
                <a:ea typeface="Microsoft JhengHei" panose="020B0604030504040204" pitchFamily="34" charset="-120"/>
              </a:rPr>
              <a:t>提高模型訓練時的穩定性，加速收斂</a:t>
            </a:r>
            <a:endParaRPr kumimoji="1" lang="en-US" altLang="zh-TW" sz="2400" dirty="0">
              <a:ea typeface="Microsoft JhengHei" panose="020B0604030504040204" pitchFamily="34" charset="-120"/>
            </a:endParaRPr>
          </a:p>
          <a:p>
            <a:endParaRPr kumimoji="1" lang="zh-TW" altLang="en-US" dirty="0"/>
          </a:p>
        </p:txBody>
      </p:sp>
      <p:sp>
        <p:nvSpPr>
          <p:cNvPr id="4" name="投影片編號版面配置區 3">
            <a:extLst>
              <a:ext uri="{FF2B5EF4-FFF2-40B4-BE49-F238E27FC236}">
                <a16:creationId xmlns:a16="http://schemas.microsoft.com/office/drawing/2014/main" id="{0C43C00A-3A4F-FB7D-DAF2-1CD911DE2C2B}"/>
              </a:ext>
            </a:extLst>
          </p:cNvPr>
          <p:cNvSpPr>
            <a:spLocks noGrp="1"/>
          </p:cNvSpPr>
          <p:nvPr>
            <p:ph type="sldNum" sz="quarter" idx="12"/>
          </p:nvPr>
        </p:nvSpPr>
        <p:spPr/>
        <p:txBody>
          <a:bodyPr/>
          <a:lstStyle/>
          <a:p>
            <a:fld id="{6113E31D-E2AB-40D1-8B51-AFA5AFEF393A}" type="slidenum">
              <a:rPr lang="en-US" smtClean="0"/>
              <a:pPr/>
              <a:t>33</a:t>
            </a:fld>
            <a:endParaRPr lang="en-US" dirty="0"/>
          </a:p>
        </p:txBody>
      </p:sp>
    </p:spTree>
    <p:extLst>
      <p:ext uri="{BB962C8B-B14F-4D97-AF65-F5344CB8AC3E}">
        <p14:creationId xmlns:p14="http://schemas.microsoft.com/office/powerpoint/2010/main" val="1394468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B44F-EADD-8EB4-2D4A-B38CAA22B99E}"/>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9F840CDF-6D1B-5900-8B3C-71C383921696}"/>
              </a:ext>
            </a:extLst>
          </p:cNvPr>
          <p:cNvSpPr>
            <a:spLocks noGrp="1"/>
          </p:cNvSpPr>
          <p:nvPr>
            <p:ph type="title"/>
          </p:nvPr>
        </p:nvSpPr>
        <p:spPr>
          <a:xfrm>
            <a:off x="413238" y="2772849"/>
            <a:ext cx="3516924" cy="1312302"/>
          </a:xfrm>
        </p:spPr>
        <p:txBody>
          <a:bodyPr anchor="ctr">
            <a:normAutofit/>
          </a:bodyPr>
          <a:lstStyle/>
          <a:p>
            <a:r>
              <a:rPr lang="en-US" altLang="zh-TW" sz="4800" dirty="0"/>
              <a:t>Dropout</a:t>
            </a:r>
            <a:endParaRPr lang="zh-TW" altLang="en-US" sz="4800" dirty="0"/>
          </a:p>
        </p:txBody>
      </p:sp>
      <p:sp>
        <p:nvSpPr>
          <p:cNvPr id="4" name="投影片編號版面配置區 3">
            <a:extLst>
              <a:ext uri="{FF2B5EF4-FFF2-40B4-BE49-F238E27FC236}">
                <a16:creationId xmlns:a16="http://schemas.microsoft.com/office/drawing/2014/main" id="{259B17A8-2895-5CF4-977D-5235CB2A7EC1}"/>
              </a:ext>
            </a:extLst>
          </p:cNvPr>
          <p:cNvSpPr>
            <a:spLocks noGrp="1"/>
          </p:cNvSpPr>
          <p:nvPr>
            <p:ph type="sldNum" sz="quarter" idx="12"/>
          </p:nvPr>
        </p:nvSpPr>
        <p:spPr/>
        <p:txBody>
          <a:bodyPr/>
          <a:lstStyle/>
          <a:p>
            <a:fld id="{6113E31D-E2AB-40D1-8B51-AFA5AFEF393A}" type="slidenum">
              <a:rPr lang="en-US" smtClean="0"/>
              <a:pPr/>
              <a:t>34</a:t>
            </a:fld>
            <a:endParaRPr lang="en-US" dirty="0"/>
          </a:p>
        </p:txBody>
      </p:sp>
    </p:spTree>
    <p:extLst>
      <p:ext uri="{BB962C8B-B14F-4D97-AF65-F5344CB8AC3E}">
        <p14:creationId xmlns:p14="http://schemas.microsoft.com/office/powerpoint/2010/main" val="1358805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9E7E3D-8832-815A-398E-5D3702946FAA}"/>
              </a:ext>
            </a:extLst>
          </p:cNvPr>
          <p:cNvSpPr>
            <a:spLocks noGrp="1"/>
          </p:cNvSpPr>
          <p:nvPr>
            <p:ph type="title"/>
          </p:nvPr>
        </p:nvSpPr>
        <p:spPr/>
        <p:txBody>
          <a:bodyPr/>
          <a:lstStyle/>
          <a:p>
            <a:r>
              <a:rPr kumimoji="1" lang="en-US" altLang="zh-TW" sz="4800" dirty="0"/>
              <a:t>Dropout</a:t>
            </a:r>
            <a:endParaRPr kumimoji="1" lang="zh-TW" altLang="en-US" dirty="0"/>
          </a:p>
        </p:txBody>
      </p:sp>
      <p:sp>
        <p:nvSpPr>
          <p:cNvPr id="4" name="投影片編號版面配置區 3">
            <a:extLst>
              <a:ext uri="{FF2B5EF4-FFF2-40B4-BE49-F238E27FC236}">
                <a16:creationId xmlns:a16="http://schemas.microsoft.com/office/drawing/2014/main" id="{61484AA6-EDA6-3CB2-E2A1-439E91C64005}"/>
              </a:ext>
            </a:extLst>
          </p:cNvPr>
          <p:cNvSpPr>
            <a:spLocks noGrp="1"/>
          </p:cNvSpPr>
          <p:nvPr>
            <p:ph type="sldNum" sz="quarter" idx="12"/>
          </p:nvPr>
        </p:nvSpPr>
        <p:spPr/>
        <p:txBody>
          <a:bodyPr/>
          <a:lstStyle/>
          <a:p>
            <a:fld id="{6113E31D-E2AB-40D1-8B51-AFA5AFEF393A}" type="slidenum">
              <a:rPr lang="en-US" smtClean="0"/>
              <a:pPr/>
              <a:t>35</a:t>
            </a:fld>
            <a:endParaRPr lang="en-US" dirty="0"/>
          </a:p>
        </p:txBody>
      </p:sp>
      <p:sp>
        <p:nvSpPr>
          <p:cNvPr id="6" name="橢圓 5">
            <a:extLst>
              <a:ext uri="{FF2B5EF4-FFF2-40B4-BE49-F238E27FC236}">
                <a16:creationId xmlns:a16="http://schemas.microsoft.com/office/drawing/2014/main" id="{6A051111-91AD-85C9-289E-78581694890E}"/>
              </a:ext>
            </a:extLst>
          </p:cNvPr>
          <p:cNvSpPr/>
          <p:nvPr/>
        </p:nvSpPr>
        <p:spPr>
          <a:xfrm>
            <a:off x="7425755" y="208055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橢圓 6">
            <a:extLst>
              <a:ext uri="{FF2B5EF4-FFF2-40B4-BE49-F238E27FC236}">
                <a16:creationId xmlns:a16="http://schemas.microsoft.com/office/drawing/2014/main" id="{4AF5625F-BB1B-6258-134D-2D4D0DB9BD03}"/>
              </a:ext>
            </a:extLst>
          </p:cNvPr>
          <p:cNvSpPr/>
          <p:nvPr/>
        </p:nvSpPr>
        <p:spPr>
          <a:xfrm>
            <a:off x="7414325" y="3266038"/>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橢圓 7">
            <a:extLst>
              <a:ext uri="{FF2B5EF4-FFF2-40B4-BE49-F238E27FC236}">
                <a16:creationId xmlns:a16="http://schemas.microsoft.com/office/drawing/2014/main" id="{E72886C0-CFBA-9021-C1DD-05CBC53D640C}"/>
              </a:ext>
            </a:extLst>
          </p:cNvPr>
          <p:cNvSpPr/>
          <p:nvPr/>
        </p:nvSpPr>
        <p:spPr>
          <a:xfrm>
            <a:off x="7414325" y="445152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9" name="直線接點 8">
            <a:extLst>
              <a:ext uri="{FF2B5EF4-FFF2-40B4-BE49-F238E27FC236}">
                <a16:creationId xmlns:a16="http://schemas.microsoft.com/office/drawing/2014/main" id="{F5C04F0C-708A-AF6D-B73A-18B6EFD7C954}"/>
              </a:ext>
            </a:extLst>
          </p:cNvPr>
          <p:cNvCxnSpPr>
            <a:cxnSpLocks/>
            <a:stCxn id="6" idx="6"/>
            <a:endCxn id="21" idx="2"/>
          </p:cNvCxnSpPr>
          <p:nvPr/>
        </p:nvCxnSpPr>
        <p:spPr>
          <a:xfrm>
            <a:off x="7997255" y="2366305"/>
            <a:ext cx="1091520" cy="17994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0DAA638A-97C6-A3EF-7455-C8493E5F661C}"/>
              </a:ext>
            </a:extLst>
          </p:cNvPr>
          <p:cNvCxnSpPr>
            <a:cxnSpLocks/>
            <a:stCxn id="7" idx="6"/>
            <a:endCxn id="20" idx="2"/>
          </p:cNvCxnSpPr>
          <p:nvPr/>
        </p:nvCxnSpPr>
        <p:spPr>
          <a:xfrm flipV="1">
            <a:off x="7985825" y="2980288"/>
            <a:ext cx="1114380" cy="571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1A1EBB34-A906-0510-FA73-F87222E9006A}"/>
              </a:ext>
            </a:extLst>
          </p:cNvPr>
          <p:cNvCxnSpPr>
            <a:cxnSpLocks/>
            <a:stCxn id="8" idx="6"/>
            <a:endCxn id="20" idx="2"/>
          </p:cNvCxnSpPr>
          <p:nvPr/>
        </p:nvCxnSpPr>
        <p:spPr>
          <a:xfrm flipV="1">
            <a:off x="7985825" y="2980288"/>
            <a:ext cx="1114380" cy="17569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橢圓 19">
            <a:extLst>
              <a:ext uri="{FF2B5EF4-FFF2-40B4-BE49-F238E27FC236}">
                <a16:creationId xmlns:a16="http://schemas.microsoft.com/office/drawing/2014/main" id="{FAE376AA-AC77-2329-84B2-2B58C2AAACD6}"/>
              </a:ext>
            </a:extLst>
          </p:cNvPr>
          <p:cNvSpPr/>
          <p:nvPr/>
        </p:nvSpPr>
        <p:spPr>
          <a:xfrm>
            <a:off x="9100205" y="2694538"/>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橢圓 20">
            <a:extLst>
              <a:ext uri="{FF2B5EF4-FFF2-40B4-BE49-F238E27FC236}">
                <a16:creationId xmlns:a16="http://schemas.microsoft.com/office/drawing/2014/main" id="{23D5EC23-BD7A-0386-9058-B441690B8EBE}"/>
              </a:ext>
            </a:extLst>
          </p:cNvPr>
          <p:cNvSpPr/>
          <p:nvPr/>
        </p:nvSpPr>
        <p:spPr>
          <a:xfrm>
            <a:off x="9088775" y="388002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2" name="直線接點 21">
            <a:extLst>
              <a:ext uri="{FF2B5EF4-FFF2-40B4-BE49-F238E27FC236}">
                <a16:creationId xmlns:a16="http://schemas.microsoft.com/office/drawing/2014/main" id="{05FFA530-2E95-FA1A-17EC-F995F35D9C36}"/>
              </a:ext>
            </a:extLst>
          </p:cNvPr>
          <p:cNvCxnSpPr>
            <a:cxnSpLocks/>
            <a:stCxn id="6" idx="6"/>
            <a:endCxn id="20" idx="2"/>
          </p:cNvCxnSpPr>
          <p:nvPr/>
        </p:nvCxnSpPr>
        <p:spPr>
          <a:xfrm>
            <a:off x="7997255" y="2366305"/>
            <a:ext cx="1102950" cy="6139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73C7D02C-5F0E-E432-6E4F-D290B2FDA8F1}"/>
              </a:ext>
            </a:extLst>
          </p:cNvPr>
          <p:cNvCxnSpPr>
            <a:cxnSpLocks/>
            <a:stCxn id="8" idx="6"/>
            <a:endCxn id="21" idx="2"/>
          </p:cNvCxnSpPr>
          <p:nvPr/>
        </p:nvCxnSpPr>
        <p:spPr>
          <a:xfrm flipV="1">
            <a:off x="7985825" y="4165771"/>
            <a:ext cx="1102950" cy="571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29FD8BBD-B426-9055-03A9-D834DD929B1B}"/>
              </a:ext>
            </a:extLst>
          </p:cNvPr>
          <p:cNvCxnSpPr>
            <a:cxnSpLocks/>
            <a:stCxn id="7" idx="6"/>
            <a:endCxn id="21" idx="2"/>
          </p:cNvCxnSpPr>
          <p:nvPr/>
        </p:nvCxnSpPr>
        <p:spPr>
          <a:xfrm>
            <a:off x="7985825" y="3551788"/>
            <a:ext cx="1102950" cy="6139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橢圓 27">
            <a:extLst>
              <a:ext uri="{FF2B5EF4-FFF2-40B4-BE49-F238E27FC236}">
                <a16:creationId xmlns:a16="http://schemas.microsoft.com/office/drawing/2014/main" id="{4EB4507B-0A0E-BCF3-03A0-7C6A9A0BC44B}"/>
              </a:ext>
            </a:extLst>
          </p:cNvPr>
          <p:cNvSpPr/>
          <p:nvPr/>
        </p:nvSpPr>
        <p:spPr>
          <a:xfrm>
            <a:off x="6046721" y="2080555"/>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B3D1FB9B-F58B-C96B-BD0E-BF351A91612E}"/>
              </a:ext>
            </a:extLst>
          </p:cNvPr>
          <p:cNvSpPr/>
          <p:nvPr/>
        </p:nvSpPr>
        <p:spPr>
          <a:xfrm>
            <a:off x="6035291" y="3266038"/>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橢圓 29">
            <a:extLst>
              <a:ext uri="{FF2B5EF4-FFF2-40B4-BE49-F238E27FC236}">
                <a16:creationId xmlns:a16="http://schemas.microsoft.com/office/drawing/2014/main" id="{75554B98-4D1B-4AA0-2856-AD0ED81A8080}"/>
              </a:ext>
            </a:extLst>
          </p:cNvPr>
          <p:cNvSpPr/>
          <p:nvPr/>
        </p:nvSpPr>
        <p:spPr>
          <a:xfrm>
            <a:off x="6035291" y="4451521"/>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31" name="直線接點 30">
            <a:extLst>
              <a:ext uri="{FF2B5EF4-FFF2-40B4-BE49-F238E27FC236}">
                <a16:creationId xmlns:a16="http://schemas.microsoft.com/office/drawing/2014/main" id="{24BDB5A1-2804-A905-419A-943C898B5099}"/>
              </a:ext>
            </a:extLst>
          </p:cNvPr>
          <p:cNvCxnSpPr>
            <a:cxnSpLocks/>
            <a:stCxn id="28" idx="6"/>
            <a:endCxn id="7" idx="2"/>
          </p:cNvCxnSpPr>
          <p:nvPr/>
        </p:nvCxnSpPr>
        <p:spPr>
          <a:xfrm>
            <a:off x="6618221" y="2366305"/>
            <a:ext cx="796104" cy="11854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431D3322-F35F-6C98-B167-A5380472748D}"/>
              </a:ext>
            </a:extLst>
          </p:cNvPr>
          <p:cNvCxnSpPr>
            <a:cxnSpLocks/>
            <a:stCxn id="29" idx="6"/>
            <a:endCxn id="6" idx="2"/>
          </p:cNvCxnSpPr>
          <p:nvPr/>
        </p:nvCxnSpPr>
        <p:spPr>
          <a:xfrm flipV="1">
            <a:off x="6606791" y="2366305"/>
            <a:ext cx="818964" cy="11854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180EC44F-2899-F2D1-2646-FEDBF0B026DE}"/>
              </a:ext>
            </a:extLst>
          </p:cNvPr>
          <p:cNvCxnSpPr>
            <a:cxnSpLocks/>
            <a:stCxn id="29" idx="6"/>
            <a:endCxn id="7" idx="2"/>
          </p:cNvCxnSpPr>
          <p:nvPr/>
        </p:nvCxnSpPr>
        <p:spPr>
          <a:xfrm>
            <a:off x="6606791" y="3551788"/>
            <a:ext cx="8075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7998B345-ED82-8B0B-0F08-87C121D0D99C}"/>
              </a:ext>
            </a:extLst>
          </p:cNvPr>
          <p:cNvCxnSpPr>
            <a:cxnSpLocks/>
            <a:stCxn id="29" idx="6"/>
            <a:endCxn id="8" idx="2"/>
          </p:cNvCxnSpPr>
          <p:nvPr/>
        </p:nvCxnSpPr>
        <p:spPr>
          <a:xfrm>
            <a:off x="6606791" y="3551788"/>
            <a:ext cx="807534" cy="11854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33E7F495-6219-5768-4BCB-2B9A42CB68D5}"/>
              </a:ext>
            </a:extLst>
          </p:cNvPr>
          <p:cNvCxnSpPr>
            <a:cxnSpLocks/>
            <a:stCxn id="7" idx="2"/>
            <a:endCxn id="30" idx="6"/>
          </p:cNvCxnSpPr>
          <p:nvPr/>
        </p:nvCxnSpPr>
        <p:spPr>
          <a:xfrm flipH="1">
            <a:off x="6606791" y="3551788"/>
            <a:ext cx="807534" cy="11854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16E6A2B5-D5D1-E2C9-0D65-3A0A5C3F0484}"/>
              </a:ext>
            </a:extLst>
          </p:cNvPr>
          <p:cNvCxnSpPr>
            <a:cxnSpLocks/>
            <a:stCxn id="8" idx="2"/>
            <a:endCxn id="30" idx="6"/>
          </p:cNvCxnSpPr>
          <p:nvPr/>
        </p:nvCxnSpPr>
        <p:spPr>
          <a:xfrm flipH="1">
            <a:off x="6606791" y="4737271"/>
            <a:ext cx="8075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704C389E-93E1-89DC-3551-E549C253C2E6}"/>
              </a:ext>
            </a:extLst>
          </p:cNvPr>
          <p:cNvCxnSpPr>
            <a:cxnSpLocks/>
            <a:stCxn id="28" idx="6"/>
            <a:endCxn id="6" idx="2"/>
          </p:cNvCxnSpPr>
          <p:nvPr/>
        </p:nvCxnSpPr>
        <p:spPr>
          <a:xfrm>
            <a:off x="6618221" y="2366305"/>
            <a:ext cx="8075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橢圓 54">
            <a:extLst>
              <a:ext uri="{FF2B5EF4-FFF2-40B4-BE49-F238E27FC236}">
                <a16:creationId xmlns:a16="http://schemas.microsoft.com/office/drawing/2014/main" id="{0153FE26-0FA0-ECB3-393F-6330C45CEE52}"/>
              </a:ext>
            </a:extLst>
          </p:cNvPr>
          <p:cNvSpPr/>
          <p:nvPr/>
        </p:nvSpPr>
        <p:spPr>
          <a:xfrm>
            <a:off x="10531279" y="3266038"/>
            <a:ext cx="571500" cy="5715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6" name="直線接點 55">
            <a:extLst>
              <a:ext uri="{FF2B5EF4-FFF2-40B4-BE49-F238E27FC236}">
                <a16:creationId xmlns:a16="http://schemas.microsoft.com/office/drawing/2014/main" id="{55D3CE94-E98A-EBFB-9B6C-07CAC68BB37F}"/>
              </a:ext>
            </a:extLst>
          </p:cNvPr>
          <p:cNvCxnSpPr>
            <a:cxnSpLocks/>
            <a:stCxn id="20" idx="6"/>
            <a:endCxn id="55" idx="2"/>
          </p:cNvCxnSpPr>
          <p:nvPr/>
        </p:nvCxnSpPr>
        <p:spPr>
          <a:xfrm>
            <a:off x="9671705" y="2980288"/>
            <a:ext cx="859574" cy="571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B68D2D37-5927-AB07-CF98-038F0DAF82C0}"/>
              </a:ext>
            </a:extLst>
          </p:cNvPr>
          <p:cNvCxnSpPr>
            <a:cxnSpLocks/>
            <a:stCxn id="21" idx="6"/>
            <a:endCxn id="55" idx="2"/>
          </p:cNvCxnSpPr>
          <p:nvPr/>
        </p:nvCxnSpPr>
        <p:spPr>
          <a:xfrm flipV="1">
            <a:off x="9660275" y="3551788"/>
            <a:ext cx="871004" cy="6139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id="{A11B92CC-7112-BB8F-938B-4E6674A26CC0}"/>
              </a:ext>
            </a:extLst>
          </p:cNvPr>
          <p:cNvSpPr txBox="1"/>
          <p:nvPr/>
        </p:nvSpPr>
        <p:spPr>
          <a:xfrm>
            <a:off x="7425755" y="3309156"/>
            <a:ext cx="571500" cy="461665"/>
          </a:xfrm>
          <a:prstGeom prst="rect">
            <a:avLst/>
          </a:prstGeom>
          <a:noFill/>
        </p:spPr>
        <p:txBody>
          <a:bodyPr wrap="square" rtlCol="0">
            <a:spAutoFit/>
          </a:bodyPr>
          <a:lstStyle/>
          <a:p>
            <a:pPr algn="ctr"/>
            <a:r>
              <a:rPr kumimoji="1" lang="en-US" altLang="zh-TW" sz="2400" dirty="0"/>
              <a:t>x</a:t>
            </a:r>
            <a:endParaRPr kumimoji="1" lang="zh-TW" altLang="en-US" sz="2400" dirty="0"/>
          </a:p>
        </p:txBody>
      </p:sp>
      <p:sp>
        <p:nvSpPr>
          <p:cNvPr id="66" name="文字方塊 65">
            <a:extLst>
              <a:ext uri="{FF2B5EF4-FFF2-40B4-BE49-F238E27FC236}">
                <a16:creationId xmlns:a16="http://schemas.microsoft.com/office/drawing/2014/main" id="{C65944AE-08F2-E89A-7AD7-FAFB9C11C875}"/>
              </a:ext>
            </a:extLst>
          </p:cNvPr>
          <p:cNvSpPr txBox="1"/>
          <p:nvPr/>
        </p:nvSpPr>
        <p:spPr>
          <a:xfrm>
            <a:off x="9088775" y="3934938"/>
            <a:ext cx="571500" cy="461665"/>
          </a:xfrm>
          <a:prstGeom prst="rect">
            <a:avLst/>
          </a:prstGeom>
          <a:noFill/>
        </p:spPr>
        <p:txBody>
          <a:bodyPr wrap="square" rtlCol="0">
            <a:spAutoFit/>
          </a:bodyPr>
          <a:lstStyle/>
          <a:p>
            <a:pPr algn="ctr"/>
            <a:r>
              <a:rPr kumimoji="1" lang="en-US" altLang="zh-TW" sz="2400" dirty="0"/>
              <a:t>x</a:t>
            </a:r>
            <a:endParaRPr kumimoji="1" lang="zh-TW" altLang="en-US" sz="2400" dirty="0"/>
          </a:p>
        </p:txBody>
      </p:sp>
      <p:sp>
        <p:nvSpPr>
          <p:cNvPr id="67" name="文字方塊 66">
            <a:extLst>
              <a:ext uri="{FF2B5EF4-FFF2-40B4-BE49-F238E27FC236}">
                <a16:creationId xmlns:a16="http://schemas.microsoft.com/office/drawing/2014/main" id="{2C579D27-9A0C-9B16-67CD-79E579A50F7F}"/>
              </a:ext>
            </a:extLst>
          </p:cNvPr>
          <p:cNvSpPr txBox="1"/>
          <p:nvPr/>
        </p:nvSpPr>
        <p:spPr>
          <a:xfrm>
            <a:off x="10259839" y="3880021"/>
            <a:ext cx="1114380" cy="369332"/>
          </a:xfrm>
          <a:prstGeom prst="rect">
            <a:avLst/>
          </a:prstGeom>
          <a:noFill/>
        </p:spPr>
        <p:txBody>
          <a:bodyPr wrap="square" rtlCol="0">
            <a:spAutoFit/>
          </a:bodyPr>
          <a:lstStyle/>
          <a:p>
            <a:pPr algn="ctr"/>
            <a:r>
              <a:rPr kumimoji="1" lang="en-US" altLang="zh-TW" dirty="0"/>
              <a:t>(Output)</a:t>
            </a:r>
            <a:endParaRPr kumimoji="1" lang="zh-TW" altLang="en-US" dirty="0"/>
          </a:p>
        </p:txBody>
      </p:sp>
      <p:sp>
        <p:nvSpPr>
          <p:cNvPr id="68" name="內容版面配置區 2">
            <a:extLst>
              <a:ext uri="{FF2B5EF4-FFF2-40B4-BE49-F238E27FC236}">
                <a16:creationId xmlns:a16="http://schemas.microsoft.com/office/drawing/2014/main" id="{B1D7A06E-6F04-CB4F-C3CD-F6B1C143F16A}"/>
              </a:ext>
            </a:extLst>
          </p:cNvPr>
          <p:cNvSpPr>
            <a:spLocks noGrp="1"/>
          </p:cNvSpPr>
          <p:nvPr>
            <p:ph idx="1"/>
          </p:nvPr>
        </p:nvSpPr>
        <p:spPr>
          <a:xfrm>
            <a:off x="3103225" y="6311590"/>
            <a:ext cx="5985550" cy="469095"/>
          </a:xfrm>
        </p:spPr>
        <p:txBody>
          <a:bodyPr>
            <a:normAutofit fontScale="92500"/>
          </a:bodyPr>
          <a:lstStyle/>
          <a:p>
            <a:r>
              <a:rPr kumimoji="1" lang="en" altLang="zh-TW" sz="1400" dirty="0"/>
              <a:t>Srivastava, Nitish, et al. "Dropout: a simple way to prevent neural networks from overfitting." The journal of machine learning research 15.1 (2014): 1929-1958.</a:t>
            </a:r>
            <a:endParaRPr kumimoji="1" lang="zh-TW" altLang="en-US" sz="1400" dirty="0"/>
          </a:p>
        </p:txBody>
      </p:sp>
      <p:sp>
        <p:nvSpPr>
          <p:cNvPr id="69" name="文字方塊 68">
            <a:extLst>
              <a:ext uri="{FF2B5EF4-FFF2-40B4-BE49-F238E27FC236}">
                <a16:creationId xmlns:a16="http://schemas.microsoft.com/office/drawing/2014/main" id="{44CACB93-BB48-B438-79C0-C302B9B06B8E}"/>
              </a:ext>
            </a:extLst>
          </p:cNvPr>
          <p:cNvSpPr txBox="1"/>
          <p:nvPr/>
        </p:nvSpPr>
        <p:spPr>
          <a:xfrm>
            <a:off x="764599" y="2144223"/>
            <a:ext cx="4486018" cy="234404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TW" altLang="en-US" sz="2000" dirty="0">
                <a:ea typeface="Microsoft JhengHei" panose="020B0604030504040204" pitchFamily="34" charset="-120"/>
              </a:rPr>
              <a:t>每輪訓練時，神經網路每一層的輸入值部份以</a:t>
            </a:r>
            <a:r>
              <a:rPr kumimoji="1" lang="en-US" altLang="zh-TW" sz="2000" dirty="0">
                <a:ea typeface="Microsoft JhengHei" panose="020B0604030504040204" pitchFamily="34" charset="-120"/>
              </a:rPr>
              <a:t> p </a:t>
            </a:r>
            <a:r>
              <a:rPr kumimoji="1" lang="zh-TW" altLang="en-US" sz="2000" dirty="0">
                <a:ea typeface="Microsoft JhengHei" panose="020B0604030504040204" pitchFamily="34" charset="-120"/>
              </a:rPr>
              <a:t>的機率隨機替換成</a:t>
            </a:r>
            <a:r>
              <a:rPr kumimoji="1" lang="en-US" altLang="zh-TW" sz="2000" dirty="0">
                <a:ea typeface="Microsoft JhengHei" panose="020B0604030504040204" pitchFamily="34" charset="-120"/>
              </a:rPr>
              <a:t> 0</a:t>
            </a:r>
          </a:p>
          <a:p>
            <a:pPr marL="742950" lvl="1" indent="-285750">
              <a:lnSpc>
                <a:spcPct val="150000"/>
              </a:lnSpc>
              <a:buFont typeface="Arial" panose="020B0604020202020204" pitchFamily="34" charset="0"/>
              <a:buChar char="•"/>
            </a:pPr>
            <a:r>
              <a:rPr kumimoji="1" lang="en-US" altLang="zh-TW" sz="2000" dirty="0">
                <a:ea typeface="Microsoft JhengHei" panose="020B0604030504040204" pitchFamily="34" charset="-120"/>
              </a:rPr>
              <a:t>p </a:t>
            </a:r>
            <a:r>
              <a:rPr kumimoji="1" lang="zh-TW" altLang="en-US" sz="2000" dirty="0">
                <a:ea typeface="Microsoft JhengHei" panose="020B0604030504040204" pitchFamily="34" charset="-120"/>
              </a:rPr>
              <a:t>是超參數</a:t>
            </a:r>
          </a:p>
          <a:p>
            <a:pPr marL="285750" indent="-285750">
              <a:lnSpc>
                <a:spcPct val="150000"/>
              </a:lnSpc>
              <a:buFont typeface="Arial" panose="020B0604020202020204" pitchFamily="34" charset="0"/>
              <a:buChar char="•"/>
            </a:pPr>
            <a:r>
              <a:rPr kumimoji="1" lang="zh-TW" altLang="en-US" sz="2000" dirty="0">
                <a:ea typeface="Microsoft JhengHei" panose="020B0604030504040204" pitchFamily="34" charset="-120"/>
              </a:rPr>
              <a:t>可防止模型過擬合 </a:t>
            </a:r>
            <a:r>
              <a:rPr kumimoji="1" lang="en-US" altLang="zh-TW" sz="2000" dirty="0">
                <a:ea typeface="Microsoft JhengHei" panose="020B0604030504040204" pitchFamily="34" charset="-120"/>
              </a:rPr>
              <a:t>(over-fitting)</a:t>
            </a:r>
            <a:r>
              <a:rPr kumimoji="1" lang="zh-TW" altLang="en-US" sz="2000" dirty="0">
                <a:ea typeface="Microsoft JhengHei" panose="020B0604030504040204" pitchFamily="34" charset="-120"/>
              </a:rPr>
              <a:t>，增強模型的泛化能力</a:t>
            </a:r>
            <a:r>
              <a:rPr kumimoji="1" lang="en-US" altLang="zh-TW" sz="2000" dirty="0">
                <a:ea typeface="Microsoft JhengHei" panose="020B0604030504040204" pitchFamily="34" charset="-120"/>
              </a:rPr>
              <a:t> (</a:t>
            </a:r>
            <a:r>
              <a:rPr kumimoji="1" lang="en" altLang="zh-TW" sz="2000" dirty="0">
                <a:ea typeface="Microsoft JhengHei" panose="020B0604030504040204" pitchFamily="34" charset="-120"/>
              </a:rPr>
              <a:t>generalization</a:t>
            </a:r>
            <a:r>
              <a:rPr kumimoji="1" lang="en-US" altLang="zh-TW" sz="2000" dirty="0">
                <a:ea typeface="Microsoft JhengHei" panose="020B0604030504040204" pitchFamily="34" charset="-120"/>
              </a:rPr>
              <a:t>)</a:t>
            </a:r>
          </a:p>
        </p:txBody>
      </p:sp>
    </p:spTree>
    <p:extLst>
      <p:ext uri="{BB962C8B-B14F-4D97-AF65-F5344CB8AC3E}">
        <p14:creationId xmlns:p14="http://schemas.microsoft.com/office/powerpoint/2010/main" val="111304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1"/>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271531-215D-0330-A0E6-74A8A2CC6836}"/>
              </a:ext>
            </a:extLst>
          </p:cNvPr>
          <p:cNvSpPr>
            <a:spLocks noGrp="1"/>
          </p:cNvSpPr>
          <p:nvPr>
            <p:ph type="title"/>
          </p:nvPr>
        </p:nvSpPr>
        <p:spPr/>
        <p:txBody>
          <a:bodyPr/>
          <a:lstStyle/>
          <a:p>
            <a:r>
              <a:rPr kumimoji="1" lang="en-US" altLang="zh-TW" sz="4800" dirty="0"/>
              <a:t>Dropout may improve </a:t>
            </a:r>
            <a:r>
              <a:rPr kumimoji="1" lang="en" altLang="zh-TW" sz="4800" dirty="0">
                <a:ea typeface="Microsoft JhengHei" panose="020B0604030504040204" pitchFamily="34" charset="-120"/>
              </a:rPr>
              <a:t>generalization</a:t>
            </a:r>
            <a:endParaRPr kumimoji="1" lang="zh-TW" altLang="en-US" dirty="0"/>
          </a:p>
        </p:txBody>
      </p:sp>
      <p:sp>
        <p:nvSpPr>
          <p:cNvPr id="4" name="投影片編號版面配置區 3">
            <a:extLst>
              <a:ext uri="{FF2B5EF4-FFF2-40B4-BE49-F238E27FC236}">
                <a16:creationId xmlns:a16="http://schemas.microsoft.com/office/drawing/2014/main" id="{518AA7E3-12A9-9632-61EA-49765E2D3987}"/>
              </a:ext>
            </a:extLst>
          </p:cNvPr>
          <p:cNvSpPr>
            <a:spLocks noGrp="1"/>
          </p:cNvSpPr>
          <p:nvPr>
            <p:ph type="sldNum" sz="quarter" idx="12"/>
          </p:nvPr>
        </p:nvSpPr>
        <p:spPr/>
        <p:txBody>
          <a:bodyPr/>
          <a:lstStyle/>
          <a:p>
            <a:fld id="{6113E31D-E2AB-40D1-8B51-AFA5AFEF393A}" type="slidenum">
              <a:rPr lang="en-US" smtClean="0"/>
              <a:pPr/>
              <a:t>36</a:t>
            </a:fld>
            <a:endParaRPr lang="en-US" dirty="0"/>
          </a:p>
        </p:txBody>
      </p:sp>
      <p:pic>
        <p:nvPicPr>
          <p:cNvPr id="5" name="圖片 4">
            <a:extLst>
              <a:ext uri="{FF2B5EF4-FFF2-40B4-BE49-F238E27FC236}">
                <a16:creationId xmlns:a16="http://schemas.microsoft.com/office/drawing/2014/main" id="{4E512455-B101-3CDD-8325-5F5D7797206F}"/>
              </a:ext>
            </a:extLst>
          </p:cNvPr>
          <p:cNvPicPr>
            <a:picLocks noChangeAspect="1"/>
          </p:cNvPicPr>
          <p:nvPr/>
        </p:nvPicPr>
        <p:blipFill>
          <a:blip r:embed="rId2"/>
          <a:stretch>
            <a:fillRect/>
          </a:stretch>
        </p:blipFill>
        <p:spPr>
          <a:xfrm>
            <a:off x="1019607" y="1727625"/>
            <a:ext cx="5362411" cy="4687935"/>
          </a:xfrm>
          <a:prstGeom prst="rect">
            <a:avLst/>
          </a:prstGeom>
        </p:spPr>
      </p:pic>
      <p:sp>
        <p:nvSpPr>
          <p:cNvPr id="6" name="內容版面配置區 2">
            <a:extLst>
              <a:ext uri="{FF2B5EF4-FFF2-40B4-BE49-F238E27FC236}">
                <a16:creationId xmlns:a16="http://schemas.microsoft.com/office/drawing/2014/main" id="{F0EA5E1E-ED05-4F94-36FD-092B60F7A66B}"/>
              </a:ext>
            </a:extLst>
          </p:cNvPr>
          <p:cNvSpPr>
            <a:spLocks noGrp="1"/>
          </p:cNvSpPr>
          <p:nvPr>
            <p:ph idx="1"/>
          </p:nvPr>
        </p:nvSpPr>
        <p:spPr>
          <a:xfrm>
            <a:off x="7377859" y="1876308"/>
            <a:ext cx="4130200" cy="740512"/>
          </a:xfrm>
        </p:spPr>
        <p:txBody>
          <a:bodyPr>
            <a:normAutofit fontScale="92500"/>
          </a:bodyPr>
          <a:lstStyle/>
          <a:p>
            <a:r>
              <a:rPr kumimoji="1" lang="en" altLang="zh-TW" sz="1400" dirty="0"/>
              <a:t>Srivastava, Nitish, et al. "Dropout: a simple way to prevent neural networks from overfitting." The journal of machine learning research 15.1 (2014): 1929-1958.</a:t>
            </a:r>
            <a:endParaRPr kumimoji="1" lang="zh-TW" altLang="en-US" sz="1400" dirty="0"/>
          </a:p>
        </p:txBody>
      </p:sp>
    </p:spTree>
    <p:extLst>
      <p:ext uri="{BB962C8B-B14F-4D97-AF65-F5344CB8AC3E}">
        <p14:creationId xmlns:p14="http://schemas.microsoft.com/office/powerpoint/2010/main" val="3560176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B81613-5953-9582-6657-01655AAA989F}"/>
              </a:ext>
            </a:extLst>
          </p:cNvPr>
          <p:cNvSpPr>
            <a:spLocks noGrp="1"/>
          </p:cNvSpPr>
          <p:nvPr>
            <p:ph type="title"/>
          </p:nvPr>
        </p:nvSpPr>
        <p:spPr/>
        <p:txBody>
          <a:bodyPr/>
          <a:lstStyle/>
          <a:p>
            <a:r>
              <a:rPr kumimoji="1" lang="en-US" altLang="zh-TW" dirty="0" err="1"/>
              <a:t>model.eval</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940C5EAF-901A-5755-282A-4C7235945876}"/>
              </a:ext>
            </a:extLst>
          </p:cNvPr>
          <p:cNvSpPr>
            <a:spLocks noGrp="1"/>
          </p:cNvSpPr>
          <p:nvPr>
            <p:ph type="sldNum" sz="quarter" idx="12"/>
          </p:nvPr>
        </p:nvSpPr>
        <p:spPr/>
        <p:txBody>
          <a:bodyPr/>
          <a:lstStyle/>
          <a:p>
            <a:fld id="{6113E31D-E2AB-40D1-8B51-AFA5AFEF393A}" type="slidenum">
              <a:rPr lang="en-US" smtClean="0"/>
              <a:pPr/>
              <a:t>37</a:t>
            </a:fld>
            <a:endParaRPr lang="en-US" dirty="0"/>
          </a:p>
        </p:txBody>
      </p:sp>
      <p:sp>
        <p:nvSpPr>
          <p:cNvPr id="5" name="文字方塊 4">
            <a:extLst>
              <a:ext uri="{FF2B5EF4-FFF2-40B4-BE49-F238E27FC236}">
                <a16:creationId xmlns:a16="http://schemas.microsoft.com/office/drawing/2014/main" id="{9DA3D600-16B1-CA56-D9AF-F7B22F1A514E}"/>
              </a:ext>
            </a:extLst>
          </p:cNvPr>
          <p:cNvSpPr txBox="1"/>
          <p:nvPr/>
        </p:nvSpPr>
        <p:spPr>
          <a:xfrm>
            <a:off x="636815" y="1928013"/>
            <a:ext cx="10918370" cy="22403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使用</a:t>
            </a:r>
            <a:r>
              <a:rPr kumimoji="1" lang="en-US" altLang="zh-TW" sz="2400" dirty="0">
                <a:ea typeface="Microsoft JhengHei" panose="020B0604030504040204" pitchFamily="34" charset="-120"/>
              </a:rPr>
              <a:t> training </a:t>
            </a:r>
            <a:r>
              <a:rPr kumimoji="1" lang="zh-TW" altLang="en-US" sz="2400" dirty="0">
                <a:ea typeface="Microsoft JhengHei" panose="020B0604030504040204" pitchFamily="34" charset="-120"/>
              </a:rPr>
              <a:t>時取得的平均值跟標準差來算 </a:t>
            </a:r>
            <a:r>
              <a:rPr kumimoji="1" lang="en-US" altLang="zh-TW" sz="2400" dirty="0">
                <a:ea typeface="Microsoft JhengHei" panose="020B0604030504040204" pitchFamily="34" charset="-120"/>
              </a:rPr>
              <a:t>batch normalization</a:t>
            </a:r>
          </a:p>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關閉 </a:t>
            </a:r>
            <a:r>
              <a:rPr kumimoji="1" lang="en-US" altLang="zh-TW" sz="2400" dirty="0">
                <a:ea typeface="Microsoft JhengHei" panose="020B0604030504040204" pitchFamily="34" charset="-120"/>
              </a:rPr>
              <a:t>dropout (</a:t>
            </a:r>
            <a:r>
              <a:rPr kumimoji="1" lang="zh-TW" altLang="en-US" sz="2400" dirty="0">
                <a:ea typeface="Microsoft JhengHei" panose="020B0604030504040204" pitchFamily="34" charset="-120"/>
              </a:rPr>
              <a:t>保留所有的神經元</a:t>
            </a:r>
            <a:r>
              <a:rPr kumimoji="1" lang="en-US" altLang="zh-TW" sz="2400" dirty="0">
                <a:ea typeface="Microsoft JhengHei" panose="020B0604030504040204" pitchFamily="34" charset="-120"/>
              </a:rPr>
              <a:t>)</a:t>
            </a:r>
          </a:p>
          <a:p>
            <a:pPr marL="800100" lvl="1" indent="-342900">
              <a:lnSpc>
                <a:spcPct val="150000"/>
              </a:lnSpc>
              <a:buFont typeface="Arial" panose="020B0604020202020204" pitchFamily="34" charset="0"/>
              <a:buChar char="•"/>
            </a:pPr>
            <a:r>
              <a:rPr kumimoji="1" lang="zh-TW" altLang="en-US" sz="2400" dirty="0">
                <a:ea typeface="Microsoft JhengHei" panose="020B0604030504040204" pitchFamily="34" charset="-120"/>
              </a:rPr>
              <a:t>測試時已經不需要再更新模型</a:t>
            </a:r>
            <a:endParaRPr kumimoji="1" lang="en-US" altLang="zh-TW" sz="2400" dirty="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zh-TW" altLang="en-US" sz="2400" dirty="0">
                <a:ea typeface="Microsoft JhengHei" panose="020B0604030504040204" pitchFamily="34" charset="-120"/>
              </a:rPr>
              <a:t>去除隨機性</a:t>
            </a:r>
            <a:endParaRPr kumimoji="1" lang="en-US" altLang="zh-TW" sz="2400" dirty="0">
              <a:ea typeface="Microsoft JhengHei" panose="020B0604030504040204" pitchFamily="34" charset="-120"/>
            </a:endParaRPr>
          </a:p>
        </p:txBody>
      </p:sp>
    </p:spTree>
    <p:extLst>
      <p:ext uri="{BB962C8B-B14F-4D97-AF65-F5344CB8AC3E}">
        <p14:creationId xmlns:p14="http://schemas.microsoft.com/office/powerpoint/2010/main" val="3866968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1189F-68A7-4E13-2E72-0E4B5107AFBE}"/>
            </a:ext>
          </a:extLst>
        </p:cNvPr>
        <p:cNvGrpSpPr/>
        <p:nvPr/>
      </p:nvGrpSpPr>
      <p:grpSpPr>
        <a:xfrm>
          <a:off x="0" y="0"/>
          <a:ext cx="0" cy="0"/>
          <a:chOff x="0" y="0"/>
          <a:chExt cx="0" cy="0"/>
        </a:xfrm>
      </p:grpSpPr>
      <p:sp>
        <p:nvSpPr>
          <p:cNvPr id="5" name="圓角矩形 4">
            <a:extLst>
              <a:ext uri="{FF2B5EF4-FFF2-40B4-BE49-F238E27FC236}">
                <a16:creationId xmlns:a16="http://schemas.microsoft.com/office/drawing/2014/main" id="{F13BF8FA-E8E3-5E3E-12BC-F04231B1DD52}"/>
              </a:ext>
            </a:extLst>
          </p:cNvPr>
          <p:cNvSpPr/>
          <p:nvPr/>
        </p:nvSpPr>
        <p:spPr>
          <a:xfrm>
            <a:off x="667422" y="2025546"/>
            <a:ext cx="10857156" cy="2426189"/>
          </a:xfrm>
          <a:prstGeom prst="roundRect">
            <a:avLst/>
          </a:prstGeom>
          <a:solidFill>
            <a:srgbClr val="9EF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31A92210-D4FC-DDBB-6ACF-2AE92229F9FD}"/>
              </a:ext>
            </a:extLst>
          </p:cNvPr>
          <p:cNvSpPr>
            <a:spLocks noGrp="1"/>
          </p:cNvSpPr>
          <p:nvPr>
            <p:ph type="ctrTitle"/>
          </p:nvPr>
        </p:nvSpPr>
        <p:spPr>
          <a:xfrm>
            <a:off x="901959" y="1006002"/>
            <a:ext cx="5437882" cy="3224045"/>
          </a:xfrm>
        </p:spPr>
        <p:txBody>
          <a:bodyPr anchor="b">
            <a:normAutofit/>
          </a:bodyPr>
          <a:lstStyle/>
          <a:p>
            <a:r>
              <a:rPr kumimoji="1" lang="zh-TW" altLang="en-US" sz="5800" b="1" dirty="0">
                <a:ea typeface="Microsoft JhengHei" panose="020B0604030504040204" pitchFamily="34" charset="-120"/>
              </a:rPr>
              <a:t>深度學習</a:t>
            </a:r>
            <a:br>
              <a:rPr kumimoji="1" lang="en-US" altLang="zh-TW" sz="5800" b="1" dirty="0">
                <a:ea typeface="Microsoft JhengHei" panose="020B0604030504040204" pitchFamily="34" charset="-120"/>
              </a:rPr>
            </a:br>
            <a:r>
              <a:rPr kumimoji="1" lang="en-US" altLang="zh-TW" sz="5800" b="1" dirty="0">
                <a:ea typeface="Microsoft JhengHei" panose="020B0604030504040204" pitchFamily="34" charset="-120"/>
              </a:rPr>
              <a:t>Deep Learning</a:t>
            </a:r>
            <a:endParaRPr kumimoji="1" lang="zh-TW" altLang="en-US" sz="5800" b="1" dirty="0">
              <a:ea typeface="Microsoft JhengHei" panose="020B0604030504040204" pitchFamily="34" charset="-120"/>
            </a:endParaRPr>
          </a:p>
        </p:txBody>
      </p:sp>
      <p:sp>
        <p:nvSpPr>
          <p:cNvPr id="10" name="文字方塊 9">
            <a:extLst>
              <a:ext uri="{FF2B5EF4-FFF2-40B4-BE49-F238E27FC236}">
                <a16:creationId xmlns:a16="http://schemas.microsoft.com/office/drawing/2014/main" id="{0C4E00F5-2537-AE5F-5B03-70692A55FA27}"/>
              </a:ext>
            </a:extLst>
          </p:cNvPr>
          <p:cNvSpPr txBox="1"/>
          <p:nvPr/>
        </p:nvSpPr>
        <p:spPr>
          <a:xfrm>
            <a:off x="726698" y="4749453"/>
            <a:ext cx="5559805" cy="584775"/>
          </a:xfrm>
          <a:prstGeom prst="rect">
            <a:avLst/>
          </a:prstGeom>
          <a:noFill/>
        </p:spPr>
        <p:txBody>
          <a:bodyPr wrap="square" rtlCol="0">
            <a:spAutoFit/>
          </a:bodyPr>
          <a:lstStyle/>
          <a:p>
            <a:r>
              <a:rPr kumimoji="1" lang="en-US" altLang="zh-TW" sz="3200" b="1" dirty="0">
                <a:solidFill>
                  <a:srgbClr val="0070C0"/>
                </a:solidFill>
                <a:latin typeface="+mj-lt"/>
                <a:cs typeface="Calibri" panose="020F0502020204030204" pitchFamily="34" charset="0"/>
              </a:rPr>
              <a:t>Project Introduction</a:t>
            </a:r>
          </a:p>
        </p:txBody>
      </p:sp>
      <p:sp>
        <p:nvSpPr>
          <p:cNvPr id="12" name="文字方塊 11">
            <a:extLst>
              <a:ext uri="{FF2B5EF4-FFF2-40B4-BE49-F238E27FC236}">
                <a16:creationId xmlns:a16="http://schemas.microsoft.com/office/drawing/2014/main" id="{C0AE29B3-154D-4052-5F6E-2C0BDED3E6A3}"/>
              </a:ext>
            </a:extLst>
          </p:cNvPr>
          <p:cNvSpPr txBox="1"/>
          <p:nvPr/>
        </p:nvSpPr>
        <p:spPr>
          <a:xfrm>
            <a:off x="772120" y="5976538"/>
            <a:ext cx="4889241" cy="707886"/>
          </a:xfrm>
          <a:prstGeom prst="rect">
            <a:avLst/>
          </a:prstGeom>
          <a:noFill/>
        </p:spPr>
        <p:txBody>
          <a:bodyPr wrap="square" rtlCol="0">
            <a:spAutoFit/>
          </a:bodyPr>
          <a:lstStyle/>
          <a:p>
            <a:r>
              <a:rPr kumimoji="1" lang="en-US" altLang="zh-TW" sz="2000" b="1" dirty="0">
                <a:latin typeface="+mj-lt"/>
                <a:ea typeface="Microsoft JhengHei" panose="020B0604030504040204" pitchFamily="34" charset="-120"/>
                <a:cs typeface="Calibri" panose="020F0502020204030204" pitchFamily="34" charset="0"/>
              </a:rPr>
              <a:t>Instructor: </a:t>
            </a:r>
            <a:r>
              <a:rPr kumimoji="1" lang="zh-TW" altLang="en-US" sz="2000" b="1" dirty="0">
                <a:latin typeface="+mj-lt"/>
                <a:ea typeface="Microsoft JhengHei" panose="020B0604030504040204" pitchFamily="34" charset="-120"/>
                <a:cs typeface="Calibri" panose="020F0502020204030204" pitchFamily="34" charset="0"/>
              </a:rPr>
              <a:t>林英嘉 </a:t>
            </a:r>
            <a:r>
              <a:rPr kumimoji="1" lang="en-US" altLang="zh-TW" sz="2000" b="1" dirty="0">
                <a:latin typeface="+mj-lt"/>
                <a:ea typeface="Microsoft JhengHei" panose="020B0604030504040204" pitchFamily="34" charset="-120"/>
                <a:cs typeface="Calibri" panose="020F0502020204030204" pitchFamily="34" charset="0"/>
              </a:rPr>
              <a:t>(Ying-Jia Lin)</a:t>
            </a:r>
          </a:p>
          <a:p>
            <a:r>
              <a:rPr kumimoji="1" lang="en-US" altLang="zh-TW" sz="2000" b="1" dirty="0">
                <a:latin typeface="+mj-lt"/>
                <a:ea typeface="Microsoft JhengHei" panose="020B0604030504040204" pitchFamily="34" charset="-120"/>
                <a:cs typeface="Calibri" panose="020F0502020204030204" pitchFamily="34" charset="0"/>
              </a:rPr>
              <a:t>2026/10/21</a:t>
            </a:r>
            <a:endParaRPr kumimoji="1" lang="zh-TW" altLang="en-US" sz="2000" b="1" dirty="0">
              <a:latin typeface="+mj-lt"/>
              <a:ea typeface="Microsoft JhengHei" panose="020B0604030504040204" pitchFamily="34" charset="-120"/>
              <a:cs typeface="Calibri" panose="020F0502020204030204" pitchFamily="34" charset="0"/>
            </a:endParaRPr>
          </a:p>
        </p:txBody>
      </p:sp>
      <p:sp>
        <p:nvSpPr>
          <p:cNvPr id="11" name="文字方塊 10">
            <a:hlinkClick r:id="rId3"/>
            <a:extLst>
              <a:ext uri="{FF2B5EF4-FFF2-40B4-BE49-F238E27FC236}">
                <a16:creationId xmlns:a16="http://schemas.microsoft.com/office/drawing/2014/main" id="{7B696A91-5DD3-F613-6466-19BC651ED5D4}"/>
              </a:ext>
            </a:extLst>
          </p:cNvPr>
          <p:cNvSpPr txBox="1"/>
          <p:nvPr/>
        </p:nvSpPr>
        <p:spPr>
          <a:xfrm>
            <a:off x="9210931" y="6467013"/>
            <a:ext cx="1825432" cy="369332"/>
          </a:xfrm>
          <a:prstGeom prst="rect">
            <a:avLst/>
          </a:prstGeom>
          <a:noFill/>
        </p:spPr>
        <p:txBody>
          <a:bodyPr wrap="square" rtlCol="0">
            <a:spAutoFit/>
          </a:bodyPr>
          <a:lstStyle/>
          <a:p>
            <a:pPr algn="ctr"/>
            <a:r>
              <a:rPr kumimoji="1" lang="en-US" altLang="zh-TW" dirty="0">
                <a:hlinkClick r:id="rId4"/>
              </a:rPr>
              <a:t>Slido # DL1021</a:t>
            </a:r>
            <a:endParaRPr kumimoji="1" lang="zh-TW" altLang="en-US" dirty="0"/>
          </a:p>
        </p:txBody>
      </p:sp>
      <p:pic>
        <p:nvPicPr>
          <p:cNvPr id="6" name="圖片 5">
            <a:extLst>
              <a:ext uri="{FF2B5EF4-FFF2-40B4-BE49-F238E27FC236}">
                <a16:creationId xmlns:a16="http://schemas.microsoft.com/office/drawing/2014/main" id="{EC338EC6-4E27-FCC6-38A8-66328FDC2D23}"/>
              </a:ext>
            </a:extLst>
          </p:cNvPr>
          <p:cNvPicPr>
            <a:picLocks noChangeAspect="1"/>
          </p:cNvPicPr>
          <p:nvPr/>
        </p:nvPicPr>
        <p:blipFill>
          <a:blip r:embed="rId5"/>
          <a:stretch>
            <a:fillRect/>
          </a:stretch>
        </p:blipFill>
        <p:spPr>
          <a:xfrm>
            <a:off x="9210931" y="4657912"/>
            <a:ext cx="1825432" cy="1825432"/>
          </a:xfrm>
          <a:prstGeom prst="rect">
            <a:avLst/>
          </a:prstGeom>
        </p:spPr>
      </p:pic>
      <p:pic>
        <p:nvPicPr>
          <p:cNvPr id="7" name="圖片 6">
            <a:extLst>
              <a:ext uri="{FF2B5EF4-FFF2-40B4-BE49-F238E27FC236}">
                <a16:creationId xmlns:a16="http://schemas.microsoft.com/office/drawing/2014/main" id="{C622654D-4FA1-419F-295D-6C84770BE784}"/>
              </a:ext>
            </a:extLst>
          </p:cNvPr>
          <p:cNvPicPr>
            <a:picLocks noChangeAspect="1"/>
          </p:cNvPicPr>
          <p:nvPr/>
        </p:nvPicPr>
        <p:blipFill>
          <a:blip r:embed="rId6"/>
          <a:stretch>
            <a:fillRect/>
          </a:stretch>
        </p:blipFill>
        <p:spPr>
          <a:xfrm>
            <a:off x="6530640" y="4456832"/>
            <a:ext cx="2227592" cy="2227592"/>
          </a:xfrm>
          <a:prstGeom prst="rect">
            <a:avLst/>
          </a:prstGeom>
        </p:spPr>
      </p:pic>
      <p:sp>
        <p:nvSpPr>
          <p:cNvPr id="9" name="文字方塊 8">
            <a:extLst>
              <a:ext uri="{FF2B5EF4-FFF2-40B4-BE49-F238E27FC236}">
                <a16:creationId xmlns:a16="http://schemas.microsoft.com/office/drawing/2014/main" id="{E2D0F582-7E9A-9C2F-F0A5-B39172438420}"/>
              </a:ext>
            </a:extLst>
          </p:cNvPr>
          <p:cNvSpPr txBox="1"/>
          <p:nvPr/>
        </p:nvSpPr>
        <p:spPr>
          <a:xfrm>
            <a:off x="6623833" y="6470108"/>
            <a:ext cx="2038750" cy="369332"/>
          </a:xfrm>
          <a:prstGeom prst="rect">
            <a:avLst/>
          </a:prstGeom>
          <a:noFill/>
        </p:spPr>
        <p:txBody>
          <a:bodyPr wrap="square" rtlCol="0">
            <a:spAutoFit/>
          </a:bodyPr>
          <a:lstStyle/>
          <a:p>
            <a:pPr algn="ctr"/>
            <a:r>
              <a:rPr kumimoji="1" lang="en-US" altLang="zh-TW" dirty="0">
                <a:hlinkClick r:id="rId7"/>
              </a:rPr>
              <a:t>Course GitHub</a:t>
            </a:r>
            <a:endParaRPr kumimoji="1" lang="zh-TW" altLang="en-US" dirty="0"/>
          </a:p>
        </p:txBody>
      </p:sp>
      <p:pic>
        <p:nvPicPr>
          <p:cNvPr id="14" name="圖片 13">
            <a:extLst>
              <a:ext uri="{FF2B5EF4-FFF2-40B4-BE49-F238E27FC236}">
                <a16:creationId xmlns:a16="http://schemas.microsoft.com/office/drawing/2014/main" id="{A1CF89FB-6AA3-B72A-9479-A95D90C23BAF}"/>
              </a:ext>
            </a:extLst>
          </p:cNvPr>
          <p:cNvPicPr>
            <a:picLocks noChangeAspect="1"/>
          </p:cNvPicPr>
          <p:nvPr/>
        </p:nvPicPr>
        <p:blipFill>
          <a:blip r:embed="rId8"/>
          <a:stretch>
            <a:fillRect/>
          </a:stretch>
        </p:blipFill>
        <p:spPr>
          <a:xfrm>
            <a:off x="901958" y="322978"/>
            <a:ext cx="1468923" cy="1468923"/>
          </a:xfrm>
          <a:prstGeom prst="rect">
            <a:avLst/>
          </a:prstGeom>
        </p:spPr>
      </p:pic>
    </p:spTree>
    <p:extLst>
      <p:ext uri="{BB962C8B-B14F-4D97-AF65-F5344CB8AC3E}">
        <p14:creationId xmlns:p14="http://schemas.microsoft.com/office/powerpoint/2010/main" val="649973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43B37-B985-AD86-241F-FA1CA9C0CD21}"/>
              </a:ext>
            </a:extLst>
          </p:cNvPr>
          <p:cNvSpPr>
            <a:spLocks noGrp="1"/>
          </p:cNvSpPr>
          <p:nvPr>
            <p:ph type="title"/>
          </p:nvPr>
        </p:nvSpPr>
        <p:spPr/>
        <p:txBody>
          <a:bodyPr/>
          <a:lstStyle/>
          <a:p>
            <a:r>
              <a:rPr kumimoji="1" lang="en-US" altLang="zh-TW" dirty="0"/>
              <a:t>Outline of tasks</a:t>
            </a:r>
            <a:endParaRPr kumimoji="1" lang="zh-TW" altLang="en-US" dirty="0"/>
          </a:p>
        </p:txBody>
      </p:sp>
      <p:sp>
        <p:nvSpPr>
          <p:cNvPr id="4" name="投影片編號版面配置區 3">
            <a:extLst>
              <a:ext uri="{FF2B5EF4-FFF2-40B4-BE49-F238E27FC236}">
                <a16:creationId xmlns:a16="http://schemas.microsoft.com/office/drawing/2014/main" id="{B55ABF49-8282-4A3F-16A1-B45C54D01301}"/>
              </a:ext>
            </a:extLst>
          </p:cNvPr>
          <p:cNvSpPr>
            <a:spLocks noGrp="1"/>
          </p:cNvSpPr>
          <p:nvPr>
            <p:ph type="sldNum" sz="quarter" idx="12"/>
          </p:nvPr>
        </p:nvSpPr>
        <p:spPr/>
        <p:txBody>
          <a:bodyPr/>
          <a:lstStyle/>
          <a:p>
            <a:fld id="{6113E31D-E2AB-40D1-8B51-AFA5AFEF393A}" type="slidenum">
              <a:rPr lang="en-US" smtClean="0"/>
              <a:pPr/>
              <a:t>39</a:t>
            </a:fld>
            <a:endParaRPr lang="en-US" dirty="0"/>
          </a:p>
        </p:txBody>
      </p:sp>
      <p:graphicFrame>
        <p:nvGraphicFramePr>
          <p:cNvPr id="5" name="表格 5">
            <a:extLst>
              <a:ext uri="{FF2B5EF4-FFF2-40B4-BE49-F238E27FC236}">
                <a16:creationId xmlns:a16="http://schemas.microsoft.com/office/drawing/2014/main" id="{AE9313BD-B832-A6B2-E888-7306EF403C12}"/>
              </a:ext>
            </a:extLst>
          </p:cNvPr>
          <p:cNvGraphicFramePr>
            <a:graphicFrameLocks noGrp="1"/>
          </p:cNvGraphicFramePr>
          <p:nvPr>
            <p:extLst>
              <p:ext uri="{D42A27DB-BD31-4B8C-83A1-F6EECF244321}">
                <p14:modId xmlns:p14="http://schemas.microsoft.com/office/powerpoint/2010/main" val="1030262653"/>
              </p:ext>
            </p:extLst>
          </p:nvPr>
        </p:nvGraphicFramePr>
        <p:xfrm>
          <a:off x="684324" y="1818009"/>
          <a:ext cx="10823351" cy="4071345"/>
        </p:xfrm>
        <a:graphic>
          <a:graphicData uri="http://schemas.openxmlformats.org/drawingml/2006/table">
            <a:tbl>
              <a:tblPr firstRow="1" bandRow="1">
                <a:tableStyleId>{5C22544A-7EE6-4342-B048-85BDC9FD1C3A}</a:tableStyleId>
              </a:tblPr>
              <a:tblGrid>
                <a:gridCol w="1392449">
                  <a:extLst>
                    <a:ext uri="{9D8B030D-6E8A-4147-A177-3AD203B41FA5}">
                      <a16:colId xmlns:a16="http://schemas.microsoft.com/office/drawing/2014/main" val="2000886551"/>
                    </a:ext>
                  </a:extLst>
                </a:gridCol>
                <a:gridCol w="2735451">
                  <a:extLst>
                    <a:ext uri="{9D8B030D-6E8A-4147-A177-3AD203B41FA5}">
                      <a16:colId xmlns:a16="http://schemas.microsoft.com/office/drawing/2014/main" val="3087572156"/>
                    </a:ext>
                  </a:extLst>
                </a:gridCol>
                <a:gridCol w="1162373">
                  <a:extLst>
                    <a:ext uri="{9D8B030D-6E8A-4147-A177-3AD203B41FA5}">
                      <a16:colId xmlns:a16="http://schemas.microsoft.com/office/drawing/2014/main" val="3197629087"/>
                    </a:ext>
                  </a:extLst>
                </a:gridCol>
                <a:gridCol w="1022888">
                  <a:extLst>
                    <a:ext uri="{9D8B030D-6E8A-4147-A177-3AD203B41FA5}">
                      <a16:colId xmlns:a16="http://schemas.microsoft.com/office/drawing/2014/main" val="3503778102"/>
                    </a:ext>
                  </a:extLst>
                </a:gridCol>
                <a:gridCol w="2824169">
                  <a:extLst>
                    <a:ext uri="{9D8B030D-6E8A-4147-A177-3AD203B41FA5}">
                      <a16:colId xmlns:a16="http://schemas.microsoft.com/office/drawing/2014/main" val="2381574159"/>
                    </a:ext>
                  </a:extLst>
                </a:gridCol>
                <a:gridCol w="1686021">
                  <a:extLst>
                    <a:ext uri="{9D8B030D-6E8A-4147-A177-3AD203B41FA5}">
                      <a16:colId xmlns:a16="http://schemas.microsoft.com/office/drawing/2014/main" val="1443797130"/>
                    </a:ext>
                  </a:extLst>
                </a:gridCol>
              </a:tblGrid>
              <a:tr h="814269">
                <a:tc>
                  <a:txBody>
                    <a:bodyPr/>
                    <a:lstStyle/>
                    <a:p>
                      <a:r>
                        <a:rPr lang="en-US" altLang="zh-TW" dirty="0"/>
                        <a:t>Platform</a:t>
                      </a:r>
                      <a:endParaRPr lang="zh-TW" altLang="en-US" dirty="0"/>
                    </a:p>
                  </a:txBody>
                  <a:tcPr anchor="ctr"/>
                </a:tc>
                <a:tc>
                  <a:txBody>
                    <a:bodyPr/>
                    <a:lstStyle/>
                    <a:p>
                      <a:r>
                        <a:rPr lang="en-US" altLang="zh-TW" dirty="0"/>
                        <a:t>Competition Name</a:t>
                      </a:r>
                      <a:endParaRPr lang="zh-TW" altLang="en-US" dirty="0"/>
                    </a:p>
                  </a:txBody>
                  <a:tcPr anchor="ctr"/>
                </a:tc>
                <a:tc>
                  <a:txBody>
                    <a:bodyPr/>
                    <a:lstStyle/>
                    <a:p>
                      <a:r>
                        <a:rPr lang="zh-TW" altLang="en-US" dirty="0"/>
                        <a:t>資料類型</a:t>
                      </a:r>
                    </a:p>
                  </a:txBody>
                  <a:tcPr anchor="ctr"/>
                </a:tc>
                <a:tc>
                  <a:txBody>
                    <a:bodyPr/>
                    <a:lstStyle/>
                    <a:p>
                      <a:r>
                        <a:rPr lang="zh-TW" altLang="en-US" dirty="0"/>
                        <a:t>難度</a:t>
                      </a:r>
                    </a:p>
                  </a:txBody>
                  <a:tcPr anchor="ctr"/>
                </a:tc>
                <a:tc>
                  <a:txBody>
                    <a:bodyPr/>
                    <a:lstStyle/>
                    <a:p>
                      <a:r>
                        <a:rPr lang="zh-TW" altLang="en-US" dirty="0"/>
                        <a:t>任務類型</a:t>
                      </a:r>
                    </a:p>
                  </a:txBody>
                  <a:tcPr anchor="ctr"/>
                </a:tc>
                <a:tc>
                  <a:txBody>
                    <a:bodyPr/>
                    <a:lstStyle/>
                    <a:p>
                      <a:r>
                        <a:rPr lang="zh-TW" altLang="en-US" dirty="0"/>
                        <a:t>特別之處</a:t>
                      </a:r>
                      <a:endParaRPr lang="en-US" altLang="zh-TW" dirty="0"/>
                    </a:p>
                  </a:txBody>
                  <a:tcPr anchor="ctr"/>
                </a:tc>
                <a:extLst>
                  <a:ext uri="{0D108BD9-81ED-4DB2-BD59-A6C34878D82A}">
                    <a16:rowId xmlns:a16="http://schemas.microsoft.com/office/drawing/2014/main" val="2202026224"/>
                  </a:ext>
                </a:extLst>
              </a:tr>
              <a:tr h="814269">
                <a:tc rowSpan="3">
                  <a:txBody>
                    <a:bodyPr/>
                    <a:lstStyle/>
                    <a:p>
                      <a:r>
                        <a:rPr lang="en-US" altLang="zh-TW" dirty="0"/>
                        <a:t>Kaggle</a:t>
                      </a:r>
                      <a:endParaRPr lang="zh-TW" altLang="en-US" dirty="0"/>
                    </a:p>
                  </a:txBody>
                  <a:tcPr anchor="ctr"/>
                </a:tc>
                <a:tc>
                  <a:txBody>
                    <a:bodyPr/>
                    <a:lstStyle/>
                    <a:p>
                      <a:r>
                        <a:rPr lang="en" altLang="zh-TW" dirty="0">
                          <a:hlinkClick r:id="rId3"/>
                        </a:rPr>
                        <a:t>ISIC 2024 - Skin Cancer Detection with 3D-TBP</a:t>
                      </a:r>
                      <a:endParaRPr lang="en" altLang="zh-TW" dirty="0"/>
                    </a:p>
                  </a:txBody>
                  <a:tcPr anchor="ctr"/>
                </a:tc>
                <a:tc>
                  <a:txBody>
                    <a:bodyPr/>
                    <a:lstStyle/>
                    <a:p>
                      <a:r>
                        <a:rPr lang="en" altLang="zh-TW" dirty="0"/>
                        <a:t>Image</a:t>
                      </a:r>
                    </a:p>
                  </a:txBody>
                  <a:tcPr anchor="ctr"/>
                </a:tc>
                <a:tc>
                  <a:txBody>
                    <a:bodyPr/>
                    <a:lstStyle/>
                    <a:p>
                      <a:r>
                        <a:rPr kumimoji="1" lang="en-US" altLang="zh-TW" sz="1800" b="1" kern="1200" dirty="0">
                          <a:solidFill>
                            <a:srgbClr val="0070C0"/>
                          </a:solidFill>
                          <a:latin typeface="+mn-lt"/>
                          <a:ea typeface="+mn-ea"/>
                          <a:cs typeface="Calibri" panose="020F0502020204030204" pitchFamily="34" charset="0"/>
                        </a:rPr>
                        <a:t>⭐️</a:t>
                      </a:r>
                      <a:endParaRPr lang="en" altLang="zh-TW" dirty="0"/>
                    </a:p>
                  </a:txBody>
                  <a:tcPr anchor="ctr"/>
                </a:tc>
                <a:tc>
                  <a:txBody>
                    <a:bodyPr/>
                    <a:lstStyle/>
                    <a:p>
                      <a:r>
                        <a:rPr lang="en-US" altLang="zh-TW" dirty="0"/>
                        <a:t>Binary Classification*</a:t>
                      </a:r>
                      <a:endParaRPr lang="zh-TW" altLang="en-US" dirty="0"/>
                    </a:p>
                  </a:txBody>
                  <a:tcPr anchor="ctr"/>
                </a:tc>
                <a:tc>
                  <a:txBody>
                    <a:bodyPr/>
                    <a:lstStyle/>
                    <a:p>
                      <a:r>
                        <a:rPr lang="en-US" altLang="zh-TW" dirty="0"/>
                        <a:t>Class imbalance</a:t>
                      </a:r>
                      <a:endParaRPr lang="zh-TW" altLang="en-US" dirty="0"/>
                    </a:p>
                  </a:txBody>
                  <a:tcPr anchor="ctr"/>
                </a:tc>
                <a:extLst>
                  <a:ext uri="{0D108BD9-81ED-4DB2-BD59-A6C34878D82A}">
                    <a16:rowId xmlns:a16="http://schemas.microsoft.com/office/drawing/2014/main" val="2540284731"/>
                  </a:ext>
                </a:extLst>
              </a:tr>
              <a:tr h="81426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txBody>
                  <a:tcPr/>
                </a:tc>
                <a:tc>
                  <a:txBody>
                    <a:bodyPr/>
                    <a:lstStyle/>
                    <a:p>
                      <a:r>
                        <a:rPr lang="zh-TW" altLang="zh-TW" sz="1800" b="0" i="0" u="none" strike="noStrike" kern="1200" dirty="0">
                          <a:solidFill>
                            <a:schemeClr val="dk1"/>
                          </a:solidFill>
                          <a:effectLst/>
                          <a:latin typeface="+mn-lt"/>
                          <a:ea typeface="+mn-ea"/>
                          <a:cs typeface="+mn-cs"/>
                          <a:hlinkClick r:id="rId4"/>
                        </a:rPr>
                        <a:t>RSNA Pneumonia</a:t>
                      </a:r>
                      <a:endParaRPr lang="zh-TW" altLang="en-US" dirty="0"/>
                    </a:p>
                  </a:txBody>
                  <a:tcPr anchor="ctr"/>
                </a:tc>
                <a:tc>
                  <a:txBody>
                    <a:bodyPr/>
                    <a:lstStyle/>
                    <a:p>
                      <a:r>
                        <a:rPr lang="en-US" altLang="zh-TW" dirty="0"/>
                        <a:t>Image</a:t>
                      </a:r>
                      <a:endParaRPr lang="zh-TW" altLang="en-US" dirty="0"/>
                    </a:p>
                  </a:txBody>
                  <a:tcPr anchor="ctr"/>
                </a:tc>
                <a:tc>
                  <a:txBody>
                    <a:bodyPr/>
                    <a:lstStyle/>
                    <a:p>
                      <a:r>
                        <a:rPr kumimoji="1" lang="en-US" altLang="zh-TW" sz="1800" b="1" kern="1200" dirty="0">
                          <a:solidFill>
                            <a:srgbClr val="0070C0"/>
                          </a:solidFill>
                          <a:latin typeface="+mn-lt"/>
                          <a:ea typeface="+mn-ea"/>
                          <a:cs typeface="Calibri" panose="020F0502020204030204" pitchFamily="34" charset="0"/>
                        </a:rPr>
                        <a:t>⭐️⭐️</a:t>
                      </a:r>
                      <a:endParaRPr lang="zh-TW"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Object Detection</a:t>
                      </a:r>
                      <a:endParaRPr lang="zh-TW" altLang="en-US" dirty="0"/>
                    </a:p>
                  </a:txBody>
                  <a:tcPr anchor="ctr"/>
                </a:tc>
                <a:tc>
                  <a:txBody>
                    <a:bodyPr/>
                    <a:lstStyle/>
                    <a:p>
                      <a:r>
                        <a:rPr lang="zh-TW" altLang="en-US" dirty="0"/>
                        <a:t>非單純分類</a:t>
                      </a:r>
                    </a:p>
                  </a:txBody>
                  <a:tcPr anchor="ctr"/>
                </a:tc>
                <a:extLst>
                  <a:ext uri="{0D108BD9-81ED-4DB2-BD59-A6C34878D82A}">
                    <a16:rowId xmlns:a16="http://schemas.microsoft.com/office/drawing/2014/main" val="167391745"/>
                  </a:ext>
                </a:extLst>
              </a:tr>
              <a:tr h="81426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txBody>
                  <a:tcPr/>
                </a:tc>
                <a:tc>
                  <a:txBody>
                    <a:bodyPr/>
                    <a:lstStyle/>
                    <a:p>
                      <a:r>
                        <a:rPr lang="en-US" altLang="zh-TW" dirty="0">
                          <a:hlinkClick r:id="rId5"/>
                        </a:rPr>
                        <a:t>Name That LLM</a:t>
                      </a:r>
                      <a:endParaRPr lang="zh-TW" altLang="en-US" dirty="0"/>
                    </a:p>
                  </a:txBody>
                  <a:tcPr anchor="ctr"/>
                </a:tc>
                <a:tc>
                  <a:txBody>
                    <a:bodyPr/>
                    <a:lstStyle/>
                    <a:p>
                      <a:r>
                        <a:rPr lang="en-US" altLang="zh-TW" dirty="0"/>
                        <a:t>Text</a:t>
                      </a:r>
                      <a:endParaRPr lang="zh-TW" altLang="en-US" dirty="0"/>
                    </a:p>
                  </a:txBody>
                  <a:tcPr anchor="ctr"/>
                </a:tc>
                <a:tc>
                  <a:txBody>
                    <a:bodyPr/>
                    <a:lstStyle/>
                    <a:p>
                      <a:r>
                        <a:rPr kumimoji="1" lang="en-US" altLang="zh-TW" sz="1800" b="1" kern="1200" dirty="0">
                          <a:solidFill>
                            <a:srgbClr val="0070C0"/>
                          </a:solidFill>
                          <a:latin typeface="+mn-lt"/>
                          <a:ea typeface="+mn-ea"/>
                          <a:cs typeface="Calibri" panose="020F0502020204030204" pitchFamily="34" charset="0"/>
                        </a:rPr>
                        <a:t>⭐️</a:t>
                      </a:r>
                      <a:endParaRPr lang="zh-TW"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Text Classification*</a:t>
                      </a:r>
                      <a:endParaRPr lang="zh-TW" altLang="en-US" dirty="0"/>
                    </a:p>
                  </a:txBody>
                  <a:tcPr anchor="ctr"/>
                </a:tc>
                <a:tc>
                  <a:txBody>
                    <a:bodyPr/>
                    <a:lstStyle/>
                    <a:p>
                      <a:r>
                        <a:rPr lang="zh-TW" altLang="en-US" dirty="0"/>
                        <a:t>資料分佈</a:t>
                      </a:r>
                    </a:p>
                  </a:txBody>
                  <a:tcPr anchor="ctr"/>
                </a:tc>
                <a:extLst>
                  <a:ext uri="{0D108BD9-81ED-4DB2-BD59-A6C34878D82A}">
                    <a16:rowId xmlns:a16="http://schemas.microsoft.com/office/drawing/2014/main" val="1219319105"/>
                  </a:ext>
                </a:extLst>
              </a:tr>
              <a:tr h="814269">
                <a:tc>
                  <a:txBody>
                    <a:bodyPr/>
                    <a:lstStyle/>
                    <a:p>
                      <a:r>
                        <a:rPr lang="en-US" altLang="zh-TW" dirty="0" err="1"/>
                        <a:t>Codabench</a:t>
                      </a:r>
                      <a:endParaRPr lang="zh-TW"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err="1">
                          <a:hlinkClick r:id="rId6"/>
                        </a:rPr>
                        <a:t>SemEval</a:t>
                      </a:r>
                      <a:r>
                        <a:rPr lang="en" altLang="zh-TW" dirty="0">
                          <a:hlinkClick r:id="rId6"/>
                        </a:rPr>
                        <a:t> 2027 Task 2</a:t>
                      </a:r>
                      <a:endParaRPr lang="zh-TW" altLang="en-US" dirty="0"/>
                    </a:p>
                  </a:txBody>
                  <a:tcPr anchor="ctr"/>
                </a:tc>
                <a:tc>
                  <a:txBody>
                    <a:bodyPr/>
                    <a:lstStyle/>
                    <a:p>
                      <a:r>
                        <a:rPr lang="en-US" altLang="zh-TW" dirty="0"/>
                        <a:t>Text</a:t>
                      </a:r>
                      <a:endParaRPr lang="zh-TW" altLang="en-US" dirty="0"/>
                    </a:p>
                  </a:txBody>
                  <a:tcPr anchor="ctr"/>
                </a:tc>
                <a:tc>
                  <a:txBody>
                    <a:bodyPr/>
                    <a:lstStyle/>
                    <a:p>
                      <a:r>
                        <a:rPr kumimoji="1" lang="en-US" altLang="zh-TW" sz="1800" b="1" kern="1200" dirty="0">
                          <a:solidFill>
                            <a:srgbClr val="0070C0"/>
                          </a:solidFill>
                          <a:latin typeface="+mn-lt"/>
                          <a:ea typeface="+mn-ea"/>
                          <a:cs typeface="Calibri" panose="020F0502020204030204" pitchFamily="34" charset="0"/>
                        </a:rPr>
                        <a:t>⭐️⭐️</a:t>
                      </a:r>
                      <a:endParaRPr lang="zh-TW"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Text Classification</a:t>
                      </a:r>
                      <a:endParaRPr lang="zh-TW" altLang="en-US" dirty="0"/>
                    </a:p>
                  </a:txBody>
                  <a:tcPr anchor="ctr"/>
                </a:tc>
                <a:tc>
                  <a:txBody>
                    <a:bodyPr/>
                    <a:lstStyle/>
                    <a:p>
                      <a:r>
                        <a:rPr lang="zh-TW" altLang="en-US" dirty="0"/>
                        <a:t>範例較少</a:t>
                      </a:r>
                    </a:p>
                  </a:txBody>
                  <a:tcPr anchor="ctr"/>
                </a:tc>
                <a:extLst>
                  <a:ext uri="{0D108BD9-81ED-4DB2-BD59-A6C34878D82A}">
                    <a16:rowId xmlns:a16="http://schemas.microsoft.com/office/drawing/2014/main" val="168069671"/>
                  </a:ext>
                </a:extLst>
              </a:tr>
            </a:tbl>
          </a:graphicData>
        </a:graphic>
      </p:graphicFrame>
      <p:sp>
        <p:nvSpPr>
          <p:cNvPr id="3" name="文字方塊 2">
            <a:extLst>
              <a:ext uri="{FF2B5EF4-FFF2-40B4-BE49-F238E27FC236}">
                <a16:creationId xmlns:a16="http://schemas.microsoft.com/office/drawing/2014/main" id="{8E2F983C-FB61-EF9F-D7F2-FF090C09C9A9}"/>
              </a:ext>
            </a:extLst>
          </p:cNvPr>
          <p:cNvSpPr txBox="1"/>
          <p:nvPr/>
        </p:nvSpPr>
        <p:spPr>
          <a:xfrm>
            <a:off x="914400" y="6228790"/>
            <a:ext cx="2363491" cy="369332"/>
          </a:xfrm>
          <a:prstGeom prst="rect">
            <a:avLst/>
          </a:prstGeom>
          <a:noFill/>
        </p:spPr>
        <p:txBody>
          <a:bodyPr wrap="square" rtlCol="0">
            <a:spAutoFit/>
          </a:bodyPr>
          <a:lstStyle/>
          <a:p>
            <a:r>
              <a:rPr kumimoji="1" lang="en-US" altLang="zh-TW" dirty="0"/>
              <a:t>* Code Competition</a:t>
            </a:r>
            <a:endParaRPr kumimoji="1" lang="zh-TW" altLang="en-US" dirty="0"/>
          </a:p>
        </p:txBody>
      </p:sp>
    </p:spTree>
    <p:extLst>
      <p:ext uri="{BB962C8B-B14F-4D97-AF65-F5344CB8AC3E}">
        <p14:creationId xmlns:p14="http://schemas.microsoft.com/office/powerpoint/2010/main" val="3263528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A41638-AF28-CC80-3647-856207AA0088}"/>
              </a:ext>
            </a:extLst>
          </p:cNvPr>
          <p:cNvSpPr>
            <a:spLocks noGrp="1"/>
          </p:cNvSpPr>
          <p:nvPr>
            <p:ph type="title"/>
          </p:nvPr>
        </p:nvSpPr>
        <p:spPr/>
        <p:txBody>
          <a:bodyPr>
            <a:normAutofit fontScale="90000"/>
          </a:bodyPr>
          <a:lstStyle/>
          <a:p>
            <a:r>
              <a:rPr kumimoji="1" lang="en" altLang="zh-TW" dirty="0"/>
              <a:t>ISIC 2024 - Skin Cancer Detection with 3D-TBP</a:t>
            </a:r>
            <a:endParaRPr kumimoji="1" lang="zh-TW" altLang="en-US" dirty="0"/>
          </a:p>
        </p:txBody>
      </p:sp>
      <p:sp>
        <p:nvSpPr>
          <p:cNvPr id="4" name="投影片編號版面配置區 3">
            <a:extLst>
              <a:ext uri="{FF2B5EF4-FFF2-40B4-BE49-F238E27FC236}">
                <a16:creationId xmlns:a16="http://schemas.microsoft.com/office/drawing/2014/main" id="{1105962C-FAA9-BB6F-104E-D284C9FCE24C}"/>
              </a:ext>
            </a:extLst>
          </p:cNvPr>
          <p:cNvSpPr>
            <a:spLocks noGrp="1"/>
          </p:cNvSpPr>
          <p:nvPr>
            <p:ph type="sldNum" sz="quarter" idx="12"/>
          </p:nvPr>
        </p:nvSpPr>
        <p:spPr/>
        <p:txBody>
          <a:bodyPr/>
          <a:lstStyle/>
          <a:p>
            <a:fld id="{6113E31D-E2AB-40D1-8B51-AFA5AFEF393A}" type="slidenum">
              <a:rPr lang="en-US" smtClean="0"/>
              <a:pPr/>
              <a:t>40</a:t>
            </a:fld>
            <a:endParaRPr lang="en-US" dirty="0"/>
          </a:p>
        </p:txBody>
      </p:sp>
      <p:pic>
        <p:nvPicPr>
          <p:cNvPr id="5" name="圖片 4">
            <a:extLst>
              <a:ext uri="{FF2B5EF4-FFF2-40B4-BE49-F238E27FC236}">
                <a16:creationId xmlns:a16="http://schemas.microsoft.com/office/drawing/2014/main" id="{B07F966A-769C-71D7-19F5-B73A506720D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209800" y="1932547"/>
            <a:ext cx="7772400" cy="4203440"/>
          </a:xfrm>
          <a:prstGeom prst="rect">
            <a:avLst/>
          </a:prstGeom>
        </p:spPr>
      </p:pic>
    </p:spTree>
    <p:extLst>
      <p:ext uri="{BB962C8B-B14F-4D97-AF65-F5344CB8AC3E}">
        <p14:creationId xmlns:p14="http://schemas.microsoft.com/office/powerpoint/2010/main" val="2785268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11FF42-7E85-2AF8-F3C9-B6208E080C17}"/>
              </a:ext>
            </a:extLst>
          </p:cNvPr>
          <p:cNvSpPr>
            <a:spLocks noGrp="1"/>
          </p:cNvSpPr>
          <p:nvPr>
            <p:ph type="title"/>
          </p:nvPr>
        </p:nvSpPr>
        <p:spPr/>
        <p:txBody>
          <a:bodyPr/>
          <a:lstStyle/>
          <a:p>
            <a:r>
              <a:rPr kumimoji="1" lang="en-US" altLang="zh-TW" dirty="0"/>
              <a:t>test-metadata &amp; </a:t>
            </a:r>
            <a:r>
              <a:rPr kumimoji="1" lang="en-US" altLang="zh-TW" dirty="0" err="1"/>
              <a:t>submission.csv</a:t>
            </a:r>
            <a:endParaRPr kumimoji="1" lang="zh-TW" altLang="en-US" dirty="0"/>
          </a:p>
        </p:txBody>
      </p:sp>
      <p:sp>
        <p:nvSpPr>
          <p:cNvPr id="4" name="投影片編號版面配置區 3">
            <a:extLst>
              <a:ext uri="{FF2B5EF4-FFF2-40B4-BE49-F238E27FC236}">
                <a16:creationId xmlns:a16="http://schemas.microsoft.com/office/drawing/2014/main" id="{0916419C-E58F-12F0-FBA8-D4382582128F}"/>
              </a:ext>
            </a:extLst>
          </p:cNvPr>
          <p:cNvSpPr>
            <a:spLocks noGrp="1"/>
          </p:cNvSpPr>
          <p:nvPr>
            <p:ph type="sldNum" sz="quarter" idx="12"/>
          </p:nvPr>
        </p:nvSpPr>
        <p:spPr/>
        <p:txBody>
          <a:bodyPr/>
          <a:lstStyle/>
          <a:p>
            <a:fld id="{6113E31D-E2AB-40D1-8B51-AFA5AFEF393A}" type="slidenum">
              <a:rPr lang="en-US" smtClean="0"/>
              <a:pPr/>
              <a:t>41</a:t>
            </a:fld>
            <a:endParaRPr lang="en-US" dirty="0"/>
          </a:p>
        </p:txBody>
      </p:sp>
      <p:pic>
        <p:nvPicPr>
          <p:cNvPr id="5" name="圖片 4">
            <a:extLst>
              <a:ext uri="{FF2B5EF4-FFF2-40B4-BE49-F238E27FC236}">
                <a16:creationId xmlns:a16="http://schemas.microsoft.com/office/drawing/2014/main" id="{798AA5CD-E826-E33A-AA53-978219FF83BA}"/>
              </a:ext>
            </a:extLst>
          </p:cNvPr>
          <p:cNvPicPr>
            <a:picLocks noChangeAspect="1"/>
          </p:cNvPicPr>
          <p:nvPr/>
        </p:nvPicPr>
        <p:blipFill>
          <a:blip r:embed="rId2"/>
          <a:stretch>
            <a:fillRect/>
          </a:stretch>
        </p:blipFill>
        <p:spPr>
          <a:xfrm>
            <a:off x="582478" y="2014780"/>
            <a:ext cx="6593196" cy="3374645"/>
          </a:xfrm>
          <a:prstGeom prst="rect">
            <a:avLst/>
          </a:prstGeom>
        </p:spPr>
      </p:pic>
      <p:pic>
        <p:nvPicPr>
          <p:cNvPr id="6" name="圖片 5">
            <a:extLst>
              <a:ext uri="{FF2B5EF4-FFF2-40B4-BE49-F238E27FC236}">
                <a16:creationId xmlns:a16="http://schemas.microsoft.com/office/drawing/2014/main" id="{89A69131-1733-A540-E95F-F93352AE5D0A}"/>
              </a:ext>
            </a:extLst>
          </p:cNvPr>
          <p:cNvPicPr>
            <a:picLocks noChangeAspect="1"/>
          </p:cNvPicPr>
          <p:nvPr/>
        </p:nvPicPr>
        <p:blipFill>
          <a:blip r:embed="rId3"/>
          <a:stretch>
            <a:fillRect/>
          </a:stretch>
        </p:blipFill>
        <p:spPr>
          <a:xfrm>
            <a:off x="7273125" y="2014780"/>
            <a:ext cx="4298389" cy="3374645"/>
          </a:xfrm>
          <a:prstGeom prst="rect">
            <a:avLst/>
          </a:prstGeom>
        </p:spPr>
      </p:pic>
    </p:spTree>
    <p:extLst>
      <p:ext uri="{BB962C8B-B14F-4D97-AF65-F5344CB8AC3E}">
        <p14:creationId xmlns:p14="http://schemas.microsoft.com/office/powerpoint/2010/main" val="2713056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1B55B-BF60-EEF2-39E2-6FC4F3BB4A78}"/>
              </a:ext>
            </a:extLst>
          </p:cNvPr>
          <p:cNvSpPr>
            <a:spLocks noGrp="1"/>
          </p:cNvSpPr>
          <p:nvPr>
            <p:ph type="title"/>
          </p:nvPr>
        </p:nvSpPr>
        <p:spPr/>
        <p:txBody>
          <a:bodyPr/>
          <a:lstStyle/>
          <a:p>
            <a:r>
              <a:rPr kumimoji="1" lang="en" altLang="zh-TW" dirty="0"/>
              <a:t>ROC Curve</a:t>
            </a:r>
            <a:endParaRPr kumimoji="1" lang="zh-TW" altLang="en-US" dirty="0"/>
          </a:p>
        </p:txBody>
      </p:sp>
      <p:sp>
        <p:nvSpPr>
          <p:cNvPr id="3" name="內容版面配置區 2">
            <a:extLst>
              <a:ext uri="{FF2B5EF4-FFF2-40B4-BE49-F238E27FC236}">
                <a16:creationId xmlns:a16="http://schemas.microsoft.com/office/drawing/2014/main" id="{AADA747F-7522-C9B3-4D8B-5B0A7417D87F}"/>
              </a:ext>
            </a:extLst>
          </p:cNvPr>
          <p:cNvSpPr>
            <a:spLocks noGrp="1"/>
          </p:cNvSpPr>
          <p:nvPr>
            <p:ph idx="1"/>
          </p:nvPr>
        </p:nvSpPr>
        <p:spPr>
          <a:xfrm>
            <a:off x="653143" y="1845733"/>
            <a:ext cx="10918371" cy="2666141"/>
          </a:xfrm>
        </p:spPr>
        <p:txBody>
          <a:bodyPr>
            <a:normAutofit/>
          </a:bodyPr>
          <a:lstStyle/>
          <a:p>
            <a:pPr>
              <a:lnSpc>
                <a:spcPct val="150000"/>
              </a:lnSpc>
            </a:pPr>
            <a:r>
              <a:rPr kumimoji="1" lang="en-US" altLang="zh-TW" dirty="0"/>
              <a:t>ROC curve: Receiver operating characteristic curve (</a:t>
            </a:r>
            <a:r>
              <a:rPr kumimoji="1" lang="zh-TW" altLang="en-US" dirty="0">
                <a:latin typeface="Microsoft JhengHei" panose="020B0604030504040204" pitchFamily="34" charset="-120"/>
                <a:ea typeface="Microsoft JhengHei" panose="020B0604030504040204" pitchFamily="34" charset="-120"/>
              </a:rPr>
              <a:t>接收者操作特徵曲線</a:t>
            </a:r>
            <a:r>
              <a:rPr kumimoji="1" lang="en-US" altLang="zh-TW" dirty="0"/>
              <a:t>)</a:t>
            </a:r>
          </a:p>
          <a:p>
            <a:pPr>
              <a:lnSpc>
                <a:spcPct val="150000"/>
              </a:lnSpc>
            </a:pPr>
            <a:r>
              <a:rPr kumimoji="1" lang="en-US" altLang="zh-TW" dirty="0"/>
              <a:t>ROC curve </a:t>
            </a:r>
            <a:r>
              <a:rPr kumimoji="1" lang="zh-TW" altLang="en-US" dirty="0">
                <a:latin typeface="Microsoft JhengHei" panose="020B0604030504040204" pitchFamily="34" charset="-120"/>
                <a:ea typeface="Microsoft JhengHei" panose="020B0604030504040204" pitchFamily="34" charset="-120"/>
              </a:rPr>
              <a:t>定義</a:t>
            </a:r>
            <a:r>
              <a:rPr kumimoji="1" lang="en-US" altLang="zh-TW" dirty="0"/>
              <a:t>: </a:t>
            </a:r>
            <a:r>
              <a:rPr kumimoji="1" lang="zh-TW" altLang="en-US" dirty="0">
                <a:latin typeface="Microsoft JhengHei" panose="020B0604030504040204" pitchFamily="34" charset="-120"/>
                <a:ea typeface="Microsoft JhengHei" panose="020B0604030504040204" pitchFamily="34" charset="-120"/>
              </a:rPr>
              <a:t>針對不同的模型分類門檻下的模型表現圖</a:t>
            </a:r>
            <a:endParaRPr kumimoji="1" lang="en-US" altLang="zh-TW" dirty="0">
              <a:latin typeface="Microsoft JhengHei" panose="020B0604030504040204" pitchFamily="34" charset="-120"/>
              <a:ea typeface="Microsoft JhengHei" panose="020B0604030504040204" pitchFamily="34" charset="-120"/>
            </a:endParaRPr>
          </a:p>
          <a:p>
            <a:pPr lvl="1">
              <a:lnSpc>
                <a:spcPct val="150000"/>
              </a:lnSpc>
            </a:pPr>
            <a:r>
              <a:rPr kumimoji="1" lang="en-US" altLang="zh-TW" sz="2000" dirty="0">
                <a:latin typeface="Microsoft JhengHei" panose="020B0604030504040204" pitchFamily="34" charset="-120"/>
                <a:ea typeface="Microsoft JhengHei" panose="020B0604030504040204" pitchFamily="34" charset="-120"/>
              </a:rPr>
              <a:t>X</a:t>
            </a:r>
            <a:r>
              <a:rPr kumimoji="1" lang="zh-TW" altLang="en-US" sz="2000" dirty="0">
                <a:latin typeface="Microsoft JhengHei" panose="020B0604030504040204" pitchFamily="34" charset="-120"/>
                <a:ea typeface="Microsoft JhengHei" panose="020B0604030504040204" pitchFamily="34" charset="-120"/>
              </a:rPr>
              <a:t>軸：</a:t>
            </a:r>
            <a:r>
              <a:rPr kumimoji="1" lang="en-US" altLang="zh-TW" sz="2000" dirty="0">
                <a:latin typeface="Microsoft JhengHei" panose="020B0604030504040204" pitchFamily="34" charset="-120"/>
                <a:ea typeface="Microsoft JhengHei" panose="020B0604030504040204" pitchFamily="34" charset="-120"/>
              </a:rPr>
              <a:t>False positive rate (FPR); Y</a:t>
            </a:r>
            <a:r>
              <a:rPr kumimoji="1" lang="zh-TW" altLang="en-US" sz="2000" dirty="0">
                <a:latin typeface="Microsoft JhengHei" panose="020B0604030504040204" pitchFamily="34" charset="-120"/>
                <a:ea typeface="Microsoft JhengHei" panose="020B0604030504040204" pitchFamily="34" charset="-120"/>
              </a:rPr>
              <a:t>軸：</a:t>
            </a:r>
            <a:r>
              <a:rPr kumimoji="1" lang="en-US" altLang="zh-TW" sz="2000" dirty="0">
                <a:latin typeface="Microsoft JhengHei" panose="020B0604030504040204" pitchFamily="34" charset="-120"/>
                <a:ea typeface="Microsoft JhengHei" panose="020B0604030504040204" pitchFamily="34" charset="-120"/>
              </a:rPr>
              <a:t>True positive rate (TPR)</a:t>
            </a:r>
          </a:p>
          <a:p>
            <a:pPr lvl="1">
              <a:lnSpc>
                <a:spcPct val="150000"/>
              </a:lnSpc>
            </a:pPr>
            <a:r>
              <a:rPr kumimoji="1" lang="en-US" altLang="zh-TW" sz="2000" dirty="0"/>
              <a:t>AUC: ROC</a:t>
            </a:r>
            <a:r>
              <a:rPr kumimoji="1" lang="zh-TW" altLang="en-US" sz="2000" dirty="0"/>
              <a:t> </a:t>
            </a:r>
            <a:r>
              <a:rPr kumimoji="1" lang="zh-TW" altLang="en-US" sz="2000" dirty="0">
                <a:latin typeface="Microsoft JhengHei" panose="020B0604030504040204" pitchFamily="34" charset="-120"/>
                <a:ea typeface="Microsoft JhengHei" panose="020B0604030504040204" pitchFamily="34" charset="-120"/>
              </a:rPr>
              <a:t>的底面下面積 </a:t>
            </a:r>
            <a:r>
              <a:rPr kumimoji="1" lang="en-US" altLang="zh-TW" sz="2000" dirty="0">
                <a:latin typeface="Microsoft JhengHei" panose="020B0604030504040204" pitchFamily="34" charset="-120"/>
                <a:ea typeface="Microsoft JhengHei" panose="020B0604030504040204" pitchFamily="34" charset="-120"/>
              </a:rPr>
              <a:t>(</a:t>
            </a:r>
            <a:r>
              <a:rPr kumimoji="1" lang="zh-TW" altLang="en-US" sz="2000" dirty="0">
                <a:latin typeface="Microsoft JhengHei" panose="020B0604030504040204" pitchFamily="34" charset="-120"/>
                <a:ea typeface="Microsoft JhengHei" panose="020B0604030504040204" pitchFamily="34" charset="-120"/>
              </a:rPr>
              <a:t>越大越好</a:t>
            </a:r>
            <a:r>
              <a:rPr kumimoji="1" lang="en-US" altLang="zh-TW" sz="2000" dirty="0">
                <a:latin typeface="Microsoft JhengHei" panose="020B0604030504040204" pitchFamily="34" charset="-120"/>
                <a:ea typeface="Microsoft JhengHei" panose="020B0604030504040204" pitchFamily="34" charset="-120"/>
              </a:rPr>
              <a:t>)</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4" name="投影片編號版面配置區 3">
            <a:extLst>
              <a:ext uri="{FF2B5EF4-FFF2-40B4-BE49-F238E27FC236}">
                <a16:creationId xmlns:a16="http://schemas.microsoft.com/office/drawing/2014/main" id="{486725D2-9CC6-5B07-A89D-9501F7F6C4D3}"/>
              </a:ext>
            </a:extLst>
          </p:cNvPr>
          <p:cNvSpPr>
            <a:spLocks noGrp="1"/>
          </p:cNvSpPr>
          <p:nvPr>
            <p:ph type="sldNum" sz="quarter" idx="12"/>
          </p:nvPr>
        </p:nvSpPr>
        <p:spPr/>
        <p:txBody>
          <a:bodyPr/>
          <a:lstStyle/>
          <a:p>
            <a:fld id="{6113E31D-E2AB-40D1-8B51-AFA5AFEF393A}" type="slidenum">
              <a:rPr lang="en-US" smtClean="0"/>
              <a:pPr/>
              <a:t>42</a:t>
            </a:fld>
            <a:endParaRPr lang="en-US" dirty="0"/>
          </a:p>
        </p:txBody>
      </p:sp>
      <p:pic>
        <p:nvPicPr>
          <p:cNvPr id="7" name="圖片 6">
            <a:extLst>
              <a:ext uri="{FF2B5EF4-FFF2-40B4-BE49-F238E27FC236}">
                <a16:creationId xmlns:a16="http://schemas.microsoft.com/office/drawing/2014/main" id="{E42812FE-602B-0FA0-5221-8C7CC6274E6F}"/>
              </a:ext>
            </a:extLst>
          </p:cNvPr>
          <p:cNvPicPr>
            <a:picLocks noChangeAspect="1"/>
          </p:cNvPicPr>
          <p:nvPr/>
        </p:nvPicPr>
        <p:blipFill>
          <a:blip r:embed="rId3"/>
          <a:stretch>
            <a:fillRect/>
          </a:stretch>
        </p:blipFill>
        <p:spPr>
          <a:xfrm>
            <a:off x="8548423" y="3154202"/>
            <a:ext cx="2610013" cy="2666142"/>
          </a:xfrm>
          <a:prstGeom prst="rect">
            <a:avLst/>
          </a:prstGeom>
        </p:spPr>
      </p:pic>
      <p:sp>
        <p:nvSpPr>
          <p:cNvPr id="8" name="文字方塊 7">
            <a:extLst>
              <a:ext uri="{FF2B5EF4-FFF2-40B4-BE49-F238E27FC236}">
                <a16:creationId xmlns:a16="http://schemas.microsoft.com/office/drawing/2014/main" id="{6CC60379-BBFA-7774-F9E0-049410F0C12F}"/>
              </a:ext>
            </a:extLst>
          </p:cNvPr>
          <p:cNvSpPr txBox="1"/>
          <p:nvPr/>
        </p:nvSpPr>
        <p:spPr>
          <a:xfrm>
            <a:off x="6784408" y="611186"/>
            <a:ext cx="4884131" cy="523220"/>
          </a:xfrm>
          <a:prstGeom prst="rect">
            <a:avLst/>
          </a:prstGeom>
          <a:noFill/>
        </p:spPr>
        <p:txBody>
          <a:bodyPr wrap="square" rtlCol="0">
            <a:spAutoFit/>
          </a:bodyPr>
          <a:lstStyle/>
          <a:p>
            <a:r>
              <a:rPr kumimoji="1" lang="en" altLang="zh-TW" sz="1400" dirty="0"/>
              <a:t>(Useful!!) https://</a:t>
            </a:r>
            <a:r>
              <a:rPr kumimoji="1" lang="en" altLang="zh-TW" sz="1400" dirty="0" err="1"/>
              <a:t>developers.google.com</a:t>
            </a:r>
            <a:r>
              <a:rPr kumimoji="1" lang="en" altLang="zh-TW" sz="1400" dirty="0"/>
              <a:t>/machine-learning/crash-course/classification/</a:t>
            </a:r>
            <a:r>
              <a:rPr kumimoji="1" lang="en" altLang="zh-TW" sz="1400" dirty="0" err="1"/>
              <a:t>roc-and-auc?hl</a:t>
            </a:r>
            <a:r>
              <a:rPr kumimoji="1" lang="en" altLang="zh-TW" sz="1400" dirty="0"/>
              <a:t>=</a:t>
            </a:r>
            <a:r>
              <a:rPr kumimoji="1" lang="en" altLang="zh-TW" sz="1400" dirty="0" err="1"/>
              <a:t>zh-tw</a:t>
            </a:r>
            <a:endParaRPr kumimoji="1" lang="zh-TW" altLang="en-US" sz="1400" dirty="0"/>
          </a:p>
        </p:txBody>
      </p:sp>
      <p:sp>
        <p:nvSpPr>
          <p:cNvPr id="5" name="橢圓 4">
            <a:extLst>
              <a:ext uri="{FF2B5EF4-FFF2-40B4-BE49-F238E27FC236}">
                <a16:creationId xmlns:a16="http://schemas.microsoft.com/office/drawing/2014/main" id="{B4178374-CC67-8158-52F0-F73FA5BB52C8}"/>
              </a:ext>
            </a:extLst>
          </p:cNvPr>
          <p:cNvSpPr/>
          <p:nvPr/>
        </p:nvSpPr>
        <p:spPr>
          <a:xfrm>
            <a:off x="10707693" y="3222963"/>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6A527CF1-BB6C-A4AD-0789-0DC96D994D7F}"/>
              </a:ext>
            </a:extLst>
          </p:cNvPr>
          <p:cNvSpPr txBox="1"/>
          <p:nvPr/>
        </p:nvSpPr>
        <p:spPr>
          <a:xfrm>
            <a:off x="10683932" y="2923858"/>
            <a:ext cx="585035" cy="369332"/>
          </a:xfrm>
          <a:prstGeom prst="rect">
            <a:avLst/>
          </a:prstGeom>
          <a:noFill/>
        </p:spPr>
        <p:txBody>
          <a:bodyPr wrap="square" rtlCol="0">
            <a:spAutoFit/>
          </a:bodyPr>
          <a:lstStyle/>
          <a:p>
            <a:pPr algn="ctr"/>
            <a:r>
              <a:rPr kumimoji="1" lang="en-US" altLang="zh-TW" dirty="0">
                <a:solidFill>
                  <a:srgbClr val="FF0000"/>
                </a:solidFill>
              </a:rPr>
              <a:t>?</a:t>
            </a:r>
            <a:endParaRPr kumimoji="1" lang="zh-TW" altLang="en-US" dirty="0">
              <a:solidFill>
                <a:srgbClr val="FF0000"/>
              </a:solidFill>
            </a:endParaRPr>
          </a:p>
        </p:txBody>
      </p:sp>
    </p:spTree>
    <p:extLst>
      <p:ext uri="{BB962C8B-B14F-4D97-AF65-F5344CB8AC3E}">
        <p14:creationId xmlns:p14="http://schemas.microsoft.com/office/powerpoint/2010/main" val="145220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B15652-A299-F54A-A30A-AB61D9D4D208}"/>
              </a:ext>
            </a:extLst>
          </p:cNvPr>
          <p:cNvSpPr>
            <a:spLocks noGrp="1"/>
          </p:cNvSpPr>
          <p:nvPr>
            <p:ph type="title"/>
          </p:nvPr>
        </p:nvSpPr>
        <p:spPr/>
        <p:txBody>
          <a:bodyPr/>
          <a:lstStyle/>
          <a:p>
            <a:r>
              <a:rPr kumimoji="1" lang="zh-TW" altLang="en-US" dirty="0">
                <a:latin typeface="Microsoft JhengHei" panose="020B0604030504040204" pitchFamily="34" charset="-120"/>
                <a:ea typeface="Microsoft JhengHei" panose="020B0604030504040204" pitchFamily="34" charset="-120"/>
              </a:rPr>
              <a:t>模型分類門檻 </a:t>
            </a:r>
            <a:r>
              <a:rPr kumimoji="1" lang="en-US" altLang="zh-TW" dirty="0">
                <a:ea typeface="Microsoft JhengHei" panose="020B0604030504040204" pitchFamily="34" charset="-120"/>
              </a:rPr>
              <a:t>(Threshold)</a:t>
            </a:r>
            <a:endParaRPr kumimoji="1" lang="zh-TW" altLang="en-US" dirty="0">
              <a:ea typeface="Microsoft JhengHei" panose="020B0604030504040204" pitchFamily="34" charset="-120"/>
            </a:endParaRPr>
          </a:p>
        </p:txBody>
      </p:sp>
      <p:sp>
        <p:nvSpPr>
          <p:cNvPr id="4" name="投影片編號版面配置區 3">
            <a:extLst>
              <a:ext uri="{FF2B5EF4-FFF2-40B4-BE49-F238E27FC236}">
                <a16:creationId xmlns:a16="http://schemas.microsoft.com/office/drawing/2014/main" id="{03BE5E37-8A57-217D-D650-EA5D120382F2}"/>
              </a:ext>
            </a:extLst>
          </p:cNvPr>
          <p:cNvSpPr>
            <a:spLocks noGrp="1"/>
          </p:cNvSpPr>
          <p:nvPr>
            <p:ph type="sldNum" sz="quarter" idx="12"/>
          </p:nvPr>
        </p:nvSpPr>
        <p:spPr/>
        <p:txBody>
          <a:bodyPr/>
          <a:lstStyle/>
          <a:p>
            <a:fld id="{6113E31D-E2AB-40D1-8B51-AFA5AFEF393A}" type="slidenum">
              <a:rPr lang="en-US" smtClean="0"/>
              <a:pPr/>
              <a:t>43</a:t>
            </a:fld>
            <a:endParaRPr lang="en-US" dirty="0"/>
          </a:p>
        </p:txBody>
      </p:sp>
      <p:pic>
        <p:nvPicPr>
          <p:cNvPr id="5" name="圖片 4">
            <a:extLst>
              <a:ext uri="{FF2B5EF4-FFF2-40B4-BE49-F238E27FC236}">
                <a16:creationId xmlns:a16="http://schemas.microsoft.com/office/drawing/2014/main" id="{4EE56E9E-E249-337E-4C94-2547C176A3AB}"/>
              </a:ext>
            </a:extLst>
          </p:cNvPr>
          <p:cNvPicPr>
            <a:picLocks noChangeAspect="1"/>
          </p:cNvPicPr>
          <p:nvPr/>
        </p:nvPicPr>
        <p:blipFill>
          <a:blip r:embed="rId3"/>
          <a:stretch>
            <a:fillRect/>
          </a:stretch>
        </p:blipFill>
        <p:spPr>
          <a:xfrm>
            <a:off x="847153" y="2459327"/>
            <a:ext cx="2867387" cy="2156054"/>
          </a:xfrm>
          <a:prstGeom prst="rect">
            <a:avLst/>
          </a:prstGeom>
        </p:spPr>
      </p:pic>
      <p:sp>
        <p:nvSpPr>
          <p:cNvPr id="6" name="矩形 5">
            <a:extLst>
              <a:ext uri="{FF2B5EF4-FFF2-40B4-BE49-F238E27FC236}">
                <a16:creationId xmlns:a16="http://schemas.microsoft.com/office/drawing/2014/main" id="{D08F6504-D1C2-7114-A78A-15EEB765FC5D}"/>
              </a:ext>
            </a:extLst>
          </p:cNvPr>
          <p:cNvSpPr/>
          <p:nvPr/>
        </p:nvSpPr>
        <p:spPr>
          <a:xfrm>
            <a:off x="4716929" y="3193725"/>
            <a:ext cx="1778957" cy="9829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Model</a:t>
            </a:r>
            <a:endParaRPr kumimoji="1" lang="zh-TW" altLang="en-US" sz="2400" dirty="0">
              <a:solidFill>
                <a:schemeClr val="tx1"/>
              </a:solidFill>
            </a:endParaRPr>
          </a:p>
        </p:txBody>
      </p:sp>
      <p:cxnSp>
        <p:nvCxnSpPr>
          <p:cNvPr id="7" name="直線箭頭接點 6">
            <a:extLst>
              <a:ext uri="{FF2B5EF4-FFF2-40B4-BE49-F238E27FC236}">
                <a16:creationId xmlns:a16="http://schemas.microsoft.com/office/drawing/2014/main" id="{80290AE2-40BF-9DF1-D7A0-2E28A47614E0}"/>
              </a:ext>
            </a:extLst>
          </p:cNvPr>
          <p:cNvCxnSpPr/>
          <p:nvPr/>
        </p:nvCxnSpPr>
        <p:spPr>
          <a:xfrm>
            <a:off x="3863359" y="3685215"/>
            <a:ext cx="7086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箭頭接點 7">
            <a:extLst>
              <a:ext uri="{FF2B5EF4-FFF2-40B4-BE49-F238E27FC236}">
                <a16:creationId xmlns:a16="http://schemas.microsoft.com/office/drawing/2014/main" id="{D32AED63-843C-9F57-BA6B-A42D4F162123}"/>
              </a:ext>
            </a:extLst>
          </p:cNvPr>
          <p:cNvCxnSpPr/>
          <p:nvPr/>
        </p:nvCxnSpPr>
        <p:spPr>
          <a:xfrm>
            <a:off x="6626412" y="3685215"/>
            <a:ext cx="7086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03FE0A3F-C92C-BF95-FFAC-79ECD947C4D0}"/>
              </a:ext>
            </a:extLst>
          </p:cNvPr>
          <p:cNvSpPr txBox="1"/>
          <p:nvPr/>
        </p:nvSpPr>
        <p:spPr>
          <a:xfrm>
            <a:off x="9008347" y="2014139"/>
            <a:ext cx="1200777" cy="523220"/>
          </a:xfrm>
          <a:prstGeom prst="rect">
            <a:avLst/>
          </a:prstGeom>
          <a:noFill/>
        </p:spPr>
        <p:txBody>
          <a:bodyPr wrap="square">
            <a:spAutoFit/>
          </a:bodyPr>
          <a:lstStyle/>
          <a:p>
            <a:pPr algn="ctr"/>
            <a:r>
              <a:rPr kumimoji="1" lang="en-US" altLang="zh-TW" sz="2800" b="1" dirty="0">
                <a:latin typeface="Times New Roman" panose="02020603050405020304" pitchFamily="18" charset="0"/>
                <a:ea typeface="Microsoft JhengHei" panose="020B0604030504040204" pitchFamily="34" charset="-120"/>
                <a:cs typeface="Times New Roman" panose="02020603050405020304" pitchFamily="18" charset="0"/>
              </a:rPr>
              <a:t>Rust</a:t>
            </a:r>
            <a:endParaRPr lang="zh-TW" altLang="en-US" sz="2800" b="1" dirty="0"/>
          </a:p>
        </p:txBody>
      </p:sp>
      <p:sp>
        <p:nvSpPr>
          <p:cNvPr id="11" name="文字方塊 10">
            <a:extLst>
              <a:ext uri="{FF2B5EF4-FFF2-40B4-BE49-F238E27FC236}">
                <a16:creationId xmlns:a16="http://schemas.microsoft.com/office/drawing/2014/main" id="{FD49D0C4-0B2D-67B8-0589-F3FFFA48CBBD}"/>
              </a:ext>
            </a:extLst>
          </p:cNvPr>
          <p:cNvSpPr txBox="1"/>
          <p:nvPr/>
        </p:nvSpPr>
        <p:spPr>
          <a:xfrm>
            <a:off x="7583180" y="3460459"/>
            <a:ext cx="1874018" cy="461665"/>
          </a:xfrm>
          <a:prstGeom prst="rect">
            <a:avLst/>
          </a:prstGeom>
          <a:noFill/>
        </p:spPr>
        <p:txBody>
          <a:bodyPr wrap="square">
            <a:spAutoFit/>
          </a:bodyPr>
          <a:lstStyle/>
          <a:p>
            <a:pPr algn="ctr"/>
            <a:r>
              <a:rPr lang="zh-TW" altLang="en-US" sz="2400" dirty="0">
                <a:latin typeface="Microsoft JhengHei" panose="020B0604030504040204" pitchFamily="34" charset="-120"/>
                <a:ea typeface="Microsoft JhengHei" panose="020B0604030504040204" pitchFamily="34" charset="-120"/>
              </a:rPr>
              <a:t>機率</a:t>
            </a:r>
            <a:r>
              <a:rPr lang="en-US" altLang="zh-TW" sz="2400" dirty="0"/>
              <a:t> = 0.55</a:t>
            </a:r>
            <a:endParaRPr lang="zh-TW" altLang="en-US" sz="2400" dirty="0"/>
          </a:p>
        </p:txBody>
      </p:sp>
      <p:sp>
        <p:nvSpPr>
          <p:cNvPr id="12" name="文字方塊 11">
            <a:extLst>
              <a:ext uri="{FF2B5EF4-FFF2-40B4-BE49-F238E27FC236}">
                <a16:creationId xmlns:a16="http://schemas.microsoft.com/office/drawing/2014/main" id="{8E9DEC68-03E9-8F13-DABC-835F5C27111B}"/>
              </a:ext>
            </a:extLst>
          </p:cNvPr>
          <p:cNvSpPr txBox="1"/>
          <p:nvPr/>
        </p:nvSpPr>
        <p:spPr>
          <a:xfrm>
            <a:off x="7679455" y="2670504"/>
            <a:ext cx="1688124" cy="523220"/>
          </a:xfrm>
          <a:prstGeom prst="rect">
            <a:avLst/>
          </a:prstGeom>
          <a:noFill/>
        </p:spPr>
        <p:txBody>
          <a:bodyPr wrap="square">
            <a:spAutoFit/>
          </a:bodyPr>
          <a:lstStyle/>
          <a:p>
            <a:pPr algn="ctr"/>
            <a:r>
              <a:rPr lang="zh-TW" altLang="en-US" sz="2800" dirty="0">
                <a:latin typeface="Microsoft JhengHei" panose="020B0604030504040204" pitchFamily="34" charset="-120"/>
                <a:ea typeface="Microsoft JhengHei" panose="020B0604030504040204" pitchFamily="34" charset="-120"/>
              </a:rPr>
              <a:t>模型輸出</a:t>
            </a:r>
            <a:endParaRPr lang="zh-TW" altLang="en-US" sz="2800" dirty="0"/>
          </a:p>
        </p:txBody>
      </p:sp>
      <p:sp>
        <p:nvSpPr>
          <p:cNvPr id="13" name="文字方塊 12">
            <a:extLst>
              <a:ext uri="{FF2B5EF4-FFF2-40B4-BE49-F238E27FC236}">
                <a16:creationId xmlns:a16="http://schemas.microsoft.com/office/drawing/2014/main" id="{5B424BBC-E4B8-DC69-DC51-0834CC128A91}"/>
              </a:ext>
            </a:extLst>
          </p:cNvPr>
          <p:cNvSpPr txBox="1"/>
          <p:nvPr/>
        </p:nvSpPr>
        <p:spPr>
          <a:xfrm>
            <a:off x="10291459" y="2665287"/>
            <a:ext cx="1280055" cy="523220"/>
          </a:xfrm>
          <a:prstGeom prst="rect">
            <a:avLst/>
          </a:prstGeom>
          <a:noFill/>
        </p:spPr>
        <p:txBody>
          <a:bodyPr wrap="square">
            <a:spAutoFit/>
          </a:bodyPr>
          <a:lstStyle/>
          <a:p>
            <a:pPr algn="ctr"/>
            <a:r>
              <a:rPr lang="zh-TW" altLang="en-US" sz="2800" dirty="0">
                <a:latin typeface="Microsoft JhengHei" panose="020B0604030504040204" pitchFamily="34" charset="-120"/>
                <a:ea typeface="Microsoft JhengHei" panose="020B0604030504040204" pitchFamily="34" charset="-120"/>
              </a:rPr>
              <a:t>答案</a:t>
            </a:r>
            <a:endParaRPr lang="zh-TW" altLang="en-US" sz="2800" dirty="0"/>
          </a:p>
        </p:txBody>
      </p:sp>
      <p:sp>
        <p:nvSpPr>
          <p:cNvPr id="14" name="文字方塊 13">
            <a:extLst>
              <a:ext uri="{FF2B5EF4-FFF2-40B4-BE49-F238E27FC236}">
                <a16:creationId xmlns:a16="http://schemas.microsoft.com/office/drawing/2014/main" id="{3EE4DC1F-A77C-8A1D-693B-81C8F5F249F6}"/>
              </a:ext>
            </a:extLst>
          </p:cNvPr>
          <p:cNvSpPr txBox="1"/>
          <p:nvPr/>
        </p:nvSpPr>
        <p:spPr>
          <a:xfrm>
            <a:off x="10612955" y="3467016"/>
            <a:ext cx="703603" cy="461665"/>
          </a:xfrm>
          <a:prstGeom prst="rect">
            <a:avLst/>
          </a:prstGeom>
          <a:noFill/>
        </p:spPr>
        <p:txBody>
          <a:bodyPr wrap="square">
            <a:spAutoFit/>
          </a:bodyPr>
          <a:lstStyle/>
          <a:p>
            <a:pPr algn="ctr"/>
            <a:r>
              <a:rPr lang="en-US" altLang="zh-TW" sz="2400" dirty="0">
                <a:latin typeface="Microsoft JhengHei" panose="020B0604030504040204" pitchFamily="34" charset="-120"/>
                <a:ea typeface="Microsoft JhengHei" panose="020B0604030504040204" pitchFamily="34" charset="-120"/>
              </a:rPr>
              <a:t>1</a:t>
            </a:r>
            <a:endParaRPr lang="zh-TW" altLang="en-US" sz="2400" dirty="0"/>
          </a:p>
        </p:txBody>
      </p:sp>
      <p:sp>
        <p:nvSpPr>
          <p:cNvPr id="15" name="矩形 14">
            <a:extLst>
              <a:ext uri="{FF2B5EF4-FFF2-40B4-BE49-F238E27FC236}">
                <a16:creationId xmlns:a16="http://schemas.microsoft.com/office/drawing/2014/main" id="{6FFF313A-EA1D-583A-3C89-06FA828DCA66}"/>
              </a:ext>
            </a:extLst>
          </p:cNvPr>
          <p:cNvSpPr/>
          <p:nvPr/>
        </p:nvSpPr>
        <p:spPr>
          <a:xfrm>
            <a:off x="7658363" y="3421949"/>
            <a:ext cx="1778957" cy="51017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文字方塊 15">
            <a:extLst>
              <a:ext uri="{FF2B5EF4-FFF2-40B4-BE49-F238E27FC236}">
                <a16:creationId xmlns:a16="http://schemas.microsoft.com/office/drawing/2014/main" id="{3A66BA0D-6DF6-AC16-CA34-CF1DD8589E8B}"/>
              </a:ext>
            </a:extLst>
          </p:cNvPr>
          <p:cNvSpPr txBox="1"/>
          <p:nvPr/>
        </p:nvSpPr>
        <p:spPr>
          <a:xfrm>
            <a:off x="6495886" y="4848907"/>
            <a:ext cx="5429094" cy="400110"/>
          </a:xfrm>
          <a:prstGeom prst="rect">
            <a:avLst/>
          </a:prstGeom>
          <a:noFill/>
        </p:spPr>
        <p:txBody>
          <a:bodyPr wrap="square" rtlCol="0">
            <a:spAutoFit/>
          </a:bodyPr>
          <a:lstStyle/>
          <a:p>
            <a:r>
              <a:rPr kumimoji="1" lang="en-US" altLang="zh-TW" sz="2000" dirty="0"/>
              <a:t>threshold = 0.5 -&gt; </a:t>
            </a:r>
            <a:r>
              <a:rPr kumimoji="1" lang="zh-TW" altLang="en-US" sz="2000" dirty="0">
                <a:solidFill>
                  <a:srgbClr val="FF0000"/>
                </a:solidFill>
                <a:latin typeface="Microsoft JhengHei" panose="020B0604030504040204" pitchFamily="34" charset="-120"/>
                <a:ea typeface="Microsoft JhengHei" panose="020B0604030504040204" pitchFamily="34" charset="-120"/>
              </a:rPr>
              <a:t>模型預測為</a:t>
            </a:r>
            <a:r>
              <a:rPr kumimoji="1" lang="en-US" altLang="zh-TW" sz="2000" dirty="0">
                <a:solidFill>
                  <a:srgbClr val="FF0000"/>
                </a:solidFill>
              </a:rPr>
              <a:t>1</a:t>
            </a:r>
            <a:r>
              <a:rPr kumimoji="1" lang="zh-TW" altLang="en-US" sz="2000" dirty="0">
                <a:solidFill>
                  <a:srgbClr val="FF0000"/>
                </a:solidFill>
              </a:rPr>
              <a:t>，</a:t>
            </a:r>
            <a:r>
              <a:rPr kumimoji="1" lang="zh-TW" altLang="en-US" sz="2000" dirty="0">
                <a:solidFill>
                  <a:srgbClr val="FF0000"/>
                </a:solidFill>
                <a:ea typeface="Microsoft JhengHei" panose="020B0604030504040204" pitchFamily="34" charset="-120"/>
              </a:rPr>
              <a:t>正確數量</a:t>
            </a:r>
            <a:r>
              <a:rPr kumimoji="1" lang="en-US" altLang="zh-TW" sz="2000" dirty="0">
                <a:solidFill>
                  <a:srgbClr val="FF0000"/>
                </a:solidFill>
                <a:ea typeface="Microsoft JhengHei" panose="020B0604030504040204" pitchFamily="34" charset="-120"/>
              </a:rPr>
              <a:t>+1</a:t>
            </a:r>
            <a:endParaRPr kumimoji="1" lang="zh-TW" altLang="en-US" sz="2000" dirty="0">
              <a:solidFill>
                <a:srgbClr val="FF0000"/>
              </a:solidFill>
              <a:ea typeface="Microsoft JhengHei" panose="020B0604030504040204" pitchFamily="34" charset="-120"/>
            </a:endParaRPr>
          </a:p>
        </p:txBody>
      </p:sp>
      <p:sp>
        <p:nvSpPr>
          <p:cNvPr id="17" name="文字方塊 16">
            <a:extLst>
              <a:ext uri="{FF2B5EF4-FFF2-40B4-BE49-F238E27FC236}">
                <a16:creationId xmlns:a16="http://schemas.microsoft.com/office/drawing/2014/main" id="{4CF2DD05-8227-E1B6-A7F5-EC7EC1F4DAFB}"/>
              </a:ext>
            </a:extLst>
          </p:cNvPr>
          <p:cNvSpPr txBox="1"/>
          <p:nvPr/>
        </p:nvSpPr>
        <p:spPr>
          <a:xfrm>
            <a:off x="6495886" y="5315389"/>
            <a:ext cx="5429094" cy="400110"/>
          </a:xfrm>
          <a:prstGeom prst="rect">
            <a:avLst/>
          </a:prstGeom>
          <a:noFill/>
        </p:spPr>
        <p:txBody>
          <a:bodyPr wrap="square" rtlCol="0">
            <a:spAutoFit/>
          </a:bodyPr>
          <a:lstStyle/>
          <a:p>
            <a:r>
              <a:rPr kumimoji="1" lang="en-US" altLang="zh-TW" sz="2000" dirty="0"/>
              <a:t>threshold = 0.6 -&gt; </a:t>
            </a:r>
            <a:r>
              <a:rPr kumimoji="1" lang="zh-TW" altLang="en-US" sz="2000" dirty="0">
                <a:solidFill>
                  <a:srgbClr val="FF0000"/>
                </a:solidFill>
                <a:latin typeface="Microsoft JhengHei" panose="020B0604030504040204" pitchFamily="34" charset="-120"/>
                <a:ea typeface="Microsoft JhengHei" panose="020B0604030504040204" pitchFamily="34" charset="-120"/>
              </a:rPr>
              <a:t>模型預測為</a:t>
            </a:r>
            <a:r>
              <a:rPr kumimoji="1" lang="en-US" altLang="zh-TW" sz="2000" dirty="0">
                <a:solidFill>
                  <a:srgbClr val="FF0000"/>
                </a:solidFill>
                <a:latin typeface="Microsoft JhengHei" panose="020B0604030504040204" pitchFamily="34" charset="-120"/>
                <a:ea typeface="Microsoft JhengHei" panose="020B0604030504040204" pitchFamily="34" charset="-120"/>
              </a:rPr>
              <a:t>0</a:t>
            </a:r>
            <a:r>
              <a:rPr kumimoji="1" lang="zh-TW" altLang="en-US" sz="2000" dirty="0">
                <a:solidFill>
                  <a:srgbClr val="FF0000"/>
                </a:solidFill>
              </a:rPr>
              <a:t>，</a:t>
            </a:r>
            <a:r>
              <a:rPr kumimoji="1" lang="zh-TW" altLang="en-US" sz="2000" dirty="0">
                <a:solidFill>
                  <a:srgbClr val="FF0000"/>
                </a:solidFill>
                <a:ea typeface="Microsoft JhengHei" panose="020B0604030504040204" pitchFamily="34" charset="-120"/>
              </a:rPr>
              <a:t>正確數量</a:t>
            </a:r>
            <a:r>
              <a:rPr kumimoji="1" lang="en-US" altLang="zh-TW" sz="2000" dirty="0">
                <a:solidFill>
                  <a:srgbClr val="FF0000"/>
                </a:solidFill>
                <a:ea typeface="Microsoft JhengHei" panose="020B0604030504040204" pitchFamily="34" charset="-120"/>
              </a:rPr>
              <a:t>-1</a:t>
            </a:r>
            <a:endParaRPr kumimoji="1" lang="zh-TW" altLang="en-US" sz="2000" dirty="0">
              <a:solidFill>
                <a:srgbClr val="FF0000"/>
              </a:solidFill>
            </a:endParaRPr>
          </a:p>
        </p:txBody>
      </p:sp>
      <p:sp>
        <p:nvSpPr>
          <p:cNvPr id="18" name="文字方塊 17">
            <a:extLst>
              <a:ext uri="{FF2B5EF4-FFF2-40B4-BE49-F238E27FC236}">
                <a16:creationId xmlns:a16="http://schemas.microsoft.com/office/drawing/2014/main" id="{11DFCA5E-A82D-3071-424A-CCA97829AA0D}"/>
              </a:ext>
            </a:extLst>
          </p:cNvPr>
          <p:cNvSpPr txBox="1"/>
          <p:nvPr/>
        </p:nvSpPr>
        <p:spPr>
          <a:xfrm>
            <a:off x="6939429" y="4186142"/>
            <a:ext cx="3453361" cy="461665"/>
          </a:xfrm>
          <a:prstGeom prst="rect">
            <a:avLst/>
          </a:prstGeom>
          <a:noFill/>
        </p:spPr>
        <p:txBody>
          <a:bodyPr wrap="square">
            <a:spAutoFit/>
          </a:bodyPr>
          <a:lstStyle/>
          <a:p>
            <a:pPr algn="ctr"/>
            <a:r>
              <a:rPr lang="zh-TW" altLang="en-US" sz="2400" dirty="0">
                <a:latin typeface="Microsoft JhengHei" panose="020B0604030504040204" pitchFamily="34" charset="-120"/>
                <a:ea typeface="Microsoft JhengHei" panose="020B0604030504040204" pitchFamily="34" charset="-120"/>
              </a:rPr>
              <a:t>我們應該設多少門檻？</a:t>
            </a:r>
            <a:endParaRPr lang="zh-TW" altLang="en-US" sz="2400" dirty="0"/>
          </a:p>
        </p:txBody>
      </p:sp>
    </p:spTree>
    <p:extLst>
      <p:ext uri="{BB962C8B-B14F-4D97-AF65-F5344CB8AC3E}">
        <p14:creationId xmlns:p14="http://schemas.microsoft.com/office/powerpoint/2010/main" val="169188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CF1A5E-CBBE-8572-3D80-00AEBB7351A0}"/>
              </a:ext>
            </a:extLst>
          </p:cNvPr>
          <p:cNvSpPr>
            <a:spLocks noGrp="1"/>
          </p:cNvSpPr>
          <p:nvPr>
            <p:ph type="title"/>
          </p:nvPr>
        </p:nvSpPr>
        <p:spPr/>
        <p:txBody>
          <a:bodyPr/>
          <a:lstStyle/>
          <a:p>
            <a:r>
              <a:rPr kumimoji="1" lang="en-US" altLang="zh-TW" dirty="0"/>
              <a:t>TPR and FPR </a:t>
            </a:r>
            <a:r>
              <a:rPr kumimoji="1" lang="zh-TW" altLang="en-US" dirty="0">
                <a:latin typeface="Microsoft JhengHei" panose="020B0604030504040204" pitchFamily="34" charset="-120"/>
                <a:ea typeface="Microsoft JhengHei" panose="020B0604030504040204" pitchFamily="34" charset="-120"/>
              </a:rPr>
              <a:t>範例</a:t>
            </a:r>
          </a:p>
        </p:txBody>
      </p:sp>
      <p:sp>
        <p:nvSpPr>
          <p:cNvPr id="4" name="投影片編號版面配置區 3">
            <a:extLst>
              <a:ext uri="{FF2B5EF4-FFF2-40B4-BE49-F238E27FC236}">
                <a16:creationId xmlns:a16="http://schemas.microsoft.com/office/drawing/2014/main" id="{83DA494E-30B8-A1BF-F610-3A3F9C4DA95F}"/>
              </a:ext>
            </a:extLst>
          </p:cNvPr>
          <p:cNvSpPr>
            <a:spLocks noGrp="1"/>
          </p:cNvSpPr>
          <p:nvPr>
            <p:ph type="sldNum" sz="quarter" idx="12"/>
          </p:nvPr>
        </p:nvSpPr>
        <p:spPr/>
        <p:txBody>
          <a:bodyPr/>
          <a:lstStyle/>
          <a:p>
            <a:fld id="{6113E31D-E2AB-40D1-8B51-AFA5AFEF393A}" type="slidenum">
              <a:rPr lang="en-US" smtClean="0"/>
              <a:pPr/>
              <a:t>44</a:t>
            </a:fld>
            <a:endParaRPr lang="en-US" dirty="0"/>
          </a:p>
        </p:txBody>
      </p:sp>
      <p:sp>
        <p:nvSpPr>
          <p:cNvPr id="6" name="文字方塊 5">
            <a:extLst>
              <a:ext uri="{FF2B5EF4-FFF2-40B4-BE49-F238E27FC236}">
                <a16:creationId xmlns:a16="http://schemas.microsoft.com/office/drawing/2014/main" id="{9AF9B1A9-82F9-A8AC-7E24-3BB274583084}"/>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8" name="文字方塊 7">
            <a:extLst>
              <a:ext uri="{FF2B5EF4-FFF2-40B4-BE49-F238E27FC236}">
                <a16:creationId xmlns:a16="http://schemas.microsoft.com/office/drawing/2014/main" id="{062CF801-5AAB-E590-9343-8D9D892A532C}"/>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9" name="向右箭號 8">
            <a:extLst>
              <a:ext uri="{FF2B5EF4-FFF2-40B4-BE49-F238E27FC236}">
                <a16:creationId xmlns:a16="http://schemas.microsoft.com/office/drawing/2014/main" id="{50814E4B-838B-0C7B-4124-4984999A10A5}"/>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552951A3-0AF2-211E-BBDE-FA44F38CA9E9}"/>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11" name="文字方塊 10">
            <a:extLst>
              <a:ext uri="{FF2B5EF4-FFF2-40B4-BE49-F238E27FC236}">
                <a16:creationId xmlns:a16="http://schemas.microsoft.com/office/drawing/2014/main" id="{213D6C17-6448-D8B0-D22A-6998A1152936}"/>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2" name="文字方塊 11">
            <a:extLst>
              <a:ext uri="{FF2B5EF4-FFF2-40B4-BE49-F238E27FC236}">
                <a16:creationId xmlns:a16="http://schemas.microsoft.com/office/drawing/2014/main" id="{4489E62D-088B-9924-BA04-3934229E7626}"/>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13" name="文字方塊 12">
            <a:extLst>
              <a:ext uri="{FF2B5EF4-FFF2-40B4-BE49-F238E27FC236}">
                <a16:creationId xmlns:a16="http://schemas.microsoft.com/office/drawing/2014/main" id="{6416FA1C-682A-1F6F-CEB1-360572CC7E76}"/>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14" name="文字方塊 13">
            <a:extLst>
              <a:ext uri="{FF2B5EF4-FFF2-40B4-BE49-F238E27FC236}">
                <a16:creationId xmlns:a16="http://schemas.microsoft.com/office/drawing/2014/main" id="{56E5E00A-D07D-B02A-0EAA-DAB3465617FA}"/>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15" name="文字方塊 14">
            <a:extLst>
              <a:ext uri="{FF2B5EF4-FFF2-40B4-BE49-F238E27FC236}">
                <a16:creationId xmlns:a16="http://schemas.microsoft.com/office/drawing/2014/main" id="{70BAD89B-9E0A-AA99-B783-5D236097E72E}"/>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16" name="文字方塊 15">
            <a:extLst>
              <a:ext uri="{FF2B5EF4-FFF2-40B4-BE49-F238E27FC236}">
                <a16:creationId xmlns:a16="http://schemas.microsoft.com/office/drawing/2014/main" id="{E31387B6-7C8E-0007-573B-2843177C5FE1}"/>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17" name="文字方塊 16">
            <a:extLst>
              <a:ext uri="{FF2B5EF4-FFF2-40B4-BE49-F238E27FC236}">
                <a16:creationId xmlns:a16="http://schemas.microsoft.com/office/drawing/2014/main" id="{80F5F19E-0EAE-80DC-DEF3-B33428F58D5B}"/>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18" name="文字方塊 17">
            <a:extLst>
              <a:ext uri="{FF2B5EF4-FFF2-40B4-BE49-F238E27FC236}">
                <a16:creationId xmlns:a16="http://schemas.microsoft.com/office/drawing/2014/main" id="{62235C84-C27E-2E7D-6C8A-060D531B5543}"/>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9" name="文字方塊 18">
            <a:extLst>
              <a:ext uri="{FF2B5EF4-FFF2-40B4-BE49-F238E27FC236}">
                <a16:creationId xmlns:a16="http://schemas.microsoft.com/office/drawing/2014/main" id="{721FBA4A-D5B8-F45F-B1C9-6DAF0D491A2B}"/>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0" name="文字方塊 19">
            <a:extLst>
              <a:ext uri="{FF2B5EF4-FFF2-40B4-BE49-F238E27FC236}">
                <a16:creationId xmlns:a16="http://schemas.microsoft.com/office/drawing/2014/main" id="{994473F0-7974-61D6-4CE6-B752474818D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C155BD96-7B75-6C59-E78A-9DDD46D1511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78DA44C5-016A-EB77-143A-600523ECB764}"/>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3" name="文字方塊 22">
            <a:extLst>
              <a:ext uri="{FF2B5EF4-FFF2-40B4-BE49-F238E27FC236}">
                <a16:creationId xmlns:a16="http://schemas.microsoft.com/office/drawing/2014/main" id="{F74BDC95-B139-53F9-3130-978838A5399A}"/>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4" name="文字方塊 23">
            <a:extLst>
              <a:ext uri="{FF2B5EF4-FFF2-40B4-BE49-F238E27FC236}">
                <a16:creationId xmlns:a16="http://schemas.microsoft.com/office/drawing/2014/main" id="{139D068F-E4C0-40B0-96B0-840539193ECE}"/>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6" name="直線接點 25">
            <a:extLst>
              <a:ext uri="{FF2B5EF4-FFF2-40B4-BE49-F238E27FC236}">
                <a16:creationId xmlns:a16="http://schemas.microsoft.com/office/drawing/2014/main" id="{CDBF48B8-9AEC-1A85-1386-7302555530ED}"/>
              </a:ext>
            </a:extLst>
          </p:cNvPr>
          <p:cNvCxnSpPr/>
          <p:nvPr/>
        </p:nvCxnSpPr>
        <p:spPr>
          <a:xfrm>
            <a:off x="3786224" y="3623465"/>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7FEBDAFB-5149-B7CE-9125-75CF25EF1E19}"/>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8" name="文字方塊 27">
            <a:extLst>
              <a:ext uri="{FF2B5EF4-FFF2-40B4-BE49-F238E27FC236}">
                <a16:creationId xmlns:a16="http://schemas.microsoft.com/office/drawing/2014/main" id="{B1AE665A-9235-4551-0FA9-571F015FA956}"/>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9" name="文字方塊 28">
            <a:extLst>
              <a:ext uri="{FF2B5EF4-FFF2-40B4-BE49-F238E27FC236}">
                <a16:creationId xmlns:a16="http://schemas.microsoft.com/office/drawing/2014/main" id="{C3DF3F1D-6501-6E1E-9833-93C523A22C9A}"/>
              </a:ext>
            </a:extLst>
          </p:cNvPr>
          <p:cNvSpPr txBox="1"/>
          <p:nvPr/>
        </p:nvSpPr>
        <p:spPr>
          <a:xfrm>
            <a:off x="653143" y="1763778"/>
            <a:ext cx="5516544"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1337725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CF1A5E-CBBE-8572-3D80-00AEBB7351A0}"/>
              </a:ext>
            </a:extLst>
          </p:cNvPr>
          <p:cNvSpPr>
            <a:spLocks noGrp="1"/>
          </p:cNvSpPr>
          <p:nvPr>
            <p:ph type="title"/>
          </p:nvPr>
        </p:nvSpPr>
        <p:spPr/>
        <p:txBody>
          <a:bodyPr/>
          <a:lstStyle/>
          <a:p>
            <a:r>
              <a:rPr kumimoji="1" lang="en-US" altLang="zh-TW" dirty="0"/>
              <a:t>TPR and FPR </a:t>
            </a:r>
            <a:r>
              <a:rPr kumimoji="1" lang="zh-TW" altLang="en-US" dirty="0">
                <a:latin typeface="Microsoft JhengHei" panose="020B0604030504040204" pitchFamily="34" charset="-120"/>
                <a:ea typeface="Microsoft JhengHei" panose="020B0604030504040204" pitchFamily="34" charset="-120"/>
              </a:rPr>
              <a:t>範例</a:t>
            </a:r>
            <a:r>
              <a:rPr kumimoji="1" lang="en-US" altLang="zh-TW" dirty="0">
                <a:latin typeface="Microsoft JhengHei" panose="020B0604030504040204" pitchFamily="34" charset="-120"/>
                <a:ea typeface="Microsoft JhengHei" panose="020B0604030504040204" pitchFamily="34" charset="-120"/>
                <a:sym typeface="Wingdings" pitchFamily="2" charset="2"/>
              </a:rPr>
              <a:t> (TPR)</a:t>
            </a:r>
            <a:endParaRPr kumimoji="1" lang="zh-TW" altLang="en-US" dirty="0">
              <a:latin typeface="Microsoft JhengHei" panose="020B0604030504040204" pitchFamily="34" charset="-120"/>
              <a:ea typeface="Microsoft JhengHei" panose="020B0604030504040204" pitchFamily="34" charset="-120"/>
            </a:endParaRPr>
          </a:p>
        </p:txBody>
      </p:sp>
      <p:sp>
        <p:nvSpPr>
          <p:cNvPr id="4" name="投影片編號版面配置區 3">
            <a:extLst>
              <a:ext uri="{FF2B5EF4-FFF2-40B4-BE49-F238E27FC236}">
                <a16:creationId xmlns:a16="http://schemas.microsoft.com/office/drawing/2014/main" id="{83DA494E-30B8-A1BF-F610-3A3F9C4DA95F}"/>
              </a:ext>
            </a:extLst>
          </p:cNvPr>
          <p:cNvSpPr>
            <a:spLocks noGrp="1"/>
          </p:cNvSpPr>
          <p:nvPr>
            <p:ph type="sldNum" sz="quarter" idx="12"/>
          </p:nvPr>
        </p:nvSpPr>
        <p:spPr/>
        <p:txBody>
          <a:bodyPr/>
          <a:lstStyle/>
          <a:p>
            <a:fld id="{6113E31D-E2AB-40D1-8B51-AFA5AFEF393A}" type="slidenum">
              <a:rPr lang="en-US" smtClean="0"/>
              <a:pPr/>
              <a:t>45</a:t>
            </a:fld>
            <a:endParaRPr lang="en-US" dirty="0"/>
          </a:p>
        </p:txBody>
      </p:sp>
      <p:sp>
        <p:nvSpPr>
          <p:cNvPr id="6" name="文字方塊 5">
            <a:extLst>
              <a:ext uri="{FF2B5EF4-FFF2-40B4-BE49-F238E27FC236}">
                <a16:creationId xmlns:a16="http://schemas.microsoft.com/office/drawing/2014/main" id="{9AF9B1A9-82F9-A8AC-7E24-3BB274583084}"/>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8" name="文字方塊 7">
            <a:extLst>
              <a:ext uri="{FF2B5EF4-FFF2-40B4-BE49-F238E27FC236}">
                <a16:creationId xmlns:a16="http://schemas.microsoft.com/office/drawing/2014/main" id="{062CF801-5AAB-E590-9343-8D9D892A532C}"/>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9" name="向右箭號 8">
            <a:extLst>
              <a:ext uri="{FF2B5EF4-FFF2-40B4-BE49-F238E27FC236}">
                <a16:creationId xmlns:a16="http://schemas.microsoft.com/office/drawing/2014/main" id="{50814E4B-838B-0C7B-4124-4984999A10A5}"/>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213D6C17-6448-D8B0-D22A-6998A1152936}"/>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62235C84-C27E-2E7D-6C8A-060D531B5543}"/>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9" name="文字方塊 18">
            <a:extLst>
              <a:ext uri="{FF2B5EF4-FFF2-40B4-BE49-F238E27FC236}">
                <a16:creationId xmlns:a16="http://schemas.microsoft.com/office/drawing/2014/main" id="{721FBA4A-D5B8-F45F-B1C9-6DAF0D491A2B}"/>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0" name="文字方塊 19">
            <a:extLst>
              <a:ext uri="{FF2B5EF4-FFF2-40B4-BE49-F238E27FC236}">
                <a16:creationId xmlns:a16="http://schemas.microsoft.com/office/drawing/2014/main" id="{994473F0-7974-61D6-4CE6-B752474818D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C155BD96-7B75-6C59-E78A-9DDD46D1511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78DA44C5-016A-EB77-143A-600523ECB764}"/>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3" name="文字方塊 22">
            <a:extLst>
              <a:ext uri="{FF2B5EF4-FFF2-40B4-BE49-F238E27FC236}">
                <a16:creationId xmlns:a16="http://schemas.microsoft.com/office/drawing/2014/main" id="{F74BDC95-B139-53F9-3130-978838A5399A}"/>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4" name="文字方塊 23">
            <a:extLst>
              <a:ext uri="{FF2B5EF4-FFF2-40B4-BE49-F238E27FC236}">
                <a16:creationId xmlns:a16="http://schemas.microsoft.com/office/drawing/2014/main" id="{139D068F-E4C0-40B0-96B0-840539193ECE}"/>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6" name="直線接點 25">
            <a:extLst>
              <a:ext uri="{FF2B5EF4-FFF2-40B4-BE49-F238E27FC236}">
                <a16:creationId xmlns:a16="http://schemas.microsoft.com/office/drawing/2014/main" id="{CDBF48B8-9AEC-1A85-1386-7302555530ED}"/>
              </a:ext>
            </a:extLst>
          </p:cNvPr>
          <p:cNvCxnSpPr/>
          <p:nvPr/>
        </p:nvCxnSpPr>
        <p:spPr>
          <a:xfrm>
            <a:off x="3786224" y="3623465"/>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7FEBDAFB-5149-B7CE-9125-75CF25EF1E19}"/>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8" name="文字方塊 27">
            <a:extLst>
              <a:ext uri="{FF2B5EF4-FFF2-40B4-BE49-F238E27FC236}">
                <a16:creationId xmlns:a16="http://schemas.microsoft.com/office/drawing/2014/main" id="{B1AE665A-9235-4551-0FA9-571F015FA956}"/>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3" name="文字方塊 2">
            <a:extLst>
              <a:ext uri="{FF2B5EF4-FFF2-40B4-BE49-F238E27FC236}">
                <a16:creationId xmlns:a16="http://schemas.microsoft.com/office/drawing/2014/main" id="{338EC5D6-5B45-7CE5-9706-8A04B096E863}"/>
              </a:ext>
            </a:extLst>
          </p:cNvPr>
          <p:cNvSpPr txBox="1"/>
          <p:nvPr/>
        </p:nvSpPr>
        <p:spPr>
          <a:xfrm>
            <a:off x="2852730" y="4120285"/>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 name="文字方塊 4">
            <a:extLst>
              <a:ext uri="{FF2B5EF4-FFF2-40B4-BE49-F238E27FC236}">
                <a16:creationId xmlns:a16="http://schemas.microsoft.com/office/drawing/2014/main" id="{53E796B9-DC7B-2A2C-9D62-26AB42086EEA}"/>
              </a:ext>
            </a:extLst>
          </p:cNvPr>
          <p:cNvSpPr txBox="1"/>
          <p:nvPr/>
        </p:nvSpPr>
        <p:spPr>
          <a:xfrm>
            <a:off x="7850735" y="2223699"/>
            <a:ext cx="2599552" cy="707886"/>
          </a:xfrm>
          <a:prstGeom prst="rect">
            <a:avLst/>
          </a:prstGeom>
          <a:noFill/>
        </p:spPr>
        <p:txBody>
          <a:bodyPr wrap="square" rtlCol="0">
            <a:spAutoFit/>
          </a:bodyPr>
          <a:lstStyle/>
          <a:p>
            <a:r>
              <a:rPr kumimoji="1" lang="en-US" altLang="zh-TW" sz="2000" dirty="0"/>
              <a:t>True positive rate (TPR) = 4 / 5 = 0.8</a:t>
            </a:r>
            <a:endParaRPr kumimoji="1" lang="zh-TW" altLang="en-US" sz="2000" dirty="0"/>
          </a:p>
        </p:txBody>
      </p:sp>
      <p:sp>
        <p:nvSpPr>
          <p:cNvPr id="7" name="文字方塊 6">
            <a:extLst>
              <a:ext uri="{FF2B5EF4-FFF2-40B4-BE49-F238E27FC236}">
                <a16:creationId xmlns:a16="http://schemas.microsoft.com/office/drawing/2014/main" id="{AD03B8C8-30E8-66F1-20A1-70C637CEE2DF}"/>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25" name="文字方塊 24">
            <a:extLst>
              <a:ext uri="{FF2B5EF4-FFF2-40B4-BE49-F238E27FC236}">
                <a16:creationId xmlns:a16="http://schemas.microsoft.com/office/drawing/2014/main" id="{84FB7965-17D6-8402-7133-28589187AB23}"/>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30" name="文字方塊 29">
            <a:extLst>
              <a:ext uri="{FF2B5EF4-FFF2-40B4-BE49-F238E27FC236}">
                <a16:creationId xmlns:a16="http://schemas.microsoft.com/office/drawing/2014/main" id="{93C18112-EFAA-4569-FC82-73E72291CB7F}"/>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31" name="文字方塊 30">
            <a:extLst>
              <a:ext uri="{FF2B5EF4-FFF2-40B4-BE49-F238E27FC236}">
                <a16:creationId xmlns:a16="http://schemas.microsoft.com/office/drawing/2014/main" id="{3C21EBBD-8009-1DA4-0DC8-7AAE5E9DB472}"/>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32" name="文字方塊 31">
            <a:extLst>
              <a:ext uri="{FF2B5EF4-FFF2-40B4-BE49-F238E27FC236}">
                <a16:creationId xmlns:a16="http://schemas.microsoft.com/office/drawing/2014/main" id="{EA341934-F796-44C9-B685-C2E0A2500F4E}"/>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33" name="文字方塊 32">
            <a:extLst>
              <a:ext uri="{FF2B5EF4-FFF2-40B4-BE49-F238E27FC236}">
                <a16:creationId xmlns:a16="http://schemas.microsoft.com/office/drawing/2014/main" id="{3B95142E-667F-1233-79CC-2320F240D27D}"/>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34" name="文字方塊 33">
            <a:extLst>
              <a:ext uri="{FF2B5EF4-FFF2-40B4-BE49-F238E27FC236}">
                <a16:creationId xmlns:a16="http://schemas.microsoft.com/office/drawing/2014/main" id="{8DF46934-AD7A-4462-4354-3018E32E1501}"/>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35" name="文字方塊 34">
            <a:extLst>
              <a:ext uri="{FF2B5EF4-FFF2-40B4-BE49-F238E27FC236}">
                <a16:creationId xmlns:a16="http://schemas.microsoft.com/office/drawing/2014/main" id="{78F5B7D5-0F09-B00D-26DF-4E16D3EE734D}"/>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1723797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CF1A5E-CBBE-8572-3D80-00AEBB7351A0}"/>
              </a:ext>
            </a:extLst>
          </p:cNvPr>
          <p:cNvSpPr>
            <a:spLocks noGrp="1"/>
          </p:cNvSpPr>
          <p:nvPr>
            <p:ph type="title"/>
          </p:nvPr>
        </p:nvSpPr>
        <p:spPr/>
        <p:txBody>
          <a:bodyPr/>
          <a:lstStyle/>
          <a:p>
            <a:r>
              <a:rPr kumimoji="1" lang="en-US" altLang="zh-TW" dirty="0"/>
              <a:t>TPR and FPR </a:t>
            </a:r>
            <a:r>
              <a:rPr kumimoji="1" lang="zh-TW" altLang="en-US" dirty="0">
                <a:latin typeface="Microsoft JhengHei" panose="020B0604030504040204" pitchFamily="34" charset="-120"/>
                <a:ea typeface="Microsoft JhengHei" panose="020B0604030504040204" pitchFamily="34" charset="-120"/>
              </a:rPr>
              <a:t>範例</a:t>
            </a:r>
            <a:r>
              <a:rPr kumimoji="1" lang="en-US" altLang="zh-TW" dirty="0">
                <a:latin typeface="Microsoft JhengHei" panose="020B0604030504040204" pitchFamily="34" charset="-120"/>
                <a:ea typeface="Microsoft JhengHei" panose="020B0604030504040204" pitchFamily="34" charset="-120"/>
                <a:sym typeface="Wingdings" pitchFamily="2" charset="2"/>
              </a:rPr>
              <a:t> (FPR)</a:t>
            </a:r>
            <a:endParaRPr kumimoji="1" lang="zh-TW" altLang="en-US" dirty="0">
              <a:latin typeface="Microsoft JhengHei" panose="020B0604030504040204" pitchFamily="34" charset="-120"/>
              <a:ea typeface="Microsoft JhengHei" panose="020B0604030504040204" pitchFamily="34" charset="-120"/>
            </a:endParaRPr>
          </a:p>
        </p:txBody>
      </p:sp>
      <p:sp>
        <p:nvSpPr>
          <p:cNvPr id="4" name="投影片編號版面配置區 3">
            <a:extLst>
              <a:ext uri="{FF2B5EF4-FFF2-40B4-BE49-F238E27FC236}">
                <a16:creationId xmlns:a16="http://schemas.microsoft.com/office/drawing/2014/main" id="{83DA494E-30B8-A1BF-F610-3A3F9C4DA95F}"/>
              </a:ext>
            </a:extLst>
          </p:cNvPr>
          <p:cNvSpPr>
            <a:spLocks noGrp="1"/>
          </p:cNvSpPr>
          <p:nvPr>
            <p:ph type="sldNum" sz="quarter" idx="12"/>
          </p:nvPr>
        </p:nvSpPr>
        <p:spPr/>
        <p:txBody>
          <a:bodyPr/>
          <a:lstStyle/>
          <a:p>
            <a:fld id="{6113E31D-E2AB-40D1-8B51-AFA5AFEF393A}" type="slidenum">
              <a:rPr lang="en-US" smtClean="0"/>
              <a:pPr/>
              <a:t>46</a:t>
            </a:fld>
            <a:endParaRPr lang="en-US" dirty="0"/>
          </a:p>
        </p:txBody>
      </p:sp>
      <p:sp>
        <p:nvSpPr>
          <p:cNvPr id="6" name="文字方塊 5">
            <a:extLst>
              <a:ext uri="{FF2B5EF4-FFF2-40B4-BE49-F238E27FC236}">
                <a16:creationId xmlns:a16="http://schemas.microsoft.com/office/drawing/2014/main" id="{9AF9B1A9-82F9-A8AC-7E24-3BB274583084}"/>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8" name="文字方塊 7">
            <a:extLst>
              <a:ext uri="{FF2B5EF4-FFF2-40B4-BE49-F238E27FC236}">
                <a16:creationId xmlns:a16="http://schemas.microsoft.com/office/drawing/2014/main" id="{062CF801-5AAB-E590-9343-8D9D892A532C}"/>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9" name="向右箭號 8">
            <a:extLst>
              <a:ext uri="{FF2B5EF4-FFF2-40B4-BE49-F238E27FC236}">
                <a16:creationId xmlns:a16="http://schemas.microsoft.com/office/drawing/2014/main" id="{50814E4B-838B-0C7B-4124-4984999A10A5}"/>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213D6C17-6448-D8B0-D22A-6998A1152936}"/>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62235C84-C27E-2E7D-6C8A-060D531B5543}"/>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9" name="文字方塊 18">
            <a:extLst>
              <a:ext uri="{FF2B5EF4-FFF2-40B4-BE49-F238E27FC236}">
                <a16:creationId xmlns:a16="http://schemas.microsoft.com/office/drawing/2014/main" id="{721FBA4A-D5B8-F45F-B1C9-6DAF0D491A2B}"/>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0" name="文字方塊 19">
            <a:extLst>
              <a:ext uri="{FF2B5EF4-FFF2-40B4-BE49-F238E27FC236}">
                <a16:creationId xmlns:a16="http://schemas.microsoft.com/office/drawing/2014/main" id="{994473F0-7974-61D6-4CE6-B752474818D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C155BD96-7B75-6C59-E78A-9DDD46D1511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78DA44C5-016A-EB77-143A-600523ECB764}"/>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3" name="文字方塊 22">
            <a:extLst>
              <a:ext uri="{FF2B5EF4-FFF2-40B4-BE49-F238E27FC236}">
                <a16:creationId xmlns:a16="http://schemas.microsoft.com/office/drawing/2014/main" id="{F74BDC95-B139-53F9-3130-978838A5399A}"/>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4" name="文字方塊 23">
            <a:extLst>
              <a:ext uri="{FF2B5EF4-FFF2-40B4-BE49-F238E27FC236}">
                <a16:creationId xmlns:a16="http://schemas.microsoft.com/office/drawing/2014/main" id="{139D068F-E4C0-40B0-96B0-840539193ECE}"/>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6" name="直線接點 25">
            <a:extLst>
              <a:ext uri="{FF2B5EF4-FFF2-40B4-BE49-F238E27FC236}">
                <a16:creationId xmlns:a16="http://schemas.microsoft.com/office/drawing/2014/main" id="{CDBF48B8-9AEC-1A85-1386-7302555530ED}"/>
              </a:ext>
            </a:extLst>
          </p:cNvPr>
          <p:cNvCxnSpPr/>
          <p:nvPr/>
        </p:nvCxnSpPr>
        <p:spPr>
          <a:xfrm>
            <a:off x="3786224" y="3623465"/>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7FEBDAFB-5149-B7CE-9125-75CF25EF1E19}"/>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8" name="文字方塊 27">
            <a:extLst>
              <a:ext uri="{FF2B5EF4-FFF2-40B4-BE49-F238E27FC236}">
                <a16:creationId xmlns:a16="http://schemas.microsoft.com/office/drawing/2014/main" id="{B1AE665A-9235-4551-0FA9-571F015FA956}"/>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3" name="文字方塊 2">
            <a:extLst>
              <a:ext uri="{FF2B5EF4-FFF2-40B4-BE49-F238E27FC236}">
                <a16:creationId xmlns:a16="http://schemas.microsoft.com/office/drawing/2014/main" id="{338EC5D6-5B45-7CE5-9706-8A04B096E863}"/>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 name="文字方塊 4">
            <a:extLst>
              <a:ext uri="{FF2B5EF4-FFF2-40B4-BE49-F238E27FC236}">
                <a16:creationId xmlns:a16="http://schemas.microsoft.com/office/drawing/2014/main" id="{53E796B9-DC7B-2A2C-9D62-26AB42086EEA}"/>
              </a:ext>
            </a:extLst>
          </p:cNvPr>
          <p:cNvSpPr txBox="1"/>
          <p:nvPr/>
        </p:nvSpPr>
        <p:spPr>
          <a:xfrm>
            <a:off x="7850735" y="2223699"/>
            <a:ext cx="2599552" cy="707886"/>
          </a:xfrm>
          <a:prstGeom prst="rect">
            <a:avLst/>
          </a:prstGeom>
          <a:noFill/>
        </p:spPr>
        <p:txBody>
          <a:bodyPr wrap="square" rtlCol="0">
            <a:spAutoFit/>
          </a:bodyPr>
          <a:lstStyle/>
          <a:p>
            <a:r>
              <a:rPr kumimoji="1" lang="en-US" altLang="zh-TW" sz="2000" dirty="0"/>
              <a:t>False positive rate (FPR) = 2 / 5 = 0.4</a:t>
            </a:r>
            <a:endParaRPr kumimoji="1" lang="zh-TW" altLang="en-US" sz="2000" dirty="0"/>
          </a:p>
        </p:txBody>
      </p:sp>
      <p:sp>
        <p:nvSpPr>
          <p:cNvPr id="7" name="文字方塊 6">
            <a:extLst>
              <a:ext uri="{FF2B5EF4-FFF2-40B4-BE49-F238E27FC236}">
                <a16:creationId xmlns:a16="http://schemas.microsoft.com/office/drawing/2014/main" id="{ECD16BE7-08E4-4FF0-0A0C-91A0A03D4EF3}"/>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5" name="文字方塊 24">
            <a:extLst>
              <a:ext uri="{FF2B5EF4-FFF2-40B4-BE49-F238E27FC236}">
                <a16:creationId xmlns:a16="http://schemas.microsoft.com/office/drawing/2014/main" id="{7E2ACCC7-D170-1833-82B3-6F6520201193}"/>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30" name="文字方塊 29">
            <a:extLst>
              <a:ext uri="{FF2B5EF4-FFF2-40B4-BE49-F238E27FC236}">
                <a16:creationId xmlns:a16="http://schemas.microsoft.com/office/drawing/2014/main" id="{E76D1BC0-1F0A-6C8B-8908-51E442746BC2}"/>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31" name="文字方塊 30">
            <a:extLst>
              <a:ext uri="{FF2B5EF4-FFF2-40B4-BE49-F238E27FC236}">
                <a16:creationId xmlns:a16="http://schemas.microsoft.com/office/drawing/2014/main" id="{3CBC01FE-91E2-FD14-4653-C5FEB41A76B1}"/>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32" name="文字方塊 31">
            <a:extLst>
              <a:ext uri="{FF2B5EF4-FFF2-40B4-BE49-F238E27FC236}">
                <a16:creationId xmlns:a16="http://schemas.microsoft.com/office/drawing/2014/main" id="{3FBCA88E-BEA0-F486-75ED-A09A3217240B}"/>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33" name="文字方塊 32">
            <a:extLst>
              <a:ext uri="{FF2B5EF4-FFF2-40B4-BE49-F238E27FC236}">
                <a16:creationId xmlns:a16="http://schemas.microsoft.com/office/drawing/2014/main" id="{46933C5C-5431-3BF2-5B37-E5916296719E}"/>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34" name="文字方塊 33">
            <a:extLst>
              <a:ext uri="{FF2B5EF4-FFF2-40B4-BE49-F238E27FC236}">
                <a16:creationId xmlns:a16="http://schemas.microsoft.com/office/drawing/2014/main" id="{3D610C1E-B87D-CF52-E8A1-FDF3418F5EB6}"/>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35" name="文字方塊 34">
            <a:extLst>
              <a:ext uri="{FF2B5EF4-FFF2-40B4-BE49-F238E27FC236}">
                <a16:creationId xmlns:a16="http://schemas.microsoft.com/office/drawing/2014/main" id="{F7DE7EE4-6B6B-1966-7439-72A70785FF44}"/>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36" name="文字方塊 35">
            <a:extLst>
              <a:ext uri="{FF2B5EF4-FFF2-40B4-BE49-F238E27FC236}">
                <a16:creationId xmlns:a16="http://schemas.microsoft.com/office/drawing/2014/main" id="{BD387D06-A6B7-F18D-FA09-7F35C0D5BB99}"/>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3792060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47</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1409791" y="3545594"/>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7" name="文字方塊 26">
            <a:extLst>
              <a:ext uri="{FF2B5EF4-FFF2-40B4-BE49-F238E27FC236}">
                <a16:creationId xmlns:a16="http://schemas.microsoft.com/office/drawing/2014/main" id="{638C26AC-D0EE-F0C0-FFC4-2F71C1ECF5CB}"/>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207AEC77-918F-828B-9756-BD525A574584}"/>
              </a:ext>
            </a:extLst>
          </p:cNvPr>
          <p:cNvSpPr txBox="1"/>
          <p:nvPr/>
        </p:nvSpPr>
        <p:spPr>
          <a:xfrm>
            <a:off x="1808705" y="4281720"/>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1" name="文字方塊 50">
            <a:extLst>
              <a:ext uri="{FF2B5EF4-FFF2-40B4-BE49-F238E27FC236}">
                <a16:creationId xmlns:a16="http://schemas.microsoft.com/office/drawing/2014/main" id="{27088B89-F77B-309E-C468-DE16D19662C0}"/>
              </a:ext>
            </a:extLst>
          </p:cNvPr>
          <p:cNvSpPr txBox="1"/>
          <p:nvPr/>
        </p:nvSpPr>
        <p:spPr>
          <a:xfrm>
            <a:off x="2191615"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2" name="文字方塊 51">
            <a:extLst>
              <a:ext uri="{FF2B5EF4-FFF2-40B4-BE49-F238E27FC236}">
                <a16:creationId xmlns:a16="http://schemas.microsoft.com/office/drawing/2014/main" id="{634BDD10-D7A2-5A05-999A-2A8245DE9DFD}"/>
              </a:ext>
            </a:extLst>
          </p:cNvPr>
          <p:cNvSpPr txBox="1"/>
          <p:nvPr/>
        </p:nvSpPr>
        <p:spPr>
          <a:xfrm>
            <a:off x="3268801"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 name="文字方塊 2">
            <a:extLst>
              <a:ext uri="{FF2B5EF4-FFF2-40B4-BE49-F238E27FC236}">
                <a16:creationId xmlns:a16="http://schemas.microsoft.com/office/drawing/2014/main" id="{B41D53BF-7513-9319-8B06-A6BD4E3D0F49}"/>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29" name="文字方塊 28">
            <a:extLst>
              <a:ext uri="{FF2B5EF4-FFF2-40B4-BE49-F238E27FC236}">
                <a16:creationId xmlns:a16="http://schemas.microsoft.com/office/drawing/2014/main" id="{6346454D-F44E-883F-A597-6F49EDCFC07B}"/>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32" name="文字方塊 31">
            <a:extLst>
              <a:ext uri="{FF2B5EF4-FFF2-40B4-BE49-F238E27FC236}">
                <a16:creationId xmlns:a16="http://schemas.microsoft.com/office/drawing/2014/main" id="{4CC10C33-D3C1-7A35-B132-F57B7FB2845E}"/>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33" name="文字方塊 32">
            <a:extLst>
              <a:ext uri="{FF2B5EF4-FFF2-40B4-BE49-F238E27FC236}">
                <a16:creationId xmlns:a16="http://schemas.microsoft.com/office/drawing/2014/main" id="{7FA44D70-BCF6-B7A1-5727-862BA6161469}"/>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34" name="文字方塊 33">
            <a:extLst>
              <a:ext uri="{FF2B5EF4-FFF2-40B4-BE49-F238E27FC236}">
                <a16:creationId xmlns:a16="http://schemas.microsoft.com/office/drawing/2014/main" id="{2035CA3D-1E63-E8B8-3546-062D90813AAB}"/>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3" name="文字方塊 52">
            <a:extLst>
              <a:ext uri="{FF2B5EF4-FFF2-40B4-BE49-F238E27FC236}">
                <a16:creationId xmlns:a16="http://schemas.microsoft.com/office/drawing/2014/main" id="{EA10106F-3E2F-6BFC-383B-337C190C48B3}"/>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4" name="文字方塊 53">
            <a:extLst>
              <a:ext uri="{FF2B5EF4-FFF2-40B4-BE49-F238E27FC236}">
                <a16:creationId xmlns:a16="http://schemas.microsoft.com/office/drawing/2014/main" id="{ED82157A-2E24-E78E-C1C3-E9CBACC3A093}"/>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5" name="文字方塊 54">
            <a:extLst>
              <a:ext uri="{FF2B5EF4-FFF2-40B4-BE49-F238E27FC236}">
                <a16:creationId xmlns:a16="http://schemas.microsoft.com/office/drawing/2014/main" id="{93F76CA9-8BA6-DFAE-28B7-7C7FBA7B0F15}"/>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1.0, FPR: 1.0</a:t>
            </a:r>
            <a:endParaRPr kumimoji="1" lang="zh-TW" altLang="en-US" dirty="0"/>
          </a:p>
        </p:txBody>
      </p:sp>
    </p:spTree>
    <p:extLst>
      <p:ext uri="{BB962C8B-B14F-4D97-AF65-F5344CB8AC3E}">
        <p14:creationId xmlns:p14="http://schemas.microsoft.com/office/powerpoint/2010/main" val="1866595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48</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2110664" y="3636408"/>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7" name="文字方塊 26">
            <a:extLst>
              <a:ext uri="{FF2B5EF4-FFF2-40B4-BE49-F238E27FC236}">
                <a16:creationId xmlns:a16="http://schemas.microsoft.com/office/drawing/2014/main" id="{638C26AC-D0EE-F0C0-FFC4-2F71C1ECF5CB}"/>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文字方塊 50">
            <a:extLst>
              <a:ext uri="{FF2B5EF4-FFF2-40B4-BE49-F238E27FC236}">
                <a16:creationId xmlns:a16="http://schemas.microsoft.com/office/drawing/2014/main" id="{27088B89-F77B-309E-C468-DE16D19662C0}"/>
              </a:ext>
            </a:extLst>
          </p:cNvPr>
          <p:cNvSpPr txBox="1"/>
          <p:nvPr/>
        </p:nvSpPr>
        <p:spPr>
          <a:xfrm>
            <a:off x="2191615"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2" name="文字方塊 51">
            <a:extLst>
              <a:ext uri="{FF2B5EF4-FFF2-40B4-BE49-F238E27FC236}">
                <a16:creationId xmlns:a16="http://schemas.microsoft.com/office/drawing/2014/main" id="{634BDD10-D7A2-5A05-999A-2A8245DE9DFD}"/>
              </a:ext>
            </a:extLst>
          </p:cNvPr>
          <p:cNvSpPr txBox="1"/>
          <p:nvPr/>
        </p:nvSpPr>
        <p:spPr>
          <a:xfrm>
            <a:off x="3268801"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文字方塊 28">
            <a:extLst>
              <a:ext uri="{FF2B5EF4-FFF2-40B4-BE49-F238E27FC236}">
                <a16:creationId xmlns:a16="http://schemas.microsoft.com/office/drawing/2014/main" id="{940D31D7-69CD-1D61-6005-7F1C14052AA2}"/>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32" name="文字方塊 31">
            <a:extLst>
              <a:ext uri="{FF2B5EF4-FFF2-40B4-BE49-F238E27FC236}">
                <a16:creationId xmlns:a16="http://schemas.microsoft.com/office/drawing/2014/main" id="{A5F730CF-0CAF-3EB0-CEC8-75005CE8FAE5}"/>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33" name="文字方塊 32">
            <a:extLst>
              <a:ext uri="{FF2B5EF4-FFF2-40B4-BE49-F238E27FC236}">
                <a16:creationId xmlns:a16="http://schemas.microsoft.com/office/drawing/2014/main" id="{282AA0EF-FD77-CAE5-F004-63F8FD001868}"/>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34" name="文字方塊 33">
            <a:extLst>
              <a:ext uri="{FF2B5EF4-FFF2-40B4-BE49-F238E27FC236}">
                <a16:creationId xmlns:a16="http://schemas.microsoft.com/office/drawing/2014/main" id="{FBFC4448-DFFE-1593-333D-AC8CF323D030}"/>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0" name="文字方塊 49">
            <a:extLst>
              <a:ext uri="{FF2B5EF4-FFF2-40B4-BE49-F238E27FC236}">
                <a16:creationId xmlns:a16="http://schemas.microsoft.com/office/drawing/2014/main" id="{F2D44E92-94DE-A582-8E12-C303B201B26C}"/>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3" name="文字方塊 52">
            <a:extLst>
              <a:ext uri="{FF2B5EF4-FFF2-40B4-BE49-F238E27FC236}">
                <a16:creationId xmlns:a16="http://schemas.microsoft.com/office/drawing/2014/main" id="{B02CA647-A7CA-8B1B-4DEA-88349DB59308}"/>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4" name="文字方塊 53">
            <a:extLst>
              <a:ext uri="{FF2B5EF4-FFF2-40B4-BE49-F238E27FC236}">
                <a16:creationId xmlns:a16="http://schemas.microsoft.com/office/drawing/2014/main" id="{DEE4835E-ED66-7233-B5DF-3341D92D8246}"/>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6" name="文字方塊 55">
            <a:extLst>
              <a:ext uri="{FF2B5EF4-FFF2-40B4-BE49-F238E27FC236}">
                <a16:creationId xmlns:a16="http://schemas.microsoft.com/office/drawing/2014/main" id="{17D69074-201E-0333-8DA9-9BDAB5A0686E}"/>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1.0, FPR: 0.8</a:t>
            </a:r>
            <a:endParaRPr kumimoji="1" lang="zh-TW" altLang="en-US" dirty="0"/>
          </a:p>
        </p:txBody>
      </p:sp>
    </p:spTree>
    <p:extLst>
      <p:ext uri="{BB962C8B-B14F-4D97-AF65-F5344CB8AC3E}">
        <p14:creationId xmlns:p14="http://schemas.microsoft.com/office/powerpoint/2010/main" val="2430302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49</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2598012" y="3623824"/>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7" name="文字方塊 26">
            <a:extLst>
              <a:ext uri="{FF2B5EF4-FFF2-40B4-BE49-F238E27FC236}">
                <a16:creationId xmlns:a16="http://schemas.microsoft.com/office/drawing/2014/main" id="{638C26AC-D0EE-F0C0-FFC4-2F71C1ECF5CB}"/>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文字方塊 51">
            <a:extLst>
              <a:ext uri="{FF2B5EF4-FFF2-40B4-BE49-F238E27FC236}">
                <a16:creationId xmlns:a16="http://schemas.microsoft.com/office/drawing/2014/main" id="{634BDD10-D7A2-5A05-999A-2A8245DE9DFD}"/>
              </a:ext>
            </a:extLst>
          </p:cNvPr>
          <p:cNvSpPr txBox="1"/>
          <p:nvPr/>
        </p:nvSpPr>
        <p:spPr>
          <a:xfrm>
            <a:off x="3268801"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文字方塊 31">
            <a:extLst>
              <a:ext uri="{FF2B5EF4-FFF2-40B4-BE49-F238E27FC236}">
                <a16:creationId xmlns:a16="http://schemas.microsoft.com/office/drawing/2014/main" id="{AE50D630-6003-0499-F125-A2373E6C958E}"/>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33" name="文字方塊 32">
            <a:extLst>
              <a:ext uri="{FF2B5EF4-FFF2-40B4-BE49-F238E27FC236}">
                <a16:creationId xmlns:a16="http://schemas.microsoft.com/office/drawing/2014/main" id="{557E7796-9195-74AD-9B96-407E62173846}"/>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34" name="文字方塊 33">
            <a:extLst>
              <a:ext uri="{FF2B5EF4-FFF2-40B4-BE49-F238E27FC236}">
                <a16:creationId xmlns:a16="http://schemas.microsoft.com/office/drawing/2014/main" id="{404B3602-8DF8-C1CC-66C0-B0F2D9506863}"/>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0" name="文字方塊 49">
            <a:extLst>
              <a:ext uri="{FF2B5EF4-FFF2-40B4-BE49-F238E27FC236}">
                <a16:creationId xmlns:a16="http://schemas.microsoft.com/office/drawing/2014/main" id="{8A1CAB93-E389-3D26-A7AB-8A8334CEF1C1}"/>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1" name="文字方塊 50">
            <a:extLst>
              <a:ext uri="{FF2B5EF4-FFF2-40B4-BE49-F238E27FC236}">
                <a16:creationId xmlns:a16="http://schemas.microsoft.com/office/drawing/2014/main" id="{2EB26D62-E193-4547-6497-E59798CB2287}"/>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3" name="文字方塊 52">
            <a:extLst>
              <a:ext uri="{FF2B5EF4-FFF2-40B4-BE49-F238E27FC236}">
                <a16:creationId xmlns:a16="http://schemas.microsoft.com/office/drawing/2014/main" id="{E1C80215-B5CD-40B8-8322-F610F270B46E}"/>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4" name="文字方塊 53">
            <a:extLst>
              <a:ext uri="{FF2B5EF4-FFF2-40B4-BE49-F238E27FC236}">
                <a16:creationId xmlns:a16="http://schemas.microsoft.com/office/drawing/2014/main" id="{31F53BAC-184E-44A9-73F8-DF48D840230E}"/>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5" name="文字方塊 54">
            <a:extLst>
              <a:ext uri="{FF2B5EF4-FFF2-40B4-BE49-F238E27FC236}">
                <a16:creationId xmlns:a16="http://schemas.microsoft.com/office/drawing/2014/main" id="{C60340B7-C4C5-7BC5-2409-07B4B7A3E8B0}"/>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1.0, FPR: 0.6</a:t>
            </a:r>
            <a:endParaRPr kumimoji="1" lang="zh-TW" altLang="en-US" dirty="0"/>
          </a:p>
        </p:txBody>
      </p:sp>
    </p:spTree>
    <p:extLst>
      <p:ext uri="{BB962C8B-B14F-4D97-AF65-F5344CB8AC3E}">
        <p14:creationId xmlns:p14="http://schemas.microsoft.com/office/powerpoint/2010/main" val="339348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50</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3168500" y="3590698"/>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7" name="文字方塊 26">
            <a:extLst>
              <a:ext uri="{FF2B5EF4-FFF2-40B4-BE49-F238E27FC236}">
                <a16:creationId xmlns:a16="http://schemas.microsoft.com/office/drawing/2014/main" id="{638C26AC-D0EE-F0C0-FFC4-2F71C1ECF5CB}"/>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文字方塊 51">
            <a:extLst>
              <a:ext uri="{FF2B5EF4-FFF2-40B4-BE49-F238E27FC236}">
                <a16:creationId xmlns:a16="http://schemas.microsoft.com/office/drawing/2014/main" id="{634BDD10-D7A2-5A05-999A-2A8245DE9DFD}"/>
              </a:ext>
            </a:extLst>
          </p:cNvPr>
          <p:cNvSpPr txBox="1"/>
          <p:nvPr/>
        </p:nvSpPr>
        <p:spPr>
          <a:xfrm>
            <a:off x="3268801" y="4784358"/>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文字方塊 32">
            <a:extLst>
              <a:ext uri="{FF2B5EF4-FFF2-40B4-BE49-F238E27FC236}">
                <a16:creationId xmlns:a16="http://schemas.microsoft.com/office/drawing/2014/main" id="{3E60225D-D13D-3945-C12C-A2B467898EA5}"/>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4" name="文字方塊 33">
            <a:extLst>
              <a:ext uri="{FF2B5EF4-FFF2-40B4-BE49-F238E27FC236}">
                <a16:creationId xmlns:a16="http://schemas.microsoft.com/office/drawing/2014/main" id="{8C8AC4F3-5716-7291-1C2D-E26714D9BC40}"/>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0" name="文字方塊 49">
            <a:extLst>
              <a:ext uri="{FF2B5EF4-FFF2-40B4-BE49-F238E27FC236}">
                <a16:creationId xmlns:a16="http://schemas.microsoft.com/office/drawing/2014/main" id="{5AAEDEBD-45DC-DB0C-AB73-1D4C74902C1D}"/>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1" name="文字方塊 50">
            <a:extLst>
              <a:ext uri="{FF2B5EF4-FFF2-40B4-BE49-F238E27FC236}">
                <a16:creationId xmlns:a16="http://schemas.microsoft.com/office/drawing/2014/main" id="{5FB7A68E-33E6-CD28-8726-32625A2CC86A}"/>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3" name="文字方塊 52">
            <a:extLst>
              <a:ext uri="{FF2B5EF4-FFF2-40B4-BE49-F238E27FC236}">
                <a16:creationId xmlns:a16="http://schemas.microsoft.com/office/drawing/2014/main" id="{743BB526-5048-1F81-20F9-A79AEEEDF969}"/>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4" name="文字方塊 53">
            <a:extLst>
              <a:ext uri="{FF2B5EF4-FFF2-40B4-BE49-F238E27FC236}">
                <a16:creationId xmlns:a16="http://schemas.microsoft.com/office/drawing/2014/main" id="{2E1E9165-D307-CBAB-3C38-EA6E5EF33F31}"/>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5" name="文字方塊 54">
            <a:extLst>
              <a:ext uri="{FF2B5EF4-FFF2-40B4-BE49-F238E27FC236}">
                <a16:creationId xmlns:a16="http://schemas.microsoft.com/office/drawing/2014/main" id="{D6237A1D-9E11-8C59-AC85-DF83560EDD2B}"/>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6" name="文字方塊 55">
            <a:extLst>
              <a:ext uri="{FF2B5EF4-FFF2-40B4-BE49-F238E27FC236}">
                <a16:creationId xmlns:a16="http://schemas.microsoft.com/office/drawing/2014/main" id="{449EF735-6653-6E5A-9726-1311C4CB7DE9}"/>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7" name="文字方塊 56">
            <a:extLst>
              <a:ext uri="{FF2B5EF4-FFF2-40B4-BE49-F238E27FC236}">
                <a16:creationId xmlns:a16="http://schemas.microsoft.com/office/drawing/2014/main" id="{87C301A9-0957-017B-0520-5C43FAFFA482}"/>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0.8, FPR: 0.6</a:t>
            </a:r>
            <a:endParaRPr kumimoji="1" lang="zh-TW" altLang="en-US" dirty="0"/>
          </a:p>
        </p:txBody>
      </p:sp>
    </p:spTree>
    <p:extLst>
      <p:ext uri="{BB962C8B-B14F-4D97-AF65-F5344CB8AC3E}">
        <p14:creationId xmlns:p14="http://schemas.microsoft.com/office/powerpoint/2010/main" val="12840531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51</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3785472" y="3594271"/>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7" name="文字方塊 26">
            <a:extLst>
              <a:ext uri="{FF2B5EF4-FFF2-40B4-BE49-F238E27FC236}">
                <a16:creationId xmlns:a16="http://schemas.microsoft.com/office/drawing/2014/main" id="{638C26AC-D0EE-F0C0-FFC4-2F71C1ECF5CB}"/>
              </a:ext>
            </a:extLst>
          </p:cNvPr>
          <p:cNvSpPr txBox="1"/>
          <p:nvPr/>
        </p:nvSpPr>
        <p:spPr>
          <a:xfrm>
            <a:off x="4124849" y="4224247"/>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6C028913-9EAD-D606-14C0-CF742DEBD56F}"/>
              </a:ext>
            </a:extLst>
          </p:cNvPr>
          <p:cNvSpPr/>
          <p:nvPr/>
        </p:nvSpPr>
        <p:spPr>
          <a:xfrm>
            <a:off x="954593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E821920F-F9E4-702C-4CC7-FBC075A1265D}"/>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3" name="文字方塊 32">
            <a:extLst>
              <a:ext uri="{FF2B5EF4-FFF2-40B4-BE49-F238E27FC236}">
                <a16:creationId xmlns:a16="http://schemas.microsoft.com/office/drawing/2014/main" id="{CC0522B3-20AF-7E3B-DC50-89CCBA2B7C18}"/>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1" name="文字方塊 50">
            <a:extLst>
              <a:ext uri="{FF2B5EF4-FFF2-40B4-BE49-F238E27FC236}">
                <a16:creationId xmlns:a16="http://schemas.microsoft.com/office/drawing/2014/main" id="{2602908B-3C91-AB1C-420C-93B9CC48784C}"/>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2" name="文字方塊 51">
            <a:extLst>
              <a:ext uri="{FF2B5EF4-FFF2-40B4-BE49-F238E27FC236}">
                <a16:creationId xmlns:a16="http://schemas.microsoft.com/office/drawing/2014/main" id="{0BF70D0B-2FD4-809C-7914-F34B5E14A719}"/>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3" name="文字方塊 52">
            <a:extLst>
              <a:ext uri="{FF2B5EF4-FFF2-40B4-BE49-F238E27FC236}">
                <a16:creationId xmlns:a16="http://schemas.microsoft.com/office/drawing/2014/main" id="{8C5656C5-56AB-ACC3-B550-D8262288C72E}"/>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4" name="文字方塊 53">
            <a:extLst>
              <a:ext uri="{FF2B5EF4-FFF2-40B4-BE49-F238E27FC236}">
                <a16:creationId xmlns:a16="http://schemas.microsoft.com/office/drawing/2014/main" id="{40714DD8-47B4-675B-F0B7-151229BCC3D5}"/>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5" name="文字方塊 54">
            <a:extLst>
              <a:ext uri="{FF2B5EF4-FFF2-40B4-BE49-F238E27FC236}">
                <a16:creationId xmlns:a16="http://schemas.microsoft.com/office/drawing/2014/main" id="{FDCCDACD-2E40-FCAB-F0F4-32AF16E70DBB}"/>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6" name="文字方塊 55">
            <a:extLst>
              <a:ext uri="{FF2B5EF4-FFF2-40B4-BE49-F238E27FC236}">
                <a16:creationId xmlns:a16="http://schemas.microsoft.com/office/drawing/2014/main" id="{321192BB-1C5A-2078-A25F-DCD72F5D8654}"/>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7" name="文字方塊 56">
            <a:extLst>
              <a:ext uri="{FF2B5EF4-FFF2-40B4-BE49-F238E27FC236}">
                <a16:creationId xmlns:a16="http://schemas.microsoft.com/office/drawing/2014/main" id="{E9485060-9BE4-7A5B-6F6B-C4A435011E9A}"/>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0.8, FPR: 0.4</a:t>
            </a:r>
            <a:endParaRPr kumimoji="1" lang="zh-TW" altLang="en-US" dirty="0"/>
          </a:p>
        </p:txBody>
      </p:sp>
    </p:spTree>
    <p:extLst>
      <p:ext uri="{BB962C8B-B14F-4D97-AF65-F5344CB8AC3E}">
        <p14:creationId xmlns:p14="http://schemas.microsoft.com/office/powerpoint/2010/main" val="16141923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52</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4363253" y="3618778"/>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6C028913-9EAD-D606-14C0-CF742DEBD56F}"/>
              </a:ext>
            </a:extLst>
          </p:cNvPr>
          <p:cNvSpPr/>
          <p:nvPr/>
        </p:nvSpPr>
        <p:spPr>
          <a:xfrm>
            <a:off x="954593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E821920F-F9E4-702C-4CC7-FBC075A1265D}"/>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3" name="橢圓 32">
            <a:extLst>
              <a:ext uri="{FF2B5EF4-FFF2-40B4-BE49-F238E27FC236}">
                <a16:creationId xmlns:a16="http://schemas.microsoft.com/office/drawing/2014/main" id="{A97534F2-4C66-5FBA-34F7-0C36AFE67EC3}"/>
              </a:ext>
            </a:extLst>
          </p:cNvPr>
          <p:cNvSpPr/>
          <p:nvPr/>
        </p:nvSpPr>
        <p:spPr>
          <a:xfrm>
            <a:off x="909685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文字方塊 26">
            <a:extLst>
              <a:ext uri="{FF2B5EF4-FFF2-40B4-BE49-F238E27FC236}">
                <a16:creationId xmlns:a16="http://schemas.microsoft.com/office/drawing/2014/main" id="{84415E6B-81DD-89AD-DC57-1DFF8723354F}"/>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1" name="文字方塊 50">
            <a:extLst>
              <a:ext uri="{FF2B5EF4-FFF2-40B4-BE49-F238E27FC236}">
                <a16:creationId xmlns:a16="http://schemas.microsoft.com/office/drawing/2014/main" id="{1003E97F-F1BB-4A98-BCD2-3CF2D92B5A4C}"/>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2" name="文字方塊 51">
            <a:extLst>
              <a:ext uri="{FF2B5EF4-FFF2-40B4-BE49-F238E27FC236}">
                <a16:creationId xmlns:a16="http://schemas.microsoft.com/office/drawing/2014/main" id="{72A5EC96-DBA5-7175-3C41-9E06DEB186A9}"/>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3" name="文字方塊 52">
            <a:extLst>
              <a:ext uri="{FF2B5EF4-FFF2-40B4-BE49-F238E27FC236}">
                <a16:creationId xmlns:a16="http://schemas.microsoft.com/office/drawing/2014/main" id="{5085038F-03B2-D26B-913C-73B91CE69AD3}"/>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4" name="文字方塊 53">
            <a:extLst>
              <a:ext uri="{FF2B5EF4-FFF2-40B4-BE49-F238E27FC236}">
                <a16:creationId xmlns:a16="http://schemas.microsoft.com/office/drawing/2014/main" id="{E524CCF3-2B4C-023A-9AEB-6145F09CFC93}"/>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5" name="文字方塊 54">
            <a:extLst>
              <a:ext uri="{FF2B5EF4-FFF2-40B4-BE49-F238E27FC236}">
                <a16:creationId xmlns:a16="http://schemas.microsoft.com/office/drawing/2014/main" id="{1220BE82-881A-6BB6-5665-185B5AC32D75}"/>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6" name="文字方塊 55">
            <a:extLst>
              <a:ext uri="{FF2B5EF4-FFF2-40B4-BE49-F238E27FC236}">
                <a16:creationId xmlns:a16="http://schemas.microsoft.com/office/drawing/2014/main" id="{12531031-E4C6-5E71-4976-7EEF632C8B6A}"/>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7" name="文字方塊 56">
            <a:extLst>
              <a:ext uri="{FF2B5EF4-FFF2-40B4-BE49-F238E27FC236}">
                <a16:creationId xmlns:a16="http://schemas.microsoft.com/office/drawing/2014/main" id="{3268E52E-96EA-48A3-A54C-EF6323141AC2}"/>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0.8, FPR: 0.2</a:t>
            </a:r>
            <a:endParaRPr kumimoji="1" lang="zh-TW" altLang="en-US" dirty="0"/>
          </a:p>
        </p:txBody>
      </p:sp>
    </p:spTree>
    <p:extLst>
      <p:ext uri="{BB962C8B-B14F-4D97-AF65-F5344CB8AC3E}">
        <p14:creationId xmlns:p14="http://schemas.microsoft.com/office/powerpoint/2010/main" val="1849520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53</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4841296" y="3618778"/>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321483" y="4088942"/>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6C028913-9EAD-D606-14C0-CF742DEBD56F}"/>
              </a:ext>
            </a:extLst>
          </p:cNvPr>
          <p:cNvSpPr/>
          <p:nvPr/>
        </p:nvSpPr>
        <p:spPr>
          <a:xfrm>
            <a:off x="954593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E821920F-F9E4-702C-4CC7-FBC075A1265D}"/>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3" name="橢圓 32">
            <a:extLst>
              <a:ext uri="{FF2B5EF4-FFF2-40B4-BE49-F238E27FC236}">
                <a16:creationId xmlns:a16="http://schemas.microsoft.com/office/drawing/2014/main" id="{A97534F2-4C66-5FBA-34F7-0C36AFE67EC3}"/>
              </a:ext>
            </a:extLst>
          </p:cNvPr>
          <p:cNvSpPr/>
          <p:nvPr/>
        </p:nvSpPr>
        <p:spPr>
          <a:xfrm>
            <a:off x="9018396"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橢圓 26">
            <a:extLst>
              <a:ext uri="{FF2B5EF4-FFF2-40B4-BE49-F238E27FC236}">
                <a16:creationId xmlns:a16="http://schemas.microsoft.com/office/drawing/2014/main" id="{F8F1719A-1BA1-4234-6D38-F45FF7E42CE6}"/>
              </a:ext>
            </a:extLst>
          </p:cNvPr>
          <p:cNvSpPr/>
          <p:nvPr/>
        </p:nvSpPr>
        <p:spPr>
          <a:xfrm>
            <a:off x="9029314" y="2602176"/>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文字方塊 50">
            <a:extLst>
              <a:ext uri="{FF2B5EF4-FFF2-40B4-BE49-F238E27FC236}">
                <a16:creationId xmlns:a16="http://schemas.microsoft.com/office/drawing/2014/main" id="{06061F96-5867-D8D8-7EC7-349999F27972}"/>
              </a:ext>
            </a:extLst>
          </p:cNvPr>
          <p:cNvSpPr txBox="1"/>
          <p:nvPr/>
        </p:nvSpPr>
        <p:spPr>
          <a:xfrm>
            <a:off x="4450793" y="4614084"/>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2" name="文字方塊 51">
            <a:extLst>
              <a:ext uri="{FF2B5EF4-FFF2-40B4-BE49-F238E27FC236}">
                <a16:creationId xmlns:a16="http://schemas.microsoft.com/office/drawing/2014/main" id="{28D369E3-F759-514E-2764-4568050C7CC0}"/>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3" name="文字方塊 52">
            <a:extLst>
              <a:ext uri="{FF2B5EF4-FFF2-40B4-BE49-F238E27FC236}">
                <a16:creationId xmlns:a16="http://schemas.microsoft.com/office/drawing/2014/main" id="{18D576B7-676D-2A15-E7F7-CBBBFA9089DA}"/>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4" name="文字方塊 53">
            <a:extLst>
              <a:ext uri="{FF2B5EF4-FFF2-40B4-BE49-F238E27FC236}">
                <a16:creationId xmlns:a16="http://schemas.microsoft.com/office/drawing/2014/main" id="{CF5985F5-623F-A772-C7BC-08A9CCA1E759}"/>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5" name="文字方塊 54">
            <a:extLst>
              <a:ext uri="{FF2B5EF4-FFF2-40B4-BE49-F238E27FC236}">
                <a16:creationId xmlns:a16="http://schemas.microsoft.com/office/drawing/2014/main" id="{87373ABF-2738-FFA2-A5BA-9684C1FD1D49}"/>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6" name="文字方塊 55">
            <a:extLst>
              <a:ext uri="{FF2B5EF4-FFF2-40B4-BE49-F238E27FC236}">
                <a16:creationId xmlns:a16="http://schemas.microsoft.com/office/drawing/2014/main" id="{B0D53A2E-02D7-0A87-9F72-93977C1FB780}"/>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7" name="文字方塊 56">
            <a:extLst>
              <a:ext uri="{FF2B5EF4-FFF2-40B4-BE49-F238E27FC236}">
                <a16:creationId xmlns:a16="http://schemas.microsoft.com/office/drawing/2014/main" id="{5FBEDE89-9BEF-0389-2056-9ACA3D446BF4}"/>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58" name="文字方塊 57">
            <a:extLst>
              <a:ext uri="{FF2B5EF4-FFF2-40B4-BE49-F238E27FC236}">
                <a16:creationId xmlns:a16="http://schemas.microsoft.com/office/drawing/2014/main" id="{F114C786-2A92-7E38-ABDF-736B2559C286}"/>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59" name="文字方塊 58">
            <a:extLst>
              <a:ext uri="{FF2B5EF4-FFF2-40B4-BE49-F238E27FC236}">
                <a16:creationId xmlns:a16="http://schemas.microsoft.com/office/drawing/2014/main" id="{87E13DA8-8332-EA71-C8CE-DF3DFF4BFD4E}"/>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0.6, FPR: 0.2</a:t>
            </a:r>
            <a:endParaRPr kumimoji="1" lang="zh-TW" altLang="en-US" dirty="0"/>
          </a:p>
        </p:txBody>
      </p:sp>
    </p:spTree>
    <p:extLst>
      <p:ext uri="{BB962C8B-B14F-4D97-AF65-F5344CB8AC3E}">
        <p14:creationId xmlns:p14="http://schemas.microsoft.com/office/powerpoint/2010/main" val="462718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54</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5704955" y="3536457"/>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172396" y="4611728"/>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6C028913-9EAD-D606-14C0-CF742DEBD56F}"/>
              </a:ext>
            </a:extLst>
          </p:cNvPr>
          <p:cNvSpPr/>
          <p:nvPr/>
        </p:nvSpPr>
        <p:spPr>
          <a:xfrm>
            <a:off x="954593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E821920F-F9E4-702C-4CC7-FBC075A1265D}"/>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3" name="橢圓 32">
            <a:extLst>
              <a:ext uri="{FF2B5EF4-FFF2-40B4-BE49-F238E27FC236}">
                <a16:creationId xmlns:a16="http://schemas.microsoft.com/office/drawing/2014/main" id="{A97534F2-4C66-5FBA-34F7-0C36AFE67EC3}"/>
              </a:ext>
            </a:extLst>
          </p:cNvPr>
          <p:cNvSpPr/>
          <p:nvPr/>
        </p:nvSpPr>
        <p:spPr>
          <a:xfrm>
            <a:off x="9018396"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橢圓 26">
            <a:extLst>
              <a:ext uri="{FF2B5EF4-FFF2-40B4-BE49-F238E27FC236}">
                <a16:creationId xmlns:a16="http://schemas.microsoft.com/office/drawing/2014/main" id="{F8F1719A-1BA1-4234-6D38-F45FF7E42CE6}"/>
              </a:ext>
            </a:extLst>
          </p:cNvPr>
          <p:cNvSpPr/>
          <p:nvPr/>
        </p:nvSpPr>
        <p:spPr>
          <a:xfrm>
            <a:off x="9029314" y="2602176"/>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文字方塊 50">
            <a:extLst>
              <a:ext uri="{FF2B5EF4-FFF2-40B4-BE49-F238E27FC236}">
                <a16:creationId xmlns:a16="http://schemas.microsoft.com/office/drawing/2014/main" id="{06061F96-5867-D8D8-7EC7-349999F27972}"/>
              </a:ext>
            </a:extLst>
          </p:cNvPr>
          <p:cNvSpPr txBox="1"/>
          <p:nvPr/>
        </p:nvSpPr>
        <p:spPr>
          <a:xfrm>
            <a:off x="4450793" y="4614084"/>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2" name="橢圓 51">
            <a:extLst>
              <a:ext uri="{FF2B5EF4-FFF2-40B4-BE49-F238E27FC236}">
                <a16:creationId xmlns:a16="http://schemas.microsoft.com/office/drawing/2014/main" id="{43046A38-EFE6-0911-68B7-BCC2BCB51C08}"/>
              </a:ext>
            </a:extLst>
          </p:cNvPr>
          <p:cNvSpPr/>
          <p:nvPr/>
        </p:nvSpPr>
        <p:spPr>
          <a:xfrm>
            <a:off x="8578620" y="3037223"/>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3" name="直線接點 52">
            <a:extLst>
              <a:ext uri="{FF2B5EF4-FFF2-40B4-BE49-F238E27FC236}">
                <a16:creationId xmlns:a16="http://schemas.microsoft.com/office/drawing/2014/main" id="{ED698D75-3BBE-67F1-3588-12A9E2C8B713}"/>
              </a:ext>
            </a:extLst>
          </p:cNvPr>
          <p:cNvCxnSpPr>
            <a:cxnSpLocks/>
          </p:cNvCxnSpPr>
          <p:nvPr/>
        </p:nvCxnSpPr>
        <p:spPr>
          <a:xfrm flipV="1">
            <a:off x="8644547" y="2739405"/>
            <a:ext cx="408312" cy="4103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BC2D5921-BAA6-1960-B576-CD0A41F371D2}"/>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5" name="文字方塊 54">
            <a:extLst>
              <a:ext uri="{FF2B5EF4-FFF2-40B4-BE49-F238E27FC236}">
                <a16:creationId xmlns:a16="http://schemas.microsoft.com/office/drawing/2014/main" id="{B447D42C-0810-E40A-5818-B265651360D7}"/>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6" name="文字方塊 55">
            <a:extLst>
              <a:ext uri="{FF2B5EF4-FFF2-40B4-BE49-F238E27FC236}">
                <a16:creationId xmlns:a16="http://schemas.microsoft.com/office/drawing/2014/main" id="{0D7585ED-0357-EAA8-3F44-6E5F56F61CD2}"/>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57" name="文字方塊 56">
            <a:extLst>
              <a:ext uri="{FF2B5EF4-FFF2-40B4-BE49-F238E27FC236}">
                <a16:creationId xmlns:a16="http://schemas.microsoft.com/office/drawing/2014/main" id="{48E2DE91-2853-13F4-9A49-0D0BDC8702D9}"/>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58" name="文字方塊 57">
            <a:extLst>
              <a:ext uri="{FF2B5EF4-FFF2-40B4-BE49-F238E27FC236}">
                <a16:creationId xmlns:a16="http://schemas.microsoft.com/office/drawing/2014/main" id="{9F8A3481-2506-F544-525F-77FF3262DFCB}"/>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59" name="文字方塊 58">
            <a:extLst>
              <a:ext uri="{FF2B5EF4-FFF2-40B4-BE49-F238E27FC236}">
                <a16:creationId xmlns:a16="http://schemas.microsoft.com/office/drawing/2014/main" id="{2A665428-797F-994B-17B5-2208B2B1E7A5}"/>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60" name="文字方塊 59">
            <a:extLst>
              <a:ext uri="{FF2B5EF4-FFF2-40B4-BE49-F238E27FC236}">
                <a16:creationId xmlns:a16="http://schemas.microsoft.com/office/drawing/2014/main" id="{DAFFA4F5-9251-E6B6-E54F-5501A5D882FC}"/>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61" name="文字方塊 60">
            <a:extLst>
              <a:ext uri="{FF2B5EF4-FFF2-40B4-BE49-F238E27FC236}">
                <a16:creationId xmlns:a16="http://schemas.microsoft.com/office/drawing/2014/main" id="{711A0985-382B-8E42-D50D-F2AF34ADE565}"/>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0.4, FPR: 0.0</a:t>
            </a:r>
            <a:endParaRPr kumimoji="1" lang="zh-TW" altLang="en-US" dirty="0"/>
          </a:p>
        </p:txBody>
      </p:sp>
    </p:spTree>
    <p:extLst>
      <p:ext uri="{BB962C8B-B14F-4D97-AF65-F5344CB8AC3E}">
        <p14:creationId xmlns:p14="http://schemas.microsoft.com/office/powerpoint/2010/main" val="1801526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F8DB66-051D-855D-1FB2-C4865ECA7EA1}"/>
              </a:ext>
            </a:extLst>
          </p:cNvPr>
          <p:cNvSpPr>
            <a:spLocks noGrp="1"/>
          </p:cNvSpPr>
          <p:nvPr>
            <p:ph type="title"/>
          </p:nvPr>
        </p:nvSpPr>
        <p:spPr/>
        <p:txBody>
          <a:bodyPr/>
          <a:lstStyle/>
          <a:p>
            <a:r>
              <a:rPr kumimoji="1" lang="en" altLang="zh-TW" dirty="0"/>
              <a:t>ROC Curve</a:t>
            </a:r>
            <a:endParaRPr kumimoji="1" lang="zh-TW" altLang="en-US" dirty="0"/>
          </a:p>
        </p:txBody>
      </p:sp>
      <p:sp>
        <p:nvSpPr>
          <p:cNvPr id="4" name="投影片編號版面配置區 3">
            <a:extLst>
              <a:ext uri="{FF2B5EF4-FFF2-40B4-BE49-F238E27FC236}">
                <a16:creationId xmlns:a16="http://schemas.microsoft.com/office/drawing/2014/main" id="{706BBC8B-70F9-766F-15D8-D7520DD56B6D}"/>
              </a:ext>
            </a:extLst>
          </p:cNvPr>
          <p:cNvSpPr>
            <a:spLocks noGrp="1"/>
          </p:cNvSpPr>
          <p:nvPr>
            <p:ph type="sldNum" sz="quarter" idx="12"/>
          </p:nvPr>
        </p:nvSpPr>
        <p:spPr/>
        <p:txBody>
          <a:bodyPr/>
          <a:lstStyle/>
          <a:p>
            <a:fld id="{6113E31D-E2AB-40D1-8B51-AFA5AFEF393A}" type="slidenum">
              <a:rPr lang="en-US" smtClean="0"/>
              <a:pPr/>
              <a:t>55</a:t>
            </a:fld>
            <a:endParaRPr lang="en-US" dirty="0"/>
          </a:p>
        </p:txBody>
      </p:sp>
      <p:sp>
        <p:nvSpPr>
          <p:cNvPr id="5" name="文字方塊 4">
            <a:extLst>
              <a:ext uri="{FF2B5EF4-FFF2-40B4-BE49-F238E27FC236}">
                <a16:creationId xmlns:a16="http://schemas.microsoft.com/office/drawing/2014/main" id="{B4B26086-3E01-8777-AA87-8B63ABBE652F}"/>
              </a:ext>
            </a:extLst>
          </p:cNvPr>
          <p:cNvSpPr txBox="1"/>
          <p:nvPr/>
        </p:nvSpPr>
        <p:spPr>
          <a:xfrm>
            <a:off x="1601712" y="4210002"/>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6" name="文字方塊 5">
            <a:extLst>
              <a:ext uri="{FF2B5EF4-FFF2-40B4-BE49-F238E27FC236}">
                <a16:creationId xmlns:a16="http://schemas.microsoft.com/office/drawing/2014/main" id="{0A315583-DFCD-57D3-D043-24BCFD77A4D8}"/>
              </a:ext>
            </a:extLst>
          </p:cNvPr>
          <p:cNvSpPr txBox="1"/>
          <p:nvPr/>
        </p:nvSpPr>
        <p:spPr>
          <a:xfrm>
            <a:off x="2504053" y="4170324"/>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7" name="向右箭號 6">
            <a:extLst>
              <a:ext uri="{FF2B5EF4-FFF2-40B4-BE49-F238E27FC236}">
                <a16:creationId xmlns:a16="http://schemas.microsoft.com/office/drawing/2014/main" id="{07927F23-568F-C13A-733D-5EBD0E6746E9}"/>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方塊 8">
            <a:extLst>
              <a:ext uri="{FF2B5EF4-FFF2-40B4-BE49-F238E27FC236}">
                <a16:creationId xmlns:a16="http://schemas.microsoft.com/office/drawing/2014/main" id="{2A6D39C6-5268-9EB3-CEE0-F1077AC53925}"/>
              </a:ext>
            </a:extLst>
          </p:cNvPr>
          <p:cNvSpPr txBox="1"/>
          <p:nvPr/>
        </p:nvSpPr>
        <p:spPr>
          <a:xfrm>
            <a:off x="1971991" y="4698685"/>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6" name="文字方塊 15">
            <a:extLst>
              <a:ext uri="{FF2B5EF4-FFF2-40B4-BE49-F238E27FC236}">
                <a16:creationId xmlns:a16="http://schemas.microsoft.com/office/drawing/2014/main" id="{B59F7F7E-D61E-B824-0DFE-A4C99AF811E0}"/>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7" name="文字方塊 16">
            <a:extLst>
              <a:ext uri="{FF2B5EF4-FFF2-40B4-BE49-F238E27FC236}">
                <a16:creationId xmlns:a16="http://schemas.microsoft.com/office/drawing/2014/main" id="{0C2930B0-E43A-8824-2AA0-D2639CAF06AD}"/>
              </a:ext>
            </a:extLst>
          </p:cNvPr>
          <p:cNvSpPr txBox="1"/>
          <p:nvPr/>
        </p:nvSpPr>
        <p:spPr>
          <a:xfrm>
            <a:off x="3881933" y="414208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8" name="文字方塊 17">
            <a:extLst>
              <a:ext uri="{FF2B5EF4-FFF2-40B4-BE49-F238E27FC236}">
                <a16:creationId xmlns:a16="http://schemas.microsoft.com/office/drawing/2014/main" id="{7574090F-3790-1030-5497-24B0BE335366}"/>
              </a:ext>
            </a:extLst>
          </p:cNvPr>
          <p:cNvSpPr txBox="1"/>
          <p:nvPr/>
        </p:nvSpPr>
        <p:spPr>
          <a:xfrm>
            <a:off x="4146454" y="464788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9" name="文字方塊 18">
            <a:extLst>
              <a:ext uri="{FF2B5EF4-FFF2-40B4-BE49-F238E27FC236}">
                <a16:creationId xmlns:a16="http://schemas.microsoft.com/office/drawing/2014/main" id="{3A7735AA-763F-3EB2-659B-099121E38274}"/>
              </a:ext>
            </a:extLst>
          </p:cNvPr>
          <p:cNvSpPr txBox="1"/>
          <p:nvPr/>
        </p:nvSpPr>
        <p:spPr>
          <a:xfrm>
            <a:off x="4841296"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0" name="文字方塊 19">
            <a:extLst>
              <a:ext uri="{FF2B5EF4-FFF2-40B4-BE49-F238E27FC236}">
                <a16:creationId xmlns:a16="http://schemas.microsoft.com/office/drawing/2014/main" id="{D0053DC2-ED95-3AC5-D3E6-7F068E7DA51D}"/>
              </a:ext>
            </a:extLst>
          </p:cNvPr>
          <p:cNvSpPr txBox="1"/>
          <p:nvPr/>
        </p:nvSpPr>
        <p:spPr>
          <a:xfrm>
            <a:off x="5902654" y="421000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1" name="文字方塊 20">
            <a:extLst>
              <a:ext uri="{FF2B5EF4-FFF2-40B4-BE49-F238E27FC236}">
                <a16:creationId xmlns:a16="http://schemas.microsoft.com/office/drawing/2014/main" id="{417520D2-892F-C3E4-64FE-8F751A3E2D68}"/>
              </a:ext>
            </a:extLst>
          </p:cNvPr>
          <p:cNvSpPr txBox="1"/>
          <p:nvPr/>
        </p:nvSpPr>
        <p:spPr>
          <a:xfrm>
            <a:off x="6791933" y="457557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2" name="文字方塊 21">
            <a:extLst>
              <a:ext uri="{FF2B5EF4-FFF2-40B4-BE49-F238E27FC236}">
                <a16:creationId xmlns:a16="http://schemas.microsoft.com/office/drawing/2014/main" id="{AAABF8E6-773C-219E-E4A8-99BD27D2772F}"/>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cxnSp>
        <p:nvCxnSpPr>
          <p:cNvPr id="23" name="直線接點 22">
            <a:extLst>
              <a:ext uri="{FF2B5EF4-FFF2-40B4-BE49-F238E27FC236}">
                <a16:creationId xmlns:a16="http://schemas.microsoft.com/office/drawing/2014/main" id="{CD2218BA-2162-701A-DCA0-7F0C17464BD8}"/>
              </a:ext>
            </a:extLst>
          </p:cNvPr>
          <p:cNvCxnSpPr/>
          <p:nvPr/>
        </p:nvCxnSpPr>
        <p:spPr>
          <a:xfrm>
            <a:off x="7379698" y="3600320"/>
            <a:ext cx="0" cy="19135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4EC8A6D9-47F8-ECBE-33A9-2298830C7C7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25" name="文字方塊 24">
            <a:extLst>
              <a:ext uri="{FF2B5EF4-FFF2-40B4-BE49-F238E27FC236}">
                <a16:creationId xmlns:a16="http://schemas.microsoft.com/office/drawing/2014/main" id="{60E7F772-C708-7204-1970-046D10C15E64}"/>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26" name="文字方塊 25">
            <a:extLst>
              <a:ext uri="{FF2B5EF4-FFF2-40B4-BE49-F238E27FC236}">
                <a16:creationId xmlns:a16="http://schemas.microsoft.com/office/drawing/2014/main" id="{DCE8D799-626A-5B20-31DA-CA26C72A8ED6}"/>
              </a:ext>
            </a:extLst>
          </p:cNvPr>
          <p:cNvSpPr txBox="1"/>
          <p:nvPr/>
        </p:nvSpPr>
        <p:spPr>
          <a:xfrm>
            <a:off x="653143" y="1763778"/>
            <a:ext cx="5938576" cy="707886"/>
          </a:xfrm>
          <a:prstGeom prst="rect">
            <a:avLst/>
          </a:prstGeom>
          <a:noFill/>
        </p:spPr>
        <p:txBody>
          <a:bodyPr wrap="square" rtlCol="0">
            <a:spAutoFit/>
          </a:bodyPr>
          <a:lstStyle/>
          <a:p>
            <a:r>
              <a:rPr kumimoji="1" lang="zh-TW" altLang="en-US" sz="2000" dirty="0">
                <a:latin typeface="Microsoft JhengHei" panose="020B0604030504040204" pitchFamily="34" charset="-120"/>
                <a:ea typeface="Microsoft JhengHei" panose="020B0604030504040204" pitchFamily="34" charset="-120"/>
              </a:rPr>
              <a:t>假設我們用模型對</a:t>
            </a:r>
            <a:r>
              <a:rPr kumimoji="1" lang="en-US" altLang="zh-TW" sz="2000" dirty="0">
                <a:latin typeface="Microsoft JhengHei" panose="020B0604030504040204" pitchFamily="34" charset="-120"/>
                <a:ea typeface="Microsoft JhengHei" panose="020B0604030504040204" pitchFamily="34" charset="-120"/>
              </a:rPr>
              <a:t>10</a:t>
            </a:r>
            <a:r>
              <a:rPr kumimoji="1" lang="zh-TW" altLang="en-US" sz="2000" dirty="0">
                <a:latin typeface="Microsoft JhengHei" panose="020B0604030504040204" pitchFamily="34" charset="-120"/>
                <a:ea typeface="Microsoft JhengHei" panose="020B0604030504040204" pitchFamily="34" charset="-120"/>
              </a:rPr>
              <a:t>個人做</a:t>
            </a:r>
            <a:r>
              <a:rPr kumimoji="1" lang="en-US" altLang="zh-TW" sz="2000" dirty="0">
                <a:latin typeface="Microsoft JhengHei" panose="020B0604030504040204" pitchFamily="34" charset="-120"/>
                <a:ea typeface="Microsoft JhengHei" panose="020B0604030504040204" pitchFamily="34" charset="-120"/>
              </a:rPr>
              <a:t>COVID-19</a:t>
            </a:r>
            <a:r>
              <a:rPr kumimoji="1" lang="zh-TW" altLang="en-US" sz="2000" dirty="0">
                <a:latin typeface="Microsoft JhengHei" panose="020B0604030504040204" pitchFamily="34" charset="-120"/>
                <a:ea typeface="Microsoft JhengHei" panose="020B0604030504040204" pitchFamily="34" charset="-120"/>
              </a:rPr>
              <a:t>檢測：</a:t>
            </a:r>
            <a:endParaRPr kumimoji="1" lang="en-US" altLang="zh-TW" sz="2000" dirty="0">
              <a:latin typeface="Microsoft JhengHei" panose="020B0604030504040204" pitchFamily="34" charset="-120"/>
              <a:ea typeface="Microsoft JhengHei" panose="020B0604030504040204" pitchFamily="34" charset="-120"/>
            </a:endParaRPr>
          </a:p>
          <a:p>
            <a:r>
              <a:rPr kumimoji="1" lang="en-US" altLang="zh-TW" sz="2000" dirty="0">
                <a:latin typeface="Microsoft JhengHei" panose="020B0604030504040204" pitchFamily="34" charset="-120"/>
                <a:ea typeface="Microsoft JhengHei" panose="020B0604030504040204" pitchFamily="34" charset="-120"/>
              </a:rPr>
              <a:t>(healthy</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negative; COVID-19</a:t>
            </a:r>
            <a:r>
              <a:rPr kumimoji="1" lang="zh-TW" altLang="en-US" sz="2000" dirty="0">
                <a:latin typeface="Microsoft JhengHei" panose="020B0604030504040204" pitchFamily="34" charset="-120"/>
                <a:ea typeface="Microsoft JhengHei" panose="020B0604030504040204" pitchFamily="34" charset="-120"/>
              </a:rPr>
              <a:t> 代表 </a:t>
            </a:r>
            <a:r>
              <a:rPr kumimoji="1" lang="en-US" altLang="zh-TW" sz="2000" dirty="0">
                <a:latin typeface="Microsoft JhengHei" panose="020B0604030504040204" pitchFamily="34" charset="-120"/>
                <a:ea typeface="Microsoft JhengHei" panose="020B0604030504040204" pitchFamily="34" charset="-120"/>
              </a:rPr>
              <a:t>positive)</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28" name="文字方塊 27">
            <a:extLst>
              <a:ext uri="{FF2B5EF4-FFF2-40B4-BE49-F238E27FC236}">
                <a16:creationId xmlns:a16="http://schemas.microsoft.com/office/drawing/2014/main" id="{E5EBE50C-526E-FA95-756F-6CDCC2BCA8A1}"/>
              </a:ext>
            </a:extLst>
          </p:cNvPr>
          <p:cNvSpPr txBox="1"/>
          <p:nvPr/>
        </p:nvSpPr>
        <p:spPr>
          <a:xfrm>
            <a:off x="5172396" y="4611728"/>
            <a:ext cx="482321" cy="369332"/>
          </a:xfrm>
          <a:prstGeom prst="rect">
            <a:avLst/>
          </a:prstGeom>
          <a:noFill/>
        </p:spPr>
        <p:txBody>
          <a:bodyPr wrap="square" rtlCol="0">
            <a:spAutoFit/>
          </a:bodyPr>
          <a:lstStyle/>
          <a:p>
            <a:r>
              <a:rPr kumimoji="1" lang="en-US" altLang="zh-TW" dirty="0"/>
              <a:t>❌</a:t>
            </a:r>
            <a:endParaRPr kumimoji="1" lang="zh-TW" altLang="en-US" dirty="0"/>
          </a:p>
        </p:txBody>
      </p:sp>
      <p:cxnSp>
        <p:nvCxnSpPr>
          <p:cNvPr id="30" name="直線箭頭接點 29">
            <a:extLst>
              <a:ext uri="{FF2B5EF4-FFF2-40B4-BE49-F238E27FC236}">
                <a16:creationId xmlns:a16="http://schemas.microsoft.com/office/drawing/2014/main" id="{8E5EA958-3F1C-0917-BF7D-2E81D7B75525}"/>
              </a:ext>
            </a:extLst>
          </p:cNvPr>
          <p:cNvCxnSpPr>
            <a:cxnSpLocks/>
          </p:cNvCxnSpPr>
          <p:nvPr/>
        </p:nvCxnSpPr>
        <p:spPr>
          <a:xfrm flipV="1">
            <a:off x="8651631" y="1763778"/>
            <a:ext cx="0" cy="2263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EC6B178F-D391-0474-358E-0BBFE17B6A54}"/>
              </a:ext>
            </a:extLst>
          </p:cNvPr>
          <p:cNvCxnSpPr>
            <a:cxnSpLocks/>
          </p:cNvCxnSpPr>
          <p:nvPr/>
        </p:nvCxnSpPr>
        <p:spPr>
          <a:xfrm>
            <a:off x="8651631" y="4026952"/>
            <a:ext cx="26326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C45E6E63-B8A5-2C83-DA99-A1428F1E4C27}"/>
              </a:ext>
            </a:extLst>
          </p:cNvPr>
          <p:cNvSpPr txBox="1"/>
          <p:nvPr/>
        </p:nvSpPr>
        <p:spPr>
          <a:xfrm>
            <a:off x="8485832" y="4026952"/>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36" name="文字方塊 35">
            <a:extLst>
              <a:ext uri="{FF2B5EF4-FFF2-40B4-BE49-F238E27FC236}">
                <a16:creationId xmlns:a16="http://schemas.microsoft.com/office/drawing/2014/main" id="{10CEE2EA-014F-0364-AAF6-CAABB3973FB1}"/>
              </a:ext>
            </a:extLst>
          </p:cNvPr>
          <p:cNvSpPr txBox="1"/>
          <p:nvPr/>
        </p:nvSpPr>
        <p:spPr>
          <a:xfrm>
            <a:off x="8856490" y="402533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37" name="文字方塊 36">
            <a:extLst>
              <a:ext uri="{FF2B5EF4-FFF2-40B4-BE49-F238E27FC236}">
                <a16:creationId xmlns:a16="http://schemas.microsoft.com/office/drawing/2014/main" id="{085E87B6-2939-552F-53B4-A5A5B199C046}"/>
              </a:ext>
            </a:extLst>
          </p:cNvPr>
          <p:cNvSpPr txBox="1"/>
          <p:nvPr/>
        </p:nvSpPr>
        <p:spPr>
          <a:xfrm>
            <a:off x="9384899" y="403772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38" name="文字方塊 37">
            <a:extLst>
              <a:ext uri="{FF2B5EF4-FFF2-40B4-BE49-F238E27FC236}">
                <a16:creationId xmlns:a16="http://schemas.microsoft.com/office/drawing/2014/main" id="{1650832D-4CA1-178A-A1B8-6EC98199C393}"/>
              </a:ext>
            </a:extLst>
          </p:cNvPr>
          <p:cNvSpPr txBox="1"/>
          <p:nvPr/>
        </p:nvSpPr>
        <p:spPr>
          <a:xfrm>
            <a:off x="9913308" y="4037720"/>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39" name="文字方塊 38">
            <a:extLst>
              <a:ext uri="{FF2B5EF4-FFF2-40B4-BE49-F238E27FC236}">
                <a16:creationId xmlns:a16="http://schemas.microsoft.com/office/drawing/2014/main" id="{A8883A52-E28C-4629-18B4-7C2C00464172}"/>
              </a:ext>
            </a:extLst>
          </p:cNvPr>
          <p:cNvSpPr txBox="1"/>
          <p:nvPr/>
        </p:nvSpPr>
        <p:spPr>
          <a:xfrm>
            <a:off x="10441717" y="4037720"/>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0" name="文字方塊 39">
            <a:extLst>
              <a:ext uri="{FF2B5EF4-FFF2-40B4-BE49-F238E27FC236}">
                <a16:creationId xmlns:a16="http://schemas.microsoft.com/office/drawing/2014/main" id="{723F40E5-BFE2-DA93-D0C3-D1FC67CA951C}"/>
              </a:ext>
            </a:extLst>
          </p:cNvPr>
          <p:cNvSpPr txBox="1"/>
          <p:nvPr/>
        </p:nvSpPr>
        <p:spPr>
          <a:xfrm>
            <a:off x="10970127" y="4037720"/>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1" name="文字方塊 40">
            <a:extLst>
              <a:ext uri="{FF2B5EF4-FFF2-40B4-BE49-F238E27FC236}">
                <a16:creationId xmlns:a16="http://schemas.microsoft.com/office/drawing/2014/main" id="{25BE68EB-8DA7-2DE6-1F49-8330538075A6}"/>
              </a:ext>
            </a:extLst>
          </p:cNvPr>
          <p:cNvSpPr txBox="1"/>
          <p:nvPr/>
        </p:nvSpPr>
        <p:spPr>
          <a:xfrm>
            <a:off x="8135101" y="3399456"/>
            <a:ext cx="489347" cy="338554"/>
          </a:xfrm>
          <a:prstGeom prst="rect">
            <a:avLst/>
          </a:prstGeom>
          <a:noFill/>
        </p:spPr>
        <p:txBody>
          <a:bodyPr wrap="square" rtlCol="0">
            <a:spAutoFit/>
          </a:bodyPr>
          <a:lstStyle/>
          <a:p>
            <a:pPr algn="ctr"/>
            <a:r>
              <a:rPr kumimoji="1" lang="en-US" altLang="zh-TW" sz="1600" dirty="0"/>
              <a:t>0.2</a:t>
            </a:r>
            <a:endParaRPr kumimoji="1" lang="zh-TW" altLang="en-US" sz="1600" dirty="0"/>
          </a:p>
        </p:txBody>
      </p:sp>
      <p:sp>
        <p:nvSpPr>
          <p:cNvPr id="42" name="文字方塊 41">
            <a:extLst>
              <a:ext uri="{FF2B5EF4-FFF2-40B4-BE49-F238E27FC236}">
                <a16:creationId xmlns:a16="http://schemas.microsoft.com/office/drawing/2014/main" id="{8167BE84-69C7-BEEC-DAC3-1D3A3B1EB133}"/>
              </a:ext>
            </a:extLst>
          </p:cNvPr>
          <p:cNvSpPr txBox="1"/>
          <p:nvPr/>
        </p:nvSpPr>
        <p:spPr>
          <a:xfrm>
            <a:off x="8135101" y="1634592"/>
            <a:ext cx="489347" cy="338554"/>
          </a:xfrm>
          <a:prstGeom prst="rect">
            <a:avLst/>
          </a:prstGeom>
          <a:noFill/>
        </p:spPr>
        <p:txBody>
          <a:bodyPr wrap="square" rtlCol="0">
            <a:spAutoFit/>
          </a:bodyPr>
          <a:lstStyle/>
          <a:p>
            <a:pPr algn="ctr"/>
            <a:r>
              <a:rPr kumimoji="1" lang="en-US" altLang="zh-TW" sz="1600" dirty="0"/>
              <a:t>1.0</a:t>
            </a:r>
            <a:endParaRPr kumimoji="1" lang="zh-TW" altLang="en-US" sz="1600" dirty="0"/>
          </a:p>
        </p:txBody>
      </p:sp>
      <p:sp>
        <p:nvSpPr>
          <p:cNvPr id="43" name="文字方塊 42">
            <a:extLst>
              <a:ext uri="{FF2B5EF4-FFF2-40B4-BE49-F238E27FC236}">
                <a16:creationId xmlns:a16="http://schemas.microsoft.com/office/drawing/2014/main" id="{8E87A05B-3A5C-AFED-2048-72588296184C}"/>
              </a:ext>
            </a:extLst>
          </p:cNvPr>
          <p:cNvSpPr txBox="1"/>
          <p:nvPr/>
        </p:nvSpPr>
        <p:spPr>
          <a:xfrm>
            <a:off x="8135101" y="2075808"/>
            <a:ext cx="489347" cy="338554"/>
          </a:xfrm>
          <a:prstGeom prst="rect">
            <a:avLst/>
          </a:prstGeom>
          <a:noFill/>
        </p:spPr>
        <p:txBody>
          <a:bodyPr wrap="square" rtlCol="0">
            <a:spAutoFit/>
          </a:bodyPr>
          <a:lstStyle/>
          <a:p>
            <a:pPr algn="ctr"/>
            <a:r>
              <a:rPr kumimoji="1" lang="en-US" altLang="zh-TW" sz="1600" dirty="0"/>
              <a:t>0.8</a:t>
            </a:r>
            <a:endParaRPr kumimoji="1" lang="zh-TW" altLang="en-US" sz="1600" dirty="0"/>
          </a:p>
        </p:txBody>
      </p:sp>
      <p:sp>
        <p:nvSpPr>
          <p:cNvPr id="44" name="文字方塊 43">
            <a:extLst>
              <a:ext uri="{FF2B5EF4-FFF2-40B4-BE49-F238E27FC236}">
                <a16:creationId xmlns:a16="http://schemas.microsoft.com/office/drawing/2014/main" id="{1DD8D553-64F7-E94F-251A-275D5E51FA70}"/>
              </a:ext>
            </a:extLst>
          </p:cNvPr>
          <p:cNvSpPr txBox="1"/>
          <p:nvPr/>
        </p:nvSpPr>
        <p:spPr>
          <a:xfrm>
            <a:off x="8135101" y="2517024"/>
            <a:ext cx="489347" cy="338554"/>
          </a:xfrm>
          <a:prstGeom prst="rect">
            <a:avLst/>
          </a:prstGeom>
          <a:noFill/>
        </p:spPr>
        <p:txBody>
          <a:bodyPr wrap="square" rtlCol="0">
            <a:spAutoFit/>
          </a:bodyPr>
          <a:lstStyle/>
          <a:p>
            <a:pPr algn="ctr"/>
            <a:r>
              <a:rPr kumimoji="1" lang="en-US" altLang="zh-TW" sz="1600" dirty="0"/>
              <a:t>0.6</a:t>
            </a:r>
            <a:endParaRPr kumimoji="1" lang="zh-TW" altLang="en-US" sz="1600" dirty="0"/>
          </a:p>
        </p:txBody>
      </p:sp>
      <p:sp>
        <p:nvSpPr>
          <p:cNvPr id="45" name="文字方塊 44">
            <a:extLst>
              <a:ext uri="{FF2B5EF4-FFF2-40B4-BE49-F238E27FC236}">
                <a16:creationId xmlns:a16="http://schemas.microsoft.com/office/drawing/2014/main" id="{83CAFB72-69CD-C99D-E040-DAF094C88A43}"/>
              </a:ext>
            </a:extLst>
          </p:cNvPr>
          <p:cNvSpPr txBox="1"/>
          <p:nvPr/>
        </p:nvSpPr>
        <p:spPr>
          <a:xfrm>
            <a:off x="8135101" y="2958240"/>
            <a:ext cx="489347" cy="338554"/>
          </a:xfrm>
          <a:prstGeom prst="rect">
            <a:avLst/>
          </a:prstGeom>
          <a:noFill/>
        </p:spPr>
        <p:txBody>
          <a:bodyPr wrap="square" rtlCol="0">
            <a:spAutoFit/>
          </a:bodyPr>
          <a:lstStyle/>
          <a:p>
            <a:pPr algn="ctr"/>
            <a:r>
              <a:rPr kumimoji="1" lang="en-US" altLang="zh-TW" sz="1600" dirty="0"/>
              <a:t>0.4</a:t>
            </a:r>
            <a:endParaRPr kumimoji="1" lang="zh-TW" altLang="en-US" sz="1600" dirty="0"/>
          </a:p>
        </p:txBody>
      </p:sp>
      <p:sp>
        <p:nvSpPr>
          <p:cNvPr id="46" name="文字方塊 45">
            <a:extLst>
              <a:ext uri="{FF2B5EF4-FFF2-40B4-BE49-F238E27FC236}">
                <a16:creationId xmlns:a16="http://schemas.microsoft.com/office/drawing/2014/main" id="{8EDD02C9-3D09-F3CF-45F5-4CC5691EC518}"/>
              </a:ext>
            </a:extLst>
          </p:cNvPr>
          <p:cNvSpPr txBox="1"/>
          <p:nvPr/>
        </p:nvSpPr>
        <p:spPr>
          <a:xfrm>
            <a:off x="8253085" y="3840670"/>
            <a:ext cx="331596" cy="338554"/>
          </a:xfrm>
          <a:prstGeom prst="rect">
            <a:avLst/>
          </a:prstGeom>
          <a:noFill/>
        </p:spPr>
        <p:txBody>
          <a:bodyPr wrap="square" rtlCol="0">
            <a:spAutoFit/>
          </a:bodyPr>
          <a:lstStyle/>
          <a:p>
            <a:pPr algn="ctr"/>
            <a:r>
              <a:rPr kumimoji="1" lang="en-US" altLang="zh-TW" sz="1600" dirty="0"/>
              <a:t>0</a:t>
            </a:r>
            <a:endParaRPr kumimoji="1" lang="zh-TW" altLang="en-US" sz="1600" dirty="0"/>
          </a:p>
        </p:txBody>
      </p:sp>
      <p:sp>
        <p:nvSpPr>
          <p:cNvPr id="47" name="文字方塊 46">
            <a:extLst>
              <a:ext uri="{FF2B5EF4-FFF2-40B4-BE49-F238E27FC236}">
                <a16:creationId xmlns:a16="http://schemas.microsoft.com/office/drawing/2014/main" id="{792961F0-7385-EBFD-D544-0BC7D4547C19}"/>
              </a:ext>
            </a:extLst>
          </p:cNvPr>
          <p:cNvSpPr txBox="1"/>
          <p:nvPr/>
        </p:nvSpPr>
        <p:spPr>
          <a:xfrm>
            <a:off x="7372158" y="2682965"/>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TPR</a:t>
            </a:r>
            <a:endParaRPr kumimoji="1" lang="zh-TW" altLang="en-US" b="1" dirty="0">
              <a:latin typeface="Microsoft JhengHei" panose="020B0604030504040204" pitchFamily="34" charset="-120"/>
              <a:ea typeface="Microsoft JhengHei" panose="020B0604030504040204" pitchFamily="34" charset="-120"/>
            </a:endParaRPr>
          </a:p>
        </p:txBody>
      </p:sp>
      <p:sp>
        <p:nvSpPr>
          <p:cNvPr id="48" name="文字方塊 47">
            <a:extLst>
              <a:ext uri="{FF2B5EF4-FFF2-40B4-BE49-F238E27FC236}">
                <a16:creationId xmlns:a16="http://schemas.microsoft.com/office/drawing/2014/main" id="{2364A430-AA70-B91C-CB95-6DC0B42CB2A6}"/>
              </a:ext>
            </a:extLst>
          </p:cNvPr>
          <p:cNvSpPr txBox="1"/>
          <p:nvPr/>
        </p:nvSpPr>
        <p:spPr>
          <a:xfrm>
            <a:off x="9606600" y="4371893"/>
            <a:ext cx="854112" cy="369332"/>
          </a:xfrm>
          <a:prstGeom prst="rect">
            <a:avLst/>
          </a:prstGeom>
          <a:noFill/>
        </p:spPr>
        <p:txBody>
          <a:bodyPr wrap="square" rtlCol="0">
            <a:spAutoFit/>
          </a:bodyPr>
          <a:lstStyle/>
          <a:p>
            <a:pPr algn="ctr"/>
            <a:r>
              <a:rPr kumimoji="1" lang="en-US" altLang="zh-TW" b="1" dirty="0">
                <a:latin typeface="Microsoft JhengHei" panose="020B0604030504040204" pitchFamily="34" charset="-120"/>
                <a:ea typeface="Microsoft JhengHei" panose="020B0604030504040204" pitchFamily="34" charset="-120"/>
              </a:rPr>
              <a:t>FPR</a:t>
            </a:r>
            <a:endParaRPr kumimoji="1" lang="zh-TW" altLang="en-US" b="1" dirty="0">
              <a:latin typeface="Microsoft JhengHei" panose="020B0604030504040204" pitchFamily="34" charset="-120"/>
              <a:ea typeface="Microsoft JhengHei" panose="020B0604030504040204" pitchFamily="34" charset="-120"/>
            </a:endParaRPr>
          </a:p>
        </p:txBody>
      </p:sp>
      <p:sp>
        <p:nvSpPr>
          <p:cNvPr id="49" name="橢圓 48">
            <a:extLst>
              <a:ext uri="{FF2B5EF4-FFF2-40B4-BE49-F238E27FC236}">
                <a16:creationId xmlns:a16="http://schemas.microsoft.com/office/drawing/2014/main" id="{3A2AC899-EBAD-3726-2312-1F66C5B19581}"/>
              </a:ext>
            </a:extLst>
          </p:cNvPr>
          <p:cNvSpPr/>
          <p:nvPr/>
        </p:nvSpPr>
        <p:spPr>
          <a:xfrm>
            <a:off x="11134413"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橢圓 2">
            <a:extLst>
              <a:ext uri="{FF2B5EF4-FFF2-40B4-BE49-F238E27FC236}">
                <a16:creationId xmlns:a16="http://schemas.microsoft.com/office/drawing/2014/main" id="{D97F3419-EDE7-303C-4009-E73BFC205AE9}"/>
              </a:ext>
            </a:extLst>
          </p:cNvPr>
          <p:cNvSpPr/>
          <p:nvPr/>
        </p:nvSpPr>
        <p:spPr>
          <a:xfrm>
            <a:off x="10652006"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橢圓 28">
            <a:extLst>
              <a:ext uri="{FF2B5EF4-FFF2-40B4-BE49-F238E27FC236}">
                <a16:creationId xmlns:a16="http://schemas.microsoft.com/office/drawing/2014/main" id="{AF36541F-610D-D813-1532-C8021E5508B6}"/>
              </a:ext>
            </a:extLst>
          </p:cNvPr>
          <p:cNvSpPr/>
          <p:nvPr/>
        </p:nvSpPr>
        <p:spPr>
          <a:xfrm>
            <a:off x="10122548" y="1777217"/>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B2DF8369-3FD4-F19A-E6FE-3B3DC0E0902E}"/>
              </a:ext>
            </a:extLst>
          </p:cNvPr>
          <p:cNvSpPr/>
          <p:nvPr/>
        </p:nvSpPr>
        <p:spPr>
          <a:xfrm>
            <a:off x="10122548"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6C028913-9EAD-D606-14C0-CF742DEBD56F}"/>
              </a:ext>
            </a:extLst>
          </p:cNvPr>
          <p:cNvSpPr/>
          <p:nvPr/>
        </p:nvSpPr>
        <p:spPr>
          <a:xfrm>
            <a:off x="9545935"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文字方塊 49">
            <a:extLst>
              <a:ext uri="{FF2B5EF4-FFF2-40B4-BE49-F238E27FC236}">
                <a16:creationId xmlns:a16="http://schemas.microsoft.com/office/drawing/2014/main" id="{E821920F-F9E4-702C-4CC7-FBC075A1265D}"/>
              </a:ext>
            </a:extLst>
          </p:cNvPr>
          <p:cNvSpPr txBox="1"/>
          <p:nvPr/>
        </p:nvSpPr>
        <p:spPr>
          <a:xfrm>
            <a:off x="2749986" y="4091436"/>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33" name="橢圓 32">
            <a:extLst>
              <a:ext uri="{FF2B5EF4-FFF2-40B4-BE49-F238E27FC236}">
                <a16:creationId xmlns:a16="http://schemas.microsoft.com/office/drawing/2014/main" id="{A97534F2-4C66-5FBA-34F7-0C36AFE67EC3}"/>
              </a:ext>
            </a:extLst>
          </p:cNvPr>
          <p:cNvSpPr/>
          <p:nvPr/>
        </p:nvSpPr>
        <p:spPr>
          <a:xfrm>
            <a:off x="9018396" y="2138072"/>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橢圓 26">
            <a:extLst>
              <a:ext uri="{FF2B5EF4-FFF2-40B4-BE49-F238E27FC236}">
                <a16:creationId xmlns:a16="http://schemas.microsoft.com/office/drawing/2014/main" id="{F8F1719A-1BA1-4234-6D38-F45FF7E42CE6}"/>
              </a:ext>
            </a:extLst>
          </p:cNvPr>
          <p:cNvSpPr/>
          <p:nvPr/>
        </p:nvSpPr>
        <p:spPr>
          <a:xfrm>
            <a:off x="9029314" y="2602176"/>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文字方塊 50">
            <a:extLst>
              <a:ext uri="{FF2B5EF4-FFF2-40B4-BE49-F238E27FC236}">
                <a16:creationId xmlns:a16="http://schemas.microsoft.com/office/drawing/2014/main" id="{06061F96-5867-D8D8-7EC7-349999F27972}"/>
              </a:ext>
            </a:extLst>
          </p:cNvPr>
          <p:cNvSpPr txBox="1"/>
          <p:nvPr/>
        </p:nvSpPr>
        <p:spPr>
          <a:xfrm>
            <a:off x="4450793" y="4614084"/>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2" name="橢圓 51">
            <a:extLst>
              <a:ext uri="{FF2B5EF4-FFF2-40B4-BE49-F238E27FC236}">
                <a16:creationId xmlns:a16="http://schemas.microsoft.com/office/drawing/2014/main" id="{43046A38-EFE6-0911-68B7-BCC2BCB51C08}"/>
              </a:ext>
            </a:extLst>
          </p:cNvPr>
          <p:cNvSpPr/>
          <p:nvPr/>
        </p:nvSpPr>
        <p:spPr>
          <a:xfrm>
            <a:off x="8578620" y="3037223"/>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文字方塊 52">
            <a:extLst>
              <a:ext uri="{FF2B5EF4-FFF2-40B4-BE49-F238E27FC236}">
                <a16:creationId xmlns:a16="http://schemas.microsoft.com/office/drawing/2014/main" id="{9F88F671-510B-E8D7-DDC0-9E98FFE565CD}"/>
              </a:ext>
            </a:extLst>
          </p:cNvPr>
          <p:cNvSpPr txBox="1"/>
          <p:nvPr/>
        </p:nvSpPr>
        <p:spPr>
          <a:xfrm>
            <a:off x="6149515" y="4159901"/>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4" name="文字方塊 53">
            <a:extLst>
              <a:ext uri="{FF2B5EF4-FFF2-40B4-BE49-F238E27FC236}">
                <a16:creationId xmlns:a16="http://schemas.microsoft.com/office/drawing/2014/main" id="{E765CEDF-B378-B987-E098-3BB840ACE082}"/>
              </a:ext>
            </a:extLst>
          </p:cNvPr>
          <p:cNvSpPr txBox="1"/>
          <p:nvPr/>
        </p:nvSpPr>
        <p:spPr>
          <a:xfrm>
            <a:off x="7028822" y="4502389"/>
            <a:ext cx="482321" cy="369332"/>
          </a:xfrm>
          <a:prstGeom prst="rect">
            <a:avLst/>
          </a:prstGeom>
          <a:noFill/>
        </p:spPr>
        <p:txBody>
          <a:bodyPr wrap="square" rtlCol="0">
            <a:spAutoFit/>
          </a:bodyPr>
          <a:lstStyle/>
          <a:p>
            <a:r>
              <a:rPr kumimoji="1" lang="en-US" altLang="zh-TW" dirty="0"/>
              <a:t>❌</a:t>
            </a:r>
            <a:endParaRPr kumimoji="1" lang="zh-TW" altLang="en-US" dirty="0"/>
          </a:p>
        </p:txBody>
      </p:sp>
      <p:sp>
        <p:nvSpPr>
          <p:cNvPr id="55" name="橢圓 54">
            <a:extLst>
              <a:ext uri="{FF2B5EF4-FFF2-40B4-BE49-F238E27FC236}">
                <a16:creationId xmlns:a16="http://schemas.microsoft.com/office/drawing/2014/main" id="{AEA92ED4-CCC6-568F-766F-2F4024CD8DEF}"/>
              </a:ext>
            </a:extLst>
          </p:cNvPr>
          <p:cNvSpPr/>
          <p:nvPr/>
        </p:nvSpPr>
        <p:spPr>
          <a:xfrm>
            <a:off x="8582608" y="3481849"/>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橢圓 55">
            <a:extLst>
              <a:ext uri="{FF2B5EF4-FFF2-40B4-BE49-F238E27FC236}">
                <a16:creationId xmlns:a16="http://schemas.microsoft.com/office/drawing/2014/main" id="{65B0F290-A5E4-D420-CCA4-BA7415AF31C4}"/>
              </a:ext>
            </a:extLst>
          </p:cNvPr>
          <p:cNvSpPr/>
          <p:nvPr/>
        </p:nvSpPr>
        <p:spPr>
          <a:xfrm>
            <a:off x="8593554" y="3915354"/>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61" name="直線接點 60">
            <a:extLst>
              <a:ext uri="{FF2B5EF4-FFF2-40B4-BE49-F238E27FC236}">
                <a16:creationId xmlns:a16="http://schemas.microsoft.com/office/drawing/2014/main" id="{41D5BEC0-F533-5B63-DED9-4F3BFF1AFD20}"/>
              </a:ext>
            </a:extLst>
          </p:cNvPr>
          <p:cNvCxnSpPr>
            <a:cxnSpLocks/>
            <a:stCxn id="56" idx="0"/>
          </p:cNvCxnSpPr>
          <p:nvPr/>
        </p:nvCxnSpPr>
        <p:spPr>
          <a:xfrm flipH="1" flipV="1">
            <a:off x="8651630" y="3142906"/>
            <a:ext cx="22311" cy="7724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E0ED200C-2092-A09C-7E05-362B52CBE652}"/>
              </a:ext>
            </a:extLst>
          </p:cNvPr>
          <p:cNvCxnSpPr>
            <a:cxnSpLocks/>
            <a:endCxn id="27" idx="3"/>
          </p:cNvCxnSpPr>
          <p:nvPr/>
        </p:nvCxnSpPr>
        <p:spPr>
          <a:xfrm flipV="1">
            <a:off x="8644547" y="2739405"/>
            <a:ext cx="408312" cy="4103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68591E41-229A-D422-2570-D0CF1772A3E1}"/>
              </a:ext>
            </a:extLst>
          </p:cNvPr>
          <p:cNvCxnSpPr>
            <a:cxnSpLocks/>
          </p:cNvCxnSpPr>
          <p:nvPr/>
        </p:nvCxnSpPr>
        <p:spPr>
          <a:xfrm flipH="1" flipV="1">
            <a:off x="9109701" y="2190836"/>
            <a:ext cx="11156" cy="5443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B37CEB78-A53C-34B4-4597-72A32CD17CA0}"/>
              </a:ext>
            </a:extLst>
          </p:cNvPr>
          <p:cNvCxnSpPr>
            <a:cxnSpLocks/>
          </p:cNvCxnSpPr>
          <p:nvPr/>
        </p:nvCxnSpPr>
        <p:spPr>
          <a:xfrm flipV="1">
            <a:off x="9112483" y="2208757"/>
            <a:ext cx="1010065" cy="4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709391A4-337D-6755-453A-AD2635F92A21}"/>
              </a:ext>
            </a:extLst>
          </p:cNvPr>
          <p:cNvCxnSpPr>
            <a:cxnSpLocks/>
          </p:cNvCxnSpPr>
          <p:nvPr/>
        </p:nvCxnSpPr>
        <p:spPr>
          <a:xfrm flipV="1">
            <a:off x="10227360" y="1849974"/>
            <a:ext cx="1010065" cy="4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接點 75">
            <a:extLst>
              <a:ext uri="{FF2B5EF4-FFF2-40B4-BE49-F238E27FC236}">
                <a16:creationId xmlns:a16="http://schemas.microsoft.com/office/drawing/2014/main" id="{338CDF96-173C-A093-D9F1-49AF0C678CEC}"/>
              </a:ext>
            </a:extLst>
          </p:cNvPr>
          <p:cNvCxnSpPr>
            <a:cxnSpLocks/>
          </p:cNvCxnSpPr>
          <p:nvPr/>
        </p:nvCxnSpPr>
        <p:spPr>
          <a:xfrm>
            <a:off x="10217124" y="1872151"/>
            <a:ext cx="0" cy="3080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字方塊 56">
            <a:extLst>
              <a:ext uri="{FF2B5EF4-FFF2-40B4-BE49-F238E27FC236}">
                <a16:creationId xmlns:a16="http://schemas.microsoft.com/office/drawing/2014/main" id="{993099FE-2D0A-8318-CBC4-DB2EACAE1047}"/>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8" name="文字方塊 57">
            <a:extLst>
              <a:ext uri="{FF2B5EF4-FFF2-40B4-BE49-F238E27FC236}">
                <a16:creationId xmlns:a16="http://schemas.microsoft.com/office/drawing/2014/main" id="{1C98BA3B-2639-DED9-4CFC-8F37E511CAE8}"/>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59" name="文字方塊 58">
            <a:extLst>
              <a:ext uri="{FF2B5EF4-FFF2-40B4-BE49-F238E27FC236}">
                <a16:creationId xmlns:a16="http://schemas.microsoft.com/office/drawing/2014/main" id="{B4E2AB0D-B195-B315-E507-D1FAB0F754C2}"/>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60" name="文字方塊 59">
            <a:extLst>
              <a:ext uri="{FF2B5EF4-FFF2-40B4-BE49-F238E27FC236}">
                <a16:creationId xmlns:a16="http://schemas.microsoft.com/office/drawing/2014/main" id="{5EDFAF41-BD88-6A30-CE63-11C09A513D90}"/>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62" name="文字方塊 61">
            <a:extLst>
              <a:ext uri="{FF2B5EF4-FFF2-40B4-BE49-F238E27FC236}">
                <a16:creationId xmlns:a16="http://schemas.microsoft.com/office/drawing/2014/main" id="{237E4236-EFD5-9FB7-65CB-C81D3A71E8DC}"/>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63" name="文字方塊 62">
            <a:extLst>
              <a:ext uri="{FF2B5EF4-FFF2-40B4-BE49-F238E27FC236}">
                <a16:creationId xmlns:a16="http://schemas.microsoft.com/office/drawing/2014/main" id="{1D128A96-15D4-E664-FCEB-E23549BFB298}"/>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64" name="文字方塊 63">
            <a:extLst>
              <a:ext uri="{FF2B5EF4-FFF2-40B4-BE49-F238E27FC236}">
                <a16:creationId xmlns:a16="http://schemas.microsoft.com/office/drawing/2014/main" id="{37C1DD8F-672F-3800-47D8-D23290821F56}"/>
              </a:ext>
            </a:extLst>
          </p:cNvPr>
          <p:cNvSpPr txBox="1"/>
          <p:nvPr/>
        </p:nvSpPr>
        <p:spPr>
          <a:xfrm>
            <a:off x="7596555" y="5149338"/>
            <a:ext cx="2029767" cy="707886"/>
          </a:xfrm>
          <a:prstGeom prst="rect">
            <a:avLst/>
          </a:prstGeom>
          <a:noFill/>
        </p:spPr>
        <p:txBody>
          <a:bodyPr wrap="squar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模型預測為疾病的機率值</a:t>
            </a:r>
            <a:r>
              <a:rPr kumimoji="1" lang="en-US" altLang="zh-TW" sz="2000" dirty="0">
                <a:latin typeface="Microsoft JhengHei" panose="020B0604030504040204" pitchFamily="34" charset="-120"/>
                <a:ea typeface="Microsoft JhengHei" panose="020B0604030504040204" pitchFamily="34" charset="-120"/>
              </a:rPr>
              <a:t> (%)</a:t>
            </a:r>
            <a:endParaRPr kumimoji="1" lang="zh-TW" altLang="en-US" sz="2000" dirty="0">
              <a:latin typeface="Microsoft JhengHei" panose="020B0604030504040204" pitchFamily="34" charset="-120"/>
              <a:ea typeface="Microsoft JhengHei" panose="020B0604030504040204" pitchFamily="34" charset="-120"/>
            </a:endParaRPr>
          </a:p>
        </p:txBody>
      </p:sp>
      <p:sp>
        <p:nvSpPr>
          <p:cNvPr id="65" name="文字方塊 64">
            <a:extLst>
              <a:ext uri="{FF2B5EF4-FFF2-40B4-BE49-F238E27FC236}">
                <a16:creationId xmlns:a16="http://schemas.microsoft.com/office/drawing/2014/main" id="{5BB6F0CC-E848-A7F8-8CD8-0AF9620159B3}"/>
              </a:ext>
            </a:extLst>
          </p:cNvPr>
          <p:cNvSpPr txBox="1"/>
          <p:nvPr/>
        </p:nvSpPr>
        <p:spPr>
          <a:xfrm>
            <a:off x="673463" y="2578514"/>
            <a:ext cx="2599552" cy="369332"/>
          </a:xfrm>
          <a:prstGeom prst="rect">
            <a:avLst/>
          </a:prstGeom>
          <a:noFill/>
        </p:spPr>
        <p:txBody>
          <a:bodyPr wrap="square" rtlCol="0">
            <a:spAutoFit/>
          </a:bodyPr>
          <a:lstStyle/>
          <a:p>
            <a:r>
              <a:rPr kumimoji="1" lang="en-US" altLang="zh-TW" dirty="0"/>
              <a:t>TPR: 0.0, FPR: 0.0</a:t>
            </a:r>
            <a:endParaRPr kumimoji="1" lang="zh-TW" altLang="en-US" dirty="0"/>
          </a:p>
        </p:txBody>
      </p:sp>
    </p:spTree>
    <p:extLst>
      <p:ext uri="{BB962C8B-B14F-4D97-AF65-F5344CB8AC3E}">
        <p14:creationId xmlns:p14="http://schemas.microsoft.com/office/powerpoint/2010/main" val="39982046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1B55B-BF60-EEF2-39E2-6FC4F3BB4A78}"/>
              </a:ext>
            </a:extLst>
          </p:cNvPr>
          <p:cNvSpPr>
            <a:spLocks noGrp="1"/>
          </p:cNvSpPr>
          <p:nvPr>
            <p:ph type="title"/>
          </p:nvPr>
        </p:nvSpPr>
        <p:spPr/>
        <p:txBody>
          <a:bodyPr/>
          <a:lstStyle/>
          <a:p>
            <a:r>
              <a:rPr kumimoji="1" lang="en" altLang="zh-TW" dirty="0"/>
              <a:t>ROC Curve (bad case)</a:t>
            </a:r>
            <a:endParaRPr kumimoji="1" lang="zh-TW" altLang="en-US" dirty="0"/>
          </a:p>
        </p:txBody>
      </p:sp>
      <p:sp>
        <p:nvSpPr>
          <p:cNvPr id="4" name="投影片編號版面配置區 3">
            <a:extLst>
              <a:ext uri="{FF2B5EF4-FFF2-40B4-BE49-F238E27FC236}">
                <a16:creationId xmlns:a16="http://schemas.microsoft.com/office/drawing/2014/main" id="{486725D2-9CC6-5B07-A89D-9501F7F6C4D3}"/>
              </a:ext>
            </a:extLst>
          </p:cNvPr>
          <p:cNvSpPr>
            <a:spLocks noGrp="1"/>
          </p:cNvSpPr>
          <p:nvPr>
            <p:ph type="sldNum" sz="quarter" idx="12"/>
          </p:nvPr>
        </p:nvSpPr>
        <p:spPr/>
        <p:txBody>
          <a:bodyPr/>
          <a:lstStyle/>
          <a:p>
            <a:fld id="{6113E31D-E2AB-40D1-8B51-AFA5AFEF393A}" type="slidenum">
              <a:rPr lang="en-US" smtClean="0"/>
              <a:pPr/>
              <a:t>56</a:t>
            </a:fld>
            <a:endParaRPr lang="en-US" dirty="0"/>
          </a:p>
        </p:txBody>
      </p:sp>
      <p:pic>
        <p:nvPicPr>
          <p:cNvPr id="9" name="圖片 8">
            <a:extLst>
              <a:ext uri="{FF2B5EF4-FFF2-40B4-BE49-F238E27FC236}">
                <a16:creationId xmlns:a16="http://schemas.microsoft.com/office/drawing/2014/main" id="{1F3E14CA-8B06-2804-6ECB-0302F3CA7926}"/>
              </a:ext>
            </a:extLst>
          </p:cNvPr>
          <p:cNvPicPr>
            <a:picLocks noChangeAspect="1"/>
          </p:cNvPicPr>
          <p:nvPr/>
        </p:nvPicPr>
        <p:blipFill>
          <a:blip r:embed="rId3"/>
          <a:stretch>
            <a:fillRect/>
          </a:stretch>
        </p:blipFill>
        <p:spPr>
          <a:xfrm>
            <a:off x="8597442" y="2100819"/>
            <a:ext cx="2390171" cy="2656361"/>
          </a:xfrm>
          <a:prstGeom prst="rect">
            <a:avLst/>
          </a:prstGeom>
        </p:spPr>
      </p:pic>
      <p:sp>
        <p:nvSpPr>
          <p:cNvPr id="11" name="文字方塊 10">
            <a:extLst>
              <a:ext uri="{FF2B5EF4-FFF2-40B4-BE49-F238E27FC236}">
                <a16:creationId xmlns:a16="http://schemas.microsoft.com/office/drawing/2014/main" id="{60073B3A-956C-D8C2-5462-303CF3826BF7}"/>
              </a:ext>
            </a:extLst>
          </p:cNvPr>
          <p:cNvSpPr txBox="1"/>
          <p:nvPr/>
        </p:nvSpPr>
        <p:spPr>
          <a:xfrm>
            <a:off x="653142" y="1763778"/>
            <a:ext cx="6580777" cy="400110"/>
          </a:xfrm>
          <a:prstGeom prst="rect">
            <a:avLst/>
          </a:prstGeom>
          <a:noFill/>
        </p:spPr>
        <p:txBody>
          <a:bodyPr wrap="square" rtlCol="0">
            <a:spAutoFit/>
          </a:bodyPr>
          <a:lstStyle/>
          <a:p>
            <a:r>
              <a:rPr kumimoji="1" lang="en-US" altLang="zh-TW" sz="2000" dirty="0">
                <a:latin typeface="Microsoft JhengHei" panose="020B0604030504040204" pitchFamily="34" charset="-120"/>
                <a:ea typeface="Microsoft JhengHei" panose="020B0604030504040204" pitchFamily="34" charset="-120"/>
              </a:rPr>
              <a:t>Bad case:</a:t>
            </a:r>
            <a:r>
              <a:rPr kumimoji="1" lang="zh-TW" altLang="en-US" sz="2000" dirty="0">
                <a:latin typeface="Microsoft JhengHei" panose="020B0604030504040204" pitchFamily="34" charset="-120"/>
                <a:ea typeface="Microsoft JhengHei" panose="020B0604030504040204" pitchFamily="34" charset="-120"/>
              </a:rPr>
              <a:t> 模型對於</a:t>
            </a:r>
            <a:r>
              <a:rPr kumimoji="1" lang="en-US" altLang="zh-TW" sz="2000" dirty="0">
                <a:latin typeface="Microsoft JhengHei" panose="020B0604030504040204" pitchFamily="34" charset="-120"/>
                <a:ea typeface="Microsoft JhengHei" panose="020B0604030504040204" pitchFamily="34" charset="-120"/>
              </a:rPr>
              <a:t> positive</a:t>
            </a:r>
            <a:r>
              <a:rPr kumimoji="1" lang="zh-TW" altLang="en-US" sz="2000" dirty="0">
                <a:latin typeface="Microsoft JhengHei" panose="020B0604030504040204" pitchFamily="34" charset="-120"/>
                <a:ea typeface="Microsoft JhengHei" panose="020B0604030504040204" pitchFamily="34" charset="-120"/>
              </a:rPr>
              <a:t> 和 </a:t>
            </a:r>
            <a:r>
              <a:rPr kumimoji="1" lang="en-US" altLang="zh-TW" sz="2000" dirty="0">
                <a:latin typeface="Microsoft JhengHei" panose="020B0604030504040204" pitchFamily="34" charset="-120"/>
                <a:ea typeface="Microsoft JhengHei" panose="020B0604030504040204" pitchFamily="34" charset="-120"/>
              </a:rPr>
              <a:t>negative</a:t>
            </a:r>
            <a:r>
              <a:rPr kumimoji="1" lang="zh-TW" altLang="en-US" sz="2000" dirty="0">
                <a:latin typeface="Microsoft JhengHei" panose="020B0604030504040204" pitchFamily="34" charset="-120"/>
                <a:ea typeface="Microsoft JhengHei" panose="020B0604030504040204" pitchFamily="34" charset="-120"/>
              </a:rPr>
              <a:t> 區分能力差</a:t>
            </a:r>
          </a:p>
        </p:txBody>
      </p:sp>
      <p:sp>
        <p:nvSpPr>
          <p:cNvPr id="12" name="文字方塊 11">
            <a:extLst>
              <a:ext uri="{FF2B5EF4-FFF2-40B4-BE49-F238E27FC236}">
                <a16:creationId xmlns:a16="http://schemas.microsoft.com/office/drawing/2014/main" id="{00CBCF24-9653-E09B-FD68-1E68F8012C10}"/>
              </a:ext>
            </a:extLst>
          </p:cNvPr>
          <p:cNvSpPr txBox="1"/>
          <p:nvPr/>
        </p:nvSpPr>
        <p:spPr>
          <a:xfrm>
            <a:off x="1421844" y="4027049"/>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13" name="文字方塊 12">
            <a:extLst>
              <a:ext uri="{FF2B5EF4-FFF2-40B4-BE49-F238E27FC236}">
                <a16:creationId xmlns:a16="http://schemas.microsoft.com/office/drawing/2014/main" id="{444BDE5C-99BE-031F-463B-BBAC0A801875}"/>
              </a:ext>
            </a:extLst>
          </p:cNvPr>
          <p:cNvSpPr txBox="1"/>
          <p:nvPr/>
        </p:nvSpPr>
        <p:spPr>
          <a:xfrm>
            <a:off x="1340165" y="453284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14" name="向右箭號 13">
            <a:extLst>
              <a:ext uri="{FF2B5EF4-FFF2-40B4-BE49-F238E27FC236}">
                <a16:creationId xmlns:a16="http://schemas.microsoft.com/office/drawing/2014/main" id="{D5A68A10-97A4-EE91-9C79-7F4FF84ECE0A}"/>
              </a:ext>
            </a:extLst>
          </p:cNvPr>
          <p:cNvSpPr/>
          <p:nvPr/>
        </p:nvSpPr>
        <p:spPr>
          <a:xfrm>
            <a:off x="1256046" y="5355768"/>
            <a:ext cx="6219929" cy="251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字方塊 14">
            <a:extLst>
              <a:ext uri="{FF2B5EF4-FFF2-40B4-BE49-F238E27FC236}">
                <a16:creationId xmlns:a16="http://schemas.microsoft.com/office/drawing/2014/main" id="{739C3700-4475-4C2B-00F8-4D51DE2C7919}"/>
              </a:ext>
            </a:extLst>
          </p:cNvPr>
          <p:cNvSpPr txBox="1"/>
          <p:nvPr/>
        </p:nvSpPr>
        <p:spPr>
          <a:xfrm>
            <a:off x="2197081" y="4617570"/>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2" name="文字方塊 21">
            <a:extLst>
              <a:ext uri="{FF2B5EF4-FFF2-40B4-BE49-F238E27FC236}">
                <a16:creationId xmlns:a16="http://schemas.microsoft.com/office/drawing/2014/main" id="{DADCC897-AC1D-E584-B090-FC4D9DBB2DF6}"/>
              </a:ext>
            </a:extLst>
          </p:cNvPr>
          <p:cNvSpPr txBox="1"/>
          <p:nvPr/>
        </p:nvSpPr>
        <p:spPr>
          <a:xfrm>
            <a:off x="3036113" y="4698684"/>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3" name="文字方塊 22">
            <a:extLst>
              <a:ext uri="{FF2B5EF4-FFF2-40B4-BE49-F238E27FC236}">
                <a16:creationId xmlns:a16="http://schemas.microsoft.com/office/drawing/2014/main" id="{C4FDBDD7-B856-DD3F-7D3E-9978A27ED147}"/>
              </a:ext>
            </a:extLst>
          </p:cNvPr>
          <p:cNvSpPr txBox="1"/>
          <p:nvPr/>
        </p:nvSpPr>
        <p:spPr>
          <a:xfrm>
            <a:off x="3869219" y="4064850"/>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4" name="文字方塊 23">
            <a:extLst>
              <a:ext uri="{FF2B5EF4-FFF2-40B4-BE49-F238E27FC236}">
                <a16:creationId xmlns:a16="http://schemas.microsoft.com/office/drawing/2014/main" id="{31DB169D-A9B2-187E-0D7D-099994FE7791}"/>
              </a:ext>
            </a:extLst>
          </p:cNvPr>
          <p:cNvSpPr txBox="1"/>
          <p:nvPr/>
        </p:nvSpPr>
        <p:spPr>
          <a:xfrm>
            <a:off x="2127434" y="4018972"/>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5" name="文字方塊 24">
            <a:extLst>
              <a:ext uri="{FF2B5EF4-FFF2-40B4-BE49-F238E27FC236}">
                <a16:creationId xmlns:a16="http://schemas.microsoft.com/office/drawing/2014/main" id="{C218B628-8F8B-234F-FFB6-195CFD807921}"/>
              </a:ext>
            </a:extLst>
          </p:cNvPr>
          <p:cNvSpPr txBox="1"/>
          <p:nvPr/>
        </p:nvSpPr>
        <p:spPr>
          <a:xfrm>
            <a:off x="2945083" y="4099393"/>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6" name="文字方塊 25">
            <a:extLst>
              <a:ext uri="{FF2B5EF4-FFF2-40B4-BE49-F238E27FC236}">
                <a16:creationId xmlns:a16="http://schemas.microsoft.com/office/drawing/2014/main" id="{DEC9CD40-5B71-38A1-3BE1-0EABA5387223}"/>
              </a:ext>
            </a:extLst>
          </p:cNvPr>
          <p:cNvSpPr txBox="1"/>
          <p:nvPr/>
        </p:nvSpPr>
        <p:spPr>
          <a:xfrm>
            <a:off x="3805170" y="4611728"/>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7" name="文字方塊 26">
            <a:extLst>
              <a:ext uri="{FF2B5EF4-FFF2-40B4-BE49-F238E27FC236}">
                <a16:creationId xmlns:a16="http://schemas.microsoft.com/office/drawing/2014/main" id="{AA50697D-B465-BBD6-104D-BAFFA688B1CF}"/>
              </a:ext>
            </a:extLst>
          </p:cNvPr>
          <p:cNvSpPr txBox="1"/>
          <p:nvPr/>
        </p:nvSpPr>
        <p:spPr>
          <a:xfrm>
            <a:off x="5027684" y="4583026"/>
            <a:ext cx="768699" cy="707886"/>
          </a:xfrm>
          <a:prstGeom prst="rect">
            <a:avLst/>
          </a:prstGeom>
          <a:noFill/>
        </p:spPr>
        <p:txBody>
          <a:bodyPr wrap="square">
            <a:spAutoFit/>
          </a:bodyPr>
          <a:lstStyle/>
          <a:p>
            <a:pPr algn="ctr"/>
            <a:r>
              <a:rPr kumimoji="1" lang="zh-TW" altLang="en-US" sz="4000" dirty="0"/>
              <a:t>🦠</a:t>
            </a:r>
            <a:endParaRPr lang="zh-TW" altLang="en-US" sz="4000" dirty="0"/>
          </a:p>
        </p:txBody>
      </p:sp>
      <p:sp>
        <p:nvSpPr>
          <p:cNvPr id="28" name="文字方塊 27">
            <a:extLst>
              <a:ext uri="{FF2B5EF4-FFF2-40B4-BE49-F238E27FC236}">
                <a16:creationId xmlns:a16="http://schemas.microsoft.com/office/drawing/2014/main" id="{B4054F33-D1D0-E19C-1620-AE4646499564}"/>
              </a:ext>
            </a:extLst>
          </p:cNvPr>
          <p:cNvSpPr txBox="1"/>
          <p:nvPr/>
        </p:nvSpPr>
        <p:spPr>
          <a:xfrm>
            <a:off x="5066885" y="4026953"/>
            <a:ext cx="638070" cy="584775"/>
          </a:xfrm>
          <a:prstGeom prst="rect">
            <a:avLst/>
          </a:prstGeom>
          <a:noFill/>
        </p:spPr>
        <p:txBody>
          <a:bodyPr wrap="square">
            <a:spAutoFit/>
          </a:bodyPr>
          <a:lstStyle/>
          <a:p>
            <a:pPr algn="ctr"/>
            <a:r>
              <a:rPr kumimoji="1" lang="zh-TW" altLang="en-US" sz="3200" dirty="0"/>
              <a:t>💪</a:t>
            </a:r>
            <a:endParaRPr lang="zh-TW" altLang="en-US" sz="3200" dirty="0"/>
          </a:p>
        </p:txBody>
      </p:sp>
      <p:sp>
        <p:nvSpPr>
          <p:cNvPr id="29" name="文字方塊 28">
            <a:extLst>
              <a:ext uri="{FF2B5EF4-FFF2-40B4-BE49-F238E27FC236}">
                <a16:creationId xmlns:a16="http://schemas.microsoft.com/office/drawing/2014/main" id="{7A869501-B00E-EBA2-B2D6-D88EE4C3E9CD}"/>
              </a:ext>
            </a:extLst>
          </p:cNvPr>
          <p:cNvSpPr txBox="1"/>
          <p:nvPr/>
        </p:nvSpPr>
        <p:spPr>
          <a:xfrm>
            <a:off x="4366010" y="3054696"/>
            <a:ext cx="2305343" cy="461665"/>
          </a:xfrm>
          <a:prstGeom prst="rect">
            <a:avLst/>
          </a:prstGeom>
          <a:noFill/>
        </p:spPr>
        <p:txBody>
          <a:bodyPr wrap="square" rtlCol="0">
            <a:spAutoFit/>
          </a:bodyPr>
          <a:lstStyle/>
          <a:p>
            <a:pPr algn="ctr"/>
            <a:r>
              <a:rPr kumimoji="1" lang="en-US" altLang="zh-TW" sz="2400" dirty="0"/>
              <a:t>COVID-19</a:t>
            </a:r>
            <a:endParaRPr kumimoji="1" lang="zh-TW" altLang="en-US" sz="2400" dirty="0"/>
          </a:p>
        </p:txBody>
      </p:sp>
      <p:sp>
        <p:nvSpPr>
          <p:cNvPr id="30" name="文字方塊 29">
            <a:extLst>
              <a:ext uri="{FF2B5EF4-FFF2-40B4-BE49-F238E27FC236}">
                <a16:creationId xmlns:a16="http://schemas.microsoft.com/office/drawing/2014/main" id="{75A665F5-623B-3995-96F7-2D478E6DFE9C}"/>
              </a:ext>
            </a:extLst>
          </p:cNvPr>
          <p:cNvSpPr txBox="1"/>
          <p:nvPr/>
        </p:nvSpPr>
        <p:spPr>
          <a:xfrm>
            <a:off x="1457389" y="3054696"/>
            <a:ext cx="2305343" cy="461665"/>
          </a:xfrm>
          <a:prstGeom prst="rect">
            <a:avLst/>
          </a:prstGeom>
          <a:noFill/>
        </p:spPr>
        <p:txBody>
          <a:bodyPr wrap="square" rtlCol="0">
            <a:spAutoFit/>
          </a:bodyPr>
          <a:lstStyle/>
          <a:p>
            <a:pPr algn="ctr"/>
            <a:r>
              <a:rPr kumimoji="1" lang="en-US" altLang="zh-TW" sz="2400" dirty="0"/>
              <a:t>healthy</a:t>
            </a:r>
            <a:endParaRPr kumimoji="1" lang="zh-TW" altLang="en-US" sz="2400" dirty="0"/>
          </a:p>
        </p:txBody>
      </p:sp>
      <p:sp>
        <p:nvSpPr>
          <p:cNvPr id="3" name="文字方塊 2">
            <a:extLst>
              <a:ext uri="{FF2B5EF4-FFF2-40B4-BE49-F238E27FC236}">
                <a16:creationId xmlns:a16="http://schemas.microsoft.com/office/drawing/2014/main" id="{ACAD16F3-60DC-6214-69B0-4922B5D8D688}"/>
              </a:ext>
            </a:extLst>
          </p:cNvPr>
          <p:cNvSpPr txBox="1"/>
          <p:nvPr/>
        </p:nvSpPr>
        <p:spPr>
          <a:xfrm>
            <a:off x="1090248" y="5626391"/>
            <a:ext cx="331596" cy="400110"/>
          </a:xfrm>
          <a:prstGeom prst="rect">
            <a:avLst/>
          </a:prstGeom>
          <a:noFill/>
        </p:spPr>
        <p:txBody>
          <a:bodyPr wrap="square" rtlCol="0">
            <a:spAutoFit/>
          </a:bodyPr>
          <a:lstStyle/>
          <a:p>
            <a:pPr algn="ctr"/>
            <a:r>
              <a:rPr kumimoji="1" lang="en-US" altLang="zh-TW" sz="2000" b="1" dirty="0"/>
              <a:t>0</a:t>
            </a:r>
            <a:endParaRPr kumimoji="1" lang="zh-TW" altLang="en-US" sz="2000" b="1" dirty="0"/>
          </a:p>
        </p:txBody>
      </p:sp>
      <p:sp>
        <p:nvSpPr>
          <p:cNvPr id="5" name="文字方塊 4">
            <a:extLst>
              <a:ext uri="{FF2B5EF4-FFF2-40B4-BE49-F238E27FC236}">
                <a16:creationId xmlns:a16="http://schemas.microsoft.com/office/drawing/2014/main" id="{BF2BA733-ADCF-33D2-D417-B516A595878D}"/>
              </a:ext>
            </a:extLst>
          </p:cNvPr>
          <p:cNvSpPr txBox="1"/>
          <p:nvPr/>
        </p:nvSpPr>
        <p:spPr>
          <a:xfrm>
            <a:off x="2006659" y="5626391"/>
            <a:ext cx="497394" cy="400110"/>
          </a:xfrm>
          <a:prstGeom prst="rect">
            <a:avLst/>
          </a:prstGeom>
          <a:noFill/>
        </p:spPr>
        <p:txBody>
          <a:bodyPr wrap="square" rtlCol="0">
            <a:spAutoFit/>
          </a:bodyPr>
          <a:lstStyle/>
          <a:p>
            <a:pPr algn="ctr"/>
            <a:r>
              <a:rPr kumimoji="1" lang="en-US" altLang="zh-TW" sz="2000" b="1" dirty="0"/>
              <a:t>20</a:t>
            </a:r>
            <a:endParaRPr kumimoji="1" lang="zh-TW" altLang="en-US" sz="2000" b="1" dirty="0"/>
          </a:p>
        </p:txBody>
      </p:sp>
      <p:sp>
        <p:nvSpPr>
          <p:cNvPr id="6" name="文字方塊 5">
            <a:extLst>
              <a:ext uri="{FF2B5EF4-FFF2-40B4-BE49-F238E27FC236}">
                <a16:creationId xmlns:a16="http://schemas.microsoft.com/office/drawing/2014/main" id="{97A64C7D-69C4-5060-CD39-DC51585343AB}"/>
              </a:ext>
            </a:extLst>
          </p:cNvPr>
          <p:cNvSpPr txBox="1"/>
          <p:nvPr/>
        </p:nvSpPr>
        <p:spPr>
          <a:xfrm>
            <a:off x="6923316" y="5626391"/>
            <a:ext cx="693335" cy="400110"/>
          </a:xfrm>
          <a:prstGeom prst="rect">
            <a:avLst/>
          </a:prstGeom>
          <a:noFill/>
        </p:spPr>
        <p:txBody>
          <a:bodyPr wrap="square" rtlCol="0">
            <a:spAutoFit/>
          </a:bodyPr>
          <a:lstStyle/>
          <a:p>
            <a:pPr algn="ctr"/>
            <a:r>
              <a:rPr kumimoji="1" lang="en-US" altLang="zh-TW" sz="2000" b="1" dirty="0"/>
              <a:t>100</a:t>
            </a:r>
            <a:endParaRPr kumimoji="1" lang="zh-TW" altLang="en-US" sz="2000" b="1" dirty="0"/>
          </a:p>
        </p:txBody>
      </p:sp>
      <p:sp>
        <p:nvSpPr>
          <p:cNvPr id="7" name="文字方塊 6">
            <a:extLst>
              <a:ext uri="{FF2B5EF4-FFF2-40B4-BE49-F238E27FC236}">
                <a16:creationId xmlns:a16="http://schemas.microsoft.com/office/drawing/2014/main" id="{EDC20F1D-621B-7014-331B-E00B1221F153}"/>
              </a:ext>
            </a:extLst>
          </p:cNvPr>
          <p:cNvSpPr txBox="1"/>
          <p:nvPr/>
        </p:nvSpPr>
        <p:spPr>
          <a:xfrm>
            <a:off x="5645168" y="5626391"/>
            <a:ext cx="693335" cy="400110"/>
          </a:xfrm>
          <a:prstGeom prst="rect">
            <a:avLst/>
          </a:prstGeom>
          <a:noFill/>
        </p:spPr>
        <p:txBody>
          <a:bodyPr wrap="square" rtlCol="0">
            <a:spAutoFit/>
          </a:bodyPr>
          <a:lstStyle/>
          <a:p>
            <a:pPr algn="ctr"/>
            <a:r>
              <a:rPr kumimoji="1" lang="en-US" altLang="zh-TW" sz="2000" b="1" dirty="0"/>
              <a:t>80</a:t>
            </a:r>
            <a:endParaRPr kumimoji="1" lang="zh-TW" altLang="en-US" sz="2000" b="1" dirty="0"/>
          </a:p>
        </p:txBody>
      </p:sp>
      <p:sp>
        <p:nvSpPr>
          <p:cNvPr id="10" name="文字方塊 9">
            <a:extLst>
              <a:ext uri="{FF2B5EF4-FFF2-40B4-BE49-F238E27FC236}">
                <a16:creationId xmlns:a16="http://schemas.microsoft.com/office/drawing/2014/main" id="{28D8F5A2-DBBB-D222-30EF-AC6CE8A926B4}"/>
              </a:ext>
            </a:extLst>
          </p:cNvPr>
          <p:cNvSpPr txBox="1"/>
          <p:nvPr/>
        </p:nvSpPr>
        <p:spPr>
          <a:xfrm>
            <a:off x="4367018" y="5626391"/>
            <a:ext cx="693335" cy="400110"/>
          </a:xfrm>
          <a:prstGeom prst="rect">
            <a:avLst/>
          </a:prstGeom>
          <a:noFill/>
        </p:spPr>
        <p:txBody>
          <a:bodyPr wrap="square" rtlCol="0">
            <a:spAutoFit/>
          </a:bodyPr>
          <a:lstStyle/>
          <a:p>
            <a:pPr algn="ctr"/>
            <a:r>
              <a:rPr kumimoji="1" lang="en-US" altLang="zh-TW" sz="2000" b="1" dirty="0"/>
              <a:t>60</a:t>
            </a:r>
            <a:endParaRPr kumimoji="1" lang="zh-TW" altLang="en-US" sz="2000" b="1" dirty="0"/>
          </a:p>
        </p:txBody>
      </p:sp>
      <p:sp>
        <p:nvSpPr>
          <p:cNvPr id="31" name="文字方塊 30">
            <a:extLst>
              <a:ext uri="{FF2B5EF4-FFF2-40B4-BE49-F238E27FC236}">
                <a16:creationId xmlns:a16="http://schemas.microsoft.com/office/drawing/2014/main" id="{E3C48F17-1C61-6558-CDB1-AB9CC0CBB360}"/>
              </a:ext>
            </a:extLst>
          </p:cNvPr>
          <p:cNvSpPr txBox="1"/>
          <p:nvPr/>
        </p:nvSpPr>
        <p:spPr>
          <a:xfrm>
            <a:off x="3088868" y="5626391"/>
            <a:ext cx="693335" cy="400110"/>
          </a:xfrm>
          <a:prstGeom prst="rect">
            <a:avLst/>
          </a:prstGeom>
          <a:noFill/>
        </p:spPr>
        <p:txBody>
          <a:bodyPr wrap="square" rtlCol="0">
            <a:spAutoFit/>
          </a:bodyPr>
          <a:lstStyle/>
          <a:p>
            <a:pPr algn="ctr"/>
            <a:r>
              <a:rPr kumimoji="1" lang="en-US" altLang="zh-TW" sz="2000" b="1" dirty="0"/>
              <a:t>40</a:t>
            </a:r>
            <a:endParaRPr kumimoji="1" lang="zh-TW" altLang="en-US" sz="2000" b="1" dirty="0"/>
          </a:p>
        </p:txBody>
      </p:sp>
      <p:sp>
        <p:nvSpPr>
          <p:cNvPr id="32" name="文字方塊 31">
            <a:extLst>
              <a:ext uri="{FF2B5EF4-FFF2-40B4-BE49-F238E27FC236}">
                <a16:creationId xmlns:a16="http://schemas.microsoft.com/office/drawing/2014/main" id="{B40A04C7-F150-225C-00F5-85866F217B4F}"/>
              </a:ext>
            </a:extLst>
          </p:cNvPr>
          <p:cNvSpPr txBox="1"/>
          <p:nvPr/>
        </p:nvSpPr>
        <p:spPr>
          <a:xfrm>
            <a:off x="6896168" y="611186"/>
            <a:ext cx="4884131" cy="523220"/>
          </a:xfrm>
          <a:prstGeom prst="rect">
            <a:avLst/>
          </a:prstGeom>
          <a:noFill/>
        </p:spPr>
        <p:txBody>
          <a:bodyPr wrap="square" rtlCol="0">
            <a:spAutoFit/>
          </a:bodyPr>
          <a:lstStyle/>
          <a:p>
            <a:r>
              <a:rPr kumimoji="1" lang="en" altLang="zh-TW" sz="1400" dirty="0"/>
              <a:t>(Useful!!) https://</a:t>
            </a:r>
            <a:r>
              <a:rPr kumimoji="1" lang="en" altLang="zh-TW" sz="1400" dirty="0" err="1"/>
              <a:t>developers.google.com</a:t>
            </a:r>
            <a:r>
              <a:rPr kumimoji="1" lang="en" altLang="zh-TW" sz="1400" dirty="0"/>
              <a:t>/machine-learning/crash-course/classification/</a:t>
            </a:r>
            <a:r>
              <a:rPr kumimoji="1" lang="en" altLang="zh-TW" sz="1400" dirty="0" err="1"/>
              <a:t>roc-and-auc?hl</a:t>
            </a:r>
            <a:r>
              <a:rPr kumimoji="1" lang="en" altLang="zh-TW" sz="1400" dirty="0"/>
              <a:t>=</a:t>
            </a:r>
            <a:r>
              <a:rPr kumimoji="1" lang="en" altLang="zh-TW" sz="1400" dirty="0" err="1"/>
              <a:t>zh-tw</a:t>
            </a:r>
            <a:endParaRPr kumimoji="1" lang="zh-TW" altLang="en-US" sz="1400" dirty="0"/>
          </a:p>
        </p:txBody>
      </p:sp>
    </p:spTree>
    <p:extLst>
      <p:ext uri="{BB962C8B-B14F-4D97-AF65-F5344CB8AC3E}">
        <p14:creationId xmlns:p14="http://schemas.microsoft.com/office/powerpoint/2010/main" val="19504250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5696E3-80FC-3E5A-74E4-4D36221E6334}"/>
              </a:ext>
            </a:extLst>
          </p:cNvPr>
          <p:cNvSpPr>
            <a:spLocks noGrp="1"/>
          </p:cNvSpPr>
          <p:nvPr>
            <p:ph type="title"/>
          </p:nvPr>
        </p:nvSpPr>
        <p:spPr/>
        <p:txBody>
          <a:bodyPr/>
          <a:lstStyle/>
          <a:p>
            <a:r>
              <a:rPr kumimoji="1" lang="zh-TW" altLang="en-US" dirty="0">
                <a:latin typeface="Microsoft JhengHei" panose="020B0604030504040204" pitchFamily="34" charset="-120"/>
                <a:ea typeface="Microsoft JhengHei" panose="020B0604030504040204" pitchFamily="34" charset="-120"/>
              </a:rPr>
              <a:t>完美模型的條件</a:t>
            </a:r>
            <a:endParaRPr kumimoji="1" lang="zh-TW" altLang="en-US" dirty="0"/>
          </a:p>
        </p:txBody>
      </p:sp>
      <p:sp>
        <p:nvSpPr>
          <p:cNvPr id="4" name="投影片編號版面配置區 3">
            <a:extLst>
              <a:ext uri="{FF2B5EF4-FFF2-40B4-BE49-F238E27FC236}">
                <a16:creationId xmlns:a16="http://schemas.microsoft.com/office/drawing/2014/main" id="{ABD2E45F-EE7C-CCA4-821A-1D4371C3861D}"/>
              </a:ext>
            </a:extLst>
          </p:cNvPr>
          <p:cNvSpPr>
            <a:spLocks noGrp="1"/>
          </p:cNvSpPr>
          <p:nvPr>
            <p:ph type="sldNum" sz="quarter" idx="12"/>
          </p:nvPr>
        </p:nvSpPr>
        <p:spPr/>
        <p:txBody>
          <a:bodyPr/>
          <a:lstStyle/>
          <a:p>
            <a:fld id="{6113E31D-E2AB-40D1-8B51-AFA5AFEF393A}" type="slidenum">
              <a:rPr lang="en-US" smtClean="0"/>
              <a:pPr/>
              <a:t>57</a:t>
            </a:fld>
            <a:endParaRPr lang="en-US" dirty="0"/>
          </a:p>
        </p:txBody>
      </p:sp>
      <p:sp>
        <p:nvSpPr>
          <p:cNvPr id="5" name="文字方塊 4">
            <a:extLst>
              <a:ext uri="{FF2B5EF4-FFF2-40B4-BE49-F238E27FC236}">
                <a16:creationId xmlns:a16="http://schemas.microsoft.com/office/drawing/2014/main" id="{11AA4F84-6B8B-AFBC-997F-AB182B36C3F8}"/>
              </a:ext>
            </a:extLst>
          </p:cNvPr>
          <p:cNvSpPr txBox="1"/>
          <p:nvPr/>
        </p:nvSpPr>
        <p:spPr>
          <a:xfrm>
            <a:off x="653145" y="1806093"/>
            <a:ext cx="6551524" cy="280564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000" dirty="0">
                <a:ea typeface="Microsoft JhengHei" panose="020B0604030504040204" pitchFamily="34" charset="-120"/>
              </a:rPr>
              <a:t>分類結果完全正確</a:t>
            </a:r>
            <a:endParaRPr kumimoji="1" lang="en-US" altLang="zh-TW" sz="2000" dirty="0">
              <a:ea typeface="Microsoft JhengHei" panose="020B0604030504040204" pitchFamily="34" charset="-120"/>
            </a:endParaRPr>
          </a:p>
          <a:p>
            <a:pPr marL="800100" lvl="1" indent="-342900">
              <a:lnSpc>
                <a:spcPct val="150000"/>
              </a:lnSpc>
              <a:buFont typeface="Arial" panose="020B0604020202020204" pitchFamily="34" charset="0"/>
              <a:buChar char="•"/>
            </a:pPr>
            <a:r>
              <a:rPr kumimoji="1" lang="zh-TW" altLang="en-US" sz="2000" dirty="0">
                <a:ea typeface="Microsoft JhengHei" panose="020B0604030504040204" pitchFamily="34" charset="-120"/>
              </a:rPr>
              <a:t>沒有誤判</a:t>
            </a:r>
            <a:endParaRPr kumimoji="1" lang="en-US" altLang="zh-TW" sz="2000" dirty="0">
              <a:ea typeface="Microsoft JhengHei" panose="020B0604030504040204" pitchFamily="34" charset="-120"/>
            </a:endParaRPr>
          </a:p>
          <a:p>
            <a:pPr marL="1257300" lvl="2" indent="-342900">
              <a:lnSpc>
                <a:spcPct val="150000"/>
              </a:lnSpc>
              <a:buFont typeface="Arial" panose="020B0604020202020204" pitchFamily="34" charset="0"/>
              <a:buChar char="•"/>
            </a:pPr>
            <a:r>
              <a:rPr kumimoji="1" lang="en-US" altLang="zh-TW" sz="2000" dirty="0">
                <a:ea typeface="Microsoft JhengHei" panose="020B0604030504040204" pitchFamily="34" charset="-120"/>
              </a:rPr>
              <a:t>No False Negatives: TPR </a:t>
            </a:r>
            <a:r>
              <a:rPr kumimoji="1" lang="zh-TW" altLang="en-US" sz="2000" dirty="0">
                <a:ea typeface="Microsoft JhengHei" panose="020B0604030504040204" pitchFamily="34" charset="-120"/>
              </a:rPr>
              <a:t>越高越好</a:t>
            </a:r>
            <a:endParaRPr kumimoji="1" lang="en-US" altLang="zh-TW" sz="2000" dirty="0">
              <a:ea typeface="Microsoft JhengHei" panose="020B0604030504040204" pitchFamily="34" charset="-120"/>
            </a:endParaRPr>
          </a:p>
          <a:p>
            <a:pPr marL="1257300" lvl="2" indent="-342900">
              <a:lnSpc>
                <a:spcPct val="150000"/>
              </a:lnSpc>
              <a:buFont typeface="Arial" panose="020B0604020202020204" pitchFamily="34" charset="0"/>
              <a:buChar char="•"/>
            </a:pPr>
            <a:r>
              <a:rPr kumimoji="1" lang="en-US" altLang="zh-TW" sz="2000" dirty="0">
                <a:ea typeface="Microsoft JhengHei" panose="020B0604030504040204" pitchFamily="34" charset="-120"/>
              </a:rPr>
              <a:t>No False Positives: FPR </a:t>
            </a:r>
            <a:r>
              <a:rPr kumimoji="1" lang="zh-TW" altLang="en-US" sz="2000" dirty="0">
                <a:ea typeface="Microsoft JhengHei" panose="020B0604030504040204" pitchFamily="34" charset="-120"/>
              </a:rPr>
              <a:t>越低越好</a:t>
            </a:r>
            <a:endParaRPr kumimoji="1" lang="en-US" altLang="zh-TW" sz="2000" dirty="0">
              <a:ea typeface="Microsoft JhengHei" panose="020B0604030504040204" pitchFamily="34" charset="-120"/>
            </a:endParaRPr>
          </a:p>
          <a:p>
            <a:pPr marL="342900" indent="-342900">
              <a:lnSpc>
                <a:spcPct val="150000"/>
              </a:lnSpc>
              <a:buFont typeface="Arial" panose="020B0604020202020204" pitchFamily="34" charset="0"/>
              <a:buChar char="•"/>
            </a:pPr>
            <a:r>
              <a:rPr kumimoji="1" lang="zh-TW" altLang="en-US" sz="2000" dirty="0">
                <a:ea typeface="Microsoft JhengHei" panose="020B0604030504040204" pitchFamily="34" charset="-120"/>
              </a:rPr>
              <a:t>完美模型中存在一個「理想 </a:t>
            </a:r>
            <a:r>
              <a:rPr kumimoji="1" lang="en" altLang="zh-TW" sz="2000" dirty="0">
                <a:ea typeface="Microsoft JhengHei" panose="020B0604030504040204" pitchFamily="34" charset="-120"/>
              </a:rPr>
              <a:t>threshold </a:t>
            </a:r>
            <a:r>
              <a:rPr kumimoji="1" lang="zh-TW" altLang="en-US" sz="2000" dirty="0">
                <a:ea typeface="Microsoft JhengHei" panose="020B0604030504040204" pitchFamily="34" charset="-120"/>
              </a:rPr>
              <a:t>區間」，使我們能同時得到 </a:t>
            </a:r>
            <a:r>
              <a:rPr kumimoji="1" lang="en" altLang="zh-TW" sz="2000" dirty="0">
                <a:ea typeface="Microsoft JhengHei" panose="020B0604030504040204" pitchFamily="34" charset="-120"/>
              </a:rPr>
              <a:t>TPR = 1 </a:t>
            </a:r>
            <a:r>
              <a:rPr kumimoji="1" lang="zh-TW" altLang="en-US" sz="2000" dirty="0">
                <a:ea typeface="Microsoft JhengHei" panose="020B0604030504040204" pitchFamily="34" charset="-120"/>
              </a:rPr>
              <a:t>且 </a:t>
            </a:r>
            <a:r>
              <a:rPr kumimoji="1" lang="en" altLang="zh-TW" sz="2000" dirty="0">
                <a:ea typeface="Microsoft JhengHei" panose="020B0604030504040204" pitchFamily="34" charset="-120"/>
              </a:rPr>
              <a:t>FPR = 0</a:t>
            </a:r>
            <a:endParaRPr kumimoji="1" lang="en-US" altLang="zh-TW" sz="2000" dirty="0">
              <a:ea typeface="Microsoft JhengHei" panose="020B0604030504040204" pitchFamily="34" charset="-120"/>
            </a:endParaRPr>
          </a:p>
        </p:txBody>
      </p:sp>
      <p:pic>
        <p:nvPicPr>
          <p:cNvPr id="6" name="圖片 5">
            <a:extLst>
              <a:ext uri="{FF2B5EF4-FFF2-40B4-BE49-F238E27FC236}">
                <a16:creationId xmlns:a16="http://schemas.microsoft.com/office/drawing/2014/main" id="{AFCE9062-4EC2-8504-EBC5-220C282BF2EE}"/>
              </a:ext>
            </a:extLst>
          </p:cNvPr>
          <p:cNvPicPr>
            <a:picLocks noChangeAspect="1"/>
          </p:cNvPicPr>
          <p:nvPr/>
        </p:nvPicPr>
        <p:blipFill>
          <a:blip r:embed="rId2"/>
          <a:stretch>
            <a:fillRect/>
          </a:stretch>
        </p:blipFill>
        <p:spPr>
          <a:xfrm>
            <a:off x="7936941" y="2258611"/>
            <a:ext cx="3218625" cy="3287842"/>
          </a:xfrm>
          <a:prstGeom prst="rect">
            <a:avLst/>
          </a:prstGeom>
        </p:spPr>
      </p:pic>
      <p:sp>
        <p:nvSpPr>
          <p:cNvPr id="7" name="橢圓 6">
            <a:extLst>
              <a:ext uri="{FF2B5EF4-FFF2-40B4-BE49-F238E27FC236}">
                <a16:creationId xmlns:a16="http://schemas.microsoft.com/office/drawing/2014/main" id="{E7AC9878-8A31-CC62-8C19-A5AD5E504CF0}"/>
              </a:ext>
            </a:extLst>
          </p:cNvPr>
          <p:cNvSpPr/>
          <p:nvPr/>
        </p:nvSpPr>
        <p:spPr>
          <a:xfrm>
            <a:off x="8279841" y="2351280"/>
            <a:ext cx="160774" cy="1607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3267581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32DB69-0711-08EF-ABE6-DE1EDF73E99E}"/>
              </a:ext>
            </a:extLst>
          </p:cNvPr>
          <p:cNvSpPr>
            <a:spLocks noGrp="1"/>
          </p:cNvSpPr>
          <p:nvPr>
            <p:ph type="title"/>
          </p:nvPr>
        </p:nvSpPr>
        <p:spPr/>
        <p:txBody>
          <a:bodyPr/>
          <a:lstStyle/>
          <a:p>
            <a:r>
              <a:rPr kumimoji="1" lang="en-US" altLang="zh-TW" dirty="0"/>
              <a:t>Confusion Matrix</a:t>
            </a:r>
            <a:r>
              <a:rPr kumimoji="1" lang="en-US" altLang="zh-TW"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dirty="0">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dirty="0">
                <a:latin typeface="Times New Roman" panose="02020603050405020304" pitchFamily="18" charset="0"/>
                <a:ea typeface="Microsoft JhengHei" panose="020B0604030504040204" pitchFamily="34" charset="-120"/>
                <a:cs typeface="Times New Roman" panose="02020603050405020304" pitchFamily="18" charset="0"/>
              </a:rPr>
              <a:t>混淆矩陣</a:t>
            </a:r>
            <a:r>
              <a:rPr lang="en-US" altLang="zh-TW" dirty="0">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dirty="0">
                <a:latin typeface="Times New Roman" panose="02020603050405020304" pitchFamily="18" charset="0"/>
                <a:ea typeface="Microsoft JhengHei" panose="020B0604030504040204" pitchFamily="34" charset="-120"/>
                <a:cs typeface="Times New Roman" panose="02020603050405020304" pitchFamily="18" charset="0"/>
              </a:rPr>
              <a:t> </a:t>
            </a:r>
            <a:r>
              <a:rPr kumimoji="1" lang="en-US" altLang="zh-TW" dirty="0"/>
              <a:t>for ROC</a:t>
            </a:r>
            <a:endParaRPr kumimoji="1" lang="zh-TW" altLang="en-US" dirty="0"/>
          </a:p>
        </p:txBody>
      </p:sp>
      <p:sp>
        <p:nvSpPr>
          <p:cNvPr id="4" name="投影片編號版面配置區 3">
            <a:extLst>
              <a:ext uri="{FF2B5EF4-FFF2-40B4-BE49-F238E27FC236}">
                <a16:creationId xmlns:a16="http://schemas.microsoft.com/office/drawing/2014/main" id="{96B8A267-9F89-75F6-7478-CCB2D8FB6409}"/>
              </a:ext>
            </a:extLst>
          </p:cNvPr>
          <p:cNvSpPr>
            <a:spLocks noGrp="1"/>
          </p:cNvSpPr>
          <p:nvPr>
            <p:ph type="sldNum" sz="quarter" idx="12"/>
          </p:nvPr>
        </p:nvSpPr>
        <p:spPr/>
        <p:txBody>
          <a:bodyPr/>
          <a:lstStyle/>
          <a:p>
            <a:fld id="{6113E31D-E2AB-40D1-8B51-AFA5AFEF393A}" type="slidenum">
              <a:rPr lang="en-US" smtClean="0"/>
              <a:pPr/>
              <a:t>58</a:t>
            </a:fld>
            <a:endParaRPr lang="en-US" dirty="0"/>
          </a:p>
        </p:txBody>
      </p:sp>
      <p:graphicFrame>
        <p:nvGraphicFramePr>
          <p:cNvPr id="5" name="表格 5">
            <a:extLst>
              <a:ext uri="{FF2B5EF4-FFF2-40B4-BE49-F238E27FC236}">
                <a16:creationId xmlns:a16="http://schemas.microsoft.com/office/drawing/2014/main" id="{48DF8A4C-5AC4-9CE1-4981-9C40B22E3904}"/>
              </a:ext>
            </a:extLst>
          </p:cNvPr>
          <p:cNvGraphicFramePr>
            <a:graphicFrameLocks noGrp="1"/>
          </p:cNvGraphicFramePr>
          <p:nvPr/>
        </p:nvGraphicFramePr>
        <p:xfrm>
          <a:off x="653143" y="2071824"/>
          <a:ext cx="5586882" cy="3585399"/>
        </p:xfrm>
        <a:graphic>
          <a:graphicData uri="http://schemas.openxmlformats.org/drawingml/2006/table">
            <a:tbl>
              <a:tblPr firstRow="1" bandRow="1">
                <a:tableStyleId>{5C22544A-7EE6-4342-B048-85BDC9FD1C3A}</a:tableStyleId>
              </a:tblPr>
              <a:tblGrid>
                <a:gridCol w="1862294">
                  <a:extLst>
                    <a:ext uri="{9D8B030D-6E8A-4147-A177-3AD203B41FA5}">
                      <a16:colId xmlns:a16="http://schemas.microsoft.com/office/drawing/2014/main" val="2183311964"/>
                    </a:ext>
                  </a:extLst>
                </a:gridCol>
                <a:gridCol w="1862294">
                  <a:extLst>
                    <a:ext uri="{9D8B030D-6E8A-4147-A177-3AD203B41FA5}">
                      <a16:colId xmlns:a16="http://schemas.microsoft.com/office/drawing/2014/main" val="2298018437"/>
                    </a:ext>
                  </a:extLst>
                </a:gridCol>
                <a:gridCol w="1862294">
                  <a:extLst>
                    <a:ext uri="{9D8B030D-6E8A-4147-A177-3AD203B41FA5}">
                      <a16:colId xmlns:a16="http://schemas.microsoft.com/office/drawing/2014/main" val="1002637503"/>
                    </a:ext>
                  </a:extLst>
                </a:gridCol>
              </a:tblGrid>
              <a:tr h="1195133">
                <a:tc>
                  <a:txBody>
                    <a:bodyPr/>
                    <a:lstStyle/>
                    <a:p>
                      <a:pPr algn="ctr"/>
                      <a:endParaRPr lang="zh-TW" altLang="en-US" sz="220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 sz="2200" dirty="0">
                          <a:solidFill>
                            <a:schemeClr val="tx1"/>
                          </a:solidFill>
                        </a:rPr>
                        <a:t>Actually 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 sz="2200" dirty="0">
                          <a:solidFill>
                            <a:schemeClr val="tx1"/>
                          </a:solidFill>
                        </a:rPr>
                        <a:t>Actually negative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0552380"/>
                  </a:ext>
                </a:extLst>
              </a:tr>
              <a:tr h="11951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altLang="zh-TW" sz="2200" b="1" dirty="0">
                          <a:solidFill>
                            <a:schemeClr val="tx1"/>
                          </a:solidFill>
                        </a:rPr>
                        <a:t>Predicted positive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200" dirty="0">
                          <a:solidFill>
                            <a:schemeClr val="bg1"/>
                          </a:solidFill>
                        </a:rPr>
                        <a:t>True positive (TP)</a:t>
                      </a:r>
                      <a:endParaRPr lang="zh-TW" altLang="en-US" sz="22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34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bg1"/>
                          </a:solidFill>
                        </a:rPr>
                        <a:t>False positive (FP)</a:t>
                      </a:r>
                      <a:endParaRPr lang="zh-TW" altLang="en-US" sz="2200" dirty="0">
                        <a:solidFill>
                          <a:schemeClr val="bg1"/>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34E7"/>
                    </a:solidFill>
                  </a:tcPr>
                </a:tc>
                <a:extLst>
                  <a:ext uri="{0D108BD9-81ED-4DB2-BD59-A6C34878D82A}">
                    <a16:rowId xmlns:a16="http://schemas.microsoft.com/office/drawing/2014/main" val="3192971663"/>
                  </a:ext>
                </a:extLst>
              </a:tr>
              <a:tr h="11951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altLang="zh-TW" sz="2200" b="1" dirty="0">
                          <a:solidFill>
                            <a:schemeClr val="tx1"/>
                          </a:solidFill>
                        </a:rPr>
                        <a:t>Predicted negative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tx1"/>
                          </a:solidFill>
                        </a:rPr>
                        <a:t>False negative (FN)</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tx1"/>
                          </a:solidFill>
                        </a:rPr>
                        <a:t>True negative (TN)</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3899883575"/>
                  </a:ext>
                </a:extLst>
              </a:tr>
            </a:tbl>
          </a:graphicData>
        </a:graphic>
      </p:graphicFrame>
      <p:sp>
        <p:nvSpPr>
          <p:cNvPr id="7" name="文字方塊 6">
            <a:extLst>
              <a:ext uri="{FF2B5EF4-FFF2-40B4-BE49-F238E27FC236}">
                <a16:creationId xmlns:a16="http://schemas.microsoft.com/office/drawing/2014/main" id="{770E60D2-2FC5-1978-ADCF-F53FB0DC1D64}"/>
              </a:ext>
            </a:extLst>
          </p:cNvPr>
          <p:cNvSpPr txBox="1"/>
          <p:nvPr/>
        </p:nvSpPr>
        <p:spPr>
          <a:xfrm>
            <a:off x="6680640" y="2610957"/>
            <a:ext cx="4858217" cy="14219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 altLang="zh-TW" sz="2000" dirty="0">
                <a:latin typeface="Times New Roman" panose="02020603050405020304" pitchFamily="18" charset="0"/>
                <a:ea typeface="Microsoft JhengHei" panose="020B0604030504040204" pitchFamily="34" charset="-120"/>
                <a:cs typeface="Times New Roman" panose="02020603050405020304" pitchFamily="18" charset="0"/>
              </a:rPr>
              <a:t>TP / (TP + FN): True Positive Rate (TPR)</a:t>
            </a:r>
          </a:p>
          <a:p>
            <a:pPr marL="800100" lvl="1" indent="-342900">
              <a:lnSpc>
                <a:spcPct val="150000"/>
              </a:lnSpc>
              <a:buFont typeface="Arial" panose="020B0604020202020204" pitchFamily="34" charset="0"/>
              <a:buChar char="•"/>
            </a:pP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又稱作 </a:t>
            </a:r>
            <a:r>
              <a:rPr lang="en" altLang="zh-TW" sz="2000" dirty="0">
                <a:latin typeface="Times New Roman" panose="02020603050405020304" pitchFamily="18" charset="0"/>
                <a:ea typeface="Microsoft JhengHei" panose="020B0604030504040204" pitchFamily="34" charset="-120"/>
                <a:cs typeface="Times New Roman" panose="02020603050405020304" pitchFamily="18" charset="0"/>
              </a:rPr>
              <a:t>Recall</a:t>
            </a:r>
          </a:p>
          <a:p>
            <a:pPr marL="342900" indent="-342900">
              <a:lnSpc>
                <a:spcPct val="150000"/>
              </a:lnSpc>
              <a:buFont typeface="Arial" panose="020B0604020202020204" pitchFamily="34" charset="0"/>
              <a:buChar char="•"/>
            </a:pPr>
            <a:r>
              <a:rPr lang="en" altLang="zh-TW" sz="2000" dirty="0">
                <a:latin typeface="Times New Roman" panose="02020603050405020304" pitchFamily="18" charset="0"/>
                <a:ea typeface="Microsoft JhengHei" panose="020B0604030504040204" pitchFamily="34" charset="-120"/>
                <a:cs typeface="Times New Roman" panose="02020603050405020304" pitchFamily="18" charset="0"/>
              </a:rPr>
              <a:t>FP / (FP+TN): False Positive Rate</a:t>
            </a: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(FPR)</a:t>
            </a:r>
            <a:endParaRPr lang="en" altLang="zh-TW" sz="20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191186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F9110C-2636-D3FA-5430-774470315636}"/>
              </a:ext>
            </a:extLst>
          </p:cNvPr>
          <p:cNvSpPr>
            <a:spLocks noGrp="1"/>
          </p:cNvSpPr>
          <p:nvPr>
            <p:ph type="title"/>
          </p:nvPr>
        </p:nvSpPr>
        <p:spPr/>
        <p:txBody>
          <a:bodyPr/>
          <a:lstStyle/>
          <a:p>
            <a:r>
              <a:rPr kumimoji="1" lang="en-US" altLang="zh-TW" dirty="0"/>
              <a:t>Recall and Precision</a:t>
            </a:r>
            <a:endParaRPr kumimoji="1" lang="zh-TW" altLang="en-US" dirty="0"/>
          </a:p>
        </p:txBody>
      </p:sp>
      <p:sp>
        <p:nvSpPr>
          <p:cNvPr id="4" name="投影片編號版面配置區 3">
            <a:extLst>
              <a:ext uri="{FF2B5EF4-FFF2-40B4-BE49-F238E27FC236}">
                <a16:creationId xmlns:a16="http://schemas.microsoft.com/office/drawing/2014/main" id="{ADAD56BD-21EE-8451-AAA9-815C1B67327E}"/>
              </a:ext>
            </a:extLst>
          </p:cNvPr>
          <p:cNvSpPr>
            <a:spLocks noGrp="1"/>
          </p:cNvSpPr>
          <p:nvPr>
            <p:ph type="sldNum" sz="quarter" idx="12"/>
          </p:nvPr>
        </p:nvSpPr>
        <p:spPr/>
        <p:txBody>
          <a:bodyPr/>
          <a:lstStyle/>
          <a:p>
            <a:fld id="{6113E31D-E2AB-40D1-8B51-AFA5AFEF393A}" type="slidenum">
              <a:rPr lang="en-US" smtClean="0"/>
              <a:pPr/>
              <a:t>59</a:t>
            </a:fld>
            <a:endParaRPr lang="en-US" dirty="0"/>
          </a:p>
        </p:txBody>
      </p:sp>
      <p:pic>
        <p:nvPicPr>
          <p:cNvPr id="1026" name="Picture 2" descr="undefined">
            <a:extLst>
              <a:ext uri="{FF2B5EF4-FFF2-40B4-BE49-F238E27FC236}">
                <a16:creationId xmlns:a16="http://schemas.microsoft.com/office/drawing/2014/main" id="{7E1F5BA6-56C7-5EC8-C822-804C89F06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4074"/>
          <a:stretch/>
        </p:blipFill>
        <p:spPr bwMode="auto">
          <a:xfrm>
            <a:off x="1162050" y="1862512"/>
            <a:ext cx="3762771" cy="451025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undefined">
            <a:extLst>
              <a:ext uri="{FF2B5EF4-FFF2-40B4-BE49-F238E27FC236}">
                <a16:creationId xmlns:a16="http://schemas.microsoft.com/office/drawing/2014/main" id="{7CCB8BE8-5A0D-7D85-62E0-0B24037DE3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000"/>
          <a:stretch/>
        </p:blipFill>
        <p:spPr bwMode="auto">
          <a:xfrm>
            <a:off x="5834761" y="2689198"/>
            <a:ext cx="4910274" cy="2856887"/>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AE2D4E6D-F68F-FDE9-D367-FF0EB7AA6539}"/>
              </a:ext>
            </a:extLst>
          </p:cNvPr>
          <p:cNvSpPr txBox="1"/>
          <p:nvPr/>
        </p:nvSpPr>
        <p:spPr>
          <a:xfrm>
            <a:off x="6096000" y="6415560"/>
            <a:ext cx="4910274" cy="338554"/>
          </a:xfrm>
          <a:prstGeom prst="rect">
            <a:avLst/>
          </a:prstGeom>
          <a:noFill/>
        </p:spPr>
        <p:txBody>
          <a:bodyPr wrap="square" rtlCol="0">
            <a:spAutoFit/>
          </a:bodyPr>
          <a:lstStyle/>
          <a:p>
            <a:r>
              <a:rPr kumimoji="1" lang="en" altLang="zh-TW" sz="1600" dirty="0"/>
              <a:t>https://</a:t>
            </a:r>
            <a:r>
              <a:rPr kumimoji="1" lang="en" altLang="zh-TW" sz="1600" dirty="0" err="1"/>
              <a:t>en.wikipedia.org</a:t>
            </a:r>
            <a:r>
              <a:rPr kumimoji="1" lang="en" altLang="zh-TW" sz="1600" dirty="0"/>
              <a:t>/wiki/</a:t>
            </a:r>
            <a:r>
              <a:rPr kumimoji="1" lang="en" altLang="zh-TW" sz="1600" dirty="0" err="1"/>
              <a:t>Precision_and_recall</a:t>
            </a:r>
            <a:endParaRPr kumimoji="1" lang="zh-TW" altLang="en-US" sz="1600" dirty="0"/>
          </a:p>
        </p:txBody>
      </p:sp>
      <p:sp>
        <p:nvSpPr>
          <p:cNvPr id="7" name="文字方塊 6">
            <a:extLst>
              <a:ext uri="{FF2B5EF4-FFF2-40B4-BE49-F238E27FC236}">
                <a16:creationId xmlns:a16="http://schemas.microsoft.com/office/drawing/2014/main" id="{4DAB6AFC-63BF-3411-3C9D-3F17E132E1D9}"/>
              </a:ext>
            </a:extLst>
          </p:cNvPr>
          <p:cNvSpPr txBox="1"/>
          <p:nvPr/>
        </p:nvSpPr>
        <p:spPr>
          <a:xfrm>
            <a:off x="3220719" y="6028358"/>
            <a:ext cx="1312025" cy="369332"/>
          </a:xfrm>
          <a:prstGeom prst="rect">
            <a:avLst/>
          </a:prstGeom>
          <a:noFill/>
        </p:spPr>
        <p:txBody>
          <a:bodyPr wrap="square" rtlCol="0">
            <a:spAutoFit/>
          </a:bodyPr>
          <a:lstStyle/>
          <a:p>
            <a:r>
              <a:rPr kumimoji="1" lang="en-US" altLang="zh-TW" dirty="0"/>
              <a:t>(</a:t>
            </a:r>
            <a:r>
              <a:rPr kumimoji="1" lang="zh-TW" altLang="en-US" dirty="0"/>
              <a:t>模型預測</a:t>
            </a:r>
            <a:r>
              <a:rPr kumimoji="1" lang="en-US" altLang="zh-TW" dirty="0"/>
              <a:t>)</a:t>
            </a:r>
            <a:endParaRPr kumimoji="1" lang="zh-TW" altLang="en-US" dirty="0"/>
          </a:p>
        </p:txBody>
      </p:sp>
      <p:sp>
        <p:nvSpPr>
          <p:cNvPr id="8" name="文字方塊 7">
            <a:extLst>
              <a:ext uri="{FF2B5EF4-FFF2-40B4-BE49-F238E27FC236}">
                <a16:creationId xmlns:a16="http://schemas.microsoft.com/office/drawing/2014/main" id="{4165642E-AD07-770F-71A2-2B77CF77E53A}"/>
              </a:ext>
            </a:extLst>
          </p:cNvPr>
          <p:cNvSpPr txBox="1"/>
          <p:nvPr/>
        </p:nvSpPr>
        <p:spPr>
          <a:xfrm>
            <a:off x="1605279" y="1632606"/>
            <a:ext cx="1312025" cy="369332"/>
          </a:xfrm>
          <a:prstGeom prst="rect">
            <a:avLst/>
          </a:prstGeom>
          <a:noFill/>
        </p:spPr>
        <p:txBody>
          <a:bodyPr wrap="square" rtlCol="0">
            <a:spAutoFit/>
          </a:bodyPr>
          <a:lstStyle/>
          <a:p>
            <a:r>
              <a:rPr kumimoji="1" lang="en-US" altLang="zh-TW" dirty="0"/>
              <a:t>(</a:t>
            </a:r>
            <a:r>
              <a:rPr kumimoji="1" lang="zh-TW" altLang="en-US" dirty="0"/>
              <a:t>正確答案</a:t>
            </a:r>
            <a:r>
              <a:rPr kumimoji="1" lang="en-US" altLang="zh-TW" dirty="0"/>
              <a:t>)</a:t>
            </a:r>
            <a:endParaRPr kumimoji="1" lang="zh-TW" altLang="en-US" dirty="0"/>
          </a:p>
        </p:txBody>
      </p:sp>
    </p:spTree>
    <p:extLst>
      <p:ext uri="{BB962C8B-B14F-4D97-AF65-F5344CB8AC3E}">
        <p14:creationId xmlns:p14="http://schemas.microsoft.com/office/powerpoint/2010/main" val="152267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32DB69-0711-08EF-ABE6-DE1EDF73E99E}"/>
              </a:ext>
            </a:extLst>
          </p:cNvPr>
          <p:cNvSpPr>
            <a:spLocks noGrp="1"/>
          </p:cNvSpPr>
          <p:nvPr>
            <p:ph type="title"/>
          </p:nvPr>
        </p:nvSpPr>
        <p:spPr/>
        <p:txBody>
          <a:bodyPr/>
          <a:lstStyle/>
          <a:p>
            <a:r>
              <a:rPr kumimoji="1" lang="en-US" altLang="zh-TW" dirty="0"/>
              <a:t>Confusion Matrix</a:t>
            </a:r>
            <a:r>
              <a:rPr kumimoji="1" lang="zh-TW" altLang="en-US" dirty="0"/>
              <a:t> </a:t>
            </a:r>
            <a:r>
              <a:rPr kumimoji="1" lang="en-US" altLang="zh-TW" dirty="0"/>
              <a:t>for General Uses</a:t>
            </a:r>
            <a:endParaRPr kumimoji="1" lang="zh-TW" altLang="en-US" dirty="0"/>
          </a:p>
        </p:txBody>
      </p:sp>
      <p:sp>
        <p:nvSpPr>
          <p:cNvPr id="4" name="投影片編號版面配置區 3">
            <a:extLst>
              <a:ext uri="{FF2B5EF4-FFF2-40B4-BE49-F238E27FC236}">
                <a16:creationId xmlns:a16="http://schemas.microsoft.com/office/drawing/2014/main" id="{96B8A267-9F89-75F6-7478-CCB2D8FB6409}"/>
              </a:ext>
            </a:extLst>
          </p:cNvPr>
          <p:cNvSpPr>
            <a:spLocks noGrp="1"/>
          </p:cNvSpPr>
          <p:nvPr>
            <p:ph type="sldNum" sz="quarter" idx="12"/>
          </p:nvPr>
        </p:nvSpPr>
        <p:spPr/>
        <p:txBody>
          <a:bodyPr/>
          <a:lstStyle/>
          <a:p>
            <a:fld id="{6113E31D-E2AB-40D1-8B51-AFA5AFEF393A}" type="slidenum">
              <a:rPr lang="en-US" smtClean="0"/>
              <a:pPr/>
              <a:t>60</a:t>
            </a:fld>
            <a:endParaRPr lang="en-US" dirty="0"/>
          </a:p>
        </p:txBody>
      </p:sp>
      <p:graphicFrame>
        <p:nvGraphicFramePr>
          <p:cNvPr id="5" name="表格 5">
            <a:extLst>
              <a:ext uri="{FF2B5EF4-FFF2-40B4-BE49-F238E27FC236}">
                <a16:creationId xmlns:a16="http://schemas.microsoft.com/office/drawing/2014/main" id="{48DF8A4C-5AC4-9CE1-4981-9C40B22E3904}"/>
              </a:ext>
            </a:extLst>
          </p:cNvPr>
          <p:cNvGraphicFramePr>
            <a:graphicFrameLocks noGrp="1"/>
          </p:cNvGraphicFramePr>
          <p:nvPr/>
        </p:nvGraphicFramePr>
        <p:xfrm>
          <a:off x="653143" y="2071824"/>
          <a:ext cx="5586882" cy="3585399"/>
        </p:xfrm>
        <a:graphic>
          <a:graphicData uri="http://schemas.openxmlformats.org/drawingml/2006/table">
            <a:tbl>
              <a:tblPr firstRow="1" bandRow="1">
                <a:tableStyleId>{5C22544A-7EE6-4342-B048-85BDC9FD1C3A}</a:tableStyleId>
              </a:tblPr>
              <a:tblGrid>
                <a:gridCol w="1862294">
                  <a:extLst>
                    <a:ext uri="{9D8B030D-6E8A-4147-A177-3AD203B41FA5}">
                      <a16:colId xmlns:a16="http://schemas.microsoft.com/office/drawing/2014/main" val="2183311964"/>
                    </a:ext>
                  </a:extLst>
                </a:gridCol>
                <a:gridCol w="1862294">
                  <a:extLst>
                    <a:ext uri="{9D8B030D-6E8A-4147-A177-3AD203B41FA5}">
                      <a16:colId xmlns:a16="http://schemas.microsoft.com/office/drawing/2014/main" val="2298018437"/>
                    </a:ext>
                  </a:extLst>
                </a:gridCol>
                <a:gridCol w="1862294">
                  <a:extLst>
                    <a:ext uri="{9D8B030D-6E8A-4147-A177-3AD203B41FA5}">
                      <a16:colId xmlns:a16="http://schemas.microsoft.com/office/drawing/2014/main" val="1002637503"/>
                    </a:ext>
                  </a:extLst>
                </a:gridCol>
              </a:tblGrid>
              <a:tr h="1195133">
                <a:tc>
                  <a:txBody>
                    <a:bodyPr/>
                    <a:lstStyle/>
                    <a:p>
                      <a:pPr algn="ctr"/>
                      <a:endParaRPr lang="zh-TW" altLang="en-US" sz="220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 sz="2200" dirty="0">
                          <a:solidFill>
                            <a:schemeClr val="tx1"/>
                          </a:solidFill>
                        </a:rPr>
                        <a:t>Actually 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 sz="2200" dirty="0">
                          <a:solidFill>
                            <a:schemeClr val="tx1"/>
                          </a:solidFill>
                        </a:rPr>
                        <a:t>Actually negative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20552380"/>
                  </a:ext>
                </a:extLst>
              </a:tr>
              <a:tr h="11951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altLang="zh-TW" sz="2200" b="1" dirty="0">
                          <a:solidFill>
                            <a:schemeClr val="tx1"/>
                          </a:solidFill>
                        </a:rPr>
                        <a:t>Predicted positive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sz="2200" dirty="0">
                          <a:solidFill>
                            <a:schemeClr val="tx1"/>
                          </a:solidFill>
                        </a:rPr>
                        <a:t>True positive (TP)</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tx1"/>
                          </a:solidFill>
                        </a:rPr>
                        <a:t>False positive (FP)</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2971663"/>
                  </a:ext>
                </a:extLst>
              </a:tr>
              <a:tr h="11951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altLang="zh-TW" sz="2200" b="1" dirty="0">
                          <a:solidFill>
                            <a:schemeClr val="tx1"/>
                          </a:solidFill>
                        </a:rPr>
                        <a:t>Predicted negative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tx1"/>
                          </a:solidFill>
                        </a:rPr>
                        <a:t>False negative (FN)</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200" dirty="0">
                          <a:solidFill>
                            <a:schemeClr val="tx1"/>
                          </a:solidFill>
                        </a:rPr>
                        <a:t>True negative (TN)</a:t>
                      </a:r>
                      <a:endParaRPr lang="zh-TW" alt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9883575"/>
                  </a:ext>
                </a:extLst>
              </a:tr>
            </a:tbl>
          </a:graphicData>
        </a:graphic>
      </p:graphicFrame>
      <p:sp>
        <p:nvSpPr>
          <p:cNvPr id="6" name="內容版面配置區 2">
            <a:extLst>
              <a:ext uri="{FF2B5EF4-FFF2-40B4-BE49-F238E27FC236}">
                <a16:creationId xmlns:a16="http://schemas.microsoft.com/office/drawing/2014/main" id="{F612AB1A-47AD-2DAC-6A09-4D47286704EF}"/>
              </a:ext>
            </a:extLst>
          </p:cNvPr>
          <p:cNvSpPr txBox="1">
            <a:spLocks/>
          </p:cNvSpPr>
          <p:nvPr/>
        </p:nvSpPr>
        <p:spPr>
          <a:xfrm>
            <a:off x="7908054" y="3584628"/>
            <a:ext cx="3748034" cy="12410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kumimoji="1" lang="en-US" altLang="zh-TW" dirty="0"/>
          </a:p>
        </p:txBody>
      </p:sp>
      <p:sp>
        <p:nvSpPr>
          <p:cNvPr id="7" name="文字方塊 6">
            <a:extLst>
              <a:ext uri="{FF2B5EF4-FFF2-40B4-BE49-F238E27FC236}">
                <a16:creationId xmlns:a16="http://schemas.microsoft.com/office/drawing/2014/main" id="{770E60D2-2FC5-1978-ADCF-F53FB0DC1D64}"/>
              </a:ext>
            </a:extLst>
          </p:cNvPr>
          <p:cNvSpPr txBox="1"/>
          <p:nvPr/>
        </p:nvSpPr>
        <p:spPr>
          <a:xfrm>
            <a:off x="6680640" y="2181134"/>
            <a:ext cx="4858217" cy="32686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斜對角數值越大越好</a:t>
            </a:r>
            <a:endPar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endParaRPr>
          </a:p>
          <a:p>
            <a:pPr marL="800100" lvl="1" indent="-342900">
              <a:lnSpc>
                <a:spcPct val="150000"/>
              </a:lnSpc>
              <a:buFont typeface="Arial" panose="020B0604020202020204" pitchFamily="34" charset="0"/>
              <a:buChar char="•"/>
            </a:pPr>
            <a:r>
              <a:rPr lang="en" altLang="zh-TW" sz="2000" dirty="0">
                <a:latin typeface="Times New Roman" panose="02020603050405020304" pitchFamily="18" charset="0"/>
                <a:ea typeface="Microsoft JhengHei" panose="020B0604030504040204" pitchFamily="34" charset="-120"/>
                <a:cs typeface="Times New Roman" panose="02020603050405020304" pitchFamily="18" charset="0"/>
              </a:rPr>
              <a:t>TP </a:t>
            </a: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和</a:t>
            </a: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 TN</a:t>
            </a: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 越大越好</a:t>
            </a:r>
            <a:endPar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Precision = TP / (TP + FP)</a:t>
            </a:r>
          </a:p>
          <a:p>
            <a:pPr marL="800100" lvl="1" indent="-342900">
              <a:lnSpc>
                <a:spcPct val="150000"/>
              </a:lnSpc>
              <a:buFont typeface="Arial" panose="020B0604020202020204" pitchFamily="34" charset="0"/>
              <a:buChar char="•"/>
            </a:pP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模型預測的</a:t>
            </a: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TP</a:t>
            </a: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比例</a:t>
            </a:r>
            <a:endPar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Recall = TP / (TP + FN)</a:t>
            </a:r>
          </a:p>
          <a:p>
            <a:pPr marL="342900" indent="-342900">
              <a:lnSpc>
                <a:spcPct val="150000"/>
              </a:lnSpc>
              <a:buFont typeface="Arial" panose="020B0604020202020204" pitchFamily="34" charset="0"/>
              <a:buChar char="•"/>
            </a:pP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F1-score (</a:t>
            </a:r>
            <a:r>
              <a:rPr lang="zh-TW" altLang="en-US" sz="2000" dirty="0">
                <a:latin typeface="Times New Roman" panose="02020603050405020304" pitchFamily="18" charset="0"/>
                <a:ea typeface="Microsoft JhengHei" panose="020B0604030504040204" pitchFamily="34" charset="-120"/>
                <a:cs typeface="Times New Roman" panose="02020603050405020304" pitchFamily="18" charset="0"/>
              </a:rPr>
              <a:t>廣義</a:t>
            </a: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 = 2(Precision*Recall) / (</a:t>
            </a:r>
            <a:r>
              <a:rPr lang="en-US" altLang="zh-TW" sz="2000" dirty="0" err="1">
                <a:latin typeface="Times New Roman" panose="02020603050405020304" pitchFamily="18" charset="0"/>
                <a:ea typeface="Microsoft JhengHei" panose="020B0604030504040204" pitchFamily="34" charset="-120"/>
                <a:cs typeface="Times New Roman" panose="02020603050405020304" pitchFamily="18" charset="0"/>
              </a:rPr>
              <a:t>Precision+Recall</a:t>
            </a:r>
            <a:r>
              <a:rPr lang="en-US" altLang="zh-TW" sz="2000" dirty="0">
                <a:latin typeface="Times New Roman" panose="02020603050405020304" pitchFamily="18" charset="0"/>
                <a:ea typeface="Microsoft JhengHei" panose="020B0604030504040204" pitchFamily="34" charset="-120"/>
                <a:cs typeface="Times New Roman" panose="02020603050405020304" pitchFamily="18" charset="0"/>
              </a:rPr>
              <a:t>)</a:t>
            </a:r>
          </a:p>
        </p:txBody>
      </p:sp>
      <p:cxnSp>
        <p:nvCxnSpPr>
          <p:cNvPr id="9" name="直線箭頭接點 8">
            <a:extLst>
              <a:ext uri="{FF2B5EF4-FFF2-40B4-BE49-F238E27FC236}">
                <a16:creationId xmlns:a16="http://schemas.microsoft.com/office/drawing/2014/main" id="{E9938163-14C4-A021-3D68-56DF9F6F231D}"/>
              </a:ext>
            </a:extLst>
          </p:cNvPr>
          <p:cNvCxnSpPr/>
          <p:nvPr/>
        </p:nvCxnSpPr>
        <p:spPr>
          <a:xfrm flipV="1">
            <a:off x="2890129" y="3891826"/>
            <a:ext cx="0" cy="3481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4536941D-D130-C3AC-7B07-303D52038D1B}"/>
              </a:ext>
            </a:extLst>
          </p:cNvPr>
          <p:cNvCxnSpPr/>
          <p:nvPr/>
        </p:nvCxnSpPr>
        <p:spPr>
          <a:xfrm flipV="1">
            <a:off x="4775200" y="4712553"/>
            <a:ext cx="0" cy="3481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4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0DCBB0-A82C-8D86-A17B-BA781BA26289}"/>
              </a:ext>
            </a:extLst>
          </p:cNvPr>
          <p:cNvSpPr>
            <a:spLocks noGrp="1"/>
          </p:cNvSpPr>
          <p:nvPr>
            <p:ph type="title"/>
          </p:nvPr>
        </p:nvSpPr>
        <p:spPr/>
        <p:txBody>
          <a:bodyPr/>
          <a:lstStyle/>
          <a:p>
            <a:r>
              <a:rPr kumimoji="1" lang="en" altLang="zh-TW" dirty="0" err="1"/>
              <a:t>roc_curve</a:t>
            </a:r>
            <a:r>
              <a:rPr kumimoji="1" lang="en" altLang="zh-TW" dirty="0"/>
              <a:t> using scikit-learn</a:t>
            </a:r>
            <a:endParaRPr kumimoji="1" lang="zh-TW" altLang="en-US" dirty="0"/>
          </a:p>
        </p:txBody>
      </p:sp>
      <p:sp>
        <p:nvSpPr>
          <p:cNvPr id="4" name="投影片編號版面配置區 3">
            <a:extLst>
              <a:ext uri="{FF2B5EF4-FFF2-40B4-BE49-F238E27FC236}">
                <a16:creationId xmlns:a16="http://schemas.microsoft.com/office/drawing/2014/main" id="{AEF23DB9-2049-9FD6-3306-854FE1A322D3}"/>
              </a:ext>
            </a:extLst>
          </p:cNvPr>
          <p:cNvSpPr>
            <a:spLocks noGrp="1"/>
          </p:cNvSpPr>
          <p:nvPr>
            <p:ph type="sldNum" sz="quarter" idx="12"/>
          </p:nvPr>
        </p:nvSpPr>
        <p:spPr/>
        <p:txBody>
          <a:bodyPr/>
          <a:lstStyle/>
          <a:p>
            <a:fld id="{6113E31D-E2AB-40D1-8B51-AFA5AFEF393A}" type="slidenum">
              <a:rPr lang="en-US" smtClean="0"/>
              <a:pPr/>
              <a:t>61</a:t>
            </a:fld>
            <a:endParaRPr lang="en-US" dirty="0"/>
          </a:p>
        </p:txBody>
      </p:sp>
      <p:graphicFrame>
        <p:nvGraphicFramePr>
          <p:cNvPr id="6" name="表格 6">
            <a:extLst>
              <a:ext uri="{FF2B5EF4-FFF2-40B4-BE49-F238E27FC236}">
                <a16:creationId xmlns:a16="http://schemas.microsoft.com/office/drawing/2014/main" id="{8594A738-9BB5-7CB8-DE8F-EE2585A6AC6E}"/>
              </a:ext>
            </a:extLst>
          </p:cNvPr>
          <p:cNvGraphicFramePr>
            <a:graphicFrameLocks noGrp="1"/>
          </p:cNvGraphicFramePr>
          <p:nvPr/>
        </p:nvGraphicFramePr>
        <p:xfrm>
          <a:off x="1501842" y="2871810"/>
          <a:ext cx="9188315" cy="1920240"/>
        </p:xfrm>
        <a:graphic>
          <a:graphicData uri="http://schemas.openxmlformats.org/drawingml/2006/table">
            <a:tbl>
              <a:tblPr firstRow="1" bandRow="1">
                <a:tableStyleId>{5C22544A-7EE6-4342-B048-85BDC9FD1C3A}</a:tableStyleId>
              </a:tblPr>
              <a:tblGrid>
                <a:gridCol w="9188315">
                  <a:extLst>
                    <a:ext uri="{9D8B030D-6E8A-4147-A177-3AD203B41FA5}">
                      <a16:colId xmlns:a16="http://schemas.microsoft.com/office/drawing/2014/main" val="3459653621"/>
                    </a:ext>
                  </a:extLst>
                </a:gridCol>
              </a:tblGrid>
              <a:tr h="370840">
                <a:tc>
                  <a:txBody>
                    <a:bodyPr/>
                    <a:lstStyle/>
                    <a:p>
                      <a:r>
                        <a:rPr lang="en" altLang="zh-TW" sz="2000" b="0" dirty="0">
                          <a:solidFill>
                            <a:schemeClr val="tx1"/>
                          </a:solidFill>
                          <a:latin typeface="Consolas" panose="020B0609020204030204" pitchFamily="49" charset="0"/>
                          <a:cs typeface="Consolas" panose="020B0609020204030204" pitchFamily="49" charset="0"/>
                        </a:rPr>
                        <a:t>import </a:t>
                      </a:r>
                      <a:r>
                        <a:rPr lang="en" altLang="zh-TW" sz="2000" b="0" dirty="0" err="1">
                          <a:solidFill>
                            <a:schemeClr val="tx1"/>
                          </a:solidFill>
                          <a:latin typeface="Consolas" panose="020B0609020204030204" pitchFamily="49" charset="0"/>
                          <a:cs typeface="Consolas" panose="020B0609020204030204" pitchFamily="49" charset="0"/>
                        </a:rPr>
                        <a:t>numpy</a:t>
                      </a:r>
                      <a:r>
                        <a:rPr lang="en" altLang="zh-TW" sz="2000" b="0" dirty="0">
                          <a:solidFill>
                            <a:schemeClr val="tx1"/>
                          </a:solidFill>
                          <a:latin typeface="Consolas" panose="020B0609020204030204" pitchFamily="49" charset="0"/>
                          <a:cs typeface="Consolas" panose="020B0609020204030204" pitchFamily="49" charset="0"/>
                        </a:rPr>
                        <a:t> as np</a:t>
                      </a:r>
                    </a:p>
                    <a:p>
                      <a:r>
                        <a:rPr lang="en" altLang="zh-TW" sz="2000" b="0" dirty="0">
                          <a:solidFill>
                            <a:schemeClr val="tx1"/>
                          </a:solidFill>
                          <a:latin typeface="Consolas" panose="020B0609020204030204" pitchFamily="49" charset="0"/>
                          <a:cs typeface="Consolas" panose="020B0609020204030204" pitchFamily="49" charset="0"/>
                        </a:rPr>
                        <a:t>from </a:t>
                      </a:r>
                      <a:r>
                        <a:rPr lang="en" altLang="zh-TW" sz="2000" b="0" dirty="0" err="1">
                          <a:solidFill>
                            <a:schemeClr val="tx1"/>
                          </a:solidFill>
                          <a:latin typeface="Consolas" panose="020B0609020204030204" pitchFamily="49" charset="0"/>
                          <a:cs typeface="Consolas" panose="020B0609020204030204" pitchFamily="49" charset="0"/>
                        </a:rPr>
                        <a:t>sklearn</a:t>
                      </a:r>
                      <a:r>
                        <a:rPr lang="en" altLang="zh-TW" sz="2000" b="0" dirty="0">
                          <a:solidFill>
                            <a:schemeClr val="tx1"/>
                          </a:solidFill>
                          <a:latin typeface="Consolas" panose="020B0609020204030204" pitchFamily="49" charset="0"/>
                          <a:cs typeface="Consolas" panose="020B0609020204030204" pitchFamily="49" charset="0"/>
                        </a:rPr>
                        <a:t> import metrics</a:t>
                      </a:r>
                    </a:p>
                    <a:p>
                      <a:endParaRPr lang="en" altLang="zh-TW" sz="2000" b="0" dirty="0">
                        <a:solidFill>
                          <a:schemeClr val="tx1"/>
                        </a:solidFill>
                        <a:latin typeface="Consolas" panose="020B0609020204030204" pitchFamily="49" charset="0"/>
                        <a:cs typeface="Consolas" panose="020B0609020204030204" pitchFamily="49" charset="0"/>
                      </a:endParaRPr>
                    </a:p>
                    <a:p>
                      <a:r>
                        <a:rPr lang="en" altLang="zh-TW" sz="2000" b="0" dirty="0">
                          <a:solidFill>
                            <a:schemeClr val="tx1"/>
                          </a:solidFill>
                          <a:latin typeface="Consolas" panose="020B0609020204030204" pitchFamily="49" charset="0"/>
                          <a:cs typeface="Consolas" panose="020B0609020204030204" pitchFamily="49" charset="0"/>
                        </a:rPr>
                        <a:t>y = </a:t>
                      </a:r>
                      <a:r>
                        <a:rPr lang="en" altLang="zh-TW" sz="2000" b="0" dirty="0" err="1">
                          <a:solidFill>
                            <a:schemeClr val="tx1"/>
                          </a:solidFill>
                          <a:latin typeface="Consolas" panose="020B0609020204030204" pitchFamily="49" charset="0"/>
                          <a:cs typeface="Consolas" panose="020B0609020204030204" pitchFamily="49" charset="0"/>
                        </a:rPr>
                        <a:t>np.array</a:t>
                      </a:r>
                      <a:r>
                        <a:rPr lang="en" altLang="zh-TW" sz="2000" b="0" dirty="0">
                          <a:solidFill>
                            <a:schemeClr val="tx1"/>
                          </a:solidFill>
                          <a:latin typeface="Consolas" panose="020B0609020204030204" pitchFamily="49" charset="0"/>
                          <a:cs typeface="Consolas" panose="020B0609020204030204" pitchFamily="49" charset="0"/>
                        </a:rPr>
                        <a:t>([1, 1, 2, 2])</a:t>
                      </a:r>
                    </a:p>
                    <a:p>
                      <a:r>
                        <a:rPr lang="en" altLang="zh-TW" sz="2000" b="0" dirty="0">
                          <a:solidFill>
                            <a:schemeClr val="tx1"/>
                          </a:solidFill>
                          <a:latin typeface="Consolas" panose="020B0609020204030204" pitchFamily="49" charset="0"/>
                          <a:cs typeface="Consolas" panose="020B0609020204030204" pitchFamily="49" charset="0"/>
                        </a:rPr>
                        <a:t>scores = </a:t>
                      </a:r>
                      <a:r>
                        <a:rPr lang="en" altLang="zh-TW" sz="2000" b="0" dirty="0" err="1">
                          <a:solidFill>
                            <a:schemeClr val="tx1"/>
                          </a:solidFill>
                          <a:latin typeface="Consolas" panose="020B0609020204030204" pitchFamily="49" charset="0"/>
                          <a:cs typeface="Consolas" panose="020B0609020204030204" pitchFamily="49" charset="0"/>
                        </a:rPr>
                        <a:t>np.array</a:t>
                      </a:r>
                      <a:r>
                        <a:rPr lang="en" altLang="zh-TW" sz="2000" b="0" dirty="0">
                          <a:solidFill>
                            <a:schemeClr val="tx1"/>
                          </a:solidFill>
                          <a:latin typeface="Consolas" panose="020B0609020204030204" pitchFamily="49" charset="0"/>
                          <a:cs typeface="Consolas" panose="020B0609020204030204" pitchFamily="49" charset="0"/>
                        </a:rPr>
                        <a:t>([0.1, 0.4, 0.35, 0.8])</a:t>
                      </a:r>
                    </a:p>
                    <a:p>
                      <a:r>
                        <a:rPr lang="en" altLang="zh-TW" sz="2000" b="0" dirty="0" err="1">
                          <a:solidFill>
                            <a:schemeClr val="tx1"/>
                          </a:solidFill>
                          <a:latin typeface="Consolas" panose="020B0609020204030204" pitchFamily="49" charset="0"/>
                          <a:cs typeface="Consolas" panose="020B0609020204030204" pitchFamily="49" charset="0"/>
                        </a:rPr>
                        <a:t>fpr</a:t>
                      </a:r>
                      <a:r>
                        <a:rPr lang="en" altLang="zh-TW" sz="2000" b="0" dirty="0">
                          <a:solidFill>
                            <a:schemeClr val="tx1"/>
                          </a:solidFill>
                          <a:latin typeface="Consolas" panose="020B0609020204030204" pitchFamily="49" charset="0"/>
                          <a:cs typeface="Consolas" panose="020B0609020204030204" pitchFamily="49" charset="0"/>
                        </a:rPr>
                        <a:t>, </a:t>
                      </a:r>
                      <a:r>
                        <a:rPr lang="en" altLang="zh-TW" sz="2000" b="0" dirty="0" err="1">
                          <a:solidFill>
                            <a:schemeClr val="tx1"/>
                          </a:solidFill>
                          <a:latin typeface="Consolas" panose="020B0609020204030204" pitchFamily="49" charset="0"/>
                          <a:cs typeface="Consolas" panose="020B0609020204030204" pitchFamily="49" charset="0"/>
                        </a:rPr>
                        <a:t>tpr</a:t>
                      </a:r>
                      <a:r>
                        <a:rPr lang="en" altLang="zh-TW" sz="2000" b="0" dirty="0">
                          <a:solidFill>
                            <a:schemeClr val="tx1"/>
                          </a:solidFill>
                          <a:latin typeface="Consolas" panose="020B0609020204030204" pitchFamily="49" charset="0"/>
                          <a:cs typeface="Consolas" panose="020B0609020204030204" pitchFamily="49" charset="0"/>
                        </a:rPr>
                        <a:t>, thresholds = </a:t>
                      </a:r>
                      <a:r>
                        <a:rPr lang="en" altLang="zh-TW" sz="2000" b="0" dirty="0" err="1">
                          <a:solidFill>
                            <a:schemeClr val="tx1"/>
                          </a:solidFill>
                          <a:latin typeface="Consolas" panose="020B0609020204030204" pitchFamily="49" charset="0"/>
                          <a:cs typeface="Consolas" panose="020B0609020204030204" pitchFamily="49" charset="0"/>
                        </a:rPr>
                        <a:t>metrics.roc_curve</a:t>
                      </a:r>
                      <a:r>
                        <a:rPr lang="en" altLang="zh-TW" sz="2000" b="0" dirty="0">
                          <a:solidFill>
                            <a:schemeClr val="tx1"/>
                          </a:solidFill>
                          <a:latin typeface="Consolas" panose="020B0609020204030204" pitchFamily="49" charset="0"/>
                          <a:cs typeface="Consolas" panose="020B0609020204030204" pitchFamily="49" charset="0"/>
                        </a:rPr>
                        <a:t>(y, scores, </a:t>
                      </a:r>
                      <a:r>
                        <a:rPr lang="en" altLang="zh-TW" sz="2000" b="0" dirty="0" err="1">
                          <a:solidFill>
                            <a:schemeClr val="tx1"/>
                          </a:solidFill>
                          <a:latin typeface="Consolas" panose="020B0609020204030204" pitchFamily="49" charset="0"/>
                          <a:cs typeface="Consolas" panose="020B0609020204030204" pitchFamily="49" charset="0"/>
                        </a:rPr>
                        <a:t>pos_label</a:t>
                      </a:r>
                      <a:r>
                        <a:rPr lang="en" altLang="zh-TW" sz="2000" b="0" dirty="0">
                          <a:solidFill>
                            <a:schemeClr val="tx1"/>
                          </a:solidFill>
                          <a:latin typeface="Consolas" panose="020B0609020204030204" pitchFamily="49" charset="0"/>
                          <a:cs typeface="Consolas" panose="020B0609020204030204" pitchFamily="49"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7065601"/>
                  </a:ext>
                </a:extLst>
              </a:tr>
            </a:tbl>
          </a:graphicData>
        </a:graphic>
      </p:graphicFrame>
      <p:sp>
        <p:nvSpPr>
          <p:cNvPr id="7" name="文字方塊 6">
            <a:extLst>
              <a:ext uri="{FF2B5EF4-FFF2-40B4-BE49-F238E27FC236}">
                <a16:creationId xmlns:a16="http://schemas.microsoft.com/office/drawing/2014/main" id="{E2C2E83B-9881-AC75-90E6-3BA50AAD616F}"/>
              </a:ext>
            </a:extLst>
          </p:cNvPr>
          <p:cNvSpPr txBox="1"/>
          <p:nvPr/>
        </p:nvSpPr>
        <p:spPr>
          <a:xfrm>
            <a:off x="653144" y="1806093"/>
            <a:ext cx="10728217" cy="5062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 altLang="zh-TW" sz="2000" dirty="0">
                <a:ea typeface="Microsoft JhengHei" panose="020B0604030504040204" pitchFamily="34" charset="-120"/>
              </a:rPr>
              <a:t>https://scikit-</a:t>
            </a:r>
            <a:r>
              <a:rPr kumimoji="1" lang="en" altLang="zh-TW" sz="2000" dirty="0" err="1">
                <a:ea typeface="Microsoft JhengHei" panose="020B0604030504040204" pitchFamily="34" charset="-120"/>
              </a:rPr>
              <a:t>learn.org</a:t>
            </a:r>
            <a:r>
              <a:rPr kumimoji="1" lang="en" altLang="zh-TW" sz="2000" dirty="0">
                <a:ea typeface="Microsoft JhengHei" panose="020B0604030504040204" pitchFamily="34" charset="-120"/>
              </a:rPr>
              <a:t>/stable/modules/generated/</a:t>
            </a:r>
            <a:r>
              <a:rPr kumimoji="1" lang="en" altLang="zh-TW" sz="2000" dirty="0" err="1">
                <a:ea typeface="Microsoft JhengHei" panose="020B0604030504040204" pitchFamily="34" charset="-120"/>
              </a:rPr>
              <a:t>sklearn.metrics.roc_curve.html</a:t>
            </a:r>
            <a:endParaRPr kumimoji="1" lang="en-US" altLang="zh-TW" sz="2000" dirty="0">
              <a:ea typeface="Microsoft JhengHei" panose="020B0604030504040204" pitchFamily="34" charset="-120"/>
            </a:endParaRPr>
          </a:p>
        </p:txBody>
      </p:sp>
    </p:spTree>
    <p:extLst>
      <p:ext uri="{BB962C8B-B14F-4D97-AF65-F5344CB8AC3E}">
        <p14:creationId xmlns:p14="http://schemas.microsoft.com/office/powerpoint/2010/main" val="36863553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62989A-FD5C-E839-053D-585C6E9DB4DE}"/>
              </a:ext>
            </a:extLst>
          </p:cNvPr>
          <p:cNvSpPr>
            <a:spLocks noGrp="1"/>
          </p:cNvSpPr>
          <p:nvPr>
            <p:ph type="title"/>
          </p:nvPr>
        </p:nvSpPr>
        <p:spPr/>
        <p:txBody>
          <a:bodyPr/>
          <a:lstStyle/>
          <a:p>
            <a:r>
              <a:rPr kumimoji="1" lang="en-US" altLang="zh-TW" dirty="0"/>
              <a:t>Partial AUC (</a:t>
            </a:r>
            <a:r>
              <a:rPr kumimoji="1" lang="en-US" altLang="zh-TW" dirty="0" err="1"/>
              <a:t>pAUC</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DA328B9B-6BE0-33F5-0CA3-0A9A009395F7}"/>
              </a:ext>
            </a:extLst>
          </p:cNvPr>
          <p:cNvSpPr>
            <a:spLocks noGrp="1"/>
          </p:cNvSpPr>
          <p:nvPr>
            <p:ph type="sldNum" sz="quarter" idx="12"/>
          </p:nvPr>
        </p:nvSpPr>
        <p:spPr/>
        <p:txBody>
          <a:bodyPr/>
          <a:lstStyle/>
          <a:p>
            <a:fld id="{6113E31D-E2AB-40D1-8B51-AFA5AFEF393A}" type="slidenum">
              <a:rPr lang="en-US" smtClean="0"/>
              <a:pPr/>
              <a:t>62</a:t>
            </a:fld>
            <a:endParaRPr lang="en-US" dirty="0"/>
          </a:p>
        </p:txBody>
      </p:sp>
      <p:pic>
        <p:nvPicPr>
          <p:cNvPr id="5" name="圖片 4">
            <a:extLst>
              <a:ext uri="{FF2B5EF4-FFF2-40B4-BE49-F238E27FC236}">
                <a16:creationId xmlns:a16="http://schemas.microsoft.com/office/drawing/2014/main" id="{7FAFF4E7-6FEF-C72D-734A-FFC5FE7131D0}"/>
              </a:ext>
            </a:extLst>
          </p:cNvPr>
          <p:cNvPicPr>
            <a:picLocks noChangeAspect="1"/>
          </p:cNvPicPr>
          <p:nvPr/>
        </p:nvPicPr>
        <p:blipFill>
          <a:blip r:embed="rId2"/>
          <a:stretch>
            <a:fillRect/>
          </a:stretch>
        </p:blipFill>
        <p:spPr>
          <a:xfrm>
            <a:off x="3015066" y="1663313"/>
            <a:ext cx="6161868" cy="5117372"/>
          </a:xfrm>
          <a:prstGeom prst="rect">
            <a:avLst/>
          </a:prstGeom>
        </p:spPr>
      </p:pic>
    </p:spTree>
    <p:extLst>
      <p:ext uri="{BB962C8B-B14F-4D97-AF65-F5344CB8AC3E}">
        <p14:creationId xmlns:p14="http://schemas.microsoft.com/office/powerpoint/2010/main" val="28616721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E1D150-9507-44E4-4D52-A15771B4DA3C}"/>
              </a:ext>
            </a:extLst>
          </p:cNvPr>
          <p:cNvSpPr>
            <a:spLocks noGrp="1"/>
          </p:cNvSpPr>
          <p:nvPr>
            <p:ph type="title"/>
          </p:nvPr>
        </p:nvSpPr>
        <p:spPr/>
        <p:txBody>
          <a:bodyPr/>
          <a:lstStyle/>
          <a:p>
            <a:r>
              <a:rPr kumimoji="1" lang="en" altLang="zh-TW" dirty="0"/>
              <a:t>RSNA Pneumonia Detection</a:t>
            </a:r>
            <a:endParaRPr kumimoji="1" lang="zh-TW" altLang="en-US" dirty="0"/>
          </a:p>
        </p:txBody>
      </p:sp>
      <p:sp>
        <p:nvSpPr>
          <p:cNvPr id="4" name="投影片編號版面配置區 3">
            <a:extLst>
              <a:ext uri="{FF2B5EF4-FFF2-40B4-BE49-F238E27FC236}">
                <a16:creationId xmlns:a16="http://schemas.microsoft.com/office/drawing/2014/main" id="{A8EC3836-21F6-B550-B1A8-2DE73A0135F0}"/>
              </a:ext>
            </a:extLst>
          </p:cNvPr>
          <p:cNvSpPr>
            <a:spLocks noGrp="1"/>
          </p:cNvSpPr>
          <p:nvPr>
            <p:ph type="sldNum" sz="quarter" idx="12"/>
          </p:nvPr>
        </p:nvSpPr>
        <p:spPr/>
        <p:txBody>
          <a:bodyPr/>
          <a:lstStyle/>
          <a:p>
            <a:fld id="{6113E31D-E2AB-40D1-8B51-AFA5AFEF393A}" type="slidenum">
              <a:rPr lang="en-US" smtClean="0"/>
              <a:pPr/>
              <a:t>63</a:t>
            </a:fld>
            <a:endParaRPr lang="en-US" dirty="0"/>
          </a:p>
        </p:txBody>
      </p:sp>
      <p:pic>
        <p:nvPicPr>
          <p:cNvPr id="6" name="圖片 5">
            <a:extLst>
              <a:ext uri="{FF2B5EF4-FFF2-40B4-BE49-F238E27FC236}">
                <a16:creationId xmlns:a16="http://schemas.microsoft.com/office/drawing/2014/main" id="{1749B239-C469-0D22-79C0-3EB644BC4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7561" y="1611913"/>
            <a:ext cx="6296878" cy="5168772"/>
          </a:xfrm>
          <a:prstGeom prst="rect">
            <a:avLst/>
          </a:prstGeom>
        </p:spPr>
      </p:pic>
    </p:spTree>
    <p:extLst>
      <p:ext uri="{BB962C8B-B14F-4D97-AF65-F5344CB8AC3E}">
        <p14:creationId xmlns:p14="http://schemas.microsoft.com/office/powerpoint/2010/main" val="2347858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1CC733-4851-480C-747D-019C5AECE7E3}"/>
              </a:ext>
            </a:extLst>
          </p:cNvPr>
          <p:cNvSpPr>
            <a:spLocks noGrp="1"/>
          </p:cNvSpPr>
          <p:nvPr>
            <p:ph type="title"/>
          </p:nvPr>
        </p:nvSpPr>
        <p:spPr/>
        <p:txBody>
          <a:bodyPr/>
          <a:lstStyle/>
          <a:p>
            <a:r>
              <a:rPr kumimoji="1" lang="en" altLang="zh-TW" dirty="0"/>
              <a:t>RSNA Pneumonia – training data</a:t>
            </a:r>
            <a:endParaRPr kumimoji="1" lang="zh-TW" altLang="en-US" dirty="0"/>
          </a:p>
        </p:txBody>
      </p:sp>
      <p:sp>
        <p:nvSpPr>
          <p:cNvPr id="4" name="投影片編號版面配置區 3">
            <a:extLst>
              <a:ext uri="{FF2B5EF4-FFF2-40B4-BE49-F238E27FC236}">
                <a16:creationId xmlns:a16="http://schemas.microsoft.com/office/drawing/2014/main" id="{CFA35AE2-316A-970B-C6AF-DA075D179115}"/>
              </a:ext>
            </a:extLst>
          </p:cNvPr>
          <p:cNvSpPr>
            <a:spLocks noGrp="1"/>
          </p:cNvSpPr>
          <p:nvPr>
            <p:ph type="sldNum" sz="quarter" idx="12"/>
          </p:nvPr>
        </p:nvSpPr>
        <p:spPr/>
        <p:txBody>
          <a:bodyPr/>
          <a:lstStyle/>
          <a:p>
            <a:fld id="{6113E31D-E2AB-40D1-8B51-AFA5AFEF393A}" type="slidenum">
              <a:rPr lang="en-US" smtClean="0"/>
              <a:pPr/>
              <a:t>64</a:t>
            </a:fld>
            <a:endParaRPr lang="en-US" dirty="0"/>
          </a:p>
        </p:txBody>
      </p:sp>
      <p:pic>
        <p:nvPicPr>
          <p:cNvPr id="5" name="圖片 4">
            <a:extLst>
              <a:ext uri="{FF2B5EF4-FFF2-40B4-BE49-F238E27FC236}">
                <a16:creationId xmlns:a16="http://schemas.microsoft.com/office/drawing/2014/main" id="{D65FCA22-8C77-2536-EB88-72F857A93384}"/>
              </a:ext>
            </a:extLst>
          </p:cNvPr>
          <p:cNvPicPr>
            <a:picLocks noChangeAspect="1"/>
          </p:cNvPicPr>
          <p:nvPr/>
        </p:nvPicPr>
        <p:blipFill>
          <a:blip r:embed="rId2"/>
          <a:stretch>
            <a:fillRect/>
          </a:stretch>
        </p:blipFill>
        <p:spPr>
          <a:xfrm>
            <a:off x="1567932" y="1788655"/>
            <a:ext cx="9056136" cy="4489962"/>
          </a:xfrm>
          <a:prstGeom prst="rect">
            <a:avLst/>
          </a:prstGeom>
        </p:spPr>
      </p:pic>
    </p:spTree>
    <p:extLst>
      <p:ext uri="{BB962C8B-B14F-4D97-AF65-F5344CB8AC3E}">
        <p14:creationId xmlns:p14="http://schemas.microsoft.com/office/powerpoint/2010/main" val="33352742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72D253-4606-39FF-CFD8-7BDE852B0EF9}"/>
              </a:ext>
            </a:extLst>
          </p:cNvPr>
          <p:cNvSpPr>
            <a:spLocks noGrp="1"/>
          </p:cNvSpPr>
          <p:nvPr>
            <p:ph type="title"/>
          </p:nvPr>
        </p:nvSpPr>
        <p:spPr/>
        <p:txBody>
          <a:bodyPr/>
          <a:lstStyle/>
          <a:p>
            <a:r>
              <a:rPr kumimoji="1" lang="en" altLang="zh-TW" dirty="0"/>
              <a:t>RSNA Pneumonia –</a:t>
            </a:r>
            <a:r>
              <a:rPr kumimoji="1" lang="zh-TW" altLang="en-US" dirty="0"/>
              <a:t> 上傳內容</a:t>
            </a:r>
          </a:p>
        </p:txBody>
      </p:sp>
      <p:sp>
        <p:nvSpPr>
          <p:cNvPr id="4" name="投影片編號版面配置區 3">
            <a:extLst>
              <a:ext uri="{FF2B5EF4-FFF2-40B4-BE49-F238E27FC236}">
                <a16:creationId xmlns:a16="http://schemas.microsoft.com/office/drawing/2014/main" id="{C39EE82B-06E9-0698-27AE-300917569433}"/>
              </a:ext>
            </a:extLst>
          </p:cNvPr>
          <p:cNvSpPr>
            <a:spLocks noGrp="1"/>
          </p:cNvSpPr>
          <p:nvPr>
            <p:ph type="sldNum" sz="quarter" idx="12"/>
          </p:nvPr>
        </p:nvSpPr>
        <p:spPr/>
        <p:txBody>
          <a:bodyPr/>
          <a:lstStyle/>
          <a:p>
            <a:fld id="{6113E31D-E2AB-40D1-8B51-AFA5AFEF393A}" type="slidenum">
              <a:rPr lang="en-US" smtClean="0"/>
              <a:pPr/>
              <a:t>65</a:t>
            </a:fld>
            <a:endParaRPr lang="en-US" dirty="0"/>
          </a:p>
        </p:txBody>
      </p:sp>
      <p:pic>
        <p:nvPicPr>
          <p:cNvPr id="5" name="圖片 4">
            <a:extLst>
              <a:ext uri="{FF2B5EF4-FFF2-40B4-BE49-F238E27FC236}">
                <a16:creationId xmlns:a16="http://schemas.microsoft.com/office/drawing/2014/main" id="{7B382C4D-9AE0-F150-4803-615047F3FAC4}"/>
              </a:ext>
            </a:extLst>
          </p:cNvPr>
          <p:cNvPicPr>
            <a:picLocks noChangeAspect="1"/>
          </p:cNvPicPr>
          <p:nvPr/>
        </p:nvPicPr>
        <p:blipFill>
          <a:blip r:embed="rId2"/>
          <a:stretch>
            <a:fillRect/>
          </a:stretch>
        </p:blipFill>
        <p:spPr>
          <a:xfrm>
            <a:off x="2136148" y="1723832"/>
            <a:ext cx="7919703" cy="3522345"/>
          </a:xfrm>
          <a:prstGeom prst="rect">
            <a:avLst/>
          </a:prstGeom>
        </p:spPr>
      </p:pic>
      <p:sp>
        <p:nvSpPr>
          <p:cNvPr id="6" name="文字方塊 5">
            <a:extLst>
              <a:ext uri="{FF2B5EF4-FFF2-40B4-BE49-F238E27FC236}">
                <a16:creationId xmlns:a16="http://schemas.microsoft.com/office/drawing/2014/main" id="{43B9FEBD-CD8E-C64B-9666-980E805F09FF}"/>
              </a:ext>
            </a:extLst>
          </p:cNvPr>
          <p:cNvSpPr txBox="1"/>
          <p:nvPr/>
        </p:nvSpPr>
        <p:spPr>
          <a:xfrm>
            <a:off x="1008682" y="5520904"/>
            <a:ext cx="10174636" cy="1077218"/>
          </a:xfrm>
          <a:prstGeom prst="rect">
            <a:avLst/>
          </a:prstGeom>
          <a:noFill/>
        </p:spPr>
        <p:txBody>
          <a:bodyPr wrap="square" rtlCol="0">
            <a:spAutoFit/>
          </a:bodyPr>
          <a:lstStyle/>
          <a:p>
            <a:pPr algn="just"/>
            <a:r>
              <a:rPr lang="zh-TW" altLang="zh-TW" sz="1600" b="1" dirty="0"/>
              <a:t>NOTE:</a:t>
            </a:r>
            <a:r>
              <a:rPr lang="zh-TW" altLang="zh-TW" sz="1600" dirty="0"/>
              <a:t> In nearly all cases confidence will have </a:t>
            </a:r>
            <a:r>
              <a:rPr lang="zh-TW" altLang="zh-TW" sz="1600" b="1" dirty="0"/>
              <a:t>no</a:t>
            </a:r>
            <a:r>
              <a:rPr lang="zh-TW" altLang="zh-TW" sz="1600" dirty="0"/>
              <a:t> impact on scoring. It exists primarily to allow for submission boxes to be evaluated in a particular order to resolve extreme edge cases. None of these edge cases are known to exist in the data set. If you do not wish to use or calculate confidence you can use a placeholder value - like 1.0 - to indicate that no particular order applies to the evaluation of your submission boxes.</a:t>
            </a:r>
            <a:endParaRPr kumimoji="1" lang="zh-TW" altLang="en-US" sz="1600" dirty="0"/>
          </a:p>
        </p:txBody>
      </p:sp>
    </p:spTree>
    <p:extLst>
      <p:ext uri="{BB962C8B-B14F-4D97-AF65-F5344CB8AC3E}">
        <p14:creationId xmlns:p14="http://schemas.microsoft.com/office/powerpoint/2010/main" val="35526619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64B983-DE6A-70AE-A4BF-26CEF91AAF37}"/>
              </a:ext>
            </a:extLst>
          </p:cNvPr>
          <p:cNvSpPr>
            <a:spLocks noGrp="1"/>
          </p:cNvSpPr>
          <p:nvPr>
            <p:ph type="title"/>
          </p:nvPr>
        </p:nvSpPr>
        <p:spPr/>
        <p:txBody>
          <a:bodyPr>
            <a:normAutofit fontScale="90000"/>
          </a:bodyPr>
          <a:lstStyle/>
          <a:p>
            <a:r>
              <a:rPr kumimoji="1" lang="zh-TW" altLang="en-US" dirty="0"/>
              <a:t>評估指標：</a:t>
            </a:r>
            <a:r>
              <a:rPr kumimoji="1" lang="en-US" altLang="zh-TW" dirty="0"/>
              <a:t>IOU (Intersection over Union)</a:t>
            </a:r>
            <a:endParaRPr kumimoji="1" lang="zh-TW" altLang="en-US" dirty="0"/>
          </a:p>
        </p:txBody>
      </p:sp>
      <p:sp>
        <p:nvSpPr>
          <p:cNvPr id="4" name="投影片編號版面配置區 3">
            <a:extLst>
              <a:ext uri="{FF2B5EF4-FFF2-40B4-BE49-F238E27FC236}">
                <a16:creationId xmlns:a16="http://schemas.microsoft.com/office/drawing/2014/main" id="{B6A0833E-8B63-3B5A-0372-CD11AAAB547C}"/>
              </a:ext>
            </a:extLst>
          </p:cNvPr>
          <p:cNvSpPr>
            <a:spLocks noGrp="1"/>
          </p:cNvSpPr>
          <p:nvPr>
            <p:ph type="sldNum" sz="quarter" idx="12"/>
          </p:nvPr>
        </p:nvSpPr>
        <p:spPr/>
        <p:txBody>
          <a:bodyPr/>
          <a:lstStyle/>
          <a:p>
            <a:fld id="{6113E31D-E2AB-40D1-8B51-AFA5AFEF393A}" type="slidenum">
              <a:rPr lang="en-US" smtClean="0"/>
              <a:pPr/>
              <a:t>66</a:t>
            </a:fld>
            <a:endParaRPr lang="en-US" dirty="0"/>
          </a:p>
        </p:txBody>
      </p:sp>
      <p:pic>
        <p:nvPicPr>
          <p:cNvPr id="5" name="圖片 4" descr="Image of Intersection over Union">
            <a:extLst>
              <a:ext uri="{FF2B5EF4-FFF2-40B4-BE49-F238E27FC236}">
                <a16:creationId xmlns:a16="http://schemas.microsoft.com/office/drawing/2014/main" id="{C765F887-662C-452F-5C9A-33F812353EC7}"/>
              </a:ext>
            </a:extLst>
          </p:cNvPr>
          <p:cNvPicPr>
            <a:picLocks noChangeAspect="1"/>
          </p:cNvPicPr>
          <p:nvPr/>
        </p:nvPicPr>
        <p:blipFill>
          <a:blip r:embed="rId2"/>
          <a:stretch>
            <a:fillRect/>
          </a:stretch>
        </p:blipFill>
        <p:spPr>
          <a:xfrm>
            <a:off x="2422787" y="1818984"/>
            <a:ext cx="7346426" cy="4132365"/>
          </a:xfrm>
          <a:prstGeom prst="rect">
            <a:avLst/>
          </a:prstGeom>
        </p:spPr>
      </p:pic>
      <p:sp>
        <p:nvSpPr>
          <p:cNvPr id="6" name="文字方塊 5">
            <a:extLst>
              <a:ext uri="{FF2B5EF4-FFF2-40B4-BE49-F238E27FC236}">
                <a16:creationId xmlns:a16="http://schemas.microsoft.com/office/drawing/2014/main" id="{194B18A6-9496-1493-018C-A9E1EB89411D}"/>
              </a:ext>
            </a:extLst>
          </p:cNvPr>
          <p:cNvSpPr txBox="1"/>
          <p:nvPr/>
        </p:nvSpPr>
        <p:spPr>
          <a:xfrm>
            <a:off x="2931894" y="6378801"/>
            <a:ext cx="6328211" cy="246221"/>
          </a:xfrm>
          <a:prstGeom prst="rect">
            <a:avLst/>
          </a:prstGeom>
          <a:noFill/>
        </p:spPr>
        <p:txBody>
          <a:bodyPr wrap="square" rtlCol="0">
            <a:spAutoFit/>
          </a:bodyPr>
          <a:lstStyle/>
          <a:p>
            <a:pPr algn="ctr"/>
            <a:r>
              <a:rPr kumimoji="1" lang="en-US" altLang="zh-TW" sz="1000" dirty="0"/>
              <a:t>Figure source: https://</a:t>
            </a:r>
            <a:r>
              <a:rPr kumimoji="1" lang="en-US" altLang="zh-TW" sz="1000" dirty="0" err="1"/>
              <a:t>www.kaggle.com</a:t>
            </a:r>
            <a:r>
              <a:rPr kumimoji="1" lang="en-US" altLang="zh-TW" sz="1000" dirty="0"/>
              <a:t>/competitions/</a:t>
            </a:r>
            <a:r>
              <a:rPr kumimoji="1" lang="en-US" altLang="zh-TW" sz="1000" dirty="0" err="1"/>
              <a:t>rsna</a:t>
            </a:r>
            <a:r>
              <a:rPr kumimoji="1" lang="en-US" altLang="zh-TW" sz="1000" dirty="0"/>
              <a:t>-pneumonia-detection-challenge/overview</a:t>
            </a:r>
            <a:endParaRPr kumimoji="1" lang="zh-TW" altLang="en-US" sz="1000" dirty="0"/>
          </a:p>
        </p:txBody>
      </p:sp>
    </p:spTree>
    <p:extLst>
      <p:ext uri="{BB962C8B-B14F-4D97-AF65-F5344CB8AC3E}">
        <p14:creationId xmlns:p14="http://schemas.microsoft.com/office/powerpoint/2010/main" val="27179905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D226D-9CE6-8B8D-3E22-97F44519036B}"/>
              </a:ext>
            </a:extLst>
          </p:cNvPr>
          <p:cNvSpPr>
            <a:spLocks noGrp="1"/>
          </p:cNvSpPr>
          <p:nvPr>
            <p:ph type="title"/>
          </p:nvPr>
        </p:nvSpPr>
        <p:spPr/>
        <p:txBody>
          <a:bodyPr/>
          <a:lstStyle/>
          <a:p>
            <a:r>
              <a:rPr kumimoji="1" lang="en" altLang="zh-TW" dirty="0"/>
              <a:t>RSNA Pneumonia –</a:t>
            </a:r>
            <a:r>
              <a:rPr kumimoji="1" lang="zh-TW" altLang="en-US" dirty="0"/>
              <a:t> 評估指標</a:t>
            </a:r>
          </a:p>
        </p:txBody>
      </p:sp>
      <p:sp>
        <p:nvSpPr>
          <p:cNvPr id="4" name="投影片編號版面配置區 3">
            <a:extLst>
              <a:ext uri="{FF2B5EF4-FFF2-40B4-BE49-F238E27FC236}">
                <a16:creationId xmlns:a16="http://schemas.microsoft.com/office/drawing/2014/main" id="{1D839A12-6BB0-E02D-3589-7183A8F6ED01}"/>
              </a:ext>
            </a:extLst>
          </p:cNvPr>
          <p:cNvSpPr>
            <a:spLocks noGrp="1"/>
          </p:cNvSpPr>
          <p:nvPr>
            <p:ph type="sldNum" sz="quarter" idx="12"/>
          </p:nvPr>
        </p:nvSpPr>
        <p:spPr/>
        <p:txBody>
          <a:bodyPr/>
          <a:lstStyle/>
          <a:p>
            <a:fld id="{6113E31D-E2AB-40D1-8B51-AFA5AFEF393A}" type="slidenum">
              <a:rPr lang="en-US" smtClean="0"/>
              <a:pPr/>
              <a:t>67</a:t>
            </a:fld>
            <a:endParaRPr lang="en-US" dirty="0"/>
          </a:p>
        </p:txBody>
      </p:sp>
      <p:pic>
        <p:nvPicPr>
          <p:cNvPr id="6" name="圖片 5">
            <a:extLst>
              <a:ext uri="{FF2B5EF4-FFF2-40B4-BE49-F238E27FC236}">
                <a16:creationId xmlns:a16="http://schemas.microsoft.com/office/drawing/2014/main" id="{9ECB78D6-0E85-4FAC-CF7A-6575B2A9F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42" y="2349392"/>
            <a:ext cx="6926463" cy="2950395"/>
          </a:xfrm>
          <a:prstGeom prst="rect">
            <a:avLst/>
          </a:prstGeom>
        </p:spPr>
      </p:pic>
      <p:pic>
        <p:nvPicPr>
          <p:cNvPr id="7" name="圖片 6">
            <a:extLst>
              <a:ext uri="{FF2B5EF4-FFF2-40B4-BE49-F238E27FC236}">
                <a16:creationId xmlns:a16="http://schemas.microsoft.com/office/drawing/2014/main" id="{42DA34E3-0E1F-D628-94D3-E736B09AEB06}"/>
              </a:ext>
            </a:extLst>
          </p:cNvPr>
          <p:cNvPicPr>
            <a:picLocks noChangeAspect="1"/>
          </p:cNvPicPr>
          <p:nvPr/>
        </p:nvPicPr>
        <p:blipFill>
          <a:blip r:embed="rId3"/>
          <a:stretch>
            <a:fillRect/>
          </a:stretch>
        </p:blipFill>
        <p:spPr>
          <a:xfrm>
            <a:off x="7610602" y="1133329"/>
            <a:ext cx="3959251" cy="5647356"/>
          </a:xfrm>
          <a:prstGeom prst="rect">
            <a:avLst/>
          </a:prstGeom>
        </p:spPr>
      </p:pic>
      <p:sp>
        <p:nvSpPr>
          <p:cNvPr id="11" name="文字方塊 10">
            <a:extLst>
              <a:ext uri="{FF2B5EF4-FFF2-40B4-BE49-F238E27FC236}">
                <a16:creationId xmlns:a16="http://schemas.microsoft.com/office/drawing/2014/main" id="{4A62CA07-EE69-D008-1F28-A8BB0A717760}"/>
              </a:ext>
            </a:extLst>
          </p:cNvPr>
          <p:cNvSpPr txBox="1"/>
          <p:nvPr/>
        </p:nvSpPr>
        <p:spPr>
          <a:xfrm>
            <a:off x="2292804" y="6475011"/>
            <a:ext cx="3647137" cy="246221"/>
          </a:xfrm>
          <a:prstGeom prst="rect">
            <a:avLst/>
          </a:prstGeom>
          <a:noFill/>
        </p:spPr>
        <p:txBody>
          <a:bodyPr wrap="square" rtlCol="0">
            <a:spAutoFit/>
          </a:bodyPr>
          <a:lstStyle/>
          <a:p>
            <a:pPr algn="ctr"/>
            <a:r>
              <a:rPr kumimoji="1" lang="en-US" altLang="zh-TW" sz="1000" dirty="0"/>
              <a:t>https://</a:t>
            </a:r>
            <a:r>
              <a:rPr kumimoji="1" lang="en-US" altLang="zh-TW" sz="1000" dirty="0" err="1"/>
              <a:t>yy-programer.blogspot.com</a:t>
            </a:r>
            <a:r>
              <a:rPr kumimoji="1" lang="en-US" altLang="zh-TW" sz="1000" dirty="0"/>
              <a:t>/2020/06/</a:t>
            </a:r>
            <a:r>
              <a:rPr kumimoji="1" lang="en-US" altLang="zh-TW" sz="1000" dirty="0" err="1"/>
              <a:t>iouapmap.html</a:t>
            </a:r>
            <a:endParaRPr kumimoji="1" lang="zh-TW" altLang="en-US" sz="1000" dirty="0"/>
          </a:p>
        </p:txBody>
      </p:sp>
    </p:spTree>
    <p:extLst>
      <p:ext uri="{BB962C8B-B14F-4D97-AF65-F5344CB8AC3E}">
        <p14:creationId xmlns:p14="http://schemas.microsoft.com/office/powerpoint/2010/main" val="416443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48F971-868B-D7D3-27AF-97F77A6A57F0}"/>
              </a:ext>
            </a:extLst>
          </p:cNvPr>
          <p:cNvSpPr>
            <a:spLocks noGrp="1"/>
          </p:cNvSpPr>
          <p:nvPr>
            <p:ph type="title"/>
          </p:nvPr>
        </p:nvSpPr>
        <p:spPr/>
        <p:txBody>
          <a:bodyPr>
            <a:normAutofit/>
          </a:bodyPr>
          <a:lstStyle/>
          <a:p>
            <a:r>
              <a:rPr kumimoji="1" lang="en" altLang="zh-TW" dirty="0"/>
              <a:t>Name That LLM</a:t>
            </a:r>
            <a:r>
              <a:rPr kumimoji="1" lang="zh-TW" altLang="en-US" dirty="0"/>
              <a:t> </a:t>
            </a:r>
            <a:r>
              <a:rPr kumimoji="1" lang="en-US" altLang="zh-TW" dirty="0"/>
              <a:t>– </a:t>
            </a:r>
            <a:r>
              <a:rPr kumimoji="1" lang="zh-TW" altLang="en-US" dirty="0"/>
              <a:t>資料（不一定訓練）</a:t>
            </a:r>
          </a:p>
        </p:txBody>
      </p:sp>
      <p:sp>
        <p:nvSpPr>
          <p:cNvPr id="4" name="投影片編號版面配置區 3">
            <a:extLst>
              <a:ext uri="{FF2B5EF4-FFF2-40B4-BE49-F238E27FC236}">
                <a16:creationId xmlns:a16="http://schemas.microsoft.com/office/drawing/2014/main" id="{F55EF3C4-DF79-9CBC-191C-71D1B84C151C}"/>
              </a:ext>
            </a:extLst>
          </p:cNvPr>
          <p:cNvSpPr>
            <a:spLocks noGrp="1"/>
          </p:cNvSpPr>
          <p:nvPr>
            <p:ph type="sldNum" sz="quarter" idx="12"/>
          </p:nvPr>
        </p:nvSpPr>
        <p:spPr/>
        <p:txBody>
          <a:bodyPr/>
          <a:lstStyle/>
          <a:p>
            <a:fld id="{6113E31D-E2AB-40D1-8B51-AFA5AFEF393A}" type="slidenum">
              <a:rPr lang="en-US" smtClean="0"/>
              <a:pPr/>
              <a:t>68</a:t>
            </a:fld>
            <a:endParaRPr lang="en-US" dirty="0"/>
          </a:p>
        </p:txBody>
      </p:sp>
      <p:pic>
        <p:nvPicPr>
          <p:cNvPr id="8" name="圖片 7">
            <a:extLst>
              <a:ext uri="{FF2B5EF4-FFF2-40B4-BE49-F238E27FC236}">
                <a16:creationId xmlns:a16="http://schemas.microsoft.com/office/drawing/2014/main" id="{0A16D308-BD9E-608B-B43B-5CFC00A851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052" y="1775526"/>
            <a:ext cx="8199895" cy="4813490"/>
          </a:xfrm>
          <a:prstGeom prst="rect">
            <a:avLst/>
          </a:prstGeom>
        </p:spPr>
      </p:pic>
    </p:spTree>
    <p:extLst>
      <p:ext uri="{BB962C8B-B14F-4D97-AF65-F5344CB8AC3E}">
        <p14:creationId xmlns:p14="http://schemas.microsoft.com/office/powerpoint/2010/main" val="428036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82446B-BDAA-9294-A499-AB1572CD5118}"/>
              </a:ext>
            </a:extLst>
          </p:cNvPr>
          <p:cNvSpPr>
            <a:spLocks noGrp="1"/>
          </p:cNvSpPr>
          <p:nvPr>
            <p:ph type="title"/>
          </p:nvPr>
        </p:nvSpPr>
        <p:spPr/>
        <p:txBody>
          <a:bodyPr/>
          <a:lstStyle/>
          <a:p>
            <a:r>
              <a:rPr kumimoji="1" lang="en" altLang="zh-TW" dirty="0"/>
              <a:t>Name That LLM</a:t>
            </a:r>
            <a:r>
              <a:rPr kumimoji="1" lang="zh-TW" altLang="en-US" dirty="0"/>
              <a:t> </a:t>
            </a:r>
            <a:r>
              <a:rPr kumimoji="1" lang="en-US" altLang="zh-TW" dirty="0"/>
              <a:t>– </a:t>
            </a:r>
            <a:r>
              <a:rPr kumimoji="1" lang="zh-TW" altLang="en-US" dirty="0"/>
              <a:t>上傳內容</a:t>
            </a:r>
          </a:p>
        </p:txBody>
      </p:sp>
      <p:sp>
        <p:nvSpPr>
          <p:cNvPr id="4" name="投影片編號版面配置區 3">
            <a:extLst>
              <a:ext uri="{FF2B5EF4-FFF2-40B4-BE49-F238E27FC236}">
                <a16:creationId xmlns:a16="http://schemas.microsoft.com/office/drawing/2014/main" id="{43D6BBCE-767E-BC93-7510-9FAE20E73807}"/>
              </a:ext>
            </a:extLst>
          </p:cNvPr>
          <p:cNvSpPr>
            <a:spLocks noGrp="1"/>
          </p:cNvSpPr>
          <p:nvPr>
            <p:ph type="sldNum" sz="quarter" idx="12"/>
          </p:nvPr>
        </p:nvSpPr>
        <p:spPr/>
        <p:txBody>
          <a:bodyPr/>
          <a:lstStyle/>
          <a:p>
            <a:fld id="{6113E31D-E2AB-40D1-8B51-AFA5AFEF393A}" type="slidenum">
              <a:rPr lang="en-US" smtClean="0"/>
              <a:pPr/>
              <a:t>69</a:t>
            </a:fld>
            <a:endParaRPr lang="en-US" dirty="0"/>
          </a:p>
        </p:txBody>
      </p:sp>
      <p:pic>
        <p:nvPicPr>
          <p:cNvPr id="6" name="圖片 5">
            <a:extLst>
              <a:ext uri="{FF2B5EF4-FFF2-40B4-BE49-F238E27FC236}">
                <a16:creationId xmlns:a16="http://schemas.microsoft.com/office/drawing/2014/main" id="{3A786FCF-F5EB-584E-8995-73A86E611773}"/>
              </a:ext>
            </a:extLst>
          </p:cNvPr>
          <p:cNvPicPr>
            <a:picLocks noChangeAspect="1"/>
          </p:cNvPicPr>
          <p:nvPr/>
        </p:nvPicPr>
        <p:blipFill>
          <a:blip r:embed="rId2"/>
          <a:stretch>
            <a:fillRect/>
          </a:stretch>
        </p:blipFill>
        <p:spPr>
          <a:xfrm>
            <a:off x="653143" y="1880182"/>
            <a:ext cx="7772400" cy="4105023"/>
          </a:xfrm>
          <a:prstGeom prst="rect">
            <a:avLst/>
          </a:prstGeom>
        </p:spPr>
      </p:pic>
      <p:pic>
        <p:nvPicPr>
          <p:cNvPr id="5" name="圖片 4">
            <a:extLst>
              <a:ext uri="{FF2B5EF4-FFF2-40B4-BE49-F238E27FC236}">
                <a16:creationId xmlns:a16="http://schemas.microsoft.com/office/drawing/2014/main" id="{067E039A-FA4A-F373-1842-A8CCEF336FF9}"/>
              </a:ext>
            </a:extLst>
          </p:cNvPr>
          <p:cNvPicPr>
            <a:picLocks noChangeAspect="1"/>
          </p:cNvPicPr>
          <p:nvPr/>
        </p:nvPicPr>
        <p:blipFill>
          <a:blip r:embed="rId3"/>
          <a:stretch>
            <a:fillRect/>
          </a:stretch>
        </p:blipFill>
        <p:spPr>
          <a:xfrm>
            <a:off x="4539343" y="3204068"/>
            <a:ext cx="6891026" cy="3211492"/>
          </a:xfrm>
          <a:prstGeom prst="rect">
            <a:avLst/>
          </a:prstGeom>
          <a:ln>
            <a:solidFill>
              <a:srgbClr val="0070C0"/>
            </a:solidFill>
          </a:ln>
        </p:spPr>
      </p:pic>
    </p:spTree>
    <p:extLst>
      <p:ext uri="{BB962C8B-B14F-4D97-AF65-F5344CB8AC3E}">
        <p14:creationId xmlns:p14="http://schemas.microsoft.com/office/powerpoint/2010/main" val="174332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0AAEFF-F991-5A6A-0AFB-996E9984C916}"/>
              </a:ext>
            </a:extLst>
          </p:cNvPr>
          <p:cNvSpPr>
            <a:spLocks noGrp="1"/>
          </p:cNvSpPr>
          <p:nvPr>
            <p:ph type="title"/>
          </p:nvPr>
        </p:nvSpPr>
        <p:spPr/>
        <p:txBody>
          <a:bodyPr/>
          <a:lstStyle/>
          <a:p>
            <a:r>
              <a:rPr kumimoji="1" lang="zh-TW" altLang="en-US" dirty="0"/>
              <a:t>評估指標：</a:t>
            </a:r>
            <a:r>
              <a:rPr kumimoji="1" lang="en-US" altLang="zh-TW" dirty="0"/>
              <a:t>18</a:t>
            </a:r>
            <a:r>
              <a:rPr kumimoji="1" lang="zh-TW" altLang="en-US" dirty="0"/>
              <a:t> 個模型的平均 </a:t>
            </a:r>
            <a:r>
              <a:rPr kumimoji="1" lang="en-US" altLang="zh-TW" dirty="0"/>
              <a:t>Acc.</a:t>
            </a:r>
            <a:endParaRPr kumimoji="1" lang="zh-TW" altLang="en-US" dirty="0"/>
          </a:p>
        </p:txBody>
      </p:sp>
      <p:sp>
        <p:nvSpPr>
          <p:cNvPr id="4" name="投影片編號版面配置區 3">
            <a:extLst>
              <a:ext uri="{FF2B5EF4-FFF2-40B4-BE49-F238E27FC236}">
                <a16:creationId xmlns:a16="http://schemas.microsoft.com/office/drawing/2014/main" id="{F92A58EF-123C-3C96-1A6F-6E25FC9835BB}"/>
              </a:ext>
            </a:extLst>
          </p:cNvPr>
          <p:cNvSpPr>
            <a:spLocks noGrp="1"/>
          </p:cNvSpPr>
          <p:nvPr>
            <p:ph type="sldNum" sz="quarter" idx="12"/>
          </p:nvPr>
        </p:nvSpPr>
        <p:spPr/>
        <p:txBody>
          <a:bodyPr/>
          <a:lstStyle/>
          <a:p>
            <a:fld id="{6113E31D-E2AB-40D1-8B51-AFA5AFEF393A}" type="slidenum">
              <a:rPr lang="en-US" smtClean="0"/>
              <a:pPr/>
              <a:t>70</a:t>
            </a:fld>
            <a:endParaRPr lang="en-US" dirty="0"/>
          </a:p>
        </p:txBody>
      </p:sp>
      <p:pic>
        <p:nvPicPr>
          <p:cNvPr id="5" name="圖片 4">
            <a:extLst>
              <a:ext uri="{FF2B5EF4-FFF2-40B4-BE49-F238E27FC236}">
                <a16:creationId xmlns:a16="http://schemas.microsoft.com/office/drawing/2014/main" id="{06343C31-4342-F986-37EA-2EF0C4A54A48}"/>
              </a:ext>
            </a:extLst>
          </p:cNvPr>
          <p:cNvPicPr>
            <a:picLocks noChangeAspect="1"/>
          </p:cNvPicPr>
          <p:nvPr/>
        </p:nvPicPr>
        <p:blipFill>
          <a:blip r:embed="rId2"/>
          <a:stretch>
            <a:fillRect/>
          </a:stretch>
        </p:blipFill>
        <p:spPr>
          <a:xfrm>
            <a:off x="2209800" y="2572105"/>
            <a:ext cx="7772400" cy="2775267"/>
          </a:xfrm>
          <a:prstGeom prst="rect">
            <a:avLst/>
          </a:prstGeom>
          <a:ln>
            <a:solidFill>
              <a:srgbClr val="0070C0"/>
            </a:solidFill>
          </a:ln>
        </p:spPr>
      </p:pic>
      <p:sp>
        <p:nvSpPr>
          <p:cNvPr id="6" name="文字方塊 5">
            <a:extLst>
              <a:ext uri="{FF2B5EF4-FFF2-40B4-BE49-F238E27FC236}">
                <a16:creationId xmlns:a16="http://schemas.microsoft.com/office/drawing/2014/main" id="{2E300E40-ACF2-61AE-5527-054675942477}"/>
              </a:ext>
            </a:extLst>
          </p:cNvPr>
          <p:cNvSpPr txBox="1"/>
          <p:nvPr/>
        </p:nvSpPr>
        <p:spPr>
          <a:xfrm>
            <a:off x="2931894" y="6378801"/>
            <a:ext cx="6328211" cy="246221"/>
          </a:xfrm>
          <a:prstGeom prst="rect">
            <a:avLst/>
          </a:prstGeom>
          <a:noFill/>
        </p:spPr>
        <p:txBody>
          <a:bodyPr wrap="square" rtlCol="0">
            <a:spAutoFit/>
          </a:bodyPr>
          <a:lstStyle/>
          <a:p>
            <a:pPr algn="ctr"/>
            <a:r>
              <a:rPr kumimoji="1" lang="en-US" altLang="zh-TW" sz="1000" dirty="0"/>
              <a:t>Figure source: https://</a:t>
            </a:r>
            <a:r>
              <a:rPr kumimoji="1" lang="en-US" altLang="zh-TW" sz="1000" dirty="0" err="1"/>
              <a:t>www.kaggle.com</a:t>
            </a:r>
            <a:r>
              <a:rPr kumimoji="1" lang="en-US" altLang="zh-TW" sz="1000" dirty="0"/>
              <a:t>/competitions/</a:t>
            </a:r>
            <a:r>
              <a:rPr kumimoji="1" lang="en-US" altLang="zh-TW" sz="1000" dirty="0" err="1"/>
              <a:t>rsna</a:t>
            </a:r>
            <a:r>
              <a:rPr kumimoji="1" lang="en-US" altLang="zh-TW" sz="1000" dirty="0"/>
              <a:t>-pneumonia-detection-challenge/overview</a:t>
            </a:r>
            <a:endParaRPr kumimoji="1" lang="zh-TW" altLang="en-US" sz="1000" dirty="0"/>
          </a:p>
        </p:txBody>
      </p:sp>
    </p:spTree>
    <p:extLst>
      <p:ext uri="{BB962C8B-B14F-4D97-AF65-F5344CB8AC3E}">
        <p14:creationId xmlns:p14="http://schemas.microsoft.com/office/powerpoint/2010/main" val="526853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5EBE553-4299-CF06-B594-01DFD6432F07}"/>
              </a:ext>
            </a:extLst>
          </p:cNvPr>
          <p:cNvSpPr>
            <a:spLocks noGrp="1"/>
          </p:cNvSpPr>
          <p:nvPr>
            <p:ph type="sldNum" sz="quarter" idx="12"/>
          </p:nvPr>
        </p:nvSpPr>
        <p:spPr/>
        <p:txBody>
          <a:bodyPr/>
          <a:lstStyle/>
          <a:p>
            <a:fld id="{6113E31D-E2AB-40D1-8B51-AFA5AFEF393A}" type="slidenum">
              <a:rPr lang="en-US" smtClean="0"/>
              <a:pPr/>
              <a:t>71</a:t>
            </a:fld>
            <a:endParaRPr lang="en-US" dirty="0"/>
          </a:p>
        </p:txBody>
      </p:sp>
      <p:pic>
        <p:nvPicPr>
          <p:cNvPr id="5" name="圖片 4">
            <a:extLst>
              <a:ext uri="{FF2B5EF4-FFF2-40B4-BE49-F238E27FC236}">
                <a16:creationId xmlns:a16="http://schemas.microsoft.com/office/drawing/2014/main" id="{248BC44D-48A1-7830-0B72-A5DE8398EA11}"/>
              </a:ext>
            </a:extLst>
          </p:cNvPr>
          <p:cNvPicPr>
            <a:picLocks noChangeAspect="1"/>
          </p:cNvPicPr>
          <p:nvPr/>
        </p:nvPicPr>
        <p:blipFill>
          <a:blip r:embed="rId2"/>
          <a:stretch>
            <a:fillRect/>
          </a:stretch>
        </p:blipFill>
        <p:spPr>
          <a:xfrm>
            <a:off x="2437432" y="953146"/>
            <a:ext cx="7317136" cy="4439611"/>
          </a:xfrm>
          <a:prstGeom prst="rect">
            <a:avLst/>
          </a:prstGeom>
        </p:spPr>
      </p:pic>
      <p:sp>
        <p:nvSpPr>
          <p:cNvPr id="6" name="文字方塊 5">
            <a:extLst>
              <a:ext uri="{FF2B5EF4-FFF2-40B4-BE49-F238E27FC236}">
                <a16:creationId xmlns:a16="http://schemas.microsoft.com/office/drawing/2014/main" id="{D158D2E5-9200-5CF2-2355-E6CACC3AAA5C}"/>
              </a:ext>
            </a:extLst>
          </p:cNvPr>
          <p:cNvSpPr txBox="1"/>
          <p:nvPr/>
        </p:nvSpPr>
        <p:spPr>
          <a:xfrm>
            <a:off x="2931894" y="6030089"/>
            <a:ext cx="6328211" cy="246221"/>
          </a:xfrm>
          <a:prstGeom prst="rect">
            <a:avLst/>
          </a:prstGeom>
          <a:noFill/>
        </p:spPr>
        <p:txBody>
          <a:bodyPr wrap="square" rtlCol="0">
            <a:spAutoFit/>
          </a:bodyPr>
          <a:lstStyle/>
          <a:p>
            <a:pPr algn="ctr"/>
            <a:r>
              <a:rPr kumimoji="1" lang="en-US" altLang="zh-TW" sz="1000" dirty="0"/>
              <a:t>Figure source: https://</a:t>
            </a:r>
            <a:r>
              <a:rPr kumimoji="1" lang="en-US" altLang="zh-TW" sz="1000" dirty="0" err="1"/>
              <a:t>inigolopezgazpio.net</a:t>
            </a:r>
            <a:r>
              <a:rPr kumimoji="1" lang="en-US" altLang="zh-TW" sz="1000" dirty="0"/>
              <a:t>/SemEval-2027-Task-2-DiCo-NLI/</a:t>
            </a:r>
            <a:endParaRPr kumimoji="1" lang="zh-TW" altLang="en-US" sz="1000" dirty="0"/>
          </a:p>
        </p:txBody>
      </p:sp>
    </p:spTree>
    <p:extLst>
      <p:ext uri="{BB962C8B-B14F-4D97-AF65-F5344CB8AC3E}">
        <p14:creationId xmlns:p14="http://schemas.microsoft.com/office/powerpoint/2010/main" val="5557767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0959E6-DCDE-F17E-0CA9-94D860936B85}"/>
              </a:ext>
            </a:extLst>
          </p:cNvPr>
          <p:cNvSpPr>
            <a:spLocks noGrp="1"/>
          </p:cNvSpPr>
          <p:nvPr>
            <p:ph type="title"/>
          </p:nvPr>
        </p:nvSpPr>
        <p:spPr/>
        <p:txBody>
          <a:bodyPr>
            <a:normAutofit/>
          </a:bodyPr>
          <a:lstStyle/>
          <a:p>
            <a:r>
              <a:rPr lang="zh-TW" altLang="zh-TW" dirty="0"/>
              <a:t>Natural Language Inference</a:t>
            </a:r>
            <a:r>
              <a:rPr lang="zh-TW" altLang="en-US" dirty="0"/>
              <a:t> </a:t>
            </a:r>
            <a:r>
              <a:rPr lang="en-US" altLang="zh-TW" dirty="0"/>
              <a:t>(NLI)</a:t>
            </a:r>
            <a:endParaRPr kumimoji="1" lang="zh-TW" altLang="en-US" dirty="0"/>
          </a:p>
        </p:txBody>
      </p:sp>
      <p:sp>
        <p:nvSpPr>
          <p:cNvPr id="4" name="投影片編號版面配置區 3">
            <a:extLst>
              <a:ext uri="{FF2B5EF4-FFF2-40B4-BE49-F238E27FC236}">
                <a16:creationId xmlns:a16="http://schemas.microsoft.com/office/drawing/2014/main" id="{E78A1908-3FEB-6F30-A680-E4C79670F548}"/>
              </a:ext>
            </a:extLst>
          </p:cNvPr>
          <p:cNvSpPr>
            <a:spLocks noGrp="1"/>
          </p:cNvSpPr>
          <p:nvPr>
            <p:ph type="sldNum" sz="quarter" idx="12"/>
          </p:nvPr>
        </p:nvSpPr>
        <p:spPr/>
        <p:txBody>
          <a:bodyPr/>
          <a:lstStyle/>
          <a:p>
            <a:fld id="{6113E31D-E2AB-40D1-8B51-AFA5AFEF393A}" type="slidenum">
              <a:rPr lang="en-US" smtClean="0"/>
              <a:pPr/>
              <a:t>72</a:t>
            </a:fld>
            <a:endParaRPr lang="en-US" dirty="0"/>
          </a:p>
        </p:txBody>
      </p:sp>
      <p:sp>
        <p:nvSpPr>
          <p:cNvPr id="6" name="圓角矩形 5">
            <a:extLst>
              <a:ext uri="{FF2B5EF4-FFF2-40B4-BE49-F238E27FC236}">
                <a16:creationId xmlns:a16="http://schemas.microsoft.com/office/drawing/2014/main" id="{3E647274-DCFD-A14C-2F6D-FEE7ECB7EB0F}"/>
              </a:ext>
            </a:extLst>
          </p:cNvPr>
          <p:cNvSpPr/>
          <p:nvPr/>
        </p:nvSpPr>
        <p:spPr>
          <a:xfrm>
            <a:off x="813662" y="2371986"/>
            <a:ext cx="2464230" cy="40295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chemeClr val="tx1"/>
                </a:solidFill>
              </a:rPr>
              <a:t>前提 </a:t>
            </a:r>
            <a:r>
              <a:rPr kumimoji="1" lang="en-US" altLang="zh-TW" dirty="0">
                <a:solidFill>
                  <a:schemeClr val="tx1"/>
                </a:solidFill>
              </a:rPr>
              <a:t>(premise)</a:t>
            </a:r>
            <a:endParaRPr kumimoji="1" lang="zh-TW" altLang="en-US" dirty="0">
              <a:solidFill>
                <a:schemeClr val="tx1"/>
              </a:solidFill>
            </a:endParaRPr>
          </a:p>
        </p:txBody>
      </p:sp>
      <p:sp>
        <p:nvSpPr>
          <p:cNvPr id="7" name="圓角矩形 6">
            <a:extLst>
              <a:ext uri="{FF2B5EF4-FFF2-40B4-BE49-F238E27FC236}">
                <a16:creationId xmlns:a16="http://schemas.microsoft.com/office/drawing/2014/main" id="{3419DB71-8A48-BD95-5820-C2380F4664AC}"/>
              </a:ext>
            </a:extLst>
          </p:cNvPr>
          <p:cNvSpPr/>
          <p:nvPr/>
        </p:nvSpPr>
        <p:spPr>
          <a:xfrm>
            <a:off x="3631771" y="2371986"/>
            <a:ext cx="2464230" cy="402956"/>
          </a:xfrm>
          <a:prstGeom prst="roundRect">
            <a:avLst/>
          </a:prstGeom>
          <a:solidFill>
            <a:schemeClr val="accent6">
              <a:lumMod val="20000"/>
              <a:lumOff val="8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chemeClr val="tx1"/>
                </a:solidFill>
              </a:rPr>
              <a:t>假設 </a:t>
            </a:r>
            <a:r>
              <a:rPr kumimoji="1" lang="en-US" altLang="zh-TW" dirty="0">
                <a:solidFill>
                  <a:schemeClr val="tx1"/>
                </a:solidFill>
              </a:rPr>
              <a:t>(Hypothesis)</a:t>
            </a:r>
            <a:endParaRPr kumimoji="1" lang="zh-TW" altLang="en-US" dirty="0">
              <a:solidFill>
                <a:schemeClr val="tx1"/>
              </a:solidFill>
            </a:endParaRPr>
          </a:p>
        </p:txBody>
      </p:sp>
      <p:sp>
        <p:nvSpPr>
          <p:cNvPr id="8" name="文字方塊 7">
            <a:extLst>
              <a:ext uri="{FF2B5EF4-FFF2-40B4-BE49-F238E27FC236}">
                <a16:creationId xmlns:a16="http://schemas.microsoft.com/office/drawing/2014/main" id="{75A78D78-61D9-ADB0-FAB4-DC4B6C4CF1EA}"/>
              </a:ext>
            </a:extLst>
          </p:cNvPr>
          <p:cNvSpPr txBox="1"/>
          <p:nvPr/>
        </p:nvSpPr>
        <p:spPr>
          <a:xfrm>
            <a:off x="813662" y="3263358"/>
            <a:ext cx="2464230" cy="369332"/>
          </a:xfrm>
          <a:prstGeom prst="rect">
            <a:avLst/>
          </a:prstGeom>
          <a:noFill/>
        </p:spPr>
        <p:txBody>
          <a:bodyPr wrap="square" rtlCol="0">
            <a:spAutoFit/>
          </a:bodyPr>
          <a:lstStyle/>
          <a:p>
            <a:pPr algn="ctr"/>
            <a:r>
              <a:rPr kumimoji="1" lang="en" altLang="zh-TW" dirty="0"/>
              <a:t>Everyone is hungry</a:t>
            </a:r>
            <a:r>
              <a:rPr kumimoji="1" lang="en-US" altLang="zh-TW" dirty="0"/>
              <a:t>.</a:t>
            </a:r>
            <a:endParaRPr kumimoji="1" lang="zh-TW" altLang="en-US" dirty="0"/>
          </a:p>
        </p:txBody>
      </p:sp>
      <p:sp>
        <p:nvSpPr>
          <p:cNvPr id="9" name="文字方塊 8">
            <a:extLst>
              <a:ext uri="{FF2B5EF4-FFF2-40B4-BE49-F238E27FC236}">
                <a16:creationId xmlns:a16="http://schemas.microsoft.com/office/drawing/2014/main" id="{DC845193-6A24-F528-80E5-B0934ACB8C73}"/>
              </a:ext>
            </a:extLst>
          </p:cNvPr>
          <p:cNvSpPr txBox="1"/>
          <p:nvPr/>
        </p:nvSpPr>
        <p:spPr>
          <a:xfrm>
            <a:off x="3631771" y="3263358"/>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0" name="文字方塊 9">
            <a:extLst>
              <a:ext uri="{FF2B5EF4-FFF2-40B4-BE49-F238E27FC236}">
                <a16:creationId xmlns:a16="http://schemas.microsoft.com/office/drawing/2014/main" id="{B5F64F7E-93D0-CBB0-A324-1880875FB0F2}"/>
              </a:ext>
            </a:extLst>
          </p:cNvPr>
          <p:cNvSpPr txBox="1"/>
          <p:nvPr/>
        </p:nvSpPr>
        <p:spPr>
          <a:xfrm>
            <a:off x="6232902" y="3263358"/>
            <a:ext cx="2464230" cy="369332"/>
          </a:xfrm>
          <a:prstGeom prst="rect">
            <a:avLst/>
          </a:prstGeom>
          <a:noFill/>
        </p:spPr>
        <p:txBody>
          <a:bodyPr wrap="square" rtlCol="0">
            <a:spAutoFit/>
          </a:bodyPr>
          <a:lstStyle/>
          <a:p>
            <a:pPr algn="ctr"/>
            <a:r>
              <a:rPr kumimoji="1" lang="en-US" altLang="zh-TW" dirty="0"/>
              <a:t>Entailment (</a:t>
            </a:r>
            <a:r>
              <a:rPr kumimoji="1" lang="zh-TW" altLang="en-US" dirty="0"/>
              <a:t>蘊含</a:t>
            </a:r>
            <a:r>
              <a:rPr kumimoji="1" lang="en-US" altLang="zh-TW" dirty="0"/>
              <a:t>)</a:t>
            </a:r>
            <a:endParaRPr kumimoji="1" lang="zh-TW" altLang="en-US" dirty="0"/>
          </a:p>
        </p:txBody>
      </p:sp>
      <p:sp>
        <p:nvSpPr>
          <p:cNvPr id="11" name="文字方塊 10">
            <a:extLst>
              <a:ext uri="{FF2B5EF4-FFF2-40B4-BE49-F238E27FC236}">
                <a16:creationId xmlns:a16="http://schemas.microsoft.com/office/drawing/2014/main" id="{DECEE6A4-64C0-4312-317B-3AE2D4241165}"/>
              </a:ext>
            </a:extLst>
          </p:cNvPr>
          <p:cNvSpPr txBox="1"/>
          <p:nvPr/>
        </p:nvSpPr>
        <p:spPr>
          <a:xfrm>
            <a:off x="6232902" y="2388798"/>
            <a:ext cx="2464230" cy="369332"/>
          </a:xfrm>
          <a:prstGeom prst="rect">
            <a:avLst/>
          </a:prstGeom>
          <a:noFill/>
        </p:spPr>
        <p:txBody>
          <a:bodyPr wrap="square" rtlCol="0">
            <a:spAutoFit/>
          </a:bodyPr>
          <a:lstStyle/>
          <a:p>
            <a:pPr algn="ctr"/>
            <a:r>
              <a:rPr kumimoji="1" lang="en-US" altLang="zh-TW" b="1" dirty="0">
                <a:solidFill>
                  <a:srgbClr val="FF0000"/>
                </a:solidFill>
              </a:rPr>
              <a:t>LABEL</a:t>
            </a:r>
            <a:endParaRPr kumimoji="1" lang="zh-TW" altLang="en-US" b="1" dirty="0">
              <a:solidFill>
                <a:srgbClr val="FF0000"/>
              </a:solidFill>
            </a:endParaRPr>
          </a:p>
        </p:txBody>
      </p:sp>
      <p:sp>
        <p:nvSpPr>
          <p:cNvPr id="12" name="文字方塊 11">
            <a:extLst>
              <a:ext uri="{FF2B5EF4-FFF2-40B4-BE49-F238E27FC236}">
                <a16:creationId xmlns:a16="http://schemas.microsoft.com/office/drawing/2014/main" id="{27DEBF22-567D-AC1D-C14C-4ED28D306925}"/>
              </a:ext>
            </a:extLst>
          </p:cNvPr>
          <p:cNvSpPr txBox="1"/>
          <p:nvPr/>
        </p:nvSpPr>
        <p:spPr>
          <a:xfrm>
            <a:off x="813662" y="4148512"/>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3" name="文字方塊 12">
            <a:extLst>
              <a:ext uri="{FF2B5EF4-FFF2-40B4-BE49-F238E27FC236}">
                <a16:creationId xmlns:a16="http://schemas.microsoft.com/office/drawing/2014/main" id="{2A406AD1-C82E-3E3D-7E6C-3BAD127F356A}"/>
              </a:ext>
            </a:extLst>
          </p:cNvPr>
          <p:cNvSpPr txBox="1"/>
          <p:nvPr/>
        </p:nvSpPr>
        <p:spPr>
          <a:xfrm>
            <a:off x="3631771" y="4148512"/>
            <a:ext cx="2464230" cy="369332"/>
          </a:xfrm>
          <a:prstGeom prst="rect">
            <a:avLst/>
          </a:prstGeom>
          <a:noFill/>
        </p:spPr>
        <p:txBody>
          <a:bodyPr wrap="square" rtlCol="0">
            <a:spAutoFit/>
          </a:bodyPr>
          <a:lstStyle/>
          <a:p>
            <a:pPr algn="ctr"/>
            <a:r>
              <a:rPr kumimoji="1" lang="en" altLang="zh-TW" dirty="0"/>
              <a:t>Everyone is hungry</a:t>
            </a:r>
            <a:r>
              <a:rPr kumimoji="1" lang="en-US" altLang="zh-TW" dirty="0"/>
              <a:t>.</a:t>
            </a:r>
            <a:endParaRPr kumimoji="1" lang="zh-TW" altLang="en-US" dirty="0"/>
          </a:p>
        </p:txBody>
      </p:sp>
      <p:sp>
        <p:nvSpPr>
          <p:cNvPr id="14" name="文字方塊 13">
            <a:extLst>
              <a:ext uri="{FF2B5EF4-FFF2-40B4-BE49-F238E27FC236}">
                <a16:creationId xmlns:a16="http://schemas.microsoft.com/office/drawing/2014/main" id="{468625C4-160F-F254-FA46-F084CFF2F7EF}"/>
              </a:ext>
            </a:extLst>
          </p:cNvPr>
          <p:cNvSpPr txBox="1"/>
          <p:nvPr/>
        </p:nvSpPr>
        <p:spPr>
          <a:xfrm>
            <a:off x="6232902" y="4163552"/>
            <a:ext cx="2464230" cy="369332"/>
          </a:xfrm>
          <a:prstGeom prst="rect">
            <a:avLst/>
          </a:prstGeom>
          <a:noFill/>
        </p:spPr>
        <p:txBody>
          <a:bodyPr wrap="square" rtlCol="0">
            <a:spAutoFit/>
          </a:bodyPr>
          <a:lstStyle/>
          <a:p>
            <a:pPr algn="ctr"/>
            <a:r>
              <a:rPr kumimoji="1" lang="en-US" altLang="zh-TW" dirty="0"/>
              <a:t>Neutral (</a:t>
            </a:r>
            <a:r>
              <a:rPr kumimoji="1" lang="zh-TW" altLang="en-US" dirty="0"/>
              <a:t>中立</a:t>
            </a:r>
            <a:r>
              <a:rPr kumimoji="1" lang="en-US" altLang="zh-TW" dirty="0"/>
              <a:t>)</a:t>
            </a:r>
            <a:endParaRPr kumimoji="1" lang="zh-TW" altLang="en-US" dirty="0"/>
          </a:p>
        </p:txBody>
      </p:sp>
      <p:sp>
        <p:nvSpPr>
          <p:cNvPr id="15" name="文字方塊 14">
            <a:extLst>
              <a:ext uri="{FF2B5EF4-FFF2-40B4-BE49-F238E27FC236}">
                <a16:creationId xmlns:a16="http://schemas.microsoft.com/office/drawing/2014/main" id="{0FE9DBE3-02BB-51D5-8650-4681749DDC0C}"/>
              </a:ext>
            </a:extLst>
          </p:cNvPr>
          <p:cNvSpPr txBox="1"/>
          <p:nvPr/>
        </p:nvSpPr>
        <p:spPr>
          <a:xfrm>
            <a:off x="813662" y="5033666"/>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6" name="文字方塊 15">
            <a:extLst>
              <a:ext uri="{FF2B5EF4-FFF2-40B4-BE49-F238E27FC236}">
                <a16:creationId xmlns:a16="http://schemas.microsoft.com/office/drawing/2014/main" id="{E8F2FAB5-4A1D-4DB3-D902-9368F07597F9}"/>
              </a:ext>
            </a:extLst>
          </p:cNvPr>
          <p:cNvSpPr txBox="1"/>
          <p:nvPr/>
        </p:nvSpPr>
        <p:spPr>
          <a:xfrm>
            <a:off x="3631771" y="5033666"/>
            <a:ext cx="2464230" cy="369332"/>
          </a:xfrm>
          <a:prstGeom prst="rect">
            <a:avLst/>
          </a:prstGeom>
          <a:noFill/>
        </p:spPr>
        <p:txBody>
          <a:bodyPr wrap="square" rtlCol="0">
            <a:spAutoFit/>
          </a:bodyPr>
          <a:lstStyle/>
          <a:p>
            <a:pPr algn="ctr"/>
            <a:r>
              <a:rPr kumimoji="1" lang="en-US" altLang="zh-TW" dirty="0"/>
              <a:t>No one</a:t>
            </a:r>
            <a:r>
              <a:rPr kumimoji="1" lang="en" altLang="zh-TW" dirty="0"/>
              <a:t> is hungry</a:t>
            </a:r>
            <a:r>
              <a:rPr kumimoji="1" lang="en-US" altLang="zh-TW" dirty="0"/>
              <a:t>.</a:t>
            </a:r>
            <a:endParaRPr kumimoji="1" lang="zh-TW" altLang="en-US" dirty="0"/>
          </a:p>
        </p:txBody>
      </p:sp>
      <p:sp>
        <p:nvSpPr>
          <p:cNvPr id="17" name="文字方塊 16">
            <a:extLst>
              <a:ext uri="{FF2B5EF4-FFF2-40B4-BE49-F238E27FC236}">
                <a16:creationId xmlns:a16="http://schemas.microsoft.com/office/drawing/2014/main" id="{36971FDF-B401-2DB9-DCC6-FEE7AFD450EE}"/>
              </a:ext>
            </a:extLst>
          </p:cNvPr>
          <p:cNvSpPr txBox="1"/>
          <p:nvPr/>
        </p:nvSpPr>
        <p:spPr>
          <a:xfrm>
            <a:off x="6232902" y="5063745"/>
            <a:ext cx="2464230" cy="369332"/>
          </a:xfrm>
          <a:prstGeom prst="rect">
            <a:avLst/>
          </a:prstGeom>
          <a:noFill/>
        </p:spPr>
        <p:txBody>
          <a:bodyPr wrap="square" rtlCol="0">
            <a:spAutoFit/>
          </a:bodyPr>
          <a:lstStyle/>
          <a:p>
            <a:pPr algn="ctr"/>
            <a:r>
              <a:rPr kumimoji="1" lang="en-US" altLang="zh-TW" dirty="0"/>
              <a:t>Contradiction (</a:t>
            </a:r>
            <a:r>
              <a:rPr kumimoji="1" lang="zh-TW" altLang="en-US" dirty="0"/>
              <a:t>反對</a:t>
            </a:r>
            <a:r>
              <a:rPr kumimoji="1" lang="en-US" altLang="zh-TW" dirty="0"/>
              <a:t>)</a:t>
            </a:r>
            <a:endParaRPr kumimoji="1" lang="zh-TW" altLang="en-US" dirty="0"/>
          </a:p>
        </p:txBody>
      </p:sp>
    </p:spTree>
    <p:extLst>
      <p:ext uri="{BB962C8B-B14F-4D97-AF65-F5344CB8AC3E}">
        <p14:creationId xmlns:p14="http://schemas.microsoft.com/office/powerpoint/2010/main" val="450676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734E-1F90-4A62-B578-BE58FD471B0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DC91C40-F211-467B-5640-1A36C1BBA43A}"/>
              </a:ext>
            </a:extLst>
          </p:cNvPr>
          <p:cNvSpPr>
            <a:spLocks noGrp="1"/>
          </p:cNvSpPr>
          <p:nvPr>
            <p:ph type="title"/>
          </p:nvPr>
        </p:nvSpPr>
        <p:spPr/>
        <p:txBody>
          <a:bodyPr>
            <a:normAutofit/>
          </a:bodyPr>
          <a:lstStyle/>
          <a:p>
            <a:r>
              <a:rPr lang="en-US" altLang="zh-TW" dirty="0"/>
              <a:t>Directional Consistent NLI (Dico-NLI)</a:t>
            </a:r>
            <a:endParaRPr kumimoji="1" lang="zh-TW" altLang="en-US" dirty="0"/>
          </a:p>
        </p:txBody>
      </p:sp>
      <p:sp>
        <p:nvSpPr>
          <p:cNvPr id="4" name="投影片編號版面配置區 3">
            <a:extLst>
              <a:ext uri="{FF2B5EF4-FFF2-40B4-BE49-F238E27FC236}">
                <a16:creationId xmlns:a16="http://schemas.microsoft.com/office/drawing/2014/main" id="{400A7A72-3BC5-540A-6481-A72D1866E6F0}"/>
              </a:ext>
            </a:extLst>
          </p:cNvPr>
          <p:cNvSpPr>
            <a:spLocks noGrp="1"/>
          </p:cNvSpPr>
          <p:nvPr>
            <p:ph type="sldNum" sz="quarter" idx="12"/>
          </p:nvPr>
        </p:nvSpPr>
        <p:spPr/>
        <p:txBody>
          <a:bodyPr/>
          <a:lstStyle/>
          <a:p>
            <a:fld id="{6113E31D-E2AB-40D1-8B51-AFA5AFEF393A}" type="slidenum">
              <a:rPr lang="en-US" smtClean="0"/>
              <a:pPr/>
              <a:t>73</a:t>
            </a:fld>
            <a:endParaRPr lang="en-US" dirty="0"/>
          </a:p>
        </p:txBody>
      </p:sp>
      <p:sp>
        <p:nvSpPr>
          <p:cNvPr id="6" name="圓角矩形 5">
            <a:extLst>
              <a:ext uri="{FF2B5EF4-FFF2-40B4-BE49-F238E27FC236}">
                <a16:creationId xmlns:a16="http://schemas.microsoft.com/office/drawing/2014/main" id="{C7B637F6-B794-7F6E-220B-F5FB101320CB}"/>
              </a:ext>
            </a:extLst>
          </p:cNvPr>
          <p:cNvSpPr/>
          <p:nvPr/>
        </p:nvSpPr>
        <p:spPr>
          <a:xfrm>
            <a:off x="650933" y="2371986"/>
            <a:ext cx="2464230" cy="40295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chemeClr val="tx1"/>
                </a:solidFill>
              </a:rPr>
              <a:t>前提 </a:t>
            </a:r>
            <a:r>
              <a:rPr kumimoji="1" lang="en-US" altLang="zh-TW" dirty="0">
                <a:solidFill>
                  <a:schemeClr val="tx1"/>
                </a:solidFill>
              </a:rPr>
              <a:t>(premise)</a:t>
            </a:r>
            <a:endParaRPr kumimoji="1" lang="zh-TW" altLang="en-US" dirty="0">
              <a:solidFill>
                <a:schemeClr val="tx1"/>
              </a:solidFill>
            </a:endParaRPr>
          </a:p>
        </p:txBody>
      </p:sp>
      <p:sp>
        <p:nvSpPr>
          <p:cNvPr id="7" name="圓角矩形 6">
            <a:extLst>
              <a:ext uri="{FF2B5EF4-FFF2-40B4-BE49-F238E27FC236}">
                <a16:creationId xmlns:a16="http://schemas.microsoft.com/office/drawing/2014/main" id="{10BA7D4F-5AD6-4A7C-3670-C7ABBD00EA1A}"/>
              </a:ext>
            </a:extLst>
          </p:cNvPr>
          <p:cNvSpPr/>
          <p:nvPr/>
        </p:nvSpPr>
        <p:spPr>
          <a:xfrm>
            <a:off x="3469042" y="2371986"/>
            <a:ext cx="2464230" cy="402956"/>
          </a:xfrm>
          <a:prstGeom prst="roundRect">
            <a:avLst/>
          </a:prstGeom>
          <a:solidFill>
            <a:schemeClr val="accent6">
              <a:lumMod val="20000"/>
              <a:lumOff val="8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chemeClr val="tx1"/>
                </a:solidFill>
              </a:rPr>
              <a:t>假設 </a:t>
            </a:r>
            <a:r>
              <a:rPr kumimoji="1" lang="en-US" altLang="zh-TW" dirty="0">
                <a:solidFill>
                  <a:schemeClr val="tx1"/>
                </a:solidFill>
              </a:rPr>
              <a:t>(Hypothesis)</a:t>
            </a:r>
            <a:endParaRPr kumimoji="1" lang="zh-TW" altLang="en-US" dirty="0">
              <a:solidFill>
                <a:schemeClr val="tx1"/>
              </a:solidFill>
            </a:endParaRPr>
          </a:p>
        </p:txBody>
      </p:sp>
      <p:sp>
        <p:nvSpPr>
          <p:cNvPr id="8" name="文字方塊 7">
            <a:extLst>
              <a:ext uri="{FF2B5EF4-FFF2-40B4-BE49-F238E27FC236}">
                <a16:creationId xmlns:a16="http://schemas.microsoft.com/office/drawing/2014/main" id="{967D6D00-A7FB-1C68-A8B7-0FB4E9C1E3F4}"/>
              </a:ext>
            </a:extLst>
          </p:cNvPr>
          <p:cNvSpPr txBox="1"/>
          <p:nvPr/>
        </p:nvSpPr>
        <p:spPr>
          <a:xfrm>
            <a:off x="650933" y="3263358"/>
            <a:ext cx="2464230" cy="369332"/>
          </a:xfrm>
          <a:prstGeom prst="rect">
            <a:avLst/>
          </a:prstGeom>
          <a:noFill/>
        </p:spPr>
        <p:txBody>
          <a:bodyPr wrap="square" rtlCol="0">
            <a:spAutoFit/>
          </a:bodyPr>
          <a:lstStyle/>
          <a:p>
            <a:pPr algn="ctr"/>
            <a:r>
              <a:rPr kumimoji="1" lang="en" altLang="zh-TW" dirty="0"/>
              <a:t>Everyone is hungry</a:t>
            </a:r>
            <a:r>
              <a:rPr kumimoji="1" lang="en-US" altLang="zh-TW" dirty="0"/>
              <a:t>.</a:t>
            </a:r>
            <a:endParaRPr kumimoji="1" lang="zh-TW" altLang="en-US" dirty="0"/>
          </a:p>
        </p:txBody>
      </p:sp>
      <p:sp>
        <p:nvSpPr>
          <p:cNvPr id="9" name="文字方塊 8">
            <a:extLst>
              <a:ext uri="{FF2B5EF4-FFF2-40B4-BE49-F238E27FC236}">
                <a16:creationId xmlns:a16="http://schemas.microsoft.com/office/drawing/2014/main" id="{7D41467D-9A3D-238D-D1C8-7FD79BF116D8}"/>
              </a:ext>
            </a:extLst>
          </p:cNvPr>
          <p:cNvSpPr txBox="1"/>
          <p:nvPr/>
        </p:nvSpPr>
        <p:spPr>
          <a:xfrm>
            <a:off x="3469042" y="3263358"/>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0" name="文字方塊 9">
            <a:extLst>
              <a:ext uri="{FF2B5EF4-FFF2-40B4-BE49-F238E27FC236}">
                <a16:creationId xmlns:a16="http://schemas.microsoft.com/office/drawing/2014/main" id="{9859D189-C274-D24F-5C71-AEE167A4D7B5}"/>
              </a:ext>
            </a:extLst>
          </p:cNvPr>
          <p:cNvSpPr txBox="1"/>
          <p:nvPr/>
        </p:nvSpPr>
        <p:spPr>
          <a:xfrm>
            <a:off x="6248400" y="3263358"/>
            <a:ext cx="2464230" cy="369332"/>
          </a:xfrm>
          <a:prstGeom prst="rect">
            <a:avLst/>
          </a:prstGeom>
          <a:noFill/>
        </p:spPr>
        <p:txBody>
          <a:bodyPr wrap="square" rtlCol="0">
            <a:spAutoFit/>
          </a:bodyPr>
          <a:lstStyle/>
          <a:p>
            <a:pPr algn="ctr"/>
            <a:r>
              <a:rPr kumimoji="1" lang="en-US" altLang="zh-TW" dirty="0"/>
              <a:t>Entailment (</a:t>
            </a:r>
            <a:r>
              <a:rPr kumimoji="1" lang="zh-TW" altLang="en-US" dirty="0"/>
              <a:t>蘊含</a:t>
            </a:r>
            <a:r>
              <a:rPr kumimoji="1" lang="en-US" altLang="zh-TW" dirty="0"/>
              <a:t>)</a:t>
            </a:r>
            <a:endParaRPr kumimoji="1" lang="zh-TW" altLang="en-US" dirty="0"/>
          </a:p>
        </p:txBody>
      </p:sp>
      <p:sp>
        <p:nvSpPr>
          <p:cNvPr id="11" name="文字方塊 10">
            <a:extLst>
              <a:ext uri="{FF2B5EF4-FFF2-40B4-BE49-F238E27FC236}">
                <a16:creationId xmlns:a16="http://schemas.microsoft.com/office/drawing/2014/main" id="{23C8B1B3-0026-20F2-6425-D29E42464C84}"/>
              </a:ext>
            </a:extLst>
          </p:cNvPr>
          <p:cNvSpPr txBox="1"/>
          <p:nvPr/>
        </p:nvSpPr>
        <p:spPr>
          <a:xfrm>
            <a:off x="6248400" y="2388798"/>
            <a:ext cx="2464230" cy="369332"/>
          </a:xfrm>
          <a:prstGeom prst="rect">
            <a:avLst/>
          </a:prstGeom>
          <a:noFill/>
        </p:spPr>
        <p:txBody>
          <a:bodyPr wrap="square" rtlCol="0">
            <a:spAutoFit/>
          </a:bodyPr>
          <a:lstStyle/>
          <a:p>
            <a:pPr algn="ctr"/>
            <a:r>
              <a:rPr kumimoji="1" lang="en-US" altLang="zh-TW" b="1" dirty="0"/>
              <a:t>NLI LABEL</a:t>
            </a:r>
            <a:endParaRPr kumimoji="1" lang="zh-TW" altLang="en-US" b="1" dirty="0"/>
          </a:p>
        </p:txBody>
      </p:sp>
      <p:sp>
        <p:nvSpPr>
          <p:cNvPr id="12" name="文字方塊 11">
            <a:extLst>
              <a:ext uri="{FF2B5EF4-FFF2-40B4-BE49-F238E27FC236}">
                <a16:creationId xmlns:a16="http://schemas.microsoft.com/office/drawing/2014/main" id="{E1B4D943-F3E8-6014-1C5E-80812B6C0BEE}"/>
              </a:ext>
            </a:extLst>
          </p:cNvPr>
          <p:cNvSpPr txBox="1"/>
          <p:nvPr/>
        </p:nvSpPr>
        <p:spPr>
          <a:xfrm>
            <a:off x="650933" y="4148512"/>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3" name="文字方塊 12">
            <a:extLst>
              <a:ext uri="{FF2B5EF4-FFF2-40B4-BE49-F238E27FC236}">
                <a16:creationId xmlns:a16="http://schemas.microsoft.com/office/drawing/2014/main" id="{C123D3C0-2EEB-9962-E79E-4D124F73CC70}"/>
              </a:ext>
            </a:extLst>
          </p:cNvPr>
          <p:cNvSpPr txBox="1"/>
          <p:nvPr/>
        </p:nvSpPr>
        <p:spPr>
          <a:xfrm>
            <a:off x="3469042" y="4148512"/>
            <a:ext cx="2464230" cy="369332"/>
          </a:xfrm>
          <a:prstGeom prst="rect">
            <a:avLst/>
          </a:prstGeom>
          <a:noFill/>
        </p:spPr>
        <p:txBody>
          <a:bodyPr wrap="square" rtlCol="0">
            <a:spAutoFit/>
          </a:bodyPr>
          <a:lstStyle/>
          <a:p>
            <a:pPr algn="ctr"/>
            <a:r>
              <a:rPr kumimoji="1" lang="en" altLang="zh-TW" dirty="0"/>
              <a:t>Everyone is hungry</a:t>
            </a:r>
            <a:r>
              <a:rPr kumimoji="1" lang="en-US" altLang="zh-TW" dirty="0"/>
              <a:t>.</a:t>
            </a:r>
            <a:endParaRPr kumimoji="1" lang="zh-TW" altLang="en-US" dirty="0"/>
          </a:p>
        </p:txBody>
      </p:sp>
      <p:sp>
        <p:nvSpPr>
          <p:cNvPr id="14" name="文字方塊 13">
            <a:extLst>
              <a:ext uri="{FF2B5EF4-FFF2-40B4-BE49-F238E27FC236}">
                <a16:creationId xmlns:a16="http://schemas.microsoft.com/office/drawing/2014/main" id="{4F62455A-39E9-2E84-5A03-6FF8B09A2230}"/>
              </a:ext>
            </a:extLst>
          </p:cNvPr>
          <p:cNvSpPr txBox="1"/>
          <p:nvPr/>
        </p:nvSpPr>
        <p:spPr>
          <a:xfrm>
            <a:off x="6248400" y="4163552"/>
            <a:ext cx="2464230" cy="369332"/>
          </a:xfrm>
          <a:prstGeom prst="rect">
            <a:avLst/>
          </a:prstGeom>
          <a:noFill/>
        </p:spPr>
        <p:txBody>
          <a:bodyPr wrap="square" rtlCol="0">
            <a:spAutoFit/>
          </a:bodyPr>
          <a:lstStyle/>
          <a:p>
            <a:pPr algn="ctr"/>
            <a:r>
              <a:rPr kumimoji="1" lang="en-US" altLang="zh-TW" dirty="0"/>
              <a:t>Neutral (</a:t>
            </a:r>
            <a:r>
              <a:rPr kumimoji="1" lang="zh-TW" altLang="en-US" dirty="0"/>
              <a:t>中立</a:t>
            </a:r>
            <a:r>
              <a:rPr kumimoji="1" lang="en-US" altLang="zh-TW" dirty="0"/>
              <a:t>)</a:t>
            </a:r>
            <a:endParaRPr kumimoji="1" lang="zh-TW" altLang="en-US" dirty="0"/>
          </a:p>
        </p:txBody>
      </p:sp>
      <p:sp>
        <p:nvSpPr>
          <p:cNvPr id="15" name="文字方塊 14">
            <a:extLst>
              <a:ext uri="{FF2B5EF4-FFF2-40B4-BE49-F238E27FC236}">
                <a16:creationId xmlns:a16="http://schemas.microsoft.com/office/drawing/2014/main" id="{1D049A2C-7EBE-D8C0-B23B-95B99707E477}"/>
              </a:ext>
            </a:extLst>
          </p:cNvPr>
          <p:cNvSpPr txBox="1"/>
          <p:nvPr/>
        </p:nvSpPr>
        <p:spPr>
          <a:xfrm>
            <a:off x="650933" y="5033666"/>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16" name="文字方塊 15">
            <a:extLst>
              <a:ext uri="{FF2B5EF4-FFF2-40B4-BE49-F238E27FC236}">
                <a16:creationId xmlns:a16="http://schemas.microsoft.com/office/drawing/2014/main" id="{7EA409A5-3261-246A-D085-730266D7A0AA}"/>
              </a:ext>
            </a:extLst>
          </p:cNvPr>
          <p:cNvSpPr txBox="1"/>
          <p:nvPr/>
        </p:nvSpPr>
        <p:spPr>
          <a:xfrm>
            <a:off x="3469042" y="5033666"/>
            <a:ext cx="2464230" cy="369332"/>
          </a:xfrm>
          <a:prstGeom prst="rect">
            <a:avLst/>
          </a:prstGeom>
          <a:noFill/>
        </p:spPr>
        <p:txBody>
          <a:bodyPr wrap="square" rtlCol="0">
            <a:spAutoFit/>
          </a:bodyPr>
          <a:lstStyle/>
          <a:p>
            <a:pPr algn="ctr"/>
            <a:r>
              <a:rPr kumimoji="1" lang="en-US" altLang="zh-TW" dirty="0"/>
              <a:t>No one</a:t>
            </a:r>
            <a:r>
              <a:rPr kumimoji="1" lang="en" altLang="zh-TW" dirty="0"/>
              <a:t> is hungry</a:t>
            </a:r>
            <a:r>
              <a:rPr kumimoji="1" lang="en-US" altLang="zh-TW" dirty="0"/>
              <a:t>.</a:t>
            </a:r>
            <a:endParaRPr kumimoji="1" lang="zh-TW" altLang="en-US" dirty="0"/>
          </a:p>
        </p:txBody>
      </p:sp>
      <p:sp>
        <p:nvSpPr>
          <p:cNvPr id="17" name="文字方塊 16">
            <a:extLst>
              <a:ext uri="{FF2B5EF4-FFF2-40B4-BE49-F238E27FC236}">
                <a16:creationId xmlns:a16="http://schemas.microsoft.com/office/drawing/2014/main" id="{BD368A34-0A2F-423F-F931-4587DCF081E0}"/>
              </a:ext>
            </a:extLst>
          </p:cNvPr>
          <p:cNvSpPr txBox="1"/>
          <p:nvPr/>
        </p:nvSpPr>
        <p:spPr>
          <a:xfrm>
            <a:off x="6248400" y="5063745"/>
            <a:ext cx="2464230" cy="369332"/>
          </a:xfrm>
          <a:prstGeom prst="rect">
            <a:avLst/>
          </a:prstGeom>
          <a:noFill/>
        </p:spPr>
        <p:txBody>
          <a:bodyPr wrap="square" rtlCol="0">
            <a:spAutoFit/>
          </a:bodyPr>
          <a:lstStyle/>
          <a:p>
            <a:pPr algn="ctr"/>
            <a:r>
              <a:rPr kumimoji="1" lang="en-US" altLang="zh-TW" dirty="0"/>
              <a:t>Contradiction (</a:t>
            </a:r>
            <a:r>
              <a:rPr kumimoji="1" lang="zh-TW" altLang="en-US" dirty="0"/>
              <a:t>反對</a:t>
            </a:r>
            <a:r>
              <a:rPr kumimoji="1" lang="en-US" altLang="zh-TW" dirty="0"/>
              <a:t>)</a:t>
            </a:r>
            <a:endParaRPr kumimoji="1" lang="zh-TW" altLang="en-US" dirty="0"/>
          </a:p>
        </p:txBody>
      </p:sp>
      <p:sp>
        <p:nvSpPr>
          <p:cNvPr id="3" name="文字方塊 2">
            <a:extLst>
              <a:ext uri="{FF2B5EF4-FFF2-40B4-BE49-F238E27FC236}">
                <a16:creationId xmlns:a16="http://schemas.microsoft.com/office/drawing/2014/main" id="{3AE95C17-BDF2-3617-AF79-221243C87EDF}"/>
              </a:ext>
            </a:extLst>
          </p:cNvPr>
          <p:cNvSpPr txBox="1"/>
          <p:nvPr/>
        </p:nvSpPr>
        <p:spPr>
          <a:xfrm>
            <a:off x="8914110" y="2388798"/>
            <a:ext cx="2464230" cy="369332"/>
          </a:xfrm>
          <a:prstGeom prst="rect">
            <a:avLst/>
          </a:prstGeom>
          <a:noFill/>
        </p:spPr>
        <p:txBody>
          <a:bodyPr wrap="square" rtlCol="0">
            <a:spAutoFit/>
          </a:bodyPr>
          <a:lstStyle/>
          <a:p>
            <a:pPr algn="ctr"/>
            <a:r>
              <a:rPr kumimoji="1" lang="en-US" altLang="zh-TW" b="1" dirty="0">
                <a:solidFill>
                  <a:srgbClr val="FF0000"/>
                </a:solidFill>
              </a:rPr>
              <a:t>Dico-NLI LABEL</a:t>
            </a:r>
            <a:endParaRPr kumimoji="1" lang="zh-TW" altLang="en-US" b="1" dirty="0">
              <a:solidFill>
                <a:srgbClr val="FF0000"/>
              </a:solidFill>
            </a:endParaRPr>
          </a:p>
        </p:txBody>
      </p:sp>
      <p:sp>
        <p:nvSpPr>
          <p:cNvPr id="5" name="文字方塊 4">
            <a:extLst>
              <a:ext uri="{FF2B5EF4-FFF2-40B4-BE49-F238E27FC236}">
                <a16:creationId xmlns:a16="http://schemas.microsoft.com/office/drawing/2014/main" id="{EED8F83F-D45C-DFF2-6256-BAEE7FD310BE}"/>
              </a:ext>
            </a:extLst>
          </p:cNvPr>
          <p:cNvSpPr txBox="1"/>
          <p:nvPr/>
        </p:nvSpPr>
        <p:spPr>
          <a:xfrm>
            <a:off x="8914110" y="3244334"/>
            <a:ext cx="2464230" cy="369332"/>
          </a:xfrm>
          <a:prstGeom prst="rect">
            <a:avLst/>
          </a:prstGeom>
          <a:noFill/>
        </p:spPr>
        <p:txBody>
          <a:bodyPr wrap="square" rtlCol="0">
            <a:spAutoFit/>
          </a:bodyPr>
          <a:lstStyle/>
          <a:p>
            <a:pPr algn="ctr"/>
            <a:r>
              <a:rPr kumimoji="1" lang="en-US" altLang="zh-TW" dirty="0">
                <a:solidFill>
                  <a:srgbClr val="FF0000"/>
                </a:solidFill>
              </a:rPr>
              <a:t>Forward</a:t>
            </a:r>
            <a:r>
              <a:rPr kumimoji="1" lang="en-US" altLang="zh-TW" dirty="0"/>
              <a:t> Entailment</a:t>
            </a:r>
            <a:endParaRPr kumimoji="1" lang="zh-TW" altLang="en-US" dirty="0"/>
          </a:p>
        </p:txBody>
      </p:sp>
      <p:sp>
        <p:nvSpPr>
          <p:cNvPr id="18" name="文字方塊 17">
            <a:extLst>
              <a:ext uri="{FF2B5EF4-FFF2-40B4-BE49-F238E27FC236}">
                <a16:creationId xmlns:a16="http://schemas.microsoft.com/office/drawing/2014/main" id="{A21DCE9D-65F4-2CD3-B05A-701F5AB07D3F}"/>
              </a:ext>
            </a:extLst>
          </p:cNvPr>
          <p:cNvSpPr txBox="1"/>
          <p:nvPr/>
        </p:nvSpPr>
        <p:spPr>
          <a:xfrm>
            <a:off x="8914110" y="4148512"/>
            <a:ext cx="2464230" cy="369332"/>
          </a:xfrm>
          <a:prstGeom prst="rect">
            <a:avLst/>
          </a:prstGeom>
          <a:noFill/>
        </p:spPr>
        <p:txBody>
          <a:bodyPr wrap="square" rtlCol="0">
            <a:spAutoFit/>
          </a:bodyPr>
          <a:lstStyle/>
          <a:p>
            <a:pPr algn="ctr"/>
            <a:r>
              <a:rPr kumimoji="1" lang="en-US" altLang="zh-TW" dirty="0">
                <a:solidFill>
                  <a:srgbClr val="FF0000"/>
                </a:solidFill>
              </a:rPr>
              <a:t>Backward</a:t>
            </a:r>
            <a:r>
              <a:rPr kumimoji="1" lang="en-US" altLang="zh-TW" dirty="0"/>
              <a:t> Entailment</a:t>
            </a:r>
            <a:endParaRPr kumimoji="1" lang="zh-TW" altLang="en-US" dirty="0"/>
          </a:p>
        </p:txBody>
      </p:sp>
      <p:sp>
        <p:nvSpPr>
          <p:cNvPr id="19" name="文字方塊 18">
            <a:extLst>
              <a:ext uri="{FF2B5EF4-FFF2-40B4-BE49-F238E27FC236}">
                <a16:creationId xmlns:a16="http://schemas.microsoft.com/office/drawing/2014/main" id="{C8B7E0F8-9E79-9691-3B2E-D0B0968E4816}"/>
              </a:ext>
            </a:extLst>
          </p:cNvPr>
          <p:cNvSpPr txBox="1"/>
          <p:nvPr/>
        </p:nvSpPr>
        <p:spPr>
          <a:xfrm>
            <a:off x="8914110" y="5063745"/>
            <a:ext cx="2464230"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20" name="文字方塊 19">
            <a:extLst>
              <a:ext uri="{FF2B5EF4-FFF2-40B4-BE49-F238E27FC236}">
                <a16:creationId xmlns:a16="http://schemas.microsoft.com/office/drawing/2014/main" id="{E5A5929A-6462-8F31-DCB6-A8ED058F4CD0}"/>
              </a:ext>
            </a:extLst>
          </p:cNvPr>
          <p:cNvSpPr txBox="1"/>
          <p:nvPr/>
        </p:nvSpPr>
        <p:spPr>
          <a:xfrm>
            <a:off x="650933" y="5933859"/>
            <a:ext cx="2464230" cy="369332"/>
          </a:xfrm>
          <a:prstGeom prst="rect">
            <a:avLst/>
          </a:prstGeom>
          <a:noFill/>
        </p:spPr>
        <p:txBody>
          <a:bodyPr wrap="square" rtlCol="0">
            <a:spAutoFit/>
          </a:bodyPr>
          <a:lstStyle/>
          <a:p>
            <a:pPr algn="ctr"/>
            <a:r>
              <a:rPr kumimoji="1" lang="en" altLang="zh-TW" dirty="0"/>
              <a:t>Someone is hungry</a:t>
            </a:r>
            <a:r>
              <a:rPr kumimoji="1" lang="en-US" altLang="zh-TW" dirty="0"/>
              <a:t>.</a:t>
            </a:r>
            <a:endParaRPr kumimoji="1" lang="zh-TW" altLang="en-US" dirty="0"/>
          </a:p>
        </p:txBody>
      </p:sp>
      <p:sp>
        <p:nvSpPr>
          <p:cNvPr id="21" name="文字方塊 20">
            <a:extLst>
              <a:ext uri="{FF2B5EF4-FFF2-40B4-BE49-F238E27FC236}">
                <a16:creationId xmlns:a16="http://schemas.microsoft.com/office/drawing/2014/main" id="{819E95C6-E8D4-4E59-BB80-A17C5D40A0E6}"/>
              </a:ext>
            </a:extLst>
          </p:cNvPr>
          <p:cNvSpPr txBox="1"/>
          <p:nvPr/>
        </p:nvSpPr>
        <p:spPr>
          <a:xfrm>
            <a:off x="3068669" y="5963938"/>
            <a:ext cx="3264975" cy="369332"/>
          </a:xfrm>
          <a:prstGeom prst="rect">
            <a:avLst/>
          </a:prstGeom>
          <a:noFill/>
        </p:spPr>
        <p:txBody>
          <a:bodyPr wrap="square" rtlCol="0">
            <a:spAutoFit/>
          </a:bodyPr>
          <a:lstStyle/>
          <a:p>
            <a:pPr algn="ctr"/>
            <a:r>
              <a:rPr kumimoji="1" lang="en-US" altLang="zh-TW" dirty="0"/>
              <a:t>At least one person is hungry.</a:t>
            </a:r>
            <a:endParaRPr kumimoji="1" lang="zh-TW" altLang="en-US" dirty="0"/>
          </a:p>
        </p:txBody>
      </p:sp>
      <p:sp>
        <p:nvSpPr>
          <p:cNvPr id="22" name="文字方塊 21">
            <a:extLst>
              <a:ext uri="{FF2B5EF4-FFF2-40B4-BE49-F238E27FC236}">
                <a16:creationId xmlns:a16="http://schemas.microsoft.com/office/drawing/2014/main" id="{8468100D-7148-511C-6143-48E67D5F64D7}"/>
              </a:ext>
            </a:extLst>
          </p:cNvPr>
          <p:cNvSpPr txBox="1"/>
          <p:nvPr/>
        </p:nvSpPr>
        <p:spPr>
          <a:xfrm>
            <a:off x="6248400" y="5963938"/>
            <a:ext cx="2464230" cy="369332"/>
          </a:xfrm>
          <a:prstGeom prst="rect">
            <a:avLst/>
          </a:prstGeom>
          <a:noFill/>
        </p:spPr>
        <p:txBody>
          <a:bodyPr wrap="square" rtlCol="0">
            <a:spAutoFit/>
          </a:bodyPr>
          <a:lstStyle/>
          <a:p>
            <a:pPr algn="ctr"/>
            <a:r>
              <a:rPr kumimoji="1" lang="en-US" altLang="zh-TW" dirty="0"/>
              <a:t>Contradiction (</a:t>
            </a:r>
            <a:r>
              <a:rPr kumimoji="1" lang="zh-TW" altLang="en-US" dirty="0"/>
              <a:t>反對</a:t>
            </a:r>
            <a:r>
              <a:rPr kumimoji="1" lang="en-US" altLang="zh-TW" dirty="0"/>
              <a:t>)</a:t>
            </a:r>
            <a:endParaRPr kumimoji="1" lang="zh-TW" altLang="en-US" dirty="0"/>
          </a:p>
        </p:txBody>
      </p:sp>
      <p:sp>
        <p:nvSpPr>
          <p:cNvPr id="23" name="文字方塊 22">
            <a:extLst>
              <a:ext uri="{FF2B5EF4-FFF2-40B4-BE49-F238E27FC236}">
                <a16:creationId xmlns:a16="http://schemas.microsoft.com/office/drawing/2014/main" id="{FC2374B7-A851-811C-069B-2BFB63870093}"/>
              </a:ext>
            </a:extLst>
          </p:cNvPr>
          <p:cNvSpPr txBox="1"/>
          <p:nvPr/>
        </p:nvSpPr>
        <p:spPr>
          <a:xfrm>
            <a:off x="8914110" y="5933859"/>
            <a:ext cx="2464230" cy="369332"/>
          </a:xfrm>
          <a:prstGeom prst="rect">
            <a:avLst/>
          </a:prstGeom>
          <a:noFill/>
        </p:spPr>
        <p:txBody>
          <a:bodyPr wrap="square" rtlCol="0">
            <a:spAutoFit/>
          </a:bodyPr>
          <a:lstStyle/>
          <a:p>
            <a:pPr algn="ctr"/>
            <a:r>
              <a:rPr kumimoji="1" lang="en-US" altLang="zh-TW" dirty="0">
                <a:solidFill>
                  <a:srgbClr val="FF0000"/>
                </a:solidFill>
              </a:rPr>
              <a:t>Equivalence</a:t>
            </a:r>
            <a:endParaRPr kumimoji="1" lang="zh-TW" altLang="en-US" dirty="0"/>
          </a:p>
        </p:txBody>
      </p:sp>
    </p:spTree>
    <p:extLst>
      <p:ext uri="{BB962C8B-B14F-4D97-AF65-F5344CB8AC3E}">
        <p14:creationId xmlns:p14="http://schemas.microsoft.com/office/powerpoint/2010/main" val="4388239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963C70-1494-DB0D-CD81-1B7CA10838EA}"/>
              </a:ext>
            </a:extLst>
          </p:cNvPr>
          <p:cNvSpPr>
            <a:spLocks noGrp="1"/>
          </p:cNvSpPr>
          <p:nvPr>
            <p:ph type="title"/>
          </p:nvPr>
        </p:nvSpPr>
        <p:spPr/>
        <p:txBody>
          <a:bodyPr/>
          <a:lstStyle/>
          <a:p>
            <a:r>
              <a:rPr lang="en-US" altLang="zh-TW" dirty="0"/>
              <a:t>Dico-NLI </a:t>
            </a:r>
            <a:r>
              <a:rPr kumimoji="1" lang="en-US" altLang="zh-TW" dirty="0"/>
              <a:t>Dataset Statistics</a:t>
            </a:r>
            <a:endParaRPr kumimoji="1" lang="zh-TW" altLang="en-US" dirty="0"/>
          </a:p>
        </p:txBody>
      </p:sp>
      <p:sp>
        <p:nvSpPr>
          <p:cNvPr id="4" name="投影片編號版面配置區 3">
            <a:extLst>
              <a:ext uri="{FF2B5EF4-FFF2-40B4-BE49-F238E27FC236}">
                <a16:creationId xmlns:a16="http://schemas.microsoft.com/office/drawing/2014/main" id="{ADA81C7D-413F-FE50-08B2-55EC1D19DDFB}"/>
              </a:ext>
            </a:extLst>
          </p:cNvPr>
          <p:cNvSpPr>
            <a:spLocks noGrp="1"/>
          </p:cNvSpPr>
          <p:nvPr>
            <p:ph type="sldNum" sz="quarter" idx="12"/>
          </p:nvPr>
        </p:nvSpPr>
        <p:spPr/>
        <p:txBody>
          <a:bodyPr/>
          <a:lstStyle/>
          <a:p>
            <a:fld id="{6113E31D-E2AB-40D1-8B51-AFA5AFEF393A}" type="slidenum">
              <a:rPr lang="en-US" smtClean="0"/>
              <a:pPr/>
              <a:t>74</a:t>
            </a:fld>
            <a:endParaRPr lang="en-US" dirty="0"/>
          </a:p>
        </p:txBody>
      </p:sp>
      <p:pic>
        <p:nvPicPr>
          <p:cNvPr id="5" name="圖片 4">
            <a:extLst>
              <a:ext uri="{FF2B5EF4-FFF2-40B4-BE49-F238E27FC236}">
                <a16:creationId xmlns:a16="http://schemas.microsoft.com/office/drawing/2014/main" id="{24A2B1EF-1553-6655-FDB5-A315484523C3}"/>
              </a:ext>
            </a:extLst>
          </p:cNvPr>
          <p:cNvPicPr>
            <a:picLocks noChangeAspect="1"/>
          </p:cNvPicPr>
          <p:nvPr/>
        </p:nvPicPr>
        <p:blipFill>
          <a:blip r:embed="rId2"/>
          <a:stretch>
            <a:fillRect/>
          </a:stretch>
        </p:blipFill>
        <p:spPr>
          <a:xfrm>
            <a:off x="2757995" y="1923871"/>
            <a:ext cx="6676010" cy="4578041"/>
          </a:xfrm>
          <a:prstGeom prst="rect">
            <a:avLst/>
          </a:prstGeom>
        </p:spPr>
      </p:pic>
    </p:spTree>
    <p:extLst>
      <p:ext uri="{BB962C8B-B14F-4D97-AF65-F5344CB8AC3E}">
        <p14:creationId xmlns:p14="http://schemas.microsoft.com/office/powerpoint/2010/main" val="21577219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E964F7-A557-E1C6-98F1-E56CE382B7B6}"/>
              </a:ext>
            </a:extLst>
          </p:cNvPr>
          <p:cNvSpPr>
            <a:spLocks noGrp="1"/>
          </p:cNvSpPr>
          <p:nvPr>
            <p:ph type="title"/>
          </p:nvPr>
        </p:nvSpPr>
        <p:spPr/>
        <p:txBody>
          <a:bodyPr/>
          <a:lstStyle/>
          <a:p>
            <a:r>
              <a:rPr kumimoji="1" lang="zh-TW" altLang="en-US" dirty="0"/>
              <a:t>評估指標</a:t>
            </a:r>
          </a:p>
        </p:txBody>
      </p:sp>
      <p:sp>
        <p:nvSpPr>
          <p:cNvPr id="4" name="投影片編號版面配置區 3">
            <a:extLst>
              <a:ext uri="{FF2B5EF4-FFF2-40B4-BE49-F238E27FC236}">
                <a16:creationId xmlns:a16="http://schemas.microsoft.com/office/drawing/2014/main" id="{4FB33870-7007-434B-2F97-B802DCF8A6F1}"/>
              </a:ext>
            </a:extLst>
          </p:cNvPr>
          <p:cNvSpPr>
            <a:spLocks noGrp="1"/>
          </p:cNvSpPr>
          <p:nvPr>
            <p:ph type="sldNum" sz="quarter" idx="12"/>
          </p:nvPr>
        </p:nvSpPr>
        <p:spPr/>
        <p:txBody>
          <a:bodyPr/>
          <a:lstStyle/>
          <a:p>
            <a:fld id="{6113E31D-E2AB-40D1-8B51-AFA5AFEF393A}" type="slidenum">
              <a:rPr lang="en-US" smtClean="0"/>
              <a:pPr/>
              <a:t>75</a:t>
            </a:fld>
            <a:endParaRPr lang="en-US" dirty="0"/>
          </a:p>
        </p:txBody>
      </p:sp>
      <p:graphicFrame>
        <p:nvGraphicFramePr>
          <p:cNvPr id="5" name="表格 4">
            <a:extLst>
              <a:ext uri="{FF2B5EF4-FFF2-40B4-BE49-F238E27FC236}">
                <a16:creationId xmlns:a16="http://schemas.microsoft.com/office/drawing/2014/main" id="{91467E4C-1C5F-B713-0729-31E71204DD11}"/>
              </a:ext>
            </a:extLst>
          </p:cNvPr>
          <p:cNvGraphicFramePr>
            <a:graphicFrameLocks noGrp="1"/>
          </p:cNvGraphicFramePr>
          <p:nvPr>
            <p:extLst>
              <p:ext uri="{D42A27DB-BD31-4B8C-83A1-F6EECF244321}">
                <p14:modId xmlns:p14="http://schemas.microsoft.com/office/powerpoint/2010/main" val="2002408668"/>
              </p:ext>
            </p:extLst>
          </p:nvPr>
        </p:nvGraphicFramePr>
        <p:xfrm>
          <a:off x="1191647" y="2284994"/>
          <a:ext cx="9808705" cy="3577526"/>
        </p:xfrm>
        <a:graphic>
          <a:graphicData uri="http://schemas.openxmlformats.org/drawingml/2006/table">
            <a:tbl>
              <a:tblPr firstRow="1" bandRow="1">
                <a:tableStyleId>{5C22544A-7EE6-4342-B048-85BDC9FD1C3A}</a:tableStyleId>
              </a:tblPr>
              <a:tblGrid>
                <a:gridCol w="2078495">
                  <a:extLst>
                    <a:ext uri="{9D8B030D-6E8A-4147-A177-3AD203B41FA5}">
                      <a16:colId xmlns:a16="http://schemas.microsoft.com/office/drawing/2014/main" val="1804613782"/>
                    </a:ext>
                  </a:extLst>
                </a:gridCol>
                <a:gridCol w="7730210">
                  <a:extLst>
                    <a:ext uri="{9D8B030D-6E8A-4147-A177-3AD203B41FA5}">
                      <a16:colId xmlns:a16="http://schemas.microsoft.com/office/drawing/2014/main" val="1790386421"/>
                    </a:ext>
                  </a:extLst>
                </a:gridCol>
              </a:tblGrid>
              <a:tr h="644186">
                <a:tc>
                  <a:txBody>
                    <a:bodyPr/>
                    <a:lstStyle/>
                    <a:p>
                      <a:pPr algn="ctr"/>
                      <a:r>
                        <a:rPr lang="en-US" altLang="zh-TW" dirty="0">
                          <a:solidFill>
                            <a:schemeClr val="tx1"/>
                          </a:solidFill>
                        </a:rPr>
                        <a:t>Metric</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What is </a:t>
                      </a:r>
                      <a:r>
                        <a:rPr lang="en-US" altLang="zh-TW" dirty="0" err="1">
                          <a:solidFill>
                            <a:schemeClr val="tx1"/>
                          </a:solidFill>
                        </a:rPr>
                        <a:t>measues</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5940940"/>
                  </a:ext>
                </a:extLst>
              </a:tr>
              <a:tr h="977780">
                <a:tc>
                  <a:txBody>
                    <a:bodyPr/>
                    <a:lstStyle/>
                    <a:p>
                      <a:pPr algn="ctr"/>
                      <a:r>
                        <a:rPr lang="en-US" altLang="zh-TW" dirty="0">
                          <a:solidFill>
                            <a:schemeClr val="tx1"/>
                          </a:solidFill>
                        </a:rPr>
                        <a:t>Weighted F1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 altLang="zh-TW" dirty="0">
                          <a:solidFill>
                            <a:schemeClr val="tx1"/>
                          </a:solidFill>
                        </a:rPr>
                        <a:t>sklearn.metrics.f1_score(</a:t>
                      </a:r>
                      <a:r>
                        <a:rPr lang="en" altLang="zh-TW" dirty="0" err="1">
                          <a:solidFill>
                            <a:schemeClr val="tx1"/>
                          </a:solidFill>
                        </a:rPr>
                        <a:t>y_true</a:t>
                      </a:r>
                      <a:r>
                        <a:rPr lang="en" altLang="zh-TW" dirty="0">
                          <a:solidFill>
                            <a:schemeClr val="tx1"/>
                          </a:solidFill>
                        </a:rPr>
                        <a:t>, </a:t>
                      </a:r>
                      <a:r>
                        <a:rPr lang="en" altLang="zh-TW" dirty="0" err="1">
                          <a:solidFill>
                            <a:schemeClr val="tx1"/>
                          </a:solidFill>
                        </a:rPr>
                        <a:t>y_pred</a:t>
                      </a:r>
                      <a:r>
                        <a:rPr lang="en" altLang="zh-TW" dirty="0">
                          <a:solidFill>
                            <a:schemeClr val="tx1"/>
                          </a:solidFill>
                        </a:rPr>
                        <a:t>, average="weighted")</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283280"/>
                  </a:ext>
                </a:extLst>
              </a:tr>
              <a:tr h="977780">
                <a:tc>
                  <a:txBody>
                    <a:bodyPr/>
                    <a:lstStyle/>
                    <a:p>
                      <a:pPr algn="ctr"/>
                      <a:r>
                        <a:rPr lang="en" altLang="zh-TW" dirty="0" err="1">
                          <a:solidFill>
                            <a:schemeClr val="tx1"/>
                          </a:solidFill>
                        </a:rPr>
                        <a:t>SoftCons</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Input </a:t>
                      </a:r>
                      <a:r>
                        <a:rPr lang="zh-TW" altLang="en-US" dirty="0">
                          <a:solidFill>
                            <a:schemeClr val="tx1"/>
                          </a:solidFill>
                        </a:rPr>
                        <a:t>兩句前後交換，模型是否會輸出相反的 </a:t>
                      </a:r>
                      <a:r>
                        <a:rPr lang="en-US" altLang="zh-TW" dirty="0">
                          <a:solidFill>
                            <a:schemeClr val="tx1"/>
                          </a:solidFill>
                        </a:rPr>
                        <a:t>labels (</a:t>
                      </a:r>
                      <a:r>
                        <a:rPr lang="zh-TW" altLang="en-US" dirty="0">
                          <a:solidFill>
                            <a:schemeClr val="tx1"/>
                          </a:solidFill>
                        </a:rPr>
                        <a:t>無論答案是否正確</a:t>
                      </a:r>
                      <a:r>
                        <a:rPr lang="en-US" altLang="zh-TW" dirty="0">
                          <a:solidFill>
                            <a:schemeClr val="tx1"/>
                          </a:solidFill>
                        </a:rPr>
                        <a:t>)</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9425596"/>
                  </a:ext>
                </a:extLst>
              </a:tr>
              <a:tr h="977780">
                <a:tc>
                  <a:txBody>
                    <a:bodyPr/>
                    <a:lstStyle/>
                    <a:p>
                      <a:pPr algn="ctr"/>
                      <a:r>
                        <a:rPr lang="en" altLang="zh-TW" dirty="0" err="1">
                          <a:solidFill>
                            <a:schemeClr val="tx1"/>
                          </a:solidFill>
                        </a:rPr>
                        <a:t>HardCons</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Input </a:t>
                      </a:r>
                      <a:r>
                        <a:rPr lang="zh-TW" altLang="en-US" dirty="0">
                          <a:solidFill>
                            <a:schemeClr val="tx1"/>
                          </a:solidFill>
                        </a:rPr>
                        <a:t>兩句前後交換，模型是否會輸出相反的 </a:t>
                      </a:r>
                      <a:r>
                        <a:rPr lang="en-US" altLang="zh-TW" dirty="0">
                          <a:solidFill>
                            <a:schemeClr val="tx1"/>
                          </a:solidFill>
                        </a:rPr>
                        <a:t>labels (</a:t>
                      </a:r>
                      <a:r>
                        <a:rPr lang="zh-TW" altLang="en-US" dirty="0">
                          <a:solidFill>
                            <a:schemeClr val="tx1"/>
                          </a:solidFill>
                        </a:rPr>
                        <a:t>答案必須正確</a:t>
                      </a:r>
                      <a:r>
                        <a:rPr lang="en-US" altLang="zh-TW" dirty="0">
                          <a:solidFill>
                            <a:schemeClr val="tx1"/>
                          </a:solidFill>
                        </a:rPr>
                        <a:t>)</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5934234"/>
                  </a:ext>
                </a:extLst>
              </a:tr>
            </a:tbl>
          </a:graphicData>
        </a:graphic>
      </p:graphicFrame>
    </p:spTree>
    <p:extLst>
      <p:ext uri="{BB962C8B-B14F-4D97-AF65-F5344CB8AC3E}">
        <p14:creationId xmlns:p14="http://schemas.microsoft.com/office/powerpoint/2010/main" val="25840988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6076BC-2896-3BE2-D2FE-27873C888E6D}"/>
              </a:ext>
            </a:extLst>
          </p:cNvPr>
          <p:cNvSpPr>
            <a:spLocks noGrp="1"/>
          </p:cNvSpPr>
          <p:nvPr>
            <p:ph type="title"/>
          </p:nvPr>
        </p:nvSpPr>
        <p:spPr/>
        <p:txBody>
          <a:bodyPr/>
          <a:lstStyle/>
          <a:p>
            <a:r>
              <a:rPr kumimoji="1" lang="en-US" altLang="zh-TW" dirty="0"/>
              <a:t>Examples for </a:t>
            </a:r>
            <a:r>
              <a:rPr kumimoji="1" lang="en-US" altLang="zh-TW" dirty="0" err="1"/>
              <a:t>SoftCons</a:t>
            </a:r>
            <a:r>
              <a:rPr kumimoji="1" lang="en-US" altLang="zh-TW" dirty="0"/>
              <a:t> and </a:t>
            </a:r>
            <a:r>
              <a:rPr kumimoji="1" lang="en-US" altLang="zh-TW" dirty="0" err="1"/>
              <a:t>HardCons</a:t>
            </a:r>
            <a:r>
              <a:rPr kumimoji="1" lang="en-US" altLang="zh-TW" dirty="0"/>
              <a:t> </a:t>
            </a:r>
            <a:endParaRPr kumimoji="1" lang="zh-TW" altLang="en-US" dirty="0"/>
          </a:p>
        </p:txBody>
      </p:sp>
      <p:sp>
        <p:nvSpPr>
          <p:cNvPr id="4" name="投影片編號版面配置區 3">
            <a:extLst>
              <a:ext uri="{FF2B5EF4-FFF2-40B4-BE49-F238E27FC236}">
                <a16:creationId xmlns:a16="http://schemas.microsoft.com/office/drawing/2014/main" id="{3C365530-93F3-492B-C871-02A3AD4DA504}"/>
              </a:ext>
            </a:extLst>
          </p:cNvPr>
          <p:cNvSpPr>
            <a:spLocks noGrp="1"/>
          </p:cNvSpPr>
          <p:nvPr>
            <p:ph type="sldNum" sz="quarter" idx="12"/>
          </p:nvPr>
        </p:nvSpPr>
        <p:spPr/>
        <p:txBody>
          <a:bodyPr/>
          <a:lstStyle/>
          <a:p>
            <a:fld id="{6113E31D-E2AB-40D1-8B51-AFA5AFEF393A}" type="slidenum">
              <a:rPr lang="en-US" smtClean="0"/>
              <a:pPr/>
              <a:t>76</a:t>
            </a:fld>
            <a:endParaRPr lang="en-US" dirty="0"/>
          </a:p>
        </p:txBody>
      </p:sp>
      <p:pic>
        <p:nvPicPr>
          <p:cNvPr id="5" name="圖片 4">
            <a:extLst>
              <a:ext uri="{FF2B5EF4-FFF2-40B4-BE49-F238E27FC236}">
                <a16:creationId xmlns:a16="http://schemas.microsoft.com/office/drawing/2014/main" id="{FD460EE6-62F2-5B07-6064-1781F41982AF}"/>
              </a:ext>
            </a:extLst>
          </p:cNvPr>
          <p:cNvPicPr>
            <a:picLocks noChangeAspect="1"/>
          </p:cNvPicPr>
          <p:nvPr/>
        </p:nvPicPr>
        <p:blipFill>
          <a:blip r:embed="rId2"/>
          <a:stretch>
            <a:fillRect/>
          </a:stretch>
        </p:blipFill>
        <p:spPr>
          <a:xfrm>
            <a:off x="4293911" y="2249073"/>
            <a:ext cx="5781278" cy="1323608"/>
          </a:xfrm>
          <a:prstGeom prst="rect">
            <a:avLst/>
          </a:prstGeom>
        </p:spPr>
      </p:pic>
      <p:sp>
        <p:nvSpPr>
          <p:cNvPr id="7" name="文字方塊 6">
            <a:extLst>
              <a:ext uri="{FF2B5EF4-FFF2-40B4-BE49-F238E27FC236}">
                <a16:creationId xmlns:a16="http://schemas.microsoft.com/office/drawing/2014/main" id="{66C165CD-A410-8736-A089-7B33999E8679}"/>
              </a:ext>
            </a:extLst>
          </p:cNvPr>
          <p:cNvSpPr txBox="1"/>
          <p:nvPr/>
        </p:nvSpPr>
        <p:spPr>
          <a:xfrm>
            <a:off x="653143" y="2726211"/>
            <a:ext cx="1819114" cy="369332"/>
          </a:xfrm>
          <a:prstGeom prst="rect">
            <a:avLst/>
          </a:prstGeom>
          <a:noFill/>
        </p:spPr>
        <p:txBody>
          <a:bodyPr wrap="square">
            <a:spAutoFit/>
          </a:bodyPr>
          <a:lstStyle/>
          <a:p>
            <a:pPr algn="ctr"/>
            <a:r>
              <a:rPr lang="en" altLang="zh-TW" sz="1800" b="1" dirty="0" err="1">
                <a:solidFill>
                  <a:schemeClr val="tx1"/>
                </a:solidFill>
              </a:rPr>
              <a:t>SoftCons</a:t>
            </a:r>
            <a:endParaRPr lang="zh-TW" altLang="en-US" sz="1800" b="1" dirty="0">
              <a:solidFill>
                <a:schemeClr val="tx1"/>
              </a:solidFill>
            </a:endParaRPr>
          </a:p>
        </p:txBody>
      </p:sp>
      <p:sp>
        <p:nvSpPr>
          <p:cNvPr id="8" name="文字方塊 7">
            <a:extLst>
              <a:ext uri="{FF2B5EF4-FFF2-40B4-BE49-F238E27FC236}">
                <a16:creationId xmlns:a16="http://schemas.microsoft.com/office/drawing/2014/main" id="{7E7F7ED4-1ABA-353E-1E2C-1F6F1D70C223}"/>
              </a:ext>
            </a:extLst>
          </p:cNvPr>
          <p:cNvSpPr txBox="1"/>
          <p:nvPr/>
        </p:nvSpPr>
        <p:spPr>
          <a:xfrm>
            <a:off x="653143" y="5049778"/>
            <a:ext cx="1819114" cy="369332"/>
          </a:xfrm>
          <a:prstGeom prst="rect">
            <a:avLst/>
          </a:prstGeom>
          <a:noFill/>
        </p:spPr>
        <p:txBody>
          <a:bodyPr wrap="square">
            <a:spAutoFit/>
          </a:bodyPr>
          <a:lstStyle/>
          <a:p>
            <a:pPr algn="ctr"/>
            <a:r>
              <a:rPr lang="en" altLang="zh-TW" b="1" dirty="0" err="1"/>
              <a:t>H</a:t>
            </a:r>
            <a:r>
              <a:rPr lang="en" altLang="zh-TW" sz="1800" b="1" dirty="0" err="1">
                <a:solidFill>
                  <a:schemeClr val="tx1"/>
                </a:solidFill>
              </a:rPr>
              <a:t>ardCons</a:t>
            </a:r>
            <a:endParaRPr lang="zh-TW" altLang="en-US" sz="1800" b="1" dirty="0">
              <a:solidFill>
                <a:schemeClr val="tx1"/>
              </a:solidFill>
            </a:endParaRPr>
          </a:p>
        </p:txBody>
      </p:sp>
      <p:pic>
        <p:nvPicPr>
          <p:cNvPr id="9" name="圖片 8">
            <a:extLst>
              <a:ext uri="{FF2B5EF4-FFF2-40B4-BE49-F238E27FC236}">
                <a16:creationId xmlns:a16="http://schemas.microsoft.com/office/drawing/2014/main" id="{6CD40776-6D60-19C8-9679-A962D2FAAADC}"/>
              </a:ext>
            </a:extLst>
          </p:cNvPr>
          <p:cNvPicPr>
            <a:picLocks noChangeAspect="1"/>
          </p:cNvPicPr>
          <p:nvPr/>
        </p:nvPicPr>
        <p:blipFill>
          <a:blip r:embed="rId3"/>
          <a:stretch>
            <a:fillRect/>
          </a:stretch>
        </p:blipFill>
        <p:spPr>
          <a:xfrm>
            <a:off x="3712284" y="4323499"/>
            <a:ext cx="6944532" cy="1821891"/>
          </a:xfrm>
          <a:prstGeom prst="rect">
            <a:avLst/>
          </a:prstGeom>
        </p:spPr>
      </p:pic>
    </p:spTree>
    <p:extLst>
      <p:ext uri="{BB962C8B-B14F-4D97-AF65-F5344CB8AC3E}">
        <p14:creationId xmlns:p14="http://schemas.microsoft.com/office/powerpoint/2010/main" val="29834384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0DBEC9-EF8D-276D-CB4F-C6C416CB0BCB}"/>
              </a:ext>
            </a:extLst>
          </p:cNvPr>
          <p:cNvSpPr>
            <a:spLocks noGrp="1"/>
          </p:cNvSpPr>
          <p:nvPr>
            <p:ph type="title"/>
          </p:nvPr>
        </p:nvSpPr>
        <p:spPr/>
        <p:txBody>
          <a:bodyPr/>
          <a:lstStyle/>
          <a:p>
            <a:r>
              <a:rPr kumimoji="1" lang="zh-TW" altLang="en-US" dirty="0"/>
              <a:t>官方範例程式碼以及上傳平台</a:t>
            </a:r>
          </a:p>
        </p:txBody>
      </p:sp>
      <p:sp>
        <p:nvSpPr>
          <p:cNvPr id="3" name="內容版面配置區 2">
            <a:extLst>
              <a:ext uri="{FF2B5EF4-FFF2-40B4-BE49-F238E27FC236}">
                <a16:creationId xmlns:a16="http://schemas.microsoft.com/office/drawing/2014/main" id="{2CB8D0C2-9D7A-59FD-B7CE-CDB9065E685E}"/>
              </a:ext>
            </a:extLst>
          </p:cNvPr>
          <p:cNvSpPr>
            <a:spLocks noGrp="1"/>
          </p:cNvSpPr>
          <p:nvPr>
            <p:ph idx="1"/>
          </p:nvPr>
        </p:nvSpPr>
        <p:spPr/>
        <p:txBody>
          <a:bodyPr/>
          <a:lstStyle/>
          <a:p>
            <a:r>
              <a:rPr kumimoji="1" lang="en" altLang="zh-TW" dirty="0">
                <a:hlinkClick r:id="rId2"/>
              </a:rPr>
              <a:t>https://inigolopezgazpio.net/SemEval-2027-Task-2-DiCo-NLI/starter_kit/</a:t>
            </a:r>
            <a:endParaRPr kumimoji="1" lang="en" altLang="zh-TW" dirty="0"/>
          </a:p>
          <a:p>
            <a:r>
              <a:rPr kumimoji="1" lang="en" altLang="zh-TW" dirty="0">
                <a:hlinkClick r:id="rId3"/>
              </a:rPr>
              <a:t>https://www.codabench.org/competitions/18038/</a:t>
            </a:r>
            <a:endParaRPr kumimoji="1" lang="en" altLang="zh-TW" dirty="0"/>
          </a:p>
        </p:txBody>
      </p:sp>
      <p:sp>
        <p:nvSpPr>
          <p:cNvPr id="4" name="投影片編號版面配置區 3">
            <a:extLst>
              <a:ext uri="{FF2B5EF4-FFF2-40B4-BE49-F238E27FC236}">
                <a16:creationId xmlns:a16="http://schemas.microsoft.com/office/drawing/2014/main" id="{752440AC-573F-55B6-8FC1-5826D1E870A4}"/>
              </a:ext>
            </a:extLst>
          </p:cNvPr>
          <p:cNvSpPr>
            <a:spLocks noGrp="1"/>
          </p:cNvSpPr>
          <p:nvPr>
            <p:ph type="sldNum" sz="quarter" idx="12"/>
          </p:nvPr>
        </p:nvSpPr>
        <p:spPr/>
        <p:txBody>
          <a:bodyPr/>
          <a:lstStyle/>
          <a:p>
            <a:fld id="{6113E31D-E2AB-40D1-8B51-AFA5AFEF393A}" type="slidenum">
              <a:rPr lang="en-US" smtClean="0"/>
              <a:pPr/>
              <a:t>77</a:t>
            </a:fld>
            <a:endParaRPr lang="en-US" dirty="0"/>
          </a:p>
        </p:txBody>
      </p:sp>
      <p:pic>
        <p:nvPicPr>
          <p:cNvPr id="5" name="圖片 4">
            <a:extLst>
              <a:ext uri="{FF2B5EF4-FFF2-40B4-BE49-F238E27FC236}">
                <a16:creationId xmlns:a16="http://schemas.microsoft.com/office/drawing/2014/main" id="{AA67CF9D-251C-1A98-D8E4-E222F1B84597}"/>
              </a:ext>
            </a:extLst>
          </p:cNvPr>
          <p:cNvPicPr>
            <a:picLocks noChangeAspect="1"/>
          </p:cNvPicPr>
          <p:nvPr/>
        </p:nvPicPr>
        <p:blipFill>
          <a:blip r:embed="rId4"/>
          <a:stretch>
            <a:fillRect/>
          </a:stretch>
        </p:blipFill>
        <p:spPr>
          <a:xfrm>
            <a:off x="2209800" y="3429000"/>
            <a:ext cx="7772400" cy="2637499"/>
          </a:xfrm>
          <a:prstGeom prst="rect">
            <a:avLst/>
          </a:prstGeom>
        </p:spPr>
      </p:pic>
    </p:spTree>
    <p:extLst>
      <p:ext uri="{BB962C8B-B14F-4D97-AF65-F5344CB8AC3E}">
        <p14:creationId xmlns:p14="http://schemas.microsoft.com/office/powerpoint/2010/main" val="29692398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6CD83C5C-EA61-C255-DF28-E9CFF9EEAA75}"/>
              </a:ext>
            </a:extLst>
          </p:cNvPr>
          <p:cNvSpPr>
            <a:spLocks noGrp="1"/>
          </p:cNvSpPr>
          <p:nvPr>
            <p:ph type="title"/>
          </p:nvPr>
        </p:nvSpPr>
        <p:spPr>
          <a:xfrm>
            <a:off x="495300" y="3065145"/>
            <a:ext cx="3200400" cy="727709"/>
          </a:xfrm>
        </p:spPr>
        <p:txBody>
          <a:bodyPr anchor="ctr">
            <a:normAutofit/>
          </a:bodyPr>
          <a:lstStyle/>
          <a:p>
            <a:r>
              <a:rPr lang="en-US" altLang="zh-TW" sz="4800" dirty="0"/>
              <a:t>Thank you!</a:t>
            </a:r>
            <a:endParaRPr lang="zh-TW" altLang="en-US" sz="4800" dirty="0"/>
          </a:p>
        </p:txBody>
      </p:sp>
      <p:sp>
        <p:nvSpPr>
          <p:cNvPr id="4" name="投影片編號版面配置區 3">
            <a:extLst>
              <a:ext uri="{FF2B5EF4-FFF2-40B4-BE49-F238E27FC236}">
                <a16:creationId xmlns:a16="http://schemas.microsoft.com/office/drawing/2014/main" id="{5060AC63-905C-E7E8-4AEA-D711150C4E03}"/>
              </a:ext>
            </a:extLst>
          </p:cNvPr>
          <p:cNvSpPr>
            <a:spLocks noGrp="1"/>
          </p:cNvSpPr>
          <p:nvPr>
            <p:ph type="sldNum" sz="quarter" idx="12"/>
          </p:nvPr>
        </p:nvSpPr>
        <p:spPr/>
        <p:txBody>
          <a:bodyPr/>
          <a:lstStyle/>
          <a:p>
            <a:fld id="{6113E31D-E2AB-40D1-8B51-AFA5AFEF393A}" type="slidenum">
              <a:rPr lang="en-US" smtClean="0"/>
              <a:pPr/>
              <a:t>78</a:t>
            </a:fld>
            <a:endParaRPr lang="en-US" dirty="0"/>
          </a:p>
        </p:txBody>
      </p:sp>
      <p:sp>
        <p:nvSpPr>
          <p:cNvPr id="8" name="內容版面配置區 2">
            <a:extLst>
              <a:ext uri="{FF2B5EF4-FFF2-40B4-BE49-F238E27FC236}">
                <a16:creationId xmlns:a16="http://schemas.microsoft.com/office/drawing/2014/main" id="{5CC2DB8D-FB34-E3BD-0CDD-276E352FE93E}"/>
              </a:ext>
            </a:extLst>
          </p:cNvPr>
          <p:cNvSpPr>
            <a:spLocks noGrp="1"/>
          </p:cNvSpPr>
          <p:nvPr>
            <p:ph idx="1"/>
          </p:nvPr>
        </p:nvSpPr>
        <p:spPr>
          <a:xfrm>
            <a:off x="4621802" y="2769461"/>
            <a:ext cx="4071257" cy="2046786"/>
          </a:xfrm>
        </p:spPr>
        <p:txBody>
          <a:bodyPr>
            <a:normAutofit fontScale="85000" lnSpcReduction="10000"/>
          </a:bodyPr>
          <a:lstStyle/>
          <a:p>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Instructor: </a:t>
            </a: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林英嘉</a:t>
            </a:r>
            <a:endParaRPr kumimoji="1" lang="en-US" altLang="zh-TW" sz="3200" dirty="0">
              <a:latin typeface="Calibri" panose="020F0502020204030204" pitchFamily="34" charset="0"/>
              <a:ea typeface="Microsoft JhengHei" panose="020B0604030504040204" pitchFamily="34" charset="-120"/>
              <a:cs typeface="Calibri" panose="020F0502020204030204" pitchFamily="34" charset="0"/>
            </a:endParaRPr>
          </a:p>
          <a:p>
            <a:pPr marL="0" indent="0">
              <a:buNone/>
            </a:pP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 ✉️ </a:t>
            </a:r>
            <a:r>
              <a:rPr kumimoji="1" lang="en-US" altLang="zh-TW" sz="3200" dirty="0" err="1">
                <a:latin typeface="Calibri" panose="020F0502020204030204" pitchFamily="34" charset="0"/>
                <a:ea typeface="Microsoft JhengHei" panose="020B0604030504040204" pitchFamily="34" charset="-120"/>
                <a:cs typeface="Calibri" panose="020F0502020204030204" pitchFamily="34" charset="0"/>
              </a:rPr>
              <a:t>yjlin@cgu.edu.tw</a:t>
            </a:r>
            <a:endParaRPr kumimoji="1" lang="en-US" altLang="zh-TW" sz="3200" dirty="0">
              <a:latin typeface="Calibri" panose="020F0502020204030204" pitchFamily="34" charset="0"/>
              <a:ea typeface="Microsoft JhengHei" panose="020B0604030504040204" pitchFamily="34" charset="-120"/>
              <a:cs typeface="Calibri" panose="020F0502020204030204" pitchFamily="34" charset="0"/>
            </a:endParaRPr>
          </a:p>
          <a:p>
            <a:pPr marL="0" indent="0">
              <a:buNone/>
            </a:pP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TA: </a:t>
            </a: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鄭茹云</a:t>
            </a:r>
          </a:p>
          <a:p>
            <a:pPr marL="0" indent="0">
              <a:buNone/>
            </a:pP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 </a:t>
            </a: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m1461010@cgu.edu.tw</a:t>
            </a:r>
          </a:p>
          <a:p>
            <a:pPr marL="0" indent="0">
              <a:buNone/>
            </a:pPr>
            <a:endParaRPr kumimoji="1" lang="en-US" altLang="zh-TW" sz="3200" dirty="0">
              <a:latin typeface="Calibri" panose="020F0502020204030204" pitchFamily="34" charset="0"/>
              <a:ea typeface="Microsoft JhengHei" panose="020B0604030504040204" pitchFamily="34" charset="-120"/>
              <a:cs typeface="Calibri" panose="020F0502020204030204" pitchFamily="34" charset="0"/>
            </a:endParaRPr>
          </a:p>
        </p:txBody>
      </p:sp>
    </p:spTree>
    <p:extLst>
      <p:ext uri="{BB962C8B-B14F-4D97-AF65-F5344CB8AC3E}">
        <p14:creationId xmlns:p14="http://schemas.microsoft.com/office/powerpoint/2010/main" val="1199680789"/>
      </p:ext>
    </p:extLst>
  </p:cSld>
  <p:clrMapOvr>
    <a:masterClrMapping/>
  </p:clrMapOvr>
</p:sld>
</file>

<file path=ppt/theme/theme1.xml><?xml version="1.0" encoding="utf-8"?>
<a:theme xmlns:a="http://schemas.openxmlformats.org/drawingml/2006/main" name="回顧">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urse_template_DL" id="{E71C07C9-5718-B34F-9EA9-A4FDE47A262C}" vid="{F05AA8C9-6C58-904C-AE8A-42257BEE94D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回顧</Template>
  <TotalTime>8612</TotalTime>
  <Words>3956</Words>
  <Application>Microsoft Macintosh PowerPoint</Application>
  <PresentationFormat>寬螢幕</PresentationFormat>
  <Paragraphs>1086</Paragraphs>
  <Slides>78</Slides>
  <Notes>34</Notes>
  <HiddenSlides>2</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78</vt:i4>
      </vt:variant>
    </vt:vector>
  </HeadingPairs>
  <TitlesOfParts>
    <vt:vector size="86" baseType="lpstr">
      <vt:lpstr>Microsoft JhengHei</vt:lpstr>
      <vt:lpstr>Aptos</vt:lpstr>
      <vt:lpstr>Arial</vt:lpstr>
      <vt:lpstr>Calibri</vt:lpstr>
      <vt:lpstr>Cambria Math</vt:lpstr>
      <vt:lpstr>Consolas</vt:lpstr>
      <vt:lpstr>Times New Roman</vt:lpstr>
      <vt:lpstr>回顧</vt:lpstr>
      <vt:lpstr>深度學習 Deep Learning</vt:lpstr>
      <vt:lpstr>Outline</vt:lpstr>
      <vt:lpstr>[Recap] 如何訓練模型：資料集</vt:lpstr>
      <vt:lpstr>訓練模型的目標</vt:lpstr>
      <vt:lpstr>訓練機器學習模型時可能發生的情況</vt:lpstr>
      <vt:lpstr>[定義] Overfitting 與 Underfitting</vt:lpstr>
      <vt:lpstr>Underfitting vs. Overfitting</vt:lpstr>
      <vt:lpstr>EarlyStopping 的良好時間點</vt:lpstr>
      <vt:lpstr>Regularization</vt:lpstr>
      <vt:lpstr>Norm (範數)</vt:lpstr>
      <vt:lpstr>L2 Regularization</vt:lpstr>
      <vt:lpstr>為什麼要增加正則項？</vt:lpstr>
      <vt:lpstr>Gradient Descent with L2 Regularization</vt:lpstr>
      <vt:lpstr>L1 Regularization</vt:lpstr>
      <vt:lpstr>Gradient Descent with L1 Regularization</vt:lpstr>
      <vt:lpstr>AdamW will be in Week 7</vt:lpstr>
      <vt:lpstr>[Recap] Adam</vt:lpstr>
      <vt:lpstr>[Recap] 如何有效訓練深度學習模型？</vt:lpstr>
      <vt:lpstr>[Recap] Adam 流程</vt:lpstr>
      <vt:lpstr>Adam</vt:lpstr>
      <vt:lpstr>[實作細節] 把 L2 Regularization 加到 SGD</vt:lpstr>
      <vt:lpstr>[實作細節] 把 L2 Regularization 加到 Adam</vt:lpstr>
      <vt:lpstr>AdamW</vt:lpstr>
      <vt:lpstr>Performance: Adam vs. AdamW</vt:lpstr>
      <vt:lpstr>延伸學習</vt:lpstr>
      <vt:lpstr>Batch Normalization </vt:lpstr>
      <vt:lpstr>The whole CNN</vt:lpstr>
      <vt:lpstr>Batch Normalization (BatchNorm)</vt:lpstr>
      <vt:lpstr>MLP 中的 BatchNorm</vt:lpstr>
      <vt:lpstr>BatchNorm During Training</vt:lpstr>
      <vt:lpstr>CNN 中的 BatchNorm</vt:lpstr>
      <vt:lpstr>BatchNorm During Test (Inference)</vt:lpstr>
      <vt:lpstr>[觀察] BatchNorm</vt:lpstr>
      <vt:lpstr>Dropout</vt:lpstr>
      <vt:lpstr>Dropout</vt:lpstr>
      <vt:lpstr>Dropout may improve generalization</vt:lpstr>
      <vt:lpstr>model.eval()</vt:lpstr>
      <vt:lpstr>深度學習 Deep Learning</vt:lpstr>
      <vt:lpstr>Outline of tasks</vt:lpstr>
      <vt:lpstr>ISIC 2024 - Skin Cancer Detection with 3D-TBP</vt:lpstr>
      <vt:lpstr>test-metadata &amp; submission.csv</vt:lpstr>
      <vt:lpstr>ROC Curve</vt:lpstr>
      <vt:lpstr>模型分類門檻 (Threshold)</vt:lpstr>
      <vt:lpstr>TPR and FPR 範例</vt:lpstr>
      <vt:lpstr>TPR and FPR 範例 (TPR)</vt:lpstr>
      <vt:lpstr>TPR and FPR 範例 (FPR)</vt:lpstr>
      <vt:lpstr>ROC Curve</vt:lpstr>
      <vt:lpstr>ROC Curve</vt:lpstr>
      <vt:lpstr>ROC Curve</vt:lpstr>
      <vt:lpstr>ROC Curve</vt:lpstr>
      <vt:lpstr>ROC Curve</vt:lpstr>
      <vt:lpstr>ROC Curve</vt:lpstr>
      <vt:lpstr>ROC Curve</vt:lpstr>
      <vt:lpstr>ROC Curve</vt:lpstr>
      <vt:lpstr>ROC Curve</vt:lpstr>
      <vt:lpstr>ROC Curve (bad case)</vt:lpstr>
      <vt:lpstr>完美模型的條件</vt:lpstr>
      <vt:lpstr>Confusion Matrix (混淆矩陣) for ROC</vt:lpstr>
      <vt:lpstr>Recall and Precision</vt:lpstr>
      <vt:lpstr>Confusion Matrix for General Uses</vt:lpstr>
      <vt:lpstr>roc_curve using scikit-learn</vt:lpstr>
      <vt:lpstr>Partial AUC (pAUC)</vt:lpstr>
      <vt:lpstr>RSNA Pneumonia Detection</vt:lpstr>
      <vt:lpstr>RSNA Pneumonia – training data</vt:lpstr>
      <vt:lpstr>RSNA Pneumonia – 上傳內容</vt:lpstr>
      <vt:lpstr>評估指標：IOU (Intersection over Union)</vt:lpstr>
      <vt:lpstr>RSNA Pneumonia – 評估指標</vt:lpstr>
      <vt:lpstr>Name That LLM – 資料（不一定訓練）</vt:lpstr>
      <vt:lpstr>Name That LLM – 上傳內容</vt:lpstr>
      <vt:lpstr>評估指標：18 個模型的平均 Acc.</vt:lpstr>
      <vt:lpstr>PowerPoint 簡報</vt:lpstr>
      <vt:lpstr>Natural Language Inference (NLI)</vt:lpstr>
      <vt:lpstr>Directional Consistent NLI (Dico-NLI)</vt:lpstr>
      <vt:lpstr>Dico-NLI Dataset Statistics</vt:lpstr>
      <vt:lpstr>評估指標</vt:lpstr>
      <vt:lpstr>Examples for SoftCons and HardCons </vt:lpstr>
      <vt:lpstr>官方範例程式碼以及上傳平台</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深度學習 Deep Learning</dc:title>
  <dc:creator>林英嘉</dc:creator>
  <cp:lastModifiedBy>英嘉 林</cp:lastModifiedBy>
  <cp:revision>1391</cp:revision>
  <dcterms:created xsi:type="dcterms:W3CDTF">2025-02-06T07:16:08Z</dcterms:created>
  <dcterms:modified xsi:type="dcterms:W3CDTF">2026-10-21T04:36:14Z</dcterms:modified>
</cp:coreProperties>
</file>