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58"/>
  </p:notesMasterIdLst>
  <p:sldIdLst>
    <p:sldId id="264" r:id="rId2"/>
    <p:sldId id="278" r:id="rId3"/>
    <p:sldId id="271" r:id="rId4"/>
    <p:sldId id="681" r:id="rId5"/>
    <p:sldId id="328" r:id="rId6"/>
    <p:sldId id="682" r:id="rId7"/>
    <p:sldId id="614" r:id="rId8"/>
    <p:sldId id="633" r:id="rId9"/>
    <p:sldId id="632" r:id="rId10"/>
    <p:sldId id="634" r:id="rId11"/>
    <p:sldId id="659" r:id="rId12"/>
    <p:sldId id="683" r:id="rId13"/>
    <p:sldId id="668" r:id="rId14"/>
    <p:sldId id="635" r:id="rId15"/>
    <p:sldId id="636" r:id="rId16"/>
    <p:sldId id="637" r:id="rId17"/>
    <p:sldId id="638" r:id="rId18"/>
    <p:sldId id="639" r:id="rId19"/>
    <p:sldId id="640" r:id="rId20"/>
    <p:sldId id="641" r:id="rId21"/>
    <p:sldId id="644" r:id="rId22"/>
    <p:sldId id="645" r:id="rId23"/>
    <p:sldId id="669" r:id="rId24"/>
    <p:sldId id="670" r:id="rId25"/>
    <p:sldId id="671" r:id="rId26"/>
    <p:sldId id="672" r:id="rId27"/>
    <p:sldId id="673" r:id="rId28"/>
    <p:sldId id="674" r:id="rId29"/>
    <p:sldId id="675" r:id="rId30"/>
    <p:sldId id="676" r:id="rId31"/>
    <p:sldId id="677" r:id="rId32"/>
    <p:sldId id="678" r:id="rId33"/>
    <p:sldId id="679" r:id="rId34"/>
    <p:sldId id="647" r:id="rId35"/>
    <p:sldId id="666" r:id="rId36"/>
    <p:sldId id="648" r:id="rId37"/>
    <p:sldId id="680" r:id="rId38"/>
    <p:sldId id="665" r:id="rId39"/>
    <p:sldId id="655" r:id="rId40"/>
    <p:sldId id="522" r:id="rId41"/>
    <p:sldId id="684" r:id="rId42"/>
    <p:sldId id="642" r:id="rId43"/>
    <p:sldId id="651" r:id="rId44"/>
    <p:sldId id="653" r:id="rId45"/>
    <p:sldId id="652" r:id="rId46"/>
    <p:sldId id="654" r:id="rId47"/>
    <p:sldId id="685" r:id="rId48"/>
    <p:sldId id="667" r:id="rId49"/>
    <p:sldId id="662" r:id="rId50"/>
    <p:sldId id="663" r:id="rId51"/>
    <p:sldId id="664" r:id="rId52"/>
    <p:sldId id="658" r:id="rId53"/>
    <p:sldId id="660" r:id="rId54"/>
    <p:sldId id="661" r:id="rId55"/>
    <p:sldId id="650" r:id="rId56"/>
    <p:sldId id="686" r:id="rId5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F5EA"/>
    <a:srgbClr val="05AE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01"/>
    <p:restoredTop sz="90795"/>
  </p:normalViewPr>
  <p:slideViewPr>
    <p:cSldViewPr snapToGrid="0">
      <p:cViewPr varScale="1">
        <p:scale>
          <a:sx n="140" d="100"/>
          <a:sy n="140" d="100"/>
        </p:scale>
        <p:origin x="14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568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DBE83B-754F-B948-8CD7-D8047F5EE2C4}" type="datetimeFigureOut">
              <a:rPr kumimoji="1" lang="zh-TW" altLang="en-US" smtClean="0"/>
              <a:t>2026/10/13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836D1C-D09F-2A41-BBEA-6549EF3DDB6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51419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4913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46848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31149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34952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57068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461192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69135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849426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47E48-63BC-7E80-70FB-E4FEC618C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C8F8F5-19F1-402D-7EC3-3C25933C3C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5CD2F73-96FB-FD62-69DE-3AE55B616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A658FD2-BC34-E546-7B10-8739299AA0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0725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140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TW" altLang="en-US" dirty="0"/>
              <a:t>把</a:t>
            </a:r>
            <a:r>
              <a:rPr kumimoji="1" lang="en-US" altLang="zh-TW" dirty="0"/>
              <a:t>2x2</a:t>
            </a:r>
            <a:r>
              <a:rPr kumimoji="1" lang="zh-TW" altLang="en-US" dirty="0"/>
              <a:t>的像素點變成</a:t>
            </a:r>
            <a:r>
              <a:rPr kumimoji="1" lang="en-US" altLang="zh-TW" dirty="0"/>
              <a:t>1</a:t>
            </a:r>
            <a:r>
              <a:rPr kumimoji="1" lang="zh-TW" altLang="en-US" dirty="0"/>
              <a:t>個，然後每次都移動兩格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96514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836D1C-D09F-2A41-BBEA-6549EF3DDB65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110161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553428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3143" y="356088"/>
            <a:ext cx="10918371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3143" y="1845734"/>
            <a:ext cx="10918371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en-US" dirty="0"/>
          </a:p>
        </p:txBody>
      </p:sp>
      <p:pic>
        <p:nvPicPr>
          <p:cNvPr id="8" name="圖片 7" descr="一張含有 黑暗, 鮮豔, 圓形, 對稱 的圖片&#10;&#10;自動產生的描述">
            <a:extLst>
              <a:ext uri="{FF2B5EF4-FFF2-40B4-BE49-F238E27FC236}">
                <a16:creationId xmlns:a16="http://schemas.microsoft.com/office/drawing/2014/main" id="{7B42FF8E-DE09-ED24-7D18-F64355A345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20" y="6349567"/>
            <a:ext cx="462323" cy="453571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7DAD89E-131D-FDCA-9260-AC4191103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12955" y="6415560"/>
            <a:ext cx="1312025" cy="365125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fld id="{6113E31D-E2AB-40D1-8B51-AFA5AFEF393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986838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91165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3DAB314-DF41-49F3-8643-5960470A9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649639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FF28B-EE0C-0976-1882-688F90260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79200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10/13/26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78DE478E-C0B1-6FFC-0061-DA2334C3F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71989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10/13/26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31067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22681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10/13/26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1616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5B6B208-0D45-71D0-C7BE-D6974D30E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</p:spPr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0684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10/13/26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4366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676003" y="1355758"/>
            <a:ext cx="10839994" cy="45719"/>
          </a:xfrm>
          <a:prstGeom prst="rect">
            <a:avLst/>
          </a:prstGeom>
          <a:solidFill>
            <a:srgbClr val="05AED6"/>
          </a:solidFill>
          <a:ln>
            <a:solidFill>
              <a:srgbClr val="05AED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356088"/>
            <a:ext cx="10058400" cy="103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CGU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101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sli.do/event/6p1icb7JSyKKirn6h72LJy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app.sli.do/event/r6bsGhmsqjXx3WLiJiGQdT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mcps5601/CGUDL_2025_Spring" TargetMode="Externa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0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5" Type="http://schemas.openxmlformats.org/officeDocument/2006/relationships/image" Target="../media/image2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470.png"/><Relationship Id="rId3" Type="http://schemas.openxmlformats.org/officeDocument/2006/relationships/image" Target="../media/image370.png"/><Relationship Id="rId7" Type="http://schemas.openxmlformats.org/officeDocument/2006/relationships/image" Target="../media/image410.png"/><Relationship Id="rId12" Type="http://schemas.openxmlformats.org/officeDocument/2006/relationships/image" Target="../media/image4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0.png"/><Relationship Id="rId11" Type="http://schemas.openxmlformats.org/officeDocument/2006/relationships/image" Target="../media/image45.png"/><Relationship Id="rId5" Type="http://schemas.openxmlformats.org/officeDocument/2006/relationships/image" Target="../media/image390.png"/><Relationship Id="rId10" Type="http://schemas.openxmlformats.org/officeDocument/2006/relationships/image" Target="../media/image44.png"/><Relationship Id="rId4" Type="http://schemas.openxmlformats.org/officeDocument/2006/relationships/image" Target="../media/image380.png"/><Relationship Id="rId9" Type="http://schemas.openxmlformats.org/officeDocument/2006/relationships/image" Target="../media/image430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圓角矩形 4">
            <a:extLst>
              <a:ext uri="{FF2B5EF4-FFF2-40B4-BE49-F238E27FC236}">
                <a16:creationId xmlns:a16="http://schemas.microsoft.com/office/drawing/2014/main" id="{3C6264BC-1151-9168-C7F5-CC114FF3CC95}"/>
              </a:ext>
            </a:extLst>
          </p:cNvPr>
          <p:cNvSpPr/>
          <p:nvPr/>
        </p:nvSpPr>
        <p:spPr>
          <a:xfrm>
            <a:off x="667422" y="2025546"/>
            <a:ext cx="10857156" cy="2426189"/>
          </a:xfrm>
          <a:prstGeom prst="roundRect">
            <a:avLst/>
          </a:prstGeom>
          <a:solidFill>
            <a:srgbClr val="9EF5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058193-D513-E805-2BD5-118E50D976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1959" y="1006002"/>
            <a:ext cx="5437882" cy="3224045"/>
          </a:xfrm>
        </p:spPr>
        <p:txBody>
          <a:bodyPr anchor="b">
            <a:normAutofit/>
          </a:bodyPr>
          <a:lstStyle/>
          <a:p>
            <a:r>
              <a:rPr kumimoji="1" lang="zh-TW" altLang="en-US" sz="5800" b="1" dirty="0">
                <a:ea typeface="Microsoft JhengHei" panose="020B0604030504040204" pitchFamily="34" charset="-120"/>
              </a:rPr>
              <a:t>深度學習</a:t>
            </a:r>
            <a:br>
              <a:rPr kumimoji="1" lang="en-US" altLang="zh-TW" sz="5800" b="1" dirty="0">
                <a:ea typeface="Microsoft JhengHei" panose="020B0604030504040204" pitchFamily="34" charset="-120"/>
              </a:rPr>
            </a:br>
            <a:r>
              <a:rPr kumimoji="1" lang="en-US" altLang="zh-TW" sz="5800" b="1" dirty="0">
                <a:ea typeface="Microsoft JhengHei" panose="020B0604030504040204" pitchFamily="34" charset="-120"/>
              </a:rPr>
              <a:t>Deep Learning</a:t>
            </a:r>
            <a:endParaRPr kumimoji="1" lang="zh-TW" altLang="en-US" sz="5800" b="1" dirty="0">
              <a:ea typeface="Microsoft JhengHei" panose="020B0604030504040204" pitchFamily="34" charset="-12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598A032-0E8B-F9E1-A926-2F2E78D575C6}"/>
              </a:ext>
            </a:extLst>
          </p:cNvPr>
          <p:cNvSpPr txBox="1"/>
          <p:nvPr/>
        </p:nvSpPr>
        <p:spPr>
          <a:xfrm>
            <a:off x="726698" y="4749453"/>
            <a:ext cx="555980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Convolutional Neural Networks</a:t>
            </a:r>
          </a:p>
          <a:p>
            <a:r>
              <a:rPr kumimoji="1" lang="en-US" altLang="zh-TW" sz="2800" b="1" dirty="0">
                <a:solidFill>
                  <a:srgbClr val="0070C0"/>
                </a:solidFill>
                <a:latin typeface="+mj-lt"/>
                <a:cs typeface="Calibri" panose="020F0502020204030204" pitchFamily="34" charset="0"/>
              </a:rPr>
              <a:t>(CNN)</a:t>
            </a:r>
            <a:endParaRPr kumimoji="1" lang="zh-TW" altLang="en-US" sz="2800" b="1" dirty="0">
              <a:solidFill>
                <a:srgbClr val="0070C0"/>
              </a:solidFill>
              <a:latin typeface="+mj-lt"/>
              <a:cs typeface="Calibri" panose="020F0502020204030204" pitchFamily="34" charset="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F843A79-3FEF-CDAD-6B9A-C5A7AD279D2D}"/>
              </a:ext>
            </a:extLst>
          </p:cNvPr>
          <p:cNvSpPr txBox="1"/>
          <p:nvPr/>
        </p:nvSpPr>
        <p:spPr>
          <a:xfrm>
            <a:off x="726698" y="5827136"/>
            <a:ext cx="48892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林英嘉 </a:t>
            </a:r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(Ying-Jia Lin)</a:t>
            </a:r>
          </a:p>
          <a:p>
            <a:r>
              <a:rPr kumimoji="1" lang="en-US" altLang="zh-TW" sz="2000" b="1" dirty="0">
                <a:latin typeface="+mj-lt"/>
                <a:ea typeface="Microsoft JhengHei" panose="020B0604030504040204" pitchFamily="34" charset="-120"/>
                <a:cs typeface="Calibri" panose="020F0502020204030204" pitchFamily="34" charset="0"/>
              </a:rPr>
              <a:t>2026/10/15</a:t>
            </a:r>
            <a:endParaRPr kumimoji="1" lang="zh-TW" altLang="en-US" sz="2000" b="1" dirty="0">
              <a:latin typeface="+mj-lt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1" name="文字方塊 10">
            <a:hlinkClick r:id="rId2"/>
            <a:extLst>
              <a:ext uri="{FF2B5EF4-FFF2-40B4-BE49-F238E27FC236}">
                <a16:creationId xmlns:a16="http://schemas.microsoft.com/office/drawing/2014/main" id="{8F823108-2692-7850-78FB-371EE4D6F4E9}"/>
              </a:ext>
            </a:extLst>
          </p:cNvPr>
          <p:cNvSpPr txBox="1"/>
          <p:nvPr/>
        </p:nvSpPr>
        <p:spPr>
          <a:xfrm>
            <a:off x="9228689" y="6470108"/>
            <a:ext cx="1825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3"/>
              </a:rPr>
              <a:t>Slido # DL1015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A3646A0-289E-515C-ACB5-273E4F2AB4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958" y="322978"/>
            <a:ext cx="1468923" cy="1468923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3A36669-7B01-2812-BA36-2EB111E31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0640" y="4456832"/>
            <a:ext cx="2227592" cy="222759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11FE13F-EAE1-28BE-3393-19482B4009E2}"/>
              </a:ext>
            </a:extLst>
          </p:cNvPr>
          <p:cNvSpPr txBox="1"/>
          <p:nvPr/>
        </p:nvSpPr>
        <p:spPr>
          <a:xfrm>
            <a:off x="6623833" y="6470108"/>
            <a:ext cx="20387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>
                <a:hlinkClick r:id="rId6"/>
              </a:rPr>
              <a:t>Course GitHub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0B97CA68-4555-C802-B306-FE1B3AB7A1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28689" y="4644676"/>
            <a:ext cx="1825432" cy="182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314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63A80CC-9484-1BAA-ED61-BC08FFD88841}"/>
              </a:ext>
            </a:extLst>
          </p:cNvPr>
          <p:cNvSpPr txBox="1"/>
          <p:nvPr/>
        </p:nvSpPr>
        <p:spPr>
          <a:xfrm>
            <a:off x="653144" y="1806093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Convolutional Neural Networks [50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 modeling [20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CV (Computer Vision) in 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 [40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HW2 [30 min]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Quiz [10 min]</a:t>
            </a:r>
          </a:p>
        </p:txBody>
      </p:sp>
    </p:spTree>
    <p:extLst>
      <p:ext uri="{BB962C8B-B14F-4D97-AF65-F5344CB8AC3E}">
        <p14:creationId xmlns:p14="http://schemas.microsoft.com/office/powerpoint/2010/main" val="3439042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729B53-50E5-64FF-C825-124AD6476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[Recep] </a:t>
            </a:r>
            <a:r>
              <a:rPr kumimoji="1" lang="zh-TW" altLang="en-US" dirty="0"/>
              <a:t>什麼是機器學習？</a:t>
            </a:r>
            <a:r>
              <a:rPr kumimoji="1" lang="en-US" altLang="zh-TW" dirty="0"/>
              <a:t>(</a:t>
            </a:r>
            <a:r>
              <a:rPr kumimoji="1" lang="zh-TW" altLang="en-US" dirty="0"/>
              <a:t>以電腦視覺為例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89A3BFD-11F7-B87C-8992-2C59714FB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2050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D74245EC-E8C3-AE45-4B1D-2B2F578B8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7880" y="2516673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B9EB9D7-5382-F76F-9765-F433DC2CE373}"/>
              </a:ext>
            </a:extLst>
          </p:cNvPr>
          <p:cNvSpPr/>
          <p:nvPr/>
        </p:nvSpPr>
        <p:spPr>
          <a:xfrm>
            <a:off x="5017770" y="2661701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6" name="直線箭頭接點 5">
            <a:extLst>
              <a:ext uri="{FF2B5EF4-FFF2-40B4-BE49-F238E27FC236}">
                <a16:creationId xmlns:a16="http://schemas.microsoft.com/office/drawing/2014/main" id="{191F08BA-00B9-523D-18E8-E1BEBDE0EF31}"/>
              </a:ext>
            </a:extLst>
          </p:cNvPr>
          <p:cNvCxnSpPr/>
          <p:nvPr/>
        </p:nvCxnSpPr>
        <p:spPr>
          <a:xfrm>
            <a:off x="4091940" y="315319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87C9E241-B2FD-4AD6-767E-5597A66B9E74}"/>
              </a:ext>
            </a:extLst>
          </p:cNvPr>
          <p:cNvCxnSpPr/>
          <p:nvPr/>
        </p:nvCxnSpPr>
        <p:spPr>
          <a:xfrm>
            <a:off x="7056120" y="3153191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F04A82FF-EA22-34EE-B28C-9E8AE6212E90}"/>
              </a:ext>
            </a:extLst>
          </p:cNvPr>
          <p:cNvSpPr txBox="1"/>
          <p:nvPr/>
        </p:nvSpPr>
        <p:spPr>
          <a:xfrm>
            <a:off x="8058150" y="2516673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Cat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7226957-9761-C28C-2424-6053D69286C7}"/>
              </a:ext>
            </a:extLst>
          </p:cNvPr>
          <p:cNvSpPr txBox="1"/>
          <p:nvPr/>
        </p:nvSpPr>
        <p:spPr>
          <a:xfrm>
            <a:off x="8058150" y="2953136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Dog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13029FC-9EB5-49DA-EE75-13E76C5DC486}"/>
              </a:ext>
            </a:extLst>
          </p:cNvPr>
          <p:cNvSpPr txBox="1"/>
          <p:nvPr/>
        </p:nvSpPr>
        <p:spPr>
          <a:xfrm>
            <a:off x="8058150" y="3380948"/>
            <a:ext cx="82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Apple</a:t>
            </a:r>
            <a:endParaRPr kumimoji="1" lang="zh-TW" altLang="en-US" dirty="0"/>
          </a:p>
        </p:txBody>
      </p:sp>
      <p:pic>
        <p:nvPicPr>
          <p:cNvPr id="13" name="圖形 12" descr="核取方塊 (打勾) 以實心填滿">
            <a:extLst>
              <a:ext uri="{FF2B5EF4-FFF2-40B4-BE49-F238E27FC236}">
                <a16:creationId xmlns:a16="http://schemas.microsoft.com/office/drawing/2014/main" id="{B23474AF-1033-3A78-09F3-C58B758F58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1124" y="2404055"/>
            <a:ext cx="625345" cy="62534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FE83A73E-CD3F-C206-B1CD-BC05FAE6EC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199" y="4341673"/>
            <a:ext cx="1738317" cy="1378188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B35F807D-5BE7-1955-53BE-C38722BBE6D5}"/>
              </a:ext>
            </a:extLst>
          </p:cNvPr>
          <p:cNvSpPr/>
          <p:nvPr/>
        </p:nvSpPr>
        <p:spPr>
          <a:xfrm>
            <a:off x="5017770" y="4541386"/>
            <a:ext cx="1778957" cy="9829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2000" dirty="0">
                <a:solidFill>
                  <a:schemeClr val="tx1"/>
                </a:solidFill>
              </a:rPr>
              <a:t>Classifier</a:t>
            </a:r>
            <a:endParaRPr kumimoji="1" lang="zh-TW" altLang="en-US" sz="2000" dirty="0">
              <a:solidFill>
                <a:schemeClr val="tx1"/>
              </a:solidFill>
            </a:endParaRPr>
          </a:p>
        </p:txBody>
      </p: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AC885417-3598-7295-B475-74795A16DF5F}"/>
              </a:ext>
            </a:extLst>
          </p:cNvPr>
          <p:cNvCxnSpPr/>
          <p:nvPr/>
        </p:nvCxnSpPr>
        <p:spPr>
          <a:xfrm>
            <a:off x="4091940" y="503287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箭頭接點 20">
            <a:extLst>
              <a:ext uri="{FF2B5EF4-FFF2-40B4-BE49-F238E27FC236}">
                <a16:creationId xmlns:a16="http://schemas.microsoft.com/office/drawing/2014/main" id="{87EEE14E-9F40-636C-78FD-EB222706A763}"/>
              </a:ext>
            </a:extLst>
          </p:cNvPr>
          <p:cNvCxnSpPr/>
          <p:nvPr/>
        </p:nvCxnSpPr>
        <p:spPr>
          <a:xfrm>
            <a:off x="7056120" y="5032876"/>
            <a:ext cx="70866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10978CE-0560-EE1E-53DC-04957E64B4A7}"/>
              </a:ext>
            </a:extLst>
          </p:cNvPr>
          <p:cNvSpPr txBox="1"/>
          <p:nvPr/>
        </p:nvSpPr>
        <p:spPr>
          <a:xfrm>
            <a:off x="7785608" y="4574567"/>
            <a:ext cx="13680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Malignant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BF62C6BD-3F3F-AFA2-5387-E64DEE696A33}"/>
              </a:ext>
            </a:extLst>
          </p:cNvPr>
          <p:cNvSpPr txBox="1"/>
          <p:nvPr/>
        </p:nvSpPr>
        <p:spPr>
          <a:xfrm>
            <a:off x="7938135" y="5084452"/>
            <a:ext cx="10629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Benign</a:t>
            </a:r>
            <a:endParaRPr kumimoji="1" lang="zh-TW" altLang="en-US" dirty="0"/>
          </a:p>
        </p:txBody>
      </p:sp>
      <p:pic>
        <p:nvPicPr>
          <p:cNvPr id="25" name="圖形 24" descr="核取方塊 (打勾) 以實心填滿">
            <a:extLst>
              <a:ext uri="{FF2B5EF4-FFF2-40B4-BE49-F238E27FC236}">
                <a16:creationId xmlns:a16="http://schemas.microsoft.com/office/drawing/2014/main" id="{39A449E1-BB9A-FDAB-5760-82E133925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01125" y="4971834"/>
            <a:ext cx="625345" cy="625345"/>
          </a:xfrm>
          <a:prstGeom prst="rect">
            <a:avLst/>
          </a:prstGeom>
        </p:spPr>
      </p:pic>
      <p:sp>
        <p:nvSpPr>
          <p:cNvPr id="26" name="橢圓 25">
            <a:extLst>
              <a:ext uri="{FF2B5EF4-FFF2-40B4-BE49-F238E27FC236}">
                <a16:creationId xmlns:a16="http://schemas.microsoft.com/office/drawing/2014/main" id="{3CBE440C-FF33-B693-34E7-CC52B1E0CE45}"/>
              </a:ext>
            </a:extLst>
          </p:cNvPr>
          <p:cNvSpPr/>
          <p:nvPr/>
        </p:nvSpPr>
        <p:spPr>
          <a:xfrm>
            <a:off x="4800599" y="2318801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7B3F454-0680-EFE0-39FE-2F93233AE783}"/>
              </a:ext>
            </a:extLst>
          </p:cNvPr>
          <p:cNvSpPr/>
          <p:nvPr/>
        </p:nvSpPr>
        <p:spPr>
          <a:xfrm>
            <a:off x="4770857" y="4196377"/>
            <a:ext cx="2204397" cy="166878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sz="160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237C529E-F9E2-EE5E-891B-2F2CDCFA01E7}"/>
              </a:ext>
            </a:extLst>
          </p:cNvPr>
          <p:cNvSpPr txBox="1"/>
          <p:nvPr/>
        </p:nvSpPr>
        <p:spPr>
          <a:xfrm>
            <a:off x="4396220" y="1797930"/>
            <a:ext cx="295366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Machine </a:t>
            </a:r>
            <a:r>
              <a:rPr kumimoji="1" lang="en-US" altLang="zh-TW" sz="1600" dirty="0">
                <a:solidFill>
                  <a:srgbClr val="FF0000"/>
                </a:solidFill>
              </a:rPr>
              <a:t>Learning</a:t>
            </a:r>
            <a:r>
              <a:rPr kumimoji="1" lang="en-US" altLang="zh-TW" sz="1600" dirty="0"/>
              <a:t> function!</a:t>
            </a:r>
            <a:endParaRPr kumimoji="1" lang="zh-TW" altLang="en-US" sz="1600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4EBE080-0135-F086-31E9-98A05553263F}"/>
              </a:ext>
            </a:extLst>
          </p:cNvPr>
          <p:cNvSpPr txBox="1"/>
          <p:nvPr/>
        </p:nvSpPr>
        <p:spPr>
          <a:xfrm>
            <a:off x="3956888" y="1475936"/>
            <a:ext cx="42782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We often use </a:t>
            </a:r>
            <a:r>
              <a:rPr kumimoji="1" lang="en-US" altLang="zh-TW" sz="1600" b="1" dirty="0">
                <a:solidFill>
                  <a:srgbClr val="FF0000"/>
                </a:solidFill>
              </a:rPr>
              <a:t>CNN</a:t>
            </a:r>
            <a:r>
              <a:rPr kumimoji="1" lang="en-US" altLang="zh-TW" sz="1600" dirty="0"/>
              <a:t> for image classification!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352862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7" grpId="0" animBg="1"/>
      <p:bldP spid="2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6A4B0D-ADBF-AB68-88BC-C7280251B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深度學習常見模型架構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E9BBB56-7C58-7116-360E-46E09CF10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42E9188-99F9-535E-4937-651819D2F4C8}"/>
              </a:ext>
            </a:extLst>
          </p:cNvPr>
          <p:cNvSpPr/>
          <p:nvPr/>
        </p:nvSpPr>
        <p:spPr>
          <a:xfrm>
            <a:off x="1131525" y="3941806"/>
            <a:ext cx="827903" cy="8279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655BDE-80C9-BC0F-087B-077AA3C3E281}"/>
              </a:ext>
            </a:extLst>
          </p:cNvPr>
          <p:cNvSpPr/>
          <p:nvPr/>
        </p:nvSpPr>
        <p:spPr>
          <a:xfrm>
            <a:off x="1131525" y="3941806"/>
            <a:ext cx="185351" cy="185351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2" name="直線箭頭接點 11">
            <a:extLst>
              <a:ext uri="{FF2B5EF4-FFF2-40B4-BE49-F238E27FC236}">
                <a16:creationId xmlns:a16="http://schemas.microsoft.com/office/drawing/2014/main" id="{34FF96C0-8C5E-FC12-FC17-12129436ED20}"/>
              </a:ext>
            </a:extLst>
          </p:cNvPr>
          <p:cNvCxnSpPr/>
          <p:nvPr/>
        </p:nvCxnSpPr>
        <p:spPr>
          <a:xfrm>
            <a:off x="1168593" y="4232193"/>
            <a:ext cx="22860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矩形 12">
            <a:extLst>
              <a:ext uri="{FF2B5EF4-FFF2-40B4-BE49-F238E27FC236}">
                <a16:creationId xmlns:a16="http://schemas.microsoft.com/office/drawing/2014/main" id="{ACF9AAC7-E80D-8D7A-6E43-541F9F024DC6}"/>
              </a:ext>
            </a:extLst>
          </p:cNvPr>
          <p:cNvSpPr/>
          <p:nvPr/>
        </p:nvSpPr>
        <p:spPr>
          <a:xfrm>
            <a:off x="2237455" y="4126127"/>
            <a:ext cx="459259" cy="459259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6E7F158E-1D25-24C4-633A-A777A22970FF}"/>
              </a:ext>
            </a:extLst>
          </p:cNvPr>
          <p:cNvCxnSpPr>
            <a:cxnSpLocks/>
          </p:cNvCxnSpPr>
          <p:nvPr/>
        </p:nvCxnSpPr>
        <p:spPr>
          <a:xfrm>
            <a:off x="1316876" y="3954165"/>
            <a:ext cx="920579" cy="18006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CBAF0285-AB7B-39F9-42E8-C08004E7AED7}"/>
              </a:ext>
            </a:extLst>
          </p:cNvPr>
          <p:cNvCxnSpPr>
            <a:cxnSpLocks/>
          </p:cNvCxnSpPr>
          <p:nvPr/>
        </p:nvCxnSpPr>
        <p:spPr>
          <a:xfrm flipH="1" flipV="1">
            <a:off x="1336441" y="4134225"/>
            <a:ext cx="913371" cy="9178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D58D325B-C331-0BF8-C410-E65BF635FA6D}"/>
              </a:ext>
            </a:extLst>
          </p:cNvPr>
          <p:cNvSpPr/>
          <p:nvPr/>
        </p:nvSpPr>
        <p:spPr>
          <a:xfrm>
            <a:off x="2249813" y="4143939"/>
            <a:ext cx="113268" cy="113268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0A1B0241-5667-67A0-4760-C4AFBAA24C0D}"/>
              </a:ext>
            </a:extLst>
          </p:cNvPr>
          <p:cNvSpPr txBox="1"/>
          <p:nvPr/>
        </p:nvSpPr>
        <p:spPr>
          <a:xfrm>
            <a:off x="4225146" y="4769709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F08A08CA-B884-E7D6-82ED-8D06577D0930}"/>
              </a:ext>
            </a:extLst>
          </p:cNvPr>
          <p:cNvSpPr txBox="1"/>
          <p:nvPr/>
        </p:nvSpPr>
        <p:spPr>
          <a:xfrm>
            <a:off x="4951926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350706D6-17A1-8F84-2888-5A7582AB79D7}"/>
              </a:ext>
            </a:extLst>
          </p:cNvPr>
          <p:cNvSpPr txBox="1"/>
          <p:nvPr/>
        </p:nvSpPr>
        <p:spPr>
          <a:xfrm>
            <a:off x="5623204" y="4769709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B1AE786-D22F-2101-21DB-229967DB29A7}"/>
              </a:ext>
            </a:extLst>
          </p:cNvPr>
          <p:cNvSpPr txBox="1"/>
          <p:nvPr/>
        </p:nvSpPr>
        <p:spPr>
          <a:xfrm>
            <a:off x="6272969" y="4769709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64" name="圓角矩形 63">
            <a:extLst>
              <a:ext uri="{FF2B5EF4-FFF2-40B4-BE49-F238E27FC236}">
                <a16:creationId xmlns:a16="http://schemas.microsoft.com/office/drawing/2014/main" id="{57222733-D9EB-7984-460E-7ABCBB7385C6}"/>
              </a:ext>
            </a:extLst>
          </p:cNvPr>
          <p:cNvSpPr/>
          <p:nvPr/>
        </p:nvSpPr>
        <p:spPr>
          <a:xfrm>
            <a:off x="4371939" y="4089251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5" name="圓角矩形 64">
            <a:extLst>
              <a:ext uri="{FF2B5EF4-FFF2-40B4-BE49-F238E27FC236}">
                <a16:creationId xmlns:a16="http://schemas.microsoft.com/office/drawing/2014/main" id="{DCD118DC-6BE9-8EEA-7BE1-01AA713649B0}"/>
              </a:ext>
            </a:extLst>
          </p:cNvPr>
          <p:cNvSpPr/>
          <p:nvPr/>
        </p:nvSpPr>
        <p:spPr>
          <a:xfrm>
            <a:off x="5095637" y="4092251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6" name="圓角矩形 65">
            <a:extLst>
              <a:ext uri="{FF2B5EF4-FFF2-40B4-BE49-F238E27FC236}">
                <a16:creationId xmlns:a16="http://schemas.microsoft.com/office/drawing/2014/main" id="{42F0CA90-5C5C-23E1-2CF1-D204376A27A7}"/>
              </a:ext>
            </a:extLst>
          </p:cNvPr>
          <p:cNvSpPr/>
          <p:nvPr/>
        </p:nvSpPr>
        <p:spPr>
          <a:xfrm>
            <a:off x="5819335" y="4092847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圓角矩形 66">
            <a:extLst>
              <a:ext uri="{FF2B5EF4-FFF2-40B4-BE49-F238E27FC236}">
                <a16:creationId xmlns:a16="http://schemas.microsoft.com/office/drawing/2014/main" id="{764EF694-3B95-C672-D21C-80EBFD7841D5}"/>
              </a:ext>
            </a:extLst>
          </p:cNvPr>
          <p:cNvSpPr/>
          <p:nvPr/>
        </p:nvSpPr>
        <p:spPr>
          <a:xfrm>
            <a:off x="6543033" y="4089251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0" name="Google Shape;193;p17">
            <a:extLst>
              <a:ext uri="{FF2B5EF4-FFF2-40B4-BE49-F238E27FC236}">
                <a16:creationId xmlns:a16="http://schemas.microsoft.com/office/drawing/2014/main" id="{5B495652-96CC-929A-39BF-7A1AAF8DE5F9}"/>
              </a:ext>
            </a:extLst>
          </p:cNvPr>
          <p:cNvCxnSpPr>
            <a:cxnSpLocks/>
          </p:cNvCxnSpPr>
          <p:nvPr/>
        </p:nvCxnSpPr>
        <p:spPr>
          <a:xfrm rot="10800000">
            <a:off x="52620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1" name="Google Shape;194;p17">
            <a:extLst>
              <a:ext uri="{FF2B5EF4-FFF2-40B4-BE49-F238E27FC236}">
                <a16:creationId xmlns:a16="http://schemas.microsoft.com/office/drawing/2014/main" id="{D5AE85F3-A023-C627-9075-4AF080934D79}"/>
              </a:ext>
            </a:extLst>
          </p:cNvPr>
          <p:cNvCxnSpPr>
            <a:cxnSpLocks/>
          </p:cNvCxnSpPr>
          <p:nvPr/>
        </p:nvCxnSpPr>
        <p:spPr>
          <a:xfrm rot="10800000">
            <a:off x="59836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2" name="Google Shape;195;p17">
            <a:extLst>
              <a:ext uri="{FF2B5EF4-FFF2-40B4-BE49-F238E27FC236}">
                <a16:creationId xmlns:a16="http://schemas.microsoft.com/office/drawing/2014/main" id="{7CC17379-F806-21C9-6178-06E32AB7CCB9}"/>
              </a:ext>
            </a:extLst>
          </p:cNvPr>
          <p:cNvCxnSpPr>
            <a:cxnSpLocks/>
          </p:cNvCxnSpPr>
          <p:nvPr/>
        </p:nvCxnSpPr>
        <p:spPr>
          <a:xfrm rot="10800000">
            <a:off x="670517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3" name="Google Shape;195;p17">
            <a:extLst>
              <a:ext uri="{FF2B5EF4-FFF2-40B4-BE49-F238E27FC236}">
                <a16:creationId xmlns:a16="http://schemas.microsoft.com/office/drawing/2014/main" id="{C8031A89-C128-95D0-0770-E7F9380655E0}"/>
              </a:ext>
            </a:extLst>
          </p:cNvPr>
          <p:cNvCxnSpPr>
            <a:cxnSpLocks/>
          </p:cNvCxnSpPr>
          <p:nvPr/>
        </p:nvCxnSpPr>
        <p:spPr>
          <a:xfrm rot="10800000">
            <a:off x="4540522" y="4521321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5" name="Google Shape;193;p17">
            <a:extLst>
              <a:ext uri="{FF2B5EF4-FFF2-40B4-BE49-F238E27FC236}">
                <a16:creationId xmlns:a16="http://schemas.microsoft.com/office/drawing/2014/main" id="{4B4F0FEB-E883-FD23-5465-FE979C5AC073}"/>
              </a:ext>
            </a:extLst>
          </p:cNvPr>
          <p:cNvCxnSpPr>
            <a:cxnSpLocks/>
          </p:cNvCxnSpPr>
          <p:nvPr/>
        </p:nvCxnSpPr>
        <p:spPr>
          <a:xfrm rot="16200000">
            <a:off x="4903565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6" name="Google Shape;193;p17">
            <a:extLst>
              <a:ext uri="{FF2B5EF4-FFF2-40B4-BE49-F238E27FC236}">
                <a16:creationId xmlns:a16="http://schemas.microsoft.com/office/drawing/2014/main" id="{7BD1291D-6361-51E2-2205-10B8DC139E0C}"/>
              </a:ext>
            </a:extLst>
          </p:cNvPr>
          <p:cNvCxnSpPr>
            <a:cxnSpLocks/>
          </p:cNvCxnSpPr>
          <p:nvPr/>
        </p:nvCxnSpPr>
        <p:spPr>
          <a:xfrm rot="16200000">
            <a:off x="5619624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" name="Google Shape;193;p17">
            <a:extLst>
              <a:ext uri="{FF2B5EF4-FFF2-40B4-BE49-F238E27FC236}">
                <a16:creationId xmlns:a16="http://schemas.microsoft.com/office/drawing/2014/main" id="{7084FCB7-0B38-CEAF-2E24-64352DB0AA7A}"/>
              </a:ext>
            </a:extLst>
          </p:cNvPr>
          <p:cNvCxnSpPr>
            <a:cxnSpLocks/>
          </p:cNvCxnSpPr>
          <p:nvPr/>
        </p:nvCxnSpPr>
        <p:spPr>
          <a:xfrm rot="16200000">
            <a:off x="6340437" y="4169246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3" name="文字方塊 92">
            <a:extLst>
              <a:ext uri="{FF2B5EF4-FFF2-40B4-BE49-F238E27FC236}">
                <a16:creationId xmlns:a16="http://schemas.microsoft.com/office/drawing/2014/main" id="{25DCFA54-065A-9330-DF7E-C15CD8100274}"/>
              </a:ext>
            </a:extLst>
          </p:cNvPr>
          <p:cNvSpPr txBox="1"/>
          <p:nvPr/>
        </p:nvSpPr>
        <p:spPr>
          <a:xfrm>
            <a:off x="8357179" y="4769708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 err="1"/>
              <a:t>i</a:t>
            </a:r>
            <a:endParaRPr kumimoji="1" lang="zh-TW" altLang="en-US" sz="1400" dirty="0"/>
          </a:p>
        </p:txBody>
      </p:sp>
      <p:sp>
        <p:nvSpPr>
          <p:cNvPr id="94" name="文字方塊 93">
            <a:extLst>
              <a:ext uri="{FF2B5EF4-FFF2-40B4-BE49-F238E27FC236}">
                <a16:creationId xmlns:a16="http://schemas.microsoft.com/office/drawing/2014/main" id="{BAA1C1EA-B16D-CDA1-4329-A79D6D83CD2A}"/>
              </a:ext>
            </a:extLst>
          </p:cNvPr>
          <p:cNvSpPr txBox="1"/>
          <p:nvPr/>
        </p:nvSpPr>
        <p:spPr>
          <a:xfrm>
            <a:off x="9083959" y="4769707"/>
            <a:ext cx="61786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love</a:t>
            </a:r>
            <a:endParaRPr kumimoji="1" lang="zh-TW" altLang="en-US" sz="1400" dirty="0"/>
          </a:p>
        </p:txBody>
      </p:sp>
      <p:sp>
        <p:nvSpPr>
          <p:cNvPr id="95" name="文字方塊 94">
            <a:extLst>
              <a:ext uri="{FF2B5EF4-FFF2-40B4-BE49-F238E27FC236}">
                <a16:creationId xmlns:a16="http://schemas.microsoft.com/office/drawing/2014/main" id="{066A6BB9-24C9-E51A-99EF-5E94A4D532FB}"/>
              </a:ext>
            </a:extLst>
          </p:cNvPr>
          <p:cNvSpPr txBox="1"/>
          <p:nvPr/>
        </p:nvSpPr>
        <p:spPr>
          <a:xfrm>
            <a:off x="9755237" y="4769708"/>
            <a:ext cx="73681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deep</a:t>
            </a:r>
            <a:endParaRPr kumimoji="1" lang="zh-TW" altLang="en-US" sz="1400" dirty="0"/>
          </a:p>
        </p:txBody>
      </p:sp>
      <p:sp>
        <p:nvSpPr>
          <p:cNvPr id="96" name="文字方塊 95">
            <a:extLst>
              <a:ext uri="{FF2B5EF4-FFF2-40B4-BE49-F238E27FC236}">
                <a16:creationId xmlns:a16="http://schemas.microsoft.com/office/drawing/2014/main" id="{3CF9AA4D-F329-672F-66E5-8772CCFBA6CF}"/>
              </a:ext>
            </a:extLst>
          </p:cNvPr>
          <p:cNvSpPr txBox="1"/>
          <p:nvPr/>
        </p:nvSpPr>
        <p:spPr>
          <a:xfrm>
            <a:off x="10405002" y="4769708"/>
            <a:ext cx="8816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learning</a:t>
            </a:r>
            <a:endParaRPr kumimoji="1" lang="zh-TW" altLang="en-US" sz="1400" dirty="0"/>
          </a:p>
        </p:txBody>
      </p:sp>
      <p:sp>
        <p:nvSpPr>
          <p:cNvPr id="97" name="圓角矩形 96">
            <a:extLst>
              <a:ext uri="{FF2B5EF4-FFF2-40B4-BE49-F238E27FC236}">
                <a16:creationId xmlns:a16="http://schemas.microsoft.com/office/drawing/2014/main" id="{F1E97076-7658-B55C-62FF-EF3573CCFD8A}"/>
              </a:ext>
            </a:extLst>
          </p:cNvPr>
          <p:cNvSpPr/>
          <p:nvPr/>
        </p:nvSpPr>
        <p:spPr>
          <a:xfrm>
            <a:off x="8503972" y="4089250"/>
            <a:ext cx="324276" cy="32427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8" name="圓角矩形 97">
            <a:extLst>
              <a:ext uri="{FF2B5EF4-FFF2-40B4-BE49-F238E27FC236}">
                <a16:creationId xmlns:a16="http://schemas.microsoft.com/office/drawing/2014/main" id="{A5D5AAFA-167E-7D28-CBD6-4D33575C199E}"/>
              </a:ext>
            </a:extLst>
          </p:cNvPr>
          <p:cNvSpPr/>
          <p:nvPr/>
        </p:nvSpPr>
        <p:spPr>
          <a:xfrm>
            <a:off x="9227670" y="4092250"/>
            <a:ext cx="324276" cy="32427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9" name="圓角矩形 98">
            <a:extLst>
              <a:ext uri="{FF2B5EF4-FFF2-40B4-BE49-F238E27FC236}">
                <a16:creationId xmlns:a16="http://schemas.microsoft.com/office/drawing/2014/main" id="{C74F5FDB-9EF8-19C4-3758-A0F0844832BD}"/>
              </a:ext>
            </a:extLst>
          </p:cNvPr>
          <p:cNvSpPr/>
          <p:nvPr/>
        </p:nvSpPr>
        <p:spPr>
          <a:xfrm>
            <a:off x="9951368" y="4092846"/>
            <a:ext cx="324276" cy="32427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0" name="圓角矩形 99">
            <a:extLst>
              <a:ext uri="{FF2B5EF4-FFF2-40B4-BE49-F238E27FC236}">
                <a16:creationId xmlns:a16="http://schemas.microsoft.com/office/drawing/2014/main" id="{1AE583C5-B4F9-3C53-D5C0-7E19525EA0DC}"/>
              </a:ext>
            </a:extLst>
          </p:cNvPr>
          <p:cNvSpPr/>
          <p:nvPr/>
        </p:nvSpPr>
        <p:spPr>
          <a:xfrm>
            <a:off x="10675066" y="4089250"/>
            <a:ext cx="324276" cy="32427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01" name="Google Shape;193;p17">
            <a:extLst>
              <a:ext uri="{FF2B5EF4-FFF2-40B4-BE49-F238E27FC236}">
                <a16:creationId xmlns:a16="http://schemas.microsoft.com/office/drawing/2014/main" id="{7247A728-A4BF-8C3B-D6BD-7D3ADCA43A7F}"/>
              </a:ext>
            </a:extLst>
          </p:cNvPr>
          <p:cNvCxnSpPr>
            <a:cxnSpLocks/>
          </p:cNvCxnSpPr>
          <p:nvPr/>
        </p:nvCxnSpPr>
        <p:spPr>
          <a:xfrm rot="10800000">
            <a:off x="93941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2" name="Google Shape;194;p17">
            <a:extLst>
              <a:ext uri="{FF2B5EF4-FFF2-40B4-BE49-F238E27FC236}">
                <a16:creationId xmlns:a16="http://schemas.microsoft.com/office/drawing/2014/main" id="{7043418C-CD6E-9785-39B3-024E3D7F95A5}"/>
              </a:ext>
            </a:extLst>
          </p:cNvPr>
          <p:cNvCxnSpPr>
            <a:cxnSpLocks/>
          </p:cNvCxnSpPr>
          <p:nvPr/>
        </p:nvCxnSpPr>
        <p:spPr>
          <a:xfrm rot="10800000">
            <a:off x="101156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3" name="Google Shape;195;p17">
            <a:extLst>
              <a:ext uri="{FF2B5EF4-FFF2-40B4-BE49-F238E27FC236}">
                <a16:creationId xmlns:a16="http://schemas.microsoft.com/office/drawing/2014/main" id="{C44E3066-5A68-7A64-3D40-9C7428C9C3D1}"/>
              </a:ext>
            </a:extLst>
          </p:cNvPr>
          <p:cNvCxnSpPr>
            <a:cxnSpLocks/>
          </p:cNvCxnSpPr>
          <p:nvPr/>
        </p:nvCxnSpPr>
        <p:spPr>
          <a:xfrm rot="10800000">
            <a:off x="1083720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4" name="Google Shape;195;p17">
            <a:extLst>
              <a:ext uri="{FF2B5EF4-FFF2-40B4-BE49-F238E27FC236}">
                <a16:creationId xmlns:a16="http://schemas.microsoft.com/office/drawing/2014/main" id="{9A0FFD74-D705-46EF-DF84-52CB48C7B516}"/>
              </a:ext>
            </a:extLst>
          </p:cNvPr>
          <p:cNvCxnSpPr>
            <a:cxnSpLocks/>
          </p:cNvCxnSpPr>
          <p:nvPr/>
        </p:nvCxnSpPr>
        <p:spPr>
          <a:xfrm rot="10800000">
            <a:off x="8672555" y="4521320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5" name="Google Shape;193;p17">
            <a:extLst>
              <a:ext uri="{FF2B5EF4-FFF2-40B4-BE49-F238E27FC236}">
                <a16:creationId xmlns:a16="http://schemas.microsoft.com/office/drawing/2014/main" id="{FD0E2963-5602-8F08-39E6-55B96C6CCF62}"/>
              </a:ext>
            </a:extLst>
          </p:cNvPr>
          <p:cNvCxnSpPr>
            <a:cxnSpLocks/>
          </p:cNvCxnSpPr>
          <p:nvPr/>
        </p:nvCxnSpPr>
        <p:spPr>
          <a:xfrm rot="16200000">
            <a:off x="9035598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6" name="Google Shape;193;p17">
            <a:extLst>
              <a:ext uri="{FF2B5EF4-FFF2-40B4-BE49-F238E27FC236}">
                <a16:creationId xmlns:a16="http://schemas.microsoft.com/office/drawing/2014/main" id="{4D8E11BB-9004-0A1E-66FF-75A286F739B3}"/>
              </a:ext>
            </a:extLst>
          </p:cNvPr>
          <p:cNvCxnSpPr>
            <a:cxnSpLocks/>
          </p:cNvCxnSpPr>
          <p:nvPr/>
        </p:nvCxnSpPr>
        <p:spPr>
          <a:xfrm rot="16200000">
            <a:off x="9751657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7" name="Google Shape;193;p17">
            <a:extLst>
              <a:ext uri="{FF2B5EF4-FFF2-40B4-BE49-F238E27FC236}">
                <a16:creationId xmlns:a16="http://schemas.microsoft.com/office/drawing/2014/main" id="{99B72DB4-CEAC-0E13-6E27-91490FAD7578}"/>
              </a:ext>
            </a:extLst>
          </p:cNvPr>
          <p:cNvCxnSpPr>
            <a:cxnSpLocks/>
          </p:cNvCxnSpPr>
          <p:nvPr/>
        </p:nvCxnSpPr>
        <p:spPr>
          <a:xfrm rot="16200000">
            <a:off x="10472470" y="4169245"/>
            <a:ext cx="0" cy="189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" name="曲線接點 108">
            <a:extLst>
              <a:ext uri="{FF2B5EF4-FFF2-40B4-BE49-F238E27FC236}">
                <a16:creationId xmlns:a16="http://schemas.microsoft.com/office/drawing/2014/main" id="{9B0DC847-52C3-76FB-2373-932B3C701608}"/>
              </a:ext>
            </a:extLst>
          </p:cNvPr>
          <p:cNvCxnSpPr>
            <a:stCxn id="97" idx="0"/>
            <a:endCxn id="98" idx="0"/>
          </p:cNvCxnSpPr>
          <p:nvPr/>
        </p:nvCxnSpPr>
        <p:spPr>
          <a:xfrm rot="16200000" flipH="1">
            <a:off x="9026459" y="3728901"/>
            <a:ext cx="3000" cy="723698"/>
          </a:xfrm>
          <a:prstGeom prst="curvedConnector3">
            <a:avLst>
              <a:gd name="adj1" fmla="val -76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曲線接點 109">
            <a:extLst>
              <a:ext uri="{FF2B5EF4-FFF2-40B4-BE49-F238E27FC236}">
                <a16:creationId xmlns:a16="http://schemas.microsoft.com/office/drawing/2014/main" id="{3ABF1D0F-B4D8-0BD3-1526-56AA941B8741}"/>
              </a:ext>
            </a:extLst>
          </p:cNvPr>
          <p:cNvCxnSpPr>
            <a:cxnSpLocks/>
            <a:stCxn id="98" idx="0"/>
            <a:endCxn id="99" idx="0"/>
          </p:cNvCxnSpPr>
          <p:nvPr/>
        </p:nvCxnSpPr>
        <p:spPr>
          <a:xfrm rot="16200000" flipH="1">
            <a:off x="9751359" y="3730699"/>
            <a:ext cx="596" cy="723698"/>
          </a:xfrm>
          <a:prstGeom prst="curvedConnector3">
            <a:avLst>
              <a:gd name="adj1" fmla="val -38355705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曲線接點 112">
            <a:extLst>
              <a:ext uri="{FF2B5EF4-FFF2-40B4-BE49-F238E27FC236}">
                <a16:creationId xmlns:a16="http://schemas.microsoft.com/office/drawing/2014/main" id="{071F9B04-E6F1-FF40-77A2-9B70F784B658}"/>
              </a:ext>
            </a:extLst>
          </p:cNvPr>
          <p:cNvCxnSpPr>
            <a:cxnSpLocks/>
            <a:stCxn id="99" idx="0"/>
            <a:endCxn id="100" idx="0"/>
          </p:cNvCxnSpPr>
          <p:nvPr/>
        </p:nvCxnSpPr>
        <p:spPr>
          <a:xfrm rot="5400000" flipH="1" flipV="1">
            <a:off x="10473557" y="3729199"/>
            <a:ext cx="3596" cy="723698"/>
          </a:xfrm>
          <a:prstGeom prst="curvedConnector3">
            <a:avLst>
              <a:gd name="adj1" fmla="val 64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曲線接點 116">
            <a:extLst>
              <a:ext uri="{FF2B5EF4-FFF2-40B4-BE49-F238E27FC236}">
                <a16:creationId xmlns:a16="http://schemas.microsoft.com/office/drawing/2014/main" id="{50AAA37A-AAEB-B816-D4DF-F4EBC42DC848}"/>
              </a:ext>
            </a:extLst>
          </p:cNvPr>
          <p:cNvCxnSpPr>
            <a:cxnSpLocks/>
            <a:stCxn id="97" idx="0"/>
            <a:endCxn id="99" idx="0"/>
          </p:cNvCxnSpPr>
          <p:nvPr/>
        </p:nvCxnSpPr>
        <p:spPr>
          <a:xfrm rot="16200000" flipH="1">
            <a:off x="9388010" y="3367350"/>
            <a:ext cx="3596" cy="1447396"/>
          </a:xfrm>
          <a:prstGeom prst="curvedConnector3">
            <a:avLst>
              <a:gd name="adj1" fmla="val -635706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曲線接點 119">
            <a:extLst>
              <a:ext uri="{FF2B5EF4-FFF2-40B4-BE49-F238E27FC236}">
                <a16:creationId xmlns:a16="http://schemas.microsoft.com/office/drawing/2014/main" id="{9D51BEA6-5532-9FA5-BEB5-B22F97781C89}"/>
              </a:ext>
            </a:extLst>
          </p:cNvPr>
          <p:cNvCxnSpPr>
            <a:cxnSpLocks/>
            <a:stCxn id="97" idx="0"/>
            <a:endCxn id="100" idx="0"/>
          </p:cNvCxnSpPr>
          <p:nvPr/>
        </p:nvCxnSpPr>
        <p:spPr>
          <a:xfrm rot="5400000" flipH="1" flipV="1">
            <a:off x="9751657" y="3003703"/>
            <a:ext cx="12700" cy="2171094"/>
          </a:xfrm>
          <a:prstGeom prst="curvedConnector3">
            <a:avLst>
              <a:gd name="adj1" fmla="val 180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曲線接點 122">
            <a:extLst>
              <a:ext uri="{FF2B5EF4-FFF2-40B4-BE49-F238E27FC236}">
                <a16:creationId xmlns:a16="http://schemas.microsoft.com/office/drawing/2014/main" id="{99D2E61B-76E9-83D6-4E33-F1BBFA6095A3}"/>
              </a:ext>
            </a:extLst>
          </p:cNvPr>
          <p:cNvCxnSpPr>
            <a:cxnSpLocks/>
            <a:stCxn id="98" idx="0"/>
            <a:endCxn id="100" idx="0"/>
          </p:cNvCxnSpPr>
          <p:nvPr/>
        </p:nvCxnSpPr>
        <p:spPr>
          <a:xfrm rot="5400000" flipH="1" flipV="1">
            <a:off x="10112006" y="3367052"/>
            <a:ext cx="3000" cy="1447396"/>
          </a:xfrm>
          <a:prstGeom prst="curvedConnector3">
            <a:avLst>
              <a:gd name="adj1" fmla="val 7720000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文字方塊 127">
            <a:extLst>
              <a:ext uri="{FF2B5EF4-FFF2-40B4-BE49-F238E27FC236}">
                <a16:creationId xmlns:a16="http://schemas.microsoft.com/office/drawing/2014/main" id="{AD886D36-8D5C-CC16-CF33-9A3F0966E28D}"/>
              </a:ext>
            </a:extLst>
          </p:cNvPr>
          <p:cNvSpPr txBox="1"/>
          <p:nvPr/>
        </p:nvSpPr>
        <p:spPr>
          <a:xfrm>
            <a:off x="541757" y="2529359"/>
            <a:ext cx="2831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CNN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著重局部資訊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A760FD09-FFA9-A4A1-6C7D-4C30DE6ADB6C}"/>
              </a:ext>
            </a:extLst>
          </p:cNvPr>
          <p:cNvSpPr txBox="1"/>
          <p:nvPr/>
        </p:nvSpPr>
        <p:spPr>
          <a:xfrm>
            <a:off x="4273083" y="2529359"/>
            <a:ext cx="27826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RNN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  <p:sp>
        <p:nvSpPr>
          <p:cNvPr id="130" name="文字方塊 129">
            <a:extLst>
              <a:ext uri="{FF2B5EF4-FFF2-40B4-BE49-F238E27FC236}">
                <a16:creationId xmlns:a16="http://schemas.microsoft.com/office/drawing/2014/main" id="{21DD5EF3-243B-2AE6-190D-F1CD8A694FCA}"/>
              </a:ext>
            </a:extLst>
          </p:cNvPr>
          <p:cNvSpPr txBox="1"/>
          <p:nvPr/>
        </p:nvSpPr>
        <p:spPr>
          <a:xfrm>
            <a:off x="7708438" y="2529359"/>
            <a:ext cx="42507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800" b="1" dirty="0"/>
              <a:t>Transformer</a:t>
            </a:r>
          </a:p>
          <a:p>
            <a:pPr algn="ctr"/>
            <a:r>
              <a:rPr kumimoji="1" lang="en-US" altLang="zh-TW" sz="2800" b="1" dirty="0"/>
              <a:t>(</a:t>
            </a:r>
            <a:r>
              <a:rPr kumimoji="1" lang="zh-TW" altLang="en-US" sz="2800" b="1" dirty="0"/>
              <a:t>著重全局資訊與記憶力</a:t>
            </a:r>
            <a:r>
              <a:rPr kumimoji="1" lang="en-US" altLang="zh-TW" sz="2800" b="1" dirty="0"/>
              <a:t>)</a:t>
            </a:r>
            <a:endParaRPr kumimoji="1" lang="zh-TW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88899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569205-63D9-64C5-0C42-1C3E4F8C1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Examples of Convolutions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4FCF5FA-EC83-05C3-775E-65B473FDE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E6F0030-E68A-DDBB-99FA-D1DFE6D61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722" y="2385098"/>
            <a:ext cx="2951648" cy="3133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8AF486A9-BF46-1329-334D-B2B4E35A86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8312" y="2385098"/>
            <a:ext cx="3037771" cy="2975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ABE43F88-9EA0-84C5-D73C-0F9AF8E4E1AF}"/>
              </a:ext>
            </a:extLst>
          </p:cNvPr>
          <p:cNvSpPr txBox="1"/>
          <p:nvPr/>
        </p:nvSpPr>
        <p:spPr>
          <a:xfrm>
            <a:off x="2621706" y="6194135"/>
            <a:ext cx="69812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hannibunny.github.io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mlbook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neuralnetworks</a:t>
            </a:r>
            <a:r>
              <a:rPr kumimoji="1" lang="en-US" altLang="zh-TW" sz="1400" dirty="0"/>
              <a:t>/</a:t>
            </a:r>
            <a:r>
              <a:rPr kumimoji="1" lang="en-US" altLang="zh-TW" sz="1400" dirty="0" err="1"/>
              <a:t>convolutionDemos.html</a:t>
            </a:r>
            <a:endParaRPr kumimoji="1" lang="zh-TW" altLang="en-US" sz="1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74A77AF-F6B2-2136-8350-A0484A9E702A}"/>
              </a:ext>
            </a:extLst>
          </p:cNvPr>
          <p:cNvSpPr txBox="1"/>
          <p:nvPr/>
        </p:nvSpPr>
        <p:spPr>
          <a:xfrm>
            <a:off x="2324917" y="1798857"/>
            <a:ext cx="2783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1</a:t>
            </a:r>
            <a:endParaRPr kumimoji="1" lang="zh-TW" altLang="en-US" dirty="0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A5E5B8E-A401-53A7-E71F-6DB53B84B665}"/>
              </a:ext>
            </a:extLst>
          </p:cNvPr>
          <p:cNvSpPr txBox="1"/>
          <p:nvPr/>
        </p:nvSpPr>
        <p:spPr>
          <a:xfrm>
            <a:off x="6179540" y="1798857"/>
            <a:ext cx="2755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 = 0, stride = 2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E49BE81-4D96-2725-4090-0B6FCE482927}"/>
              </a:ext>
            </a:extLst>
          </p:cNvPr>
          <p:cNvSpPr txBox="1"/>
          <p:nvPr/>
        </p:nvSpPr>
        <p:spPr>
          <a:xfrm>
            <a:off x="4094896" y="5533002"/>
            <a:ext cx="747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💡</a:t>
            </a:r>
            <a:r>
              <a:rPr kumimoji="1" lang="zh-TW" altLang="en-US" dirty="0"/>
              <a:t>卷積</a:t>
            </a:r>
            <a:r>
              <a:rPr kumimoji="1" lang="en-US" altLang="zh-TW" dirty="0"/>
              <a:t> (</a:t>
            </a:r>
            <a:r>
              <a:rPr kumimoji="1" lang="en" altLang="zh-TW" dirty="0"/>
              <a:t>convolution</a:t>
            </a:r>
            <a:r>
              <a:rPr kumimoji="1" lang="en-US" altLang="zh-TW" dirty="0"/>
              <a:t>)</a:t>
            </a:r>
            <a:r>
              <a:rPr kumimoji="1" lang="en" altLang="zh-TW" dirty="0"/>
              <a:t> </a:t>
            </a:r>
            <a:r>
              <a:rPr kumimoji="1" lang="zh-TW" altLang="en-US" dirty="0"/>
              <a:t>就是讓一個「小的矩陣」</a:t>
            </a:r>
            <a:r>
              <a:rPr kumimoji="1" lang="en-US" altLang="zh-TW" dirty="0"/>
              <a:t>(filter) </a:t>
            </a:r>
            <a:r>
              <a:rPr kumimoji="1" lang="zh-TW" altLang="en-US" dirty="0"/>
              <a:t>在影像上滑動，進行局部加權平均 </a:t>
            </a:r>
            <a:r>
              <a:rPr kumimoji="1" lang="en-US" altLang="zh-TW" dirty="0"/>
              <a:t>(</a:t>
            </a:r>
            <a:r>
              <a:rPr kumimoji="1" lang="zh-TW" altLang="en-US" dirty="0"/>
              <a:t>局部區域的內積</a:t>
            </a:r>
            <a:r>
              <a:rPr kumimoji="1" lang="en-US" altLang="zh-TW" dirty="0"/>
              <a:t>)</a:t>
            </a:r>
            <a:r>
              <a:rPr kumimoji="1" lang="zh-TW" altLang="en-US" dirty="0"/>
              <a:t>，產生新的影像 </a:t>
            </a:r>
            <a:r>
              <a:rPr kumimoji="1" lang="en-US" altLang="zh-TW" dirty="0"/>
              <a:t>(</a:t>
            </a:r>
            <a:r>
              <a:rPr kumimoji="1" lang="zh-TW" altLang="en-US" dirty="0"/>
              <a:t>特徵圖，</a:t>
            </a:r>
            <a:r>
              <a:rPr kumimoji="1" lang="en-US" altLang="zh-TW" dirty="0"/>
              <a:t>feature map)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19443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74F67-6BC4-45C3-BA86-1A0F95017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7EDF26CA-CC29-4A37-B01F-86D46EBD4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sz="6000" dirty="0"/>
              <a:t>影像資料簡要介紹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79F3861-D4B7-58FB-27ED-11642B5EE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F8A7202-5912-93C8-BC25-0FAA0062D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4841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9B64E37-7043-078E-7B83-7467617BF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F0A23AB-9BCE-EABA-8269-69C9EF51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23" name="圖片 22">
            <a:extLst>
              <a:ext uri="{FF2B5EF4-FFF2-40B4-BE49-F238E27FC236}">
                <a16:creationId xmlns:a16="http://schemas.microsoft.com/office/drawing/2014/main" id="{34683814-8D2B-E588-5AB3-71151E707F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128849"/>
            <a:ext cx="5301415" cy="4134913"/>
          </a:xfrm>
          <a:prstGeom prst="rect">
            <a:avLst/>
          </a:prstGeom>
        </p:spPr>
      </p:pic>
      <p:pic>
        <p:nvPicPr>
          <p:cNvPr id="1026" name="Picture 2" descr="MNIST sample images">
            <a:extLst>
              <a:ext uri="{FF2B5EF4-FFF2-40B4-BE49-F238E27FC236}">
                <a16:creationId xmlns:a16="http://schemas.microsoft.com/office/drawing/2014/main" id="{77E0A46E-6E3D-EBA1-E4CB-E70A8A8AA0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676"/>
          <a:stretch/>
        </p:blipFill>
        <p:spPr bwMode="auto">
          <a:xfrm>
            <a:off x="778257" y="2051301"/>
            <a:ext cx="4469985" cy="4290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59721FE7-A879-FFF3-2101-C6B6A30E33FE}"/>
              </a:ext>
            </a:extLst>
          </p:cNvPr>
          <p:cNvSpPr txBox="1"/>
          <p:nvPr/>
        </p:nvSpPr>
        <p:spPr>
          <a:xfrm>
            <a:off x="2571251" y="1589635"/>
            <a:ext cx="13617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MNIST</a:t>
            </a:r>
            <a:endParaRPr kumimoji="1" lang="zh-TW" altLang="en-US" sz="2400" b="1" dirty="0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4F50BCEE-4A46-719B-7D59-AE6FB75BA260}"/>
              </a:ext>
            </a:extLst>
          </p:cNvPr>
          <p:cNvSpPr txBox="1"/>
          <p:nvPr/>
        </p:nvSpPr>
        <p:spPr>
          <a:xfrm>
            <a:off x="8259027" y="1589636"/>
            <a:ext cx="16060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b="1" dirty="0"/>
              <a:t>CIFAR-10</a:t>
            </a:r>
            <a:endParaRPr kumimoji="1" lang="zh-TW" altLang="en-US" sz="2400" b="1" dirty="0"/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53FABE7C-8126-DF67-B8E5-96917ED18982}"/>
              </a:ext>
            </a:extLst>
          </p:cNvPr>
          <p:cNvSpPr txBox="1"/>
          <p:nvPr/>
        </p:nvSpPr>
        <p:spPr>
          <a:xfrm>
            <a:off x="7428410" y="6415560"/>
            <a:ext cx="3509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www.cs.toronto.edu</a:t>
            </a:r>
            <a:r>
              <a:rPr kumimoji="1" lang="en" altLang="zh-TW" sz="1400" dirty="0"/>
              <a:t>/~</a:t>
            </a:r>
            <a:r>
              <a:rPr kumimoji="1" lang="en" altLang="zh-TW" sz="1400" dirty="0" err="1"/>
              <a:t>kriz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cifar.html</a:t>
            </a:r>
            <a:endParaRPr kumimoji="1" lang="zh-TW" altLang="en-US" sz="1400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E7224516-B435-6AF9-D016-E3761C22D2CB}"/>
              </a:ext>
            </a:extLst>
          </p:cNvPr>
          <p:cNvSpPr txBox="1"/>
          <p:nvPr/>
        </p:nvSpPr>
        <p:spPr>
          <a:xfrm>
            <a:off x="1738687" y="6415560"/>
            <a:ext cx="35095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400" dirty="0"/>
              <a:t>http://</a:t>
            </a:r>
            <a:r>
              <a:rPr kumimoji="1" lang="en" altLang="zh-TW" sz="1400" dirty="0" err="1"/>
              <a:t>yann.lecun.com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exdb</a:t>
            </a:r>
            <a:r>
              <a:rPr kumimoji="1" lang="en" altLang="zh-TW" sz="1400" dirty="0"/>
              <a:t>/</a:t>
            </a:r>
            <a:r>
              <a:rPr kumimoji="1" lang="en" altLang="zh-TW" sz="1400" dirty="0" err="1"/>
              <a:t>mnist</a:t>
            </a:r>
            <a:r>
              <a:rPr kumimoji="1" lang="en" altLang="zh-TW" sz="1400" dirty="0"/>
              <a:t>/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696268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0E0DE2DC-EBE6-93E6-B71E-E4BAB0AE9E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6084848" y="2886371"/>
            <a:ext cx="1842214" cy="184672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C0802E7-F596-D86D-1EBA-E3AD1D6B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RGB Image</a:t>
            </a:r>
            <a:r>
              <a:rPr kumimoji="1" lang="en-US" altLang="zh-TW" dirty="0"/>
              <a:t>s</a:t>
            </a:r>
            <a:r>
              <a:rPr kumimoji="1" lang="en" altLang="zh-TW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彩色影像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0E23704-5749-D4E7-8279-53F85BD7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BEBECF8-347F-7389-9D7A-64AACE6F8E50}"/>
              </a:ext>
            </a:extLst>
          </p:cNvPr>
          <p:cNvSpPr txBox="1"/>
          <p:nvPr/>
        </p:nvSpPr>
        <p:spPr>
          <a:xfrm>
            <a:off x="653144" y="1698517"/>
            <a:ext cx="10918370" cy="587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RGB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代表紅色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(Red)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、綠色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(Green)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及藍色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(Blue)</a:t>
            </a:r>
          </a:p>
        </p:txBody>
      </p:sp>
      <p:pic>
        <p:nvPicPr>
          <p:cNvPr id="9" name="圖片 8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AC950591-601E-FD86-0930-F34F44A2AC3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2541600" y="2913263"/>
            <a:ext cx="1842214" cy="1846729"/>
          </a:xfrm>
          <a:prstGeom prst="rect">
            <a:avLst/>
          </a:prstGeom>
        </p:spPr>
      </p:pic>
      <p:pic>
        <p:nvPicPr>
          <p:cNvPr id="11" name="圖片 10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7B557C32-E1DE-94CC-64C2-FABE1B0755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6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6935365" y="2796724"/>
            <a:ext cx="1842214" cy="184672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10" name="圖片 9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8CC0B977-4F48-4F38-0E4F-4ABA019A607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7785882" y="2796724"/>
            <a:ext cx="1842214" cy="1846729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FB84465C-A5F4-B744-CD9A-4D8779B2E510}"/>
              </a:ext>
            </a:extLst>
          </p:cNvPr>
          <p:cNvCxnSpPr/>
          <p:nvPr/>
        </p:nvCxnSpPr>
        <p:spPr>
          <a:xfrm>
            <a:off x="4957482" y="3899381"/>
            <a:ext cx="788894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2E002522-278A-D456-FCD9-19BC5E223C95}"/>
              </a:ext>
            </a:extLst>
          </p:cNvPr>
          <p:cNvSpPr txBox="1"/>
          <p:nvPr/>
        </p:nvSpPr>
        <p:spPr>
          <a:xfrm>
            <a:off x="2395870" y="4921360"/>
            <a:ext cx="2133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Example shape:</a:t>
            </a:r>
          </a:p>
          <a:p>
            <a:pPr algn="ctr"/>
            <a:r>
              <a:rPr kumimoji="1" lang="en-US" altLang="zh-TW" sz="2000" dirty="0"/>
              <a:t>(3, 128, 128)</a:t>
            </a:r>
            <a:endParaRPr kumimoji="1" lang="zh-TW" altLang="en-US" sz="20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8B86168D-510C-1D1F-02C3-37582AD0D569}"/>
              </a:ext>
            </a:extLst>
          </p:cNvPr>
          <p:cNvSpPr txBox="1"/>
          <p:nvPr/>
        </p:nvSpPr>
        <p:spPr>
          <a:xfrm>
            <a:off x="8100744" y="5058517"/>
            <a:ext cx="135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Red</a:t>
            </a:r>
          </a:p>
          <a:p>
            <a:pPr algn="ctr"/>
            <a:r>
              <a:rPr kumimoji="1" lang="en-US" altLang="zh-TW" dirty="0"/>
              <a:t>Channel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83443D1-D3E7-330E-0ED4-E51E00C8C8DE}"/>
              </a:ext>
            </a:extLst>
          </p:cNvPr>
          <p:cNvSpPr txBox="1"/>
          <p:nvPr/>
        </p:nvSpPr>
        <p:spPr>
          <a:xfrm>
            <a:off x="7005955" y="5058517"/>
            <a:ext cx="135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Green</a:t>
            </a:r>
          </a:p>
          <a:p>
            <a:pPr algn="ctr"/>
            <a:r>
              <a:rPr kumimoji="1" lang="en-US" altLang="zh-TW" dirty="0"/>
              <a:t>Channel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CFB237E8-9095-00EA-B33D-2FBA58A11A20}"/>
              </a:ext>
            </a:extLst>
          </p:cNvPr>
          <p:cNvSpPr txBox="1"/>
          <p:nvPr/>
        </p:nvSpPr>
        <p:spPr>
          <a:xfrm>
            <a:off x="5911166" y="5058517"/>
            <a:ext cx="13536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Blue</a:t>
            </a:r>
          </a:p>
          <a:p>
            <a:pPr algn="ctr"/>
            <a:r>
              <a:rPr kumimoji="1" lang="en-US" altLang="zh-TW" dirty="0"/>
              <a:t>Channel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93F3942-2205-E6C2-7200-E5D2BDDD00DC}"/>
              </a:ext>
            </a:extLst>
          </p:cNvPr>
          <p:cNvSpPr txBox="1"/>
          <p:nvPr/>
        </p:nvSpPr>
        <p:spPr>
          <a:xfrm>
            <a:off x="1990165" y="6209670"/>
            <a:ext cx="103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channels</a:t>
            </a:r>
            <a:endParaRPr kumimoji="1" lang="zh-TW" altLang="en-US" sz="16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EA7D907-8C24-8964-9B84-B496C6A4E002}"/>
              </a:ext>
            </a:extLst>
          </p:cNvPr>
          <p:cNvSpPr txBox="1"/>
          <p:nvPr/>
        </p:nvSpPr>
        <p:spPr>
          <a:xfrm>
            <a:off x="2916481" y="6209670"/>
            <a:ext cx="887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height</a:t>
            </a:r>
            <a:endParaRPr kumimoji="1" lang="zh-TW" altLang="en-US" sz="16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75C8EF5-C19D-F93B-F7EE-8E741D448FAC}"/>
              </a:ext>
            </a:extLst>
          </p:cNvPr>
          <p:cNvSpPr txBox="1"/>
          <p:nvPr/>
        </p:nvSpPr>
        <p:spPr>
          <a:xfrm>
            <a:off x="3772046" y="6209670"/>
            <a:ext cx="887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width</a:t>
            </a:r>
            <a:endParaRPr kumimoji="1" lang="zh-TW" altLang="en-US" sz="1600" dirty="0"/>
          </a:p>
        </p:txBody>
      </p:sp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037812FC-2B84-47D6-6AD8-3ECC2247C13C}"/>
              </a:ext>
            </a:extLst>
          </p:cNvPr>
          <p:cNvCxnSpPr>
            <a:cxnSpLocks/>
          </p:cNvCxnSpPr>
          <p:nvPr/>
        </p:nvCxnSpPr>
        <p:spPr>
          <a:xfrm flipV="1">
            <a:off x="2541600" y="5704848"/>
            <a:ext cx="309176" cy="4955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795346C0-2CD6-3F73-8DC0-C675A82EF850}"/>
              </a:ext>
            </a:extLst>
          </p:cNvPr>
          <p:cNvCxnSpPr>
            <a:cxnSpLocks/>
          </p:cNvCxnSpPr>
          <p:nvPr/>
        </p:nvCxnSpPr>
        <p:spPr>
          <a:xfrm flipV="1">
            <a:off x="3360234" y="5704848"/>
            <a:ext cx="0" cy="504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74A482B1-4D91-2D44-2042-57072C679116}"/>
              </a:ext>
            </a:extLst>
          </p:cNvPr>
          <p:cNvCxnSpPr>
            <a:cxnSpLocks/>
            <a:stCxn id="23" idx="0"/>
          </p:cNvCxnSpPr>
          <p:nvPr/>
        </p:nvCxnSpPr>
        <p:spPr>
          <a:xfrm flipH="1" flipV="1">
            <a:off x="3952010" y="5704848"/>
            <a:ext cx="263789" cy="504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2711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217D5A-13BC-6C06-6C5D-8494A0078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Gray-scale Images (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灰階影像</a:t>
            </a:r>
            <a:r>
              <a:rPr kumimoji="1" lang="en-US" altLang="zh-TW" dirty="0"/>
              <a:t>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1AA324A-1F39-9C28-B33A-45EA9AA30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17D94E-184C-3D05-7BD0-07A2529F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7777" y="2946029"/>
            <a:ext cx="1469858" cy="1477697"/>
          </a:xfrm>
          <a:prstGeom prst="rect">
            <a:avLst/>
          </a:prstGeom>
        </p:spPr>
      </p:pic>
      <p:sp>
        <p:nvSpPr>
          <p:cNvPr id="21" name="文字方塊 20">
            <a:extLst>
              <a:ext uri="{FF2B5EF4-FFF2-40B4-BE49-F238E27FC236}">
                <a16:creationId xmlns:a16="http://schemas.microsoft.com/office/drawing/2014/main" id="{86277F9E-BA19-371B-84E7-74B6AD1355AB}"/>
              </a:ext>
            </a:extLst>
          </p:cNvPr>
          <p:cNvSpPr txBox="1"/>
          <p:nvPr/>
        </p:nvSpPr>
        <p:spPr>
          <a:xfrm>
            <a:off x="653144" y="1698517"/>
            <a:ext cx="10918370" cy="587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灰階影像只有一個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channel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A491ECC2-E410-E6A3-8D40-16787036EE07}"/>
              </a:ext>
            </a:extLst>
          </p:cNvPr>
          <p:cNvSpPr txBox="1"/>
          <p:nvPr/>
        </p:nvSpPr>
        <p:spPr>
          <a:xfrm>
            <a:off x="2395870" y="4921360"/>
            <a:ext cx="213367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Example shape:</a:t>
            </a:r>
          </a:p>
          <a:p>
            <a:pPr algn="ctr"/>
            <a:r>
              <a:rPr kumimoji="1" lang="en-US" altLang="zh-TW" sz="2000" dirty="0"/>
              <a:t>(</a:t>
            </a:r>
            <a:r>
              <a:rPr kumimoji="1" lang="en-US" altLang="zh-TW" sz="2000" dirty="0">
                <a:solidFill>
                  <a:srgbClr val="FF0000"/>
                </a:solidFill>
              </a:rPr>
              <a:t>1</a:t>
            </a:r>
            <a:r>
              <a:rPr kumimoji="1" lang="en-US" altLang="zh-TW" sz="2000" dirty="0"/>
              <a:t>, 128, 128)</a:t>
            </a:r>
            <a:endParaRPr kumimoji="1" lang="zh-TW" altLang="en-US" sz="20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6BDF387-E8E3-AA1E-47FD-B5B104B77854}"/>
              </a:ext>
            </a:extLst>
          </p:cNvPr>
          <p:cNvSpPr txBox="1"/>
          <p:nvPr/>
        </p:nvSpPr>
        <p:spPr>
          <a:xfrm>
            <a:off x="1990165" y="6209670"/>
            <a:ext cx="103552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channels</a:t>
            </a:r>
            <a:endParaRPr kumimoji="1" lang="zh-TW" altLang="en-US" sz="16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0CD04E99-1BA8-2F7D-CD2D-1A3C33CD2247}"/>
              </a:ext>
            </a:extLst>
          </p:cNvPr>
          <p:cNvSpPr txBox="1"/>
          <p:nvPr/>
        </p:nvSpPr>
        <p:spPr>
          <a:xfrm>
            <a:off x="2916481" y="6209670"/>
            <a:ext cx="887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height</a:t>
            </a:r>
            <a:endParaRPr kumimoji="1" lang="zh-TW" altLang="en-US" sz="16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99AB2F18-6140-C902-EFA0-F39AD47C8E6B}"/>
              </a:ext>
            </a:extLst>
          </p:cNvPr>
          <p:cNvSpPr txBox="1"/>
          <p:nvPr/>
        </p:nvSpPr>
        <p:spPr>
          <a:xfrm>
            <a:off x="3772046" y="6209670"/>
            <a:ext cx="8875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width</a:t>
            </a:r>
            <a:endParaRPr kumimoji="1" lang="zh-TW" altLang="en-US" sz="1600" dirty="0"/>
          </a:p>
        </p:txBody>
      </p:sp>
      <p:cxnSp>
        <p:nvCxnSpPr>
          <p:cNvPr id="16" name="直線箭頭接點 15">
            <a:extLst>
              <a:ext uri="{FF2B5EF4-FFF2-40B4-BE49-F238E27FC236}">
                <a16:creationId xmlns:a16="http://schemas.microsoft.com/office/drawing/2014/main" id="{A2DE1934-56C4-87D4-D725-E8ABF22AE1E9}"/>
              </a:ext>
            </a:extLst>
          </p:cNvPr>
          <p:cNvCxnSpPr>
            <a:cxnSpLocks/>
          </p:cNvCxnSpPr>
          <p:nvPr/>
        </p:nvCxnSpPr>
        <p:spPr>
          <a:xfrm flipV="1">
            <a:off x="2541600" y="5704848"/>
            <a:ext cx="309176" cy="49559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32A998B3-1C6D-0679-141B-FE2F993B62DD}"/>
              </a:ext>
            </a:extLst>
          </p:cNvPr>
          <p:cNvCxnSpPr>
            <a:cxnSpLocks/>
          </p:cNvCxnSpPr>
          <p:nvPr/>
        </p:nvCxnSpPr>
        <p:spPr>
          <a:xfrm flipV="1">
            <a:off x="3360234" y="5704848"/>
            <a:ext cx="0" cy="504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箭頭接點 17">
            <a:extLst>
              <a:ext uri="{FF2B5EF4-FFF2-40B4-BE49-F238E27FC236}">
                <a16:creationId xmlns:a16="http://schemas.microsoft.com/office/drawing/2014/main" id="{BA307661-9E39-F5B8-4183-F827D95E8B98}"/>
              </a:ext>
            </a:extLst>
          </p:cNvPr>
          <p:cNvCxnSpPr>
            <a:cxnSpLocks/>
            <a:stCxn id="15" idx="0"/>
          </p:cNvCxnSpPr>
          <p:nvPr/>
        </p:nvCxnSpPr>
        <p:spPr>
          <a:xfrm flipH="1" flipV="1">
            <a:off x="3952010" y="5704848"/>
            <a:ext cx="263789" cy="5048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0959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2214D3-8121-4B1E-961C-5FEB31DD6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Image inputs are too big for an MLP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6BD959D-C442-7071-00C0-F58DCFFB9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EDECC944-7077-AC34-269B-5B09AB45FF46}"/>
              </a:ext>
            </a:extLst>
          </p:cNvPr>
          <p:cNvSpPr/>
          <p:nvPr/>
        </p:nvSpPr>
        <p:spPr>
          <a:xfrm>
            <a:off x="6438994" y="32180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A9AB31EE-25CB-1931-E588-6D209EBB4220}"/>
              </a:ext>
            </a:extLst>
          </p:cNvPr>
          <p:cNvSpPr/>
          <p:nvPr/>
        </p:nvSpPr>
        <p:spPr>
          <a:xfrm>
            <a:off x="6438994" y="44062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7" name="直線接點 6">
            <a:extLst>
              <a:ext uri="{FF2B5EF4-FFF2-40B4-BE49-F238E27FC236}">
                <a16:creationId xmlns:a16="http://schemas.microsoft.com/office/drawing/2014/main" id="{72E8D9F8-2C03-6C7A-80B4-7DDDD7B12D28}"/>
              </a:ext>
            </a:extLst>
          </p:cNvPr>
          <p:cNvCxnSpPr>
            <a:cxnSpLocks/>
            <a:stCxn id="5" idx="6"/>
            <a:endCxn id="10" idx="2"/>
          </p:cNvCxnSpPr>
          <p:nvPr/>
        </p:nvCxnSpPr>
        <p:spPr>
          <a:xfrm>
            <a:off x="7010494" y="3503820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410C1641-F75B-2677-83D2-B81BD2EB9A4F}"/>
              </a:ext>
            </a:extLst>
          </p:cNvPr>
          <p:cNvCxnSpPr>
            <a:cxnSpLocks/>
            <a:stCxn id="6" idx="6"/>
            <a:endCxn id="9" idx="2"/>
          </p:cNvCxnSpPr>
          <p:nvPr/>
        </p:nvCxnSpPr>
        <p:spPr>
          <a:xfrm flipV="1">
            <a:off x="7010494" y="3503820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橢圓 8">
            <a:extLst>
              <a:ext uri="{FF2B5EF4-FFF2-40B4-BE49-F238E27FC236}">
                <a16:creationId xmlns:a16="http://schemas.microsoft.com/office/drawing/2014/main" id="{F423A2C0-E719-BA2C-3334-EF304C7851E5}"/>
              </a:ext>
            </a:extLst>
          </p:cNvPr>
          <p:cNvSpPr/>
          <p:nvPr/>
        </p:nvSpPr>
        <p:spPr>
          <a:xfrm>
            <a:off x="8187784" y="32180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0AFD0DA0-0791-C3E0-0FC2-973BBD434853}"/>
              </a:ext>
            </a:extLst>
          </p:cNvPr>
          <p:cNvSpPr/>
          <p:nvPr/>
        </p:nvSpPr>
        <p:spPr>
          <a:xfrm>
            <a:off x="8187784" y="44062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5FA3E44E-8B6F-544C-4BDF-C3E22562986B}"/>
              </a:ext>
            </a:extLst>
          </p:cNvPr>
          <p:cNvCxnSpPr>
            <a:cxnSpLocks/>
          </p:cNvCxnSpPr>
          <p:nvPr/>
        </p:nvCxnSpPr>
        <p:spPr>
          <a:xfrm>
            <a:off x="7010494" y="3503820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4CBCB8B6-BEA5-B13A-1515-358A4E79A58C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7010494" y="4692026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B36C948F-2BC3-C577-5A1E-C8B40A4D5F52}"/>
              </a:ext>
            </a:extLst>
          </p:cNvPr>
          <p:cNvSpPr/>
          <p:nvPr/>
        </p:nvSpPr>
        <p:spPr>
          <a:xfrm>
            <a:off x="9936574" y="321807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CD6E10E-0818-E7CC-739C-BE7D7ADDF9A6}"/>
              </a:ext>
            </a:extLst>
          </p:cNvPr>
          <p:cNvCxnSpPr>
            <a:cxnSpLocks/>
          </p:cNvCxnSpPr>
          <p:nvPr/>
        </p:nvCxnSpPr>
        <p:spPr>
          <a:xfrm>
            <a:off x="8759284" y="3503820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9B63CBF3-6DE3-C437-15A7-6017BAAE3150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 flipV="1">
            <a:off x="8759284" y="3503820"/>
            <a:ext cx="1177290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066526C-6EA8-351B-5173-3FEC7DE10D09}"/>
                  </a:ext>
                </a:extLst>
              </p:cNvPr>
              <p:cNvSpPr txBox="1"/>
              <p:nvPr/>
            </p:nvSpPr>
            <p:spPr>
              <a:xfrm>
                <a:off x="6544709" y="3303765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B066526C-6EA8-351B-5173-3FEC7DE10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4709" y="3303765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AA5893B-49F7-C81B-6FA7-EB37FAEA569A}"/>
                  </a:ext>
                </a:extLst>
              </p:cNvPr>
              <p:cNvSpPr txBox="1"/>
              <p:nvPr/>
            </p:nvSpPr>
            <p:spPr>
              <a:xfrm>
                <a:off x="6520926" y="4472761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AA5893B-49F7-C81B-6FA7-EB37FAEA56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0926" y="4472761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D5E9C-2C8F-5F92-42C4-1EC88D95CFEE}"/>
                  </a:ext>
                </a:extLst>
              </p:cNvPr>
              <p:cNvSpPr txBox="1"/>
              <p:nvPr/>
            </p:nvSpPr>
            <p:spPr>
              <a:xfrm>
                <a:off x="8244801" y="330376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5ABD5E9C-2C8F-5F92-42C4-1EC88D95CF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4801" y="3303765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9BB35A1-89C5-F8EF-683A-DE76457F68E4}"/>
                  </a:ext>
                </a:extLst>
              </p:cNvPr>
              <p:cNvSpPr txBox="1"/>
              <p:nvPr/>
            </p:nvSpPr>
            <p:spPr>
              <a:xfrm>
                <a:off x="8221312" y="4491971"/>
                <a:ext cx="504444" cy="4247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69BB35A1-89C5-F8EF-683A-DE76457F68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21312" y="4491971"/>
                <a:ext cx="504444" cy="424796"/>
              </a:xfrm>
              <a:prstGeom prst="rect">
                <a:avLst/>
              </a:prstGeom>
              <a:blipFill>
                <a:blip r:embed="rId6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90B2E56-10F0-5361-85D7-BAE338FB6A82}"/>
                  </a:ext>
                </a:extLst>
              </p:cNvPr>
              <p:cNvSpPr txBox="1"/>
              <p:nvPr/>
            </p:nvSpPr>
            <p:spPr>
              <a:xfrm>
                <a:off x="9970102" y="3303765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E90B2E56-10F0-5361-85D7-BAE338FB6A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102" y="3303765"/>
                <a:ext cx="504444" cy="400110"/>
              </a:xfrm>
              <a:prstGeom prst="rect">
                <a:avLst/>
              </a:prstGeom>
              <a:blipFill>
                <a:blip r:embed="rId7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橢圓 28">
            <a:extLst>
              <a:ext uri="{FF2B5EF4-FFF2-40B4-BE49-F238E27FC236}">
                <a16:creationId xmlns:a16="http://schemas.microsoft.com/office/drawing/2014/main" id="{CCD1AFF6-2434-197B-F649-DA7631ADEC4D}"/>
              </a:ext>
            </a:extLst>
          </p:cNvPr>
          <p:cNvSpPr/>
          <p:nvPr/>
        </p:nvSpPr>
        <p:spPr>
          <a:xfrm>
            <a:off x="9936574" y="440627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B02E62D-D346-2522-6185-1C6C65DA312D}"/>
                  </a:ext>
                </a:extLst>
              </p:cNvPr>
              <p:cNvSpPr txBox="1"/>
              <p:nvPr/>
            </p:nvSpPr>
            <p:spPr>
              <a:xfrm>
                <a:off x="9970102" y="4491971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b="0" i="1" baseline="-2500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</m:oMath>
                  </m:oMathPara>
                </a14:m>
                <a:endParaRPr lang="zh-TW" altLang="en-US" sz="20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5B02E62D-D346-2522-6185-1C6C65DA31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102" y="4491971"/>
                <a:ext cx="504444" cy="400110"/>
              </a:xfrm>
              <a:prstGeom prst="rect">
                <a:avLst/>
              </a:prstGeom>
              <a:blipFill>
                <a:blip r:embed="rId8"/>
                <a:stretch>
                  <a:fillRect t="-6061" b="-303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直線接點 33">
            <a:extLst>
              <a:ext uri="{FF2B5EF4-FFF2-40B4-BE49-F238E27FC236}">
                <a16:creationId xmlns:a16="http://schemas.microsoft.com/office/drawing/2014/main" id="{B54AAC8F-B2CC-01F4-F817-D78F8E8881B3}"/>
              </a:ext>
            </a:extLst>
          </p:cNvPr>
          <p:cNvCxnSpPr>
            <a:cxnSpLocks/>
            <a:stCxn id="22" idx="3"/>
            <a:endCxn id="29" idx="2"/>
          </p:cNvCxnSpPr>
          <p:nvPr/>
        </p:nvCxnSpPr>
        <p:spPr>
          <a:xfrm>
            <a:off x="8760675" y="3503820"/>
            <a:ext cx="1175899" cy="118820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91A06C44-499F-A215-DED1-2A447F212E74}"/>
              </a:ext>
            </a:extLst>
          </p:cNvPr>
          <p:cNvCxnSpPr>
            <a:cxnSpLocks/>
            <a:stCxn id="10" idx="6"/>
            <a:endCxn id="29" idx="2"/>
          </p:cNvCxnSpPr>
          <p:nvPr/>
        </p:nvCxnSpPr>
        <p:spPr>
          <a:xfrm>
            <a:off x="8759284" y="4692026"/>
            <a:ext cx="117729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E860DD3B-635B-E60B-4DA3-D105463D498D}"/>
              </a:ext>
            </a:extLst>
          </p:cNvPr>
          <p:cNvSpPr txBox="1"/>
          <p:nvPr/>
        </p:nvSpPr>
        <p:spPr>
          <a:xfrm rot="5400000">
            <a:off x="6442260" y="40361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47" name="文字方塊 46">
            <a:extLst>
              <a:ext uri="{FF2B5EF4-FFF2-40B4-BE49-F238E27FC236}">
                <a16:creationId xmlns:a16="http://schemas.microsoft.com/office/drawing/2014/main" id="{50CF6403-E013-32EA-773B-F8B785BBA1D0}"/>
              </a:ext>
            </a:extLst>
          </p:cNvPr>
          <p:cNvSpPr txBox="1"/>
          <p:nvPr/>
        </p:nvSpPr>
        <p:spPr>
          <a:xfrm rot="5400000">
            <a:off x="8186770" y="40361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51A76ACE-65E9-2712-27C3-4E68E92DD628}"/>
              </a:ext>
            </a:extLst>
          </p:cNvPr>
          <p:cNvSpPr txBox="1"/>
          <p:nvPr/>
        </p:nvSpPr>
        <p:spPr>
          <a:xfrm rot="5400000">
            <a:off x="9947699" y="4036168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57AC9F0C-381C-982C-15AA-26923A0260EF}"/>
              </a:ext>
            </a:extLst>
          </p:cNvPr>
          <p:cNvSpPr/>
          <p:nvPr/>
        </p:nvSpPr>
        <p:spPr>
          <a:xfrm>
            <a:off x="2408355" y="1556391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5F3B7E4F-6198-C103-987C-35104DB453AD}"/>
              </a:ext>
            </a:extLst>
          </p:cNvPr>
          <p:cNvSpPr/>
          <p:nvPr/>
        </p:nvSpPr>
        <p:spPr>
          <a:xfrm>
            <a:off x="2408355" y="2038045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B5455862-2F6A-0A65-9D09-FA102630DCAC}"/>
              </a:ext>
            </a:extLst>
          </p:cNvPr>
          <p:cNvSpPr/>
          <p:nvPr/>
        </p:nvSpPr>
        <p:spPr>
          <a:xfrm>
            <a:off x="2403528" y="2824429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67DF6504-2687-A287-12D6-59648E1B4709}"/>
              </a:ext>
            </a:extLst>
          </p:cNvPr>
          <p:cNvSpPr txBox="1"/>
          <p:nvPr/>
        </p:nvSpPr>
        <p:spPr>
          <a:xfrm rot="5400000">
            <a:off x="2314431" y="255433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C5931793-0677-5976-DEA3-2427DC47D0AA}"/>
              </a:ext>
            </a:extLst>
          </p:cNvPr>
          <p:cNvSpPr/>
          <p:nvPr/>
        </p:nvSpPr>
        <p:spPr>
          <a:xfrm>
            <a:off x="2408355" y="3303765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B59811E5-8677-7B80-0AA4-CFF158A9C212}"/>
              </a:ext>
            </a:extLst>
          </p:cNvPr>
          <p:cNvSpPr/>
          <p:nvPr/>
        </p:nvSpPr>
        <p:spPr>
          <a:xfrm>
            <a:off x="2408355" y="3785419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5" name="橢圓 54">
            <a:extLst>
              <a:ext uri="{FF2B5EF4-FFF2-40B4-BE49-F238E27FC236}">
                <a16:creationId xmlns:a16="http://schemas.microsoft.com/office/drawing/2014/main" id="{87FB486B-52AE-0FAA-289A-A00A6461AE93}"/>
              </a:ext>
            </a:extLst>
          </p:cNvPr>
          <p:cNvSpPr/>
          <p:nvPr/>
        </p:nvSpPr>
        <p:spPr>
          <a:xfrm>
            <a:off x="2403528" y="4571803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2B923AF0-C484-DC13-76FB-92A63C5F0D02}"/>
              </a:ext>
            </a:extLst>
          </p:cNvPr>
          <p:cNvSpPr txBox="1"/>
          <p:nvPr/>
        </p:nvSpPr>
        <p:spPr>
          <a:xfrm rot="5400000">
            <a:off x="2314431" y="430170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0A5F4AD9-61E4-483D-C160-C268A20ADC5F}"/>
              </a:ext>
            </a:extLst>
          </p:cNvPr>
          <p:cNvSpPr/>
          <p:nvPr/>
        </p:nvSpPr>
        <p:spPr>
          <a:xfrm>
            <a:off x="2397919" y="5041995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1A1985F1-FDCE-BCA7-3DD8-5474F115813C}"/>
              </a:ext>
            </a:extLst>
          </p:cNvPr>
          <p:cNvSpPr/>
          <p:nvPr/>
        </p:nvSpPr>
        <p:spPr>
          <a:xfrm>
            <a:off x="2397919" y="5523649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0E173C8C-B456-4DCC-65B4-120499061531}"/>
              </a:ext>
            </a:extLst>
          </p:cNvPr>
          <p:cNvSpPr/>
          <p:nvPr/>
        </p:nvSpPr>
        <p:spPr>
          <a:xfrm>
            <a:off x="2393092" y="6310033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8CFBDB4E-4C3E-4D0B-6050-AF3DA727304E}"/>
              </a:ext>
            </a:extLst>
          </p:cNvPr>
          <p:cNvSpPr txBox="1"/>
          <p:nvPr/>
        </p:nvSpPr>
        <p:spPr>
          <a:xfrm rot="5400000">
            <a:off x="2303995" y="603993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15491175-CB53-D07B-FEC0-714BB59FEDC6}"/>
              </a:ext>
            </a:extLst>
          </p:cNvPr>
          <p:cNvSpPr txBox="1"/>
          <p:nvPr/>
        </p:nvSpPr>
        <p:spPr>
          <a:xfrm>
            <a:off x="3542330" y="3920324"/>
            <a:ext cx="2554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3 * 128 * 128 = 49,152</a:t>
            </a:r>
            <a:endParaRPr kumimoji="1" lang="zh-TW" altLang="en-US" dirty="0"/>
          </a:p>
        </p:txBody>
      </p:sp>
      <p:sp>
        <p:nvSpPr>
          <p:cNvPr id="62" name="右大括弧 61">
            <a:extLst>
              <a:ext uri="{FF2B5EF4-FFF2-40B4-BE49-F238E27FC236}">
                <a16:creationId xmlns:a16="http://schemas.microsoft.com/office/drawing/2014/main" id="{5880AEA6-280E-32BC-7A40-E015B3C9712A}"/>
              </a:ext>
            </a:extLst>
          </p:cNvPr>
          <p:cNvSpPr/>
          <p:nvPr/>
        </p:nvSpPr>
        <p:spPr>
          <a:xfrm>
            <a:off x="3063782" y="1716778"/>
            <a:ext cx="496717" cy="4776425"/>
          </a:xfrm>
          <a:prstGeom prst="righ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F5A29FB8-FA7E-FC5D-8A7C-C9790A3F68FB}"/>
              </a:ext>
            </a:extLst>
          </p:cNvPr>
          <p:cNvSpPr txBox="1"/>
          <p:nvPr/>
        </p:nvSpPr>
        <p:spPr>
          <a:xfrm>
            <a:off x="5986732" y="5216081"/>
            <a:ext cx="1438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n = 49,152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CB05BC8-A6A4-2937-FDD3-EEB4CF0A054F}"/>
              </a:ext>
            </a:extLst>
          </p:cNvPr>
          <p:cNvSpPr txBox="1"/>
          <p:nvPr/>
        </p:nvSpPr>
        <p:spPr>
          <a:xfrm>
            <a:off x="901414" y="2199778"/>
            <a:ext cx="129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128 * 128 </a:t>
            </a:r>
            <a:endParaRPr lang="zh-TW" altLang="en-US" dirty="0"/>
          </a:p>
        </p:txBody>
      </p:sp>
      <p:sp>
        <p:nvSpPr>
          <p:cNvPr id="19" name="左中括弧 18">
            <a:extLst>
              <a:ext uri="{FF2B5EF4-FFF2-40B4-BE49-F238E27FC236}">
                <a16:creationId xmlns:a16="http://schemas.microsoft.com/office/drawing/2014/main" id="{4ACBE320-B8BD-B124-0A06-4C1D95C2470A}"/>
              </a:ext>
            </a:extLst>
          </p:cNvPr>
          <p:cNvSpPr/>
          <p:nvPr/>
        </p:nvSpPr>
        <p:spPr>
          <a:xfrm>
            <a:off x="2179553" y="1648341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左中括弧 19">
            <a:extLst>
              <a:ext uri="{FF2B5EF4-FFF2-40B4-BE49-F238E27FC236}">
                <a16:creationId xmlns:a16="http://schemas.microsoft.com/office/drawing/2014/main" id="{C442D9D9-43B3-BBE0-94B0-2A16E9E4FAB2}"/>
              </a:ext>
            </a:extLst>
          </p:cNvPr>
          <p:cNvSpPr/>
          <p:nvPr/>
        </p:nvSpPr>
        <p:spPr>
          <a:xfrm>
            <a:off x="2175701" y="3386513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6FB36EAD-5EF5-2979-2475-8B680A0968C6}"/>
              </a:ext>
            </a:extLst>
          </p:cNvPr>
          <p:cNvSpPr txBox="1"/>
          <p:nvPr/>
        </p:nvSpPr>
        <p:spPr>
          <a:xfrm>
            <a:off x="897562" y="3897668"/>
            <a:ext cx="129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128 * 128 </a:t>
            </a:r>
            <a:endParaRPr lang="zh-TW" altLang="en-US" dirty="0"/>
          </a:p>
        </p:txBody>
      </p:sp>
      <p:sp>
        <p:nvSpPr>
          <p:cNvPr id="25" name="左中括弧 24">
            <a:extLst>
              <a:ext uri="{FF2B5EF4-FFF2-40B4-BE49-F238E27FC236}">
                <a16:creationId xmlns:a16="http://schemas.microsoft.com/office/drawing/2014/main" id="{BBA9EA0A-E011-7433-28B2-80666CBEBF32}"/>
              </a:ext>
            </a:extLst>
          </p:cNvPr>
          <p:cNvSpPr/>
          <p:nvPr/>
        </p:nvSpPr>
        <p:spPr>
          <a:xfrm>
            <a:off x="2176859" y="5125916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166EA08C-609D-29B5-322D-BA5667915DD5}"/>
              </a:ext>
            </a:extLst>
          </p:cNvPr>
          <p:cNvSpPr txBox="1"/>
          <p:nvPr/>
        </p:nvSpPr>
        <p:spPr>
          <a:xfrm>
            <a:off x="903938" y="5677353"/>
            <a:ext cx="1297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zh-TW" dirty="0"/>
              <a:t>128 * 128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265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035FA431-3EAD-EC2F-F9B4-0BD29E4AD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" altLang="zh-TW" sz="6000" dirty="0"/>
              <a:t>Convolutional Neural Networks</a:t>
            </a:r>
            <a:endParaRPr lang="zh-TW" altLang="en-US" sz="6000" dirty="0"/>
          </a:p>
        </p:txBody>
      </p:sp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A312411E-ACDE-BBFE-042A-7B29520E01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CNN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E7B09-930D-3D48-E1CF-D5AF3CDC3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87960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823EF-CA7F-44CA-30E9-9095A680E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9236C7-4F96-D836-74E1-48A01B81B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11237C-3B60-E796-F406-5228C294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B6D0BE-3AC5-A870-C3D5-966A2BFF2371}"/>
              </a:ext>
            </a:extLst>
          </p:cNvPr>
          <p:cNvSpPr txBox="1"/>
          <p:nvPr/>
        </p:nvSpPr>
        <p:spPr>
          <a:xfrm>
            <a:off x="653144" y="1806093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Convolutions (</a:t>
            </a:r>
            <a:r>
              <a:rPr kumimoji="1" lang="zh-TW" altLang="en-US" sz="2400" dirty="0"/>
              <a:t>卷積層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Subsampling (</a:t>
            </a:r>
            <a:r>
              <a:rPr kumimoji="1" lang="zh-TW" altLang="en-US" sz="2400" dirty="0"/>
              <a:t>池化層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Fully-connected Layer (</a:t>
            </a:r>
            <a:r>
              <a:rPr kumimoji="1" lang="zh-TW" altLang="en-US" sz="2400" dirty="0"/>
              <a:t>全連接層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69C3EC-0C27-1C46-F811-3BF3275B036A}"/>
              </a:ext>
            </a:extLst>
          </p:cNvPr>
          <p:cNvSpPr/>
          <p:nvPr/>
        </p:nvSpPr>
        <p:spPr>
          <a:xfrm>
            <a:off x="972766" y="1877437"/>
            <a:ext cx="3239310" cy="53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79EF494-0007-D233-A19B-E7A26CFD2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23" y="3863607"/>
            <a:ext cx="6975149" cy="23058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B2A114B3-2AE6-6F02-2FE8-A78BA607686D}"/>
              </a:ext>
            </a:extLst>
          </p:cNvPr>
          <p:cNvSpPr txBox="1"/>
          <p:nvPr/>
        </p:nvSpPr>
        <p:spPr>
          <a:xfrm>
            <a:off x="2863101" y="6380575"/>
            <a:ext cx="646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/>
              <a:t>Figure source: LeCun, Y., </a:t>
            </a:r>
            <a:r>
              <a:rPr kumimoji="1" lang="en" altLang="zh-TW" sz="1000" dirty="0" err="1"/>
              <a:t>Bottou</a:t>
            </a:r>
            <a:r>
              <a:rPr kumimoji="1" lang="en" altLang="zh-TW" sz="1000" dirty="0"/>
              <a:t>, L., Bengio, Y., &amp; Haffner, P. (</a:t>
            </a:r>
            <a:r>
              <a:rPr kumimoji="1" lang="en" altLang="zh-TW" sz="1000" dirty="0">
                <a:solidFill>
                  <a:srgbClr val="FF0000"/>
                </a:solidFill>
              </a:rPr>
              <a:t>1998</a:t>
            </a:r>
            <a:r>
              <a:rPr kumimoji="1" lang="en" altLang="zh-TW" sz="1000" dirty="0"/>
              <a:t>). Gradient-based learning applied to document recognition. Proceedings of the IEEE, 86(11), 2278-2324.</a:t>
            </a:r>
            <a:endParaRPr kumimoji="1" lang="zh-TW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53CD011-E4A7-5707-3D9E-5FDE97723D10}"/>
              </a:ext>
            </a:extLst>
          </p:cNvPr>
          <p:cNvSpPr/>
          <p:nvPr/>
        </p:nvSpPr>
        <p:spPr>
          <a:xfrm>
            <a:off x="3559270" y="5573076"/>
            <a:ext cx="681990" cy="14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07232A3-63FE-7D3C-892B-F85B66B065B1}"/>
              </a:ext>
            </a:extLst>
          </p:cNvPr>
          <p:cNvSpPr/>
          <p:nvPr/>
        </p:nvSpPr>
        <p:spPr>
          <a:xfrm>
            <a:off x="5792072" y="5573076"/>
            <a:ext cx="681990" cy="14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22025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1" animBg="1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CF65F0-5D84-F489-2123-BA0CB595C5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卷積層有兩個重要的設定參數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50A496-66DA-ED64-9212-E6A9BBF6B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584695B-909C-5E59-EB63-4B54E794BF24}"/>
              </a:ext>
            </a:extLst>
          </p:cNvPr>
          <p:cNvSpPr txBox="1"/>
          <p:nvPr/>
        </p:nvSpPr>
        <p:spPr>
          <a:xfrm>
            <a:off x="653144" y="1806093"/>
            <a:ext cx="10918370" cy="1131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stride (int): </a:t>
            </a:r>
            <a:r>
              <a:rPr kumimoji="1" lang="zh-TW" altLang="en-US" sz="2400" dirty="0"/>
              <a:t>步長，代表卷積一次走幾個像素點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padding</a:t>
            </a:r>
            <a:r>
              <a:rPr kumimoji="1" lang="zh-TW" altLang="en-US" sz="2400" dirty="0"/>
              <a:t> </a:t>
            </a:r>
            <a:r>
              <a:rPr kumimoji="1" lang="en-US" altLang="zh-TW" sz="2400" dirty="0"/>
              <a:t>(int): </a:t>
            </a:r>
            <a:r>
              <a:rPr kumimoji="1" lang="zh-TW" altLang="en-US" sz="2400" dirty="0"/>
              <a:t>影像的四個邊要不要補</a:t>
            </a:r>
            <a:r>
              <a:rPr kumimoji="1" lang="en-US" altLang="zh-TW" sz="2400" dirty="0"/>
              <a:t> 0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E8E632C4-ACC8-426F-8CEC-9DEE32BB1C49}"/>
              </a:ext>
            </a:extLst>
          </p:cNvPr>
          <p:cNvSpPr txBox="1"/>
          <p:nvPr/>
        </p:nvSpPr>
        <p:spPr>
          <a:xfrm>
            <a:off x="5902711" y="1393413"/>
            <a:ext cx="5739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docs.pytorch.org</a:t>
            </a:r>
            <a:r>
              <a:rPr kumimoji="1" lang="en" altLang="zh-TW" sz="1400" dirty="0"/>
              <a:t>/docs/stable/generated/torch.nn.Conv2d.html</a:t>
            </a:r>
            <a:endParaRPr kumimoji="1" lang="zh-TW" altLang="en-US" sz="1400" dirty="0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621462E6-D620-0608-6113-B805FAEF00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7493" y="3205849"/>
            <a:ext cx="2377142" cy="232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32B840C-EB45-BE78-1635-E98CFE922841}"/>
              </a:ext>
            </a:extLst>
          </p:cNvPr>
          <p:cNvSpPr txBox="1"/>
          <p:nvPr/>
        </p:nvSpPr>
        <p:spPr>
          <a:xfrm>
            <a:off x="1708407" y="5571719"/>
            <a:ext cx="27553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Padding = 0, stride = 2</a:t>
            </a:r>
            <a:endParaRPr kumimoji="1" lang="zh-TW" altLang="en-US" sz="16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68A9EF-EAF7-90E4-C7B2-9B857EE9FE31}"/>
              </a:ext>
            </a:extLst>
          </p:cNvPr>
          <p:cNvSpPr txBox="1"/>
          <p:nvPr/>
        </p:nvSpPr>
        <p:spPr>
          <a:xfrm>
            <a:off x="1708407" y="6040355"/>
            <a:ext cx="29644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200" dirty="0"/>
              <a:t>Figure source: https://</a:t>
            </a:r>
            <a:r>
              <a:rPr kumimoji="1" lang="en-US" altLang="zh-TW" sz="1200" dirty="0" err="1"/>
              <a:t>hannibunny.github.io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mlbook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neuralnetworks</a:t>
            </a:r>
            <a:r>
              <a:rPr kumimoji="1" lang="en-US" altLang="zh-TW" sz="1200" dirty="0"/>
              <a:t>/</a:t>
            </a:r>
            <a:r>
              <a:rPr kumimoji="1" lang="en-US" altLang="zh-TW" sz="1200" dirty="0" err="1"/>
              <a:t>convolutionDemos.html</a:t>
            </a:r>
            <a:endParaRPr kumimoji="1" lang="zh-TW" altLang="en-US" sz="1200" dirty="0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B0D779EF-9EAE-C173-26E9-6312849DA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3701572"/>
              </p:ext>
            </p:extLst>
          </p:nvPr>
        </p:nvGraphicFramePr>
        <p:xfrm>
          <a:off x="6483805" y="3175067"/>
          <a:ext cx="2867124" cy="2865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7854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77854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77854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477854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477854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477854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4775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7754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775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4775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4775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477548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15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1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3290" marR="63290" marT="31645" marB="3164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E9180E95-5AC1-56A9-CD56-6249F3FC171C}"/>
              </a:ext>
            </a:extLst>
          </p:cNvPr>
          <p:cNvSpPr txBox="1"/>
          <p:nvPr/>
        </p:nvSpPr>
        <p:spPr>
          <a:xfrm>
            <a:off x="5472147" y="6194135"/>
            <a:ext cx="48904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600" dirty="0"/>
              <a:t>(</a:t>
            </a:r>
            <a:r>
              <a:rPr kumimoji="1" lang="zh-TW" altLang="en-US" sz="1600" dirty="0"/>
              <a:t>白色代表原始影像區域，橘紅色代表</a:t>
            </a:r>
            <a:r>
              <a:rPr kumimoji="1" lang="en-US" altLang="zh-TW" sz="1600" dirty="0"/>
              <a:t>padding)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1382745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9316370"/>
              </p:ext>
            </p:extLst>
          </p:nvPr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609655"/>
              </p:ext>
            </p:extLst>
          </p:nvPr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7" name="文字方塊 6">
            <a:extLst>
              <a:ext uri="{FF2B5EF4-FFF2-40B4-BE49-F238E27FC236}">
                <a16:creationId xmlns:a16="http://schemas.microsoft.com/office/drawing/2014/main" id="{BADB0009-E707-48A2-1262-287339AA2DAF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777964" y="216528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610364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91FEF5-1F46-4601-3218-5913C1770B6E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58EEA0B-9314-35BE-C01E-A0A3D137B6D8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769247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15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268188"/>
              </p:ext>
            </p:extLst>
          </p:nvPr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1422398" y="216528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544843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9B6298F0-3EB1-1436-F16A-E3F293A99858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24C9829-3BAD-CD51-38FF-83D4D2F7B4A7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AAB823B-8637-9EFA-CDBF-574D392D7625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7109507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16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569040"/>
              </p:ext>
            </p:extLst>
          </p:nvPr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2062709" y="216528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86237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0B7CE3C4-CC3C-0BE5-E4A3-87D842A021FE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3B6E03-9AF8-6A97-BF5C-4BA35FB2167D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CB13161-1027-0647-4714-8F29145D1963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396386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94226"/>
              </p:ext>
            </p:extLst>
          </p:nvPr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2696510" y="2163816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2638095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FB9D3F7-3F2E-3B9D-1274-EAD46D98F776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1ABB72-BB7F-C8CE-015A-09EF6BF03AA6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097E56B-AE7F-9F62-EBE0-E9CA1B20412B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650153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777722" y="2803001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013798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BB5D0650-0F0A-8797-C56A-775610B403D1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F80766B-9D40-EDBE-7C6D-5FCAAEF9DDB0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406C447-FB66-5EF6-DE82-88ADFEDBB1E0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0647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1422156" y="2803001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246043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30A63FF9-5680-4B1D-B537-C27855D71729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4AF4E61D-A04E-4BD7-FB2F-4BD96958AD8B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7671D5-8D8A-166F-A94B-469F48DC8CC6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184454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2696510" y="4081374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2079777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7C2CFF53-45AD-E77B-BD24-61CB019D7CA5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F7BE850-8EB7-B4EA-8D64-FE9D549FBDF3}"/>
              </a:ext>
            </a:extLst>
          </p:cNvPr>
          <p:cNvSpPr txBox="1"/>
          <p:nvPr/>
        </p:nvSpPr>
        <p:spPr>
          <a:xfrm>
            <a:off x="8026338" y="4840164"/>
            <a:ext cx="2125980" cy="58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 map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1FC5793-279B-2D6E-D92F-CA035BF863DA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1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099AE7E-82A7-9331-5038-9C405BE8D67D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35576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21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777964" y="216528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1" name="表格 5">
            <a:extLst>
              <a:ext uri="{FF2B5EF4-FFF2-40B4-BE49-F238E27FC236}">
                <a16:creationId xmlns:a16="http://schemas.microsoft.com/office/drawing/2014/main" id="{808440C0-C521-CC8F-C072-11A725FD89D7}"/>
              </a:ext>
            </a:extLst>
          </p:cNvPr>
          <p:cNvGraphicFramePr>
            <a:graphicFrameLocks noGrp="1"/>
          </p:cNvGraphicFramePr>
          <p:nvPr/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91FEF5-1F46-4601-3218-5913C1770B6E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6B5BAD6-837A-28F7-E73D-1EFFF105E642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69FCEA4-6274-9686-1863-55E207CECC80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2941688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6F05A7-2AB0-14B1-9CE7-B33B5913C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29A85E1-CD3B-49B9-B9EB-D947670A8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3999B40-4455-29CC-C66D-5AA2DC74BB1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6281342-EE13-253D-14B2-79F335AE0736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9EC54DC8-9841-09E9-8B56-61C9F8025AE8}"/>
              </a:ext>
            </a:extLst>
          </p:cNvPr>
          <p:cNvSpPr/>
          <p:nvPr/>
        </p:nvSpPr>
        <p:spPr>
          <a:xfrm>
            <a:off x="2057452" y="216528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5291FEF5-1F46-4601-3218-5913C1770B6E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A897311A-557B-1CFD-C97F-1936037A39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464579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5EA059A-FD06-F6AE-0A11-7DA4A03D7095}"/>
              </a:ext>
            </a:extLst>
          </p:cNvPr>
          <p:cNvCxnSpPr/>
          <p:nvPr/>
        </p:nvCxnSpPr>
        <p:spPr>
          <a:xfrm>
            <a:off x="1088571" y="1889760"/>
            <a:ext cx="13237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1FC26769-1E95-AA18-FF0E-C2A11B1F2D9C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BB1C1EF-E810-E96A-0AC5-9735E5A30ED6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913613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DAE90-9EBF-80B3-5C6F-BBECF38D0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8CBF-295C-7E5E-B28C-C804AB5F5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8EB155-7AF8-7322-DBB0-95192D45A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23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A35BBB1-76BF-DF4F-B525-CD84D601D4AC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6CE6ADC-41D1-B7DE-9F0F-FD1DD757D11C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2B6954B0-3E5A-2DCF-5899-2DFFE24ADEC4}"/>
              </a:ext>
            </a:extLst>
          </p:cNvPr>
          <p:cNvSpPr/>
          <p:nvPr/>
        </p:nvSpPr>
        <p:spPr>
          <a:xfrm>
            <a:off x="769503" y="3429000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52142D5-1CCC-CEF9-950F-0DCD9BED6C61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0F4348F3-ADEA-AA87-0E71-818330E90E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7254343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90B1E08F-9203-3606-82ED-374807CF039E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D9BC09C9-5711-B6AD-3CC5-AFD1AC7A8A3B}"/>
              </a:ext>
            </a:extLst>
          </p:cNvPr>
          <p:cNvCxnSpPr>
            <a:cxnSpLocks/>
          </p:cNvCxnSpPr>
          <p:nvPr/>
        </p:nvCxnSpPr>
        <p:spPr>
          <a:xfrm>
            <a:off x="627445" y="2483662"/>
            <a:ext cx="0" cy="13226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2C18C4F8-B645-5609-B6C4-641FA2A75210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135503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7D1B3-F97C-6EE4-1C73-628141F4A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789DF9-46C9-1FD5-002A-2FA223307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 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F0E0BE3-6910-6F01-305F-3903252B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29EF46DD-CDF6-D5BC-1D21-334EA00FABF9}"/>
              </a:ext>
            </a:extLst>
          </p:cNvPr>
          <p:cNvGraphicFramePr>
            <a:graphicFrameLocks noGrp="1"/>
          </p:cNvGraphicFramePr>
          <p:nvPr/>
        </p:nvGraphicFramePr>
        <p:xfrm>
          <a:off x="777965" y="2165289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4F3783E6-5A6F-3D9B-4525-9A4A65562DF5}"/>
              </a:ext>
            </a:extLst>
          </p:cNvPr>
          <p:cNvGraphicFramePr>
            <a:graphicFrameLocks noGrp="1"/>
          </p:cNvGraphicFramePr>
          <p:nvPr/>
        </p:nvGraphicFramePr>
        <p:xfrm>
          <a:off x="5394220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4796FC3-6B00-8B95-4F23-80091D6CE398}"/>
              </a:ext>
            </a:extLst>
          </p:cNvPr>
          <p:cNvSpPr/>
          <p:nvPr/>
        </p:nvSpPr>
        <p:spPr>
          <a:xfrm>
            <a:off x="2041422" y="3443660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DC9BF06-6768-94DD-0497-99E171D35650}"/>
              </a:ext>
            </a:extLst>
          </p:cNvPr>
          <p:cNvSpPr txBox="1"/>
          <p:nvPr/>
        </p:nvSpPr>
        <p:spPr>
          <a:xfrm>
            <a:off x="5410549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9" name="表格 5">
            <a:extLst>
              <a:ext uri="{FF2B5EF4-FFF2-40B4-BE49-F238E27FC236}">
                <a16:creationId xmlns:a16="http://schemas.microsoft.com/office/drawing/2014/main" id="{07F83A37-7926-1793-D308-B3AE9E569D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473094"/>
              </p:ext>
            </p:extLst>
          </p:nvPr>
        </p:nvGraphicFramePr>
        <p:xfrm>
          <a:off x="7810136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6B55727F-9D40-18D4-7A0C-ED7E582DEC5B}"/>
              </a:ext>
            </a:extLst>
          </p:cNvPr>
          <p:cNvSpPr txBox="1"/>
          <p:nvPr/>
        </p:nvSpPr>
        <p:spPr>
          <a:xfrm>
            <a:off x="5300546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cxnSp>
        <p:nvCxnSpPr>
          <p:cNvPr id="10" name="直線箭頭接點 9">
            <a:extLst>
              <a:ext uri="{FF2B5EF4-FFF2-40B4-BE49-F238E27FC236}">
                <a16:creationId xmlns:a16="http://schemas.microsoft.com/office/drawing/2014/main" id="{181688F6-1FE7-9D66-7A34-CA63EF2EE961}"/>
              </a:ext>
            </a:extLst>
          </p:cNvPr>
          <p:cNvCxnSpPr>
            <a:cxnSpLocks/>
          </p:cNvCxnSpPr>
          <p:nvPr/>
        </p:nvCxnSpPr>
        <p:spPr>
          <a:xfrm>
            <a:off x="1051192" y="3343320"/>
            <a:ext cx="1424380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9A01870-FCC3-10C2-A403-0F3C9AAF56E7}"/>
              </a:ext>
            </a:extLst>
          </p:cNvPr>
          <p:cNvSpPr txBox="1"/>
          <p:nvPr/>
        </p:nvSpPr>
        <p:spPr>
          <a:xfrm>
            <a:off x="9895913" y="1490517"/>
            <a:ext cx="1605774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沒有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51608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3927B-8DB0-D2AA-6B21-1ED26DC9B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E8503E-34EE-3434-184D-A7026AC2BB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2, padding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470A36-9B32-056C-4EB3-4D4319D5E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25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B412CB8-E17C-7DF3-0E0C-FFA33EB810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7421738"/>
              </p:ext>
            </p:extLst>
          </p:nvPr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1C6A109-A440-E97F-E78E-44D09B043A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5465122"/>
              </p:ext>
            </p:extLst>
          </p:nvPr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14C247C2-BE96-7713-6E17-642CAF6D328E}"/>
              </a:ext>
            </a:extLst>
          </p:cNvPr>
          <p:cNvSpPr/>
          <p:nvPr/>
        </p:nvSpPr>
        <p:spPr>
          <a:xfrm>
            <a:off x="774799" y="1546564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2DA00EB7-69DB-767A-94A4-BEA4DC43DAF1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A86286F6-457A-EA2D-BAC5-F598DCF21FB5}"/>
              </a:ext>
            </a:extLst>
          </p:cNvPr>
          <p:cNvCxnSpPr/>
          <p:nvPr/>
        </p:nvCxnSpPr>
        <p:spPr>
          <a:xfrm>
            <a:off x="1103444" y="1466277"/>
            <a:ext cx="13237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0BCB97E3-23F3-8CE7-56A7-1F7C47A9B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02398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FBD2C72C-DEC3-588D-A14D-69B84EFBE32F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3A92573E-DF2E-672D-69EB-649BDC9C6C7D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62783DCC-6178-82AC-52F0-AA1EF11A8471}"/>
              </a:ext>
            </a:extLst>
          </p:cNvPr>
          <p:cNvSpPr txBox="1"/>
          <p:nvPr/>
        </p:nvSpPr>
        <p:spPr>
          <a:xfrm>
            <a:off x="10132741" y="1490517"/>
            <a:ext cx="1368945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56648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7BB5-8772-8FEC-9295-69E4FC792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67D18C-15B0-4181-08D1-B061F9B3F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2, padding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6BDF32-474D-4F0A-9E3E-763488562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07FA9B5-B879-B289-FAA3-1E719EF5F7B5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D34A035A-C27F-54A2-76EF-BF0182C5F72A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A243643F-C500-6D11-6DD4-C1C3E09A3FFA}"/>
              </a:ext>
            </a:extLst>
          </p:cNvPr>
          <p:cNvSpPr/>
          <p:nvPr/>
        </p:nvSpPr>
        <p:spPr>
          <a:xfrm>
            <a:off x="2047281" y="1542525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8FF072EA-F012-EDD8-537E-B09B413DAE6C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220DD840-1F91-81A0-9C7A-771962C0C2BE}"/>
              </a:ext>
            </a:extLst>
          </p:cNvPr>
          <p:cNvCxnSpPr/>
          <p:nvPr/>
        </p:nvCxnSpPr>
        <p:spPr>
          <a:xfrm>
            <a:off x="2344946" y="1466014"/>
            <a:ext cx="13237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CDCB101A-C47D-FF49-14F4-69D8CFA36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1964211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63906553-3EBB-0396-1816-950F9DF56202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8CEE202-B05C-7B1E-E69B-BC4B3A3E1CAD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BBC770DB-169F-3333-03DB-BAC4E9C0BA47}"/>
              </a:ext>
            </a:extLst>
          </p:cNvPr>
          <p:cNvSpPr txBox="1"/>
          <p:nvPr/>
        </p:nvSpPr>
        <p:spPr>
          <a:xfrm>
            <a:off x="10132741" y="1490517"/>
            <a:ext cx="1368945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284757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2C8FE-6BE6-D867-A78D-8F67A026D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668B05-983C-C2E0-383A-6A621AD68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2, padding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DC04BD4-AAC1-4556-51E4-7BA186E5A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3934FB23-11B6-0726-BA37-6643883DD41E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1BF94AC-45D6-C22B-BB98-058A30A3E977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6555FE57-0E14-D46A-0B27-3B853AED4AF4}"/>
              </a:ext>
            </a:extLst>
          </p:cNvPr>
          <p:cNvSpPr/>
          <p:nvPr/>
        </p:nvSpPr>
        <p:spPr>
          <a:xfrm>
            <a:off x="3333457" y="1542525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A4115203-1C55-F279-0256-265EAD548D31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D5E793B2-3363-CD50-96B9-FF658121E77A}"/>
              </a:ext>
            </a:extLst>
          </p:cNvPr>
          <p:cNvCxnSpPr/>
          <p:nvPr/>
        </p:nvCxnSpPr>
        <p:spPr>
          <a:xfrm>
            <a:off x="4918009" y="1466014"/>
            <a:ext cx="1323703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4C5A5940-1E4E-AFCE-E8A1-932278987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6791818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2767249-7C54-FFB6-F5FC-AE87F503F3EB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ECE6320-F9AC-3BCD-A290-977E80DFAC63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66595B88-837E-9ED3-DD99-B68EA7FC6577}"/>
              </a:ext>
            </a:extLst>
          </p:cNvPr>
          <p:cNvSpPr txBox="1"/>
          <p:nvPr/>
        </p:nvSpPr>
        <p:spPr>
          <a:xfrm>
            <a:off x="10132741" y="1490517"/>
            <a:ext cx="1368945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9929336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B18FF-9AF0-80F9-3934-9137F80E0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829E03-4FC2-8C61-3A11-76EAA1573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2, padding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B1D1AEE-C845-20DA-A7CF-EBFC8C5BA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97AC27F4-43A4-2B9C-C67B-211CF01CE77B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2C8AA7A-1420-CBD9-3E7F-95C07F31BE4D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49308763-B6CD-A2C1-0414-4937B356A93E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DD23F9F9-632A-5CCE-0997-E0F491795C01}"/>
              </a:ext>
            </a:extLst>
          </p:cNvPr>
          <p:cNvCxnSpPr>
            <a:cxnSpLocks/>
          </p:cNvCxnSpPr>
          <p:nvPr/>
        </p:nvCxnSpPr>
        <p:spPr>
          <a:xfrm>
            <a:off x="546731" y="1874061"/>
            <a:ext cx="0" cy="13226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997BE940-D9B4-7DFE-58F3-08F5B5BD56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5065560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D0B894E2-A761-7A42-A49E-3975E7C0E102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A6F962CD-41F5-E44E-0BD0-79B4947F8F4E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FCA0B63-6877-0FB4-72AD-E5E27B0B96A5}"/>
              </a:ext>
            </a:extLst>
          </p:cNvPr>
          <p:cNvSpPr txBox="1"/>
          <p:nvPr/>
        </p:nvSpPr>
        <p:spPr>
          <a:xfrm>
            <a:off x="10132741" y="1490517"/>
            <a:ext cx="1368945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有 </a:t>
            </a:r>
            <a:r>
              <a:rPr kumimoji="1" lang="en-US" altLang="zh-TW" dirty="0"/>
              <a:t>padding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B79A4B-618F-5357-5969-E60D8C864EE5}"/>
              </a:ext>
            </a:extLst>
          </p:cNvPr>
          <p:cNvSpPr/>
          <p:nvPr/>
        </p:nvSpPr>
        <p:spPr>
          <a:xfrm>
            <a:off x="784851" y="2822758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4312493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0FE164-24A6-0A23-10CD-8AE380A92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860523D-684C-017B-6A57-7A5AB57FA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2, padding = 1)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8B1026E-9D55-D866-FC11-7F596127F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0AC89F48-1A06-5CAD-B819-BDC50A3971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7565376"/>
              </p:ext>
            </p:extLst>
          </p:nvPr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4DB7879-5D3A-7CDA-3160-34808355514E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532B0DC-27DD-1F50-7530-86E2F7012998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5A08C2A1-46A8-B8D1-082F-F172167EA43B}"/>
              </a:ext>
            </a:extLst>
          </p:cNvPr>
          <p:cNvCxnSpPr>
            <a:cxnSpLocks/>
          </p:cNvCxnSpPr>
          <p:nvPr/>
        </p:nvCxnSpPr>
        <p:spPr>
          <a:xfrm>
            <a:off x="1096857" y="2745386"/>
            <a:ext cx="138614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BD366893-0A1B-D78D-C5E2-B758BB55F0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30110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033D8D7-C130-7E68-0023-BF0BB990C367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601A164-1324-533D-46AA-458C52C963F9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A8D5D23-7D2A-DF2D-1B8A-963FC9A86094}"/>
              </a:ext>
            </a:extLst>
          </p:cNvPr>
          <p:cNvSpPr/>
          <p:nvPr/>
        </p:nvSpPr>
        <p:spPr>
          <a:xfrm>
            <a:off x="2065416" y="2829132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888312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10645-9AFC-8E98-E0A0-73307D985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A09AC4-4F18-FF7A-DDCA-E197F78E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BED9AD-6C91-4080-3119-BF0940EA0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EE03A7A2-90E6-C9EE-8E6B-290AF5EA913E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1DBCF23-D430-F418-A47A-FE2B7EA8C265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A94E9D81-88B0-329F-E19F-307E7E21BCE3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B1681F65-82A6-31E1-903B-688CF0006E14}"/>
              </a:ext>
            </a:extLst>
          </p:cNvPr>
          <p:cNvCxnSpPr>
            <a:cxnSpLocks/>
          </p:cNvCxnSpPr>
          <p:nvPr/>
        </p:nvCxnSpPr>
        <p:spPr>
          <a:xfrm>
            <a:off x="2353228" y="2745386"/>
            <a:ext cx="138614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C1DA2123-23DE-802F-E233-7592D4E7D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951738"/>
              </p:ext>
            </p:extLst>
          </p:nvPr>
        </p:nvGraphicFramePr>
        <p:xfrm>
          <a:off x="8352829" y="216528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7938EC1-2AB2-C2FC-15EC-C31F0DD8B830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67C701E-AF08-AE4A-E1C3-ED10028F254D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9B9A53E-94CC-C296-DE20-E3AA6076B3C7}"/>
              </a:ext>
            </a:extLst>
          </p:cNvPr>
          <p:cNvSpPr txBox="1"/>
          <p:nvPr/>
        </p:nvSpPr>
        <p:spPr>
          <a:xfrm>
            <a:off x="9836438" y="688130"/>
            <a:ext cx="1687551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padding=1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6D7446-FCA9-73CC-B1A1-6FE2DFDE34BA}"/>
              </a:ext>
            </a:extLst>
          </p:cNvPr>
          <p:cNvSpPr/>
          <p:nvPr/>
        </p:nvSpPr>
        <p:spPr>
          <a:xfrm>
            <a:off x="3333457" y="2822758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451055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C31E0-ADEC-1113-9705-A405CBFA4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DC0B25-3880-45F5-9371-FDBE6508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E73BE5-5E32-D1C9-A86E-E3659A686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6FB449E-4C14-666A-8E3B-C28C515900EC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4CB70DB-99D2-6C6C-455E-EB89748D493A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99D47107-8D51-EF11-A1F6-09B4E2F28377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D47E86D7-A220-5F13-A949-2865496A3E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7281826"/>
              </p:ext>
            </p:extLst>
          </p:nvPr>
        </p:nvGraphicFramePr>
        <p:xfrm>
          <a:off x="8352829" y="2165288"/>
          <a:ext cx="2558384" cy="319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12288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8D6DFFA-CAA1-7659-96F5-9DD2C1244DFD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2B17ECD-FF2D-5320-0C2D-2FEAD12E4351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F4098-FFB3-3A72-416E-E381C3969315}"/>
              </a:ext>
            </a:extLst>
          </p:cNvPr>
          <p:cNvSpPr txBox="1"/>
          <p:nvPr/>
        </p:nvSpPr>
        <p:spPr>
          <a:xfrm>
            <a:off x="9836438" y="688130"/>
            <a:ext cx="1687551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padding=1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2AE1186-5038-CB69-B59F-308F701904AE}"/>
              </a:ext>
            </a:extLst>
          </p:cNvPr>
          <p:cNvSpPr/>
          <p:nvPr/>
        </p:nvSpPr>
        <p:spPr>
          <a:xfrm>
            <a:off x="792285" y="4103308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" name="直線箭頭接點 7">
            <a:extLst>
              <a:ext uri="{FF2B5EF4-FFF2-40B4-BE49-F238E27FC236}">
                <a16:creationId xmlns:a16="http://schemas.microsoft.com/office/drawing/2014/main" id="{4C1A8423-E73A-A837-F33E-E02A26B9CF5C}"/>
              </a:ext>
            </a:extLst>
          </p:cNvPr>
          <p:cNvCxnSpPr>
            <a:cxnSpLocks/>
          </p:cNvCxnSpPr>
          <p:nvPr/>
        </p:nvCxnSpPr>
        <p:spPr>
          <a:xfrm>
            <a:off x="598770" y="3108130"/>
            <a:ext cx="0" cy="1322621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2216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9330C-580E-4D2C-3F2F-BF13EE0A5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7E4465-FA8C-8B21-18EE-2D0A25E3D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E343F89-24A2-8682-F0A3-93F62F4AD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07CADFA-064F-2593-3813-FB847FC423E6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AE13140-8BDA-CC79-6601-A5A9CF342F04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0643C061-F3E5-D351-21D4-E308D891FCA9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3FAF8C12-9AB0-80C9-0588-D066D432A4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5448776"/>
              </p:ext>
            </p:extLst>
          </p:nvPr>
        </p:nvGraphicFramePr>
        <p:xfrm>
          <a:off x="8352829" y="2165288"/>
          <a:ext cx="2558384" cy="319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12288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99226F7E-79CE-56AF-D4DF-AB3DA23D8417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FB16BE2-4F74-5E66-E8CD-2707EA051D08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E66C2AD-68C1-3D50-58CF-D3FC192D0F56}"/>
              </a:ext>
            </a:extLst>
          </p:cNvPr>
          <p:cNvSpPr txBox="1"/>
          <p:nvPr/>
        </p:nvSpPr>
        <p:spPr>
          <a:xfrm>
            <a:off x="9836438" y="688130"/>
            <a:ext cx="1687551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padding=1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8FA5E31-1C2F-2226-5F96-652164EB1F12}"/>
              </a:ext>
            </a:extLst>
          </p:cNvPr>
          <p:cNvSpPr/>
          <p:nvPr/>
        </p:nvSpPr>
        <p:spPr>
          <a:xfrm>
            <a:off x="2050549" y="4103308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3DAF1BB0-9CE3-5535-6CDC-64FAFED5D596}"/>
              </a:ext>
            </a:extLst>
          </p:cNvPr>
          <p:cNvCxnSpPr>
            <a:cxnSpLocks/>
          </p:cNvCxnSpPr>
          <p:nvPr/>
        </p:nvCxnSpPr>
        <p:spPr>
          <a:xfrm>
            <a:off x="1110450" y="4006817"/>
            <a:ext cx="138614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14465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4EB14-52EB-3880-4811-B8C7D6495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833694-4D39-EE87-6C77-7AC761F97E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(stride = 2)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734EDA1-A4C1-30A7-FC32-0A8FFA85B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5200A5D9-C10F-33C8-85B9-5A8D55FD3C84}"/>
              </a:ext>
            </a:extLst>
          </p:cNvPr>
          <p:cNvGraphicFramePr>
            <a:graphicFrameLocks noGrp="1"/>
          </p:cNvGraphicFramePr>
          <p:nvPr/>
        </p:nvGraphicFramePr>
        <p:xfrm>
          <a:off x="792285" y="1546564"/>
          <a:ext cx="5082344" cy="5113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529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82292968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  <a:gridCol w="635293">
                  <a:extLst>
                    <a:ext uri="{9D8B030D-6E8A-4147-A177-3AD203B41FA5}">
                      <a16:colId xmlns:a16="http://schemas.microsoft.com/office/drawing/2014/main" val="374414107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0938423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2778066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81C1D97C-F799-9F83-3AD3-D7C2C6461F02}"/>
              </a:ext>
            </a:extLst>
          </p:cNvPr>
          <p:cNvGraphicFramePr>
            <a:graphicFrameLocks noGrp="1"/>
          </p:cNvGraphicFramePr>
          <p:nvPr/>
        </p:nvGraphicFramePr>
        <p:xfrm>
          <a:off x="6241712" y="2165289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C111EEB0-7669-6083-24D9-238AC348D1F1}"/>
              </a:ext>
            </a:extLst>
          </p:cNvPr>
          <p:cNvSpPr txBox="1"/>
          <p:nvPr/>
        </p:nvSpPr>
        <p:spPr>
          <a:xfrm>
            <a:off x="6258041" y="3582219"/>
            <a:ext cx="14035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</a:t>
            </a:r>
            <a:endParaRPr kumimoji="1" lang="zh-TW" altLang="en-US" sz="2000" dirty="0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F7BC00BA-87FC-5D6B-CD67-2B492CAFE8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19361"/>
              </p:ext>
            </p:extLst>
          </p:nvPr>
        </p:nvGraphicFramePr>
        <p:xfrm>
          <a:off x="8352829" y="2165288"/>
          <a:ext cx="2558384" cy="31959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7030A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7030A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812288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B8362D0C-A0E0-453B-8119-63615E706F5F}"/>
              </a:ext>
            </a:extLst>
          </p:cNvPr>
          <p:cNvSpPr txBox="1"/>
          <p:nvPr/>
        </p:nvSpPr>
        <p:spPr>
          <a:xfrm>
            <a:off x="5953242" y="6124602"/>
            <a:ext cx="13120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Padding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6DEAE74A-4BCE-4626-84BF-EF1FD7E85042}"/>
              </a:ext>
            </a:extLst>
          </p:cNvPr>
          <p:cNvSpPr txBox="1"/>
          <p:nvPr/>
        </p:nvSpPr>
        <p:spPr>
          <a:xfrm>
            <a:off x="6148038" y="1546564"/>
            <a:ext cx="16057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Stride = 2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AB575674-85CC-347B-4F7E-178C72E91A06}"/>
              </a:ext>
            </a:extLst>
          </p:cNvPr>
          <p:cNvSpPr txBox="1"/>
          <p:nvPr/>
        </p:nvSpPr>
        <p:spPr>
          <a:xfrm>
            <a:off x="9836438" y="688130"/>
            <a:ext cx="1687551" cy="369332"/>
          </a:xfrm>
          <a:prstGeom prst="rect">
            <a:avLst/>
          </a:prstGeom>
          <a:noFill/>
          <a:ln w="1905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padding=1</a:t>
            </a:r>
            <a:endParaRPr kumimoji="1" lang="zh-TW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C3E0C6F-B0AA-8CB2-6B61-3F5691AD22CE}"/>
              </a:ext>
            </a:extLst>
          </p:cNvPr>
          <p:cNvSpPr/>
          <p:nvPr/>
        </p:nvSpPr>
        <p:spPr>
          <a:xfrm>
            <a:off x="3333203" y="4103308"/>
            <a:ext cx="1919031" cy="1919031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3" name="直線箭頭接點 12">
            <a:extLst>
              <a:ext uri="{FF2B5EF4-FFF2-40B4-BE49-F238E27FC236}">
                <a16:creationId xmlns:a16="http://schemas.microsoft.com/office/drawing/2014/main" id="{941EBC7F-CDE6-0E4B-963B-2E53A86810C4}"/>
              </a:ext>
            </a:extLst>
          </p:cNvPr>
          <p:cNvCxnSpPr>
            <a:cxnSpLocks/>
          </p:cNvCxnSpPr>
          <p:nvPr/>
        </p:nvCxnSpPr>
        <p:spPr>
          <a:xfrm>
            <a:off x="2396558" y="4012065"/>
            <a:ext cx="1386147" cy="0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6686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表格 5">
            <a:extLst>
              <a:ext uri="{FF2B5EF4-FFF2-40B4-BE49-F238E27FC236}">
                <a16:creationId xmlns:a16="http://schemas.microsoft.com/office/drawing/2014/main" id="{BCF45EA9-0BC8-7BE0-874A-F3A39020EB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7506967"/>
              </p:ext>
            </p:extLst>
          </p:nvPr>
        </p:nvGraphicFramePr>
        <p:xfrm>
          <a:off x="1082765" y="1777396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sp>
        <p:nvSpPr>
          <p:cNvPr id="15" name="矩形 14">
            <a:extLst>
              <a:ext uri="{FF2B5EF4-FFF2-40B4-BE49-F238E27FC236}">
                <a16:creationId xmlns:a16="http://schemas.microsoft.com/office/drawing/2014/main" id="{97530CA5-B92C-B163-F584-8AE034E60B7D}"/>
              </a:ext>
            </a:extLst>
          </p:cNvPr>
          <p:cNvSpPr/>
          <p:nvPr/>
        </p:nvSpPr>
        <p:spPr>
          <a:xfrm>
            <a:off x="1082765" y="1777445"/>
            <a:ext cx="1919031" cy="1919031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12" name="表格 5">
            <a:extLst>
              <a:ext uri="{FF2B5EF4-FFF2-40B4-BE49-F238E27FC236}">
                <a16:creationId xmlns:a16="http://schemas.microsoft.com/office/drawing/2014/main" id="{9942CF1C-6246-2765-EBD4-3BC05C9BC8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3865396"/>
              </p:ext>
            </p:extLst>
          </p:nvPr>
        </p:nvGraphicFramePr>
        <p:xfrm>
          <a:off x="875211" y="2062236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71F122FA-DB79-4B6B-0CE3-B274CB38E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⭐️ Convolutions</a:t>
            </a:r>
            <a:r>
              <a:rPr kumimoji="1" lang="zh-TW" altLang="en-US" dirty="0"/>
              <a:t> </a:t>
            </a:r>
            <a:r>
              <a:rPr kumimoji="1" lang="en-US" altLang="zh-TW" dirty="0"/>
              <a:t>(RGB)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F008E88-D909-7A33-34D4-35900E77B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4209CF-6155-7015-6DD1-C0E64129F0E2}"/>
              </a:ext>
            </a:extLst>
          </p:cNvPr>
          <p:cNvSpPr/>
          <p:nvPr/>
        </p:nvSpPr>
        <p:spPr>
          <a:xfrm>
            <a:off x="875211" y="2060026"/>
            <a:ext cx="1919031" cy="1919031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4DEE7983-EAAD-49FC-6244-A1261D22D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463023"/>
              </p:ext>
            </p:extLst>
          </p:nvPr>
        </p:nvGraphicFramePr>
        <p:xfrm>
          <a:off x="667656" y="2347075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599E6A2E-E0A7-96C1-B825-2A2E0836C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50193"/>
              </p:ext>
            </p:extLst>
          </p:nvPr>
        </p:nvGraphicFramePr>
        <p:xfrm>
          <a:off x="5330419" y="1667321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E98C6ABB-11DC-F479-D1C3-C405B4D3118E}"/>
              </a:ext>
            </a:extLst>
          </p:cNvPr>
          <p:cNvSpPr/>
          <p:nvPr/>
        </p:nvSpPr>
        <p:spPr>
          <a:xfrm>
            <a:off x="667898" y="2345602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50C35A6-B360-DD9D-301F-DB1EC270BB19}"/>
              </a:ext>
            </a:extLst>
          </p:cNvPr>
          <p:cNvSpPr txBox="1"/>
          <p:nvPr/>
        </p:nvSpPr>
        <p:spPr>
          <a:xfrm>
            <a:off x="5310918" y="3036682"/>
            <a:ext cx="14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(R) Filter</a:t>
            </a:r>
            <a:endParaRPr kumimoji="1" lang="zh-TW" altLang="en-US" dirty="0"/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EBA9C10A-B7AC-71B2-7516-2F5F0C2D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0533298"/>
              </p:ext>
            </p:extLst>
          </p:nvPr>
        </p:nvGraphicFramePr>
        <p:xfrm>
          <a:off x="7180070" y="1751141"/>
          <a:ext cx="1554969" cy="155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23">
                  <a:extLst>
                    <a:ext uri="{9D8B030D-6E8A-4147-A177-3AD203B41FA5}">
                      <a16:colId xmlns:a16="http://schemas.microsoft.com/office/drawing/2014/main" val="2779258007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2252260780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3804569238"/>
                    </a:ext>
                  </a:extLst>
                </a:gridCol>
              </a:tblGrid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721556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88845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48715"/>
                  </a:ext>
                </a:extLst>
              </a:tr>
            </a:tbl>
          </a:graphicData>
        </a:graphic>
      </p:graphicFrame>
      <p:graphicFrame>
        <p:nvGraphicFramePr>
          <p:cNvPr id="17" name="表格 16">
            <a:extLst>
              <a:ext uri="{FF2B5EF4-FFF2-40B4-BE49-F238E27FC236}">
                <a16:creationId xmlns:a16="http://schemas.microsoft.com/office/drawing/2014/main" id="{EA1398C8-0810-C2DF-6B17-396D299B511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7794640"/>
              </p:ext>
            </p:extLst>
          </p:nvPr>
        </p:nvGraphicFramePr>
        <p:xfrm>
          <a:off x="7180069" y="3435752"/>
          <a:ext cx="1554969" cy="155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23">
                  <a:extLst>
                    <a:ext uri="{9D8B030D-6E8A-4147-A177-3AD203B41FA5}">
                      <a16:colId xmlns:a16="http://schemas.microsoft.com/office/drawing/2014/main" val="2779258007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2252260780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3804569238"/>
                    </a:ext>
                  </a:extLst>
                </a:gridCol>
              </a:tblGrid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721556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88845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48715"/>
                  </a:ext>
                </a:extLst>
              </a:tr>
            </a:tbl>
          </a:graphicData>
        </a:graphic>
      </p:graphicFrame>
      <p:graphicFrame>
        <p:nvGraphicFramePr>
          <p:cNvPr id="18" name="表格 17">
            <a:extLst>
              <a:ext uri="{FF2B5EF4-FFF2-40B4-BE49-F238E27FC236}">
                <a16:creationId xmlns:a16="http://schemas.microsoft.com/office/drawing/2014/main" id="{5889E2B7-4A58-89AC-F111-505591EFBE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693816"/>
              </p:ext>
            </p:extLst>
          </p:nvPr>
        </p:nvGraphicFramePr>
        <p:xfrm>
          <a:off x="7180070" y="5120364"/>
          <a:ext cx="1554969" cy="155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23">
                  <a:extLst>
                    <a:ext uri="{9D8B030D-6E8A-4147-A177-3AD203B41FA5}">
                      <a16:colId xmlns:a16="http://schemas.microsoft.com/office/drawing/2014/main" val="2779258007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2252260780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3804569238"/>
                    </a:ext>
                  </a:extLst>
                </a:gridCol>
              </a:tblGrid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721556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88845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48715"/>
                  </a:ext>
                </a:extLst>
              </a:tr>
            </a:tbl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8655F836-A944-A83A-D789-9514CCDE095B}"/>
              </a:ext>
            </a:extLst>
          </p:cNvPr>
          <p:cNvSpPr/>
          <p:nvPr/>
        </p:nvSpPr>
        <p:spPr>
          <a:xfrm>
            <a:off x="7180069" y="1751141"/>
            <a:ext cx="1554969" cy="15549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C532F50-1EFB-7205-48B4-1A17CCD7BF0C}"/>
              </a:ext>
            </a:extLst>
          </p:cNvPr>
          <p:cNvSpPr/>
          <p:nvPr/>
        </p:nvSpPr>
        <p:spPr>
          <a:xfrm>
            <a:off x="7180068" y="3429000"/>
            <a:ext cx="1554969" cy="1554969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29F91FA-2330-CBEB-102E-860E7EFA3ADB}"/>
              </a:ext>
            </a:extLst>
          </p:cNvPr>
          <p:cNvSpPr/>
          <p:nvPr/>
        </p:nvSpPr>
        <p:spPr>
          <a:xfrm>
            <a:off x="7180067" y="5120364"/>
            <a:ext cx="1554969" cy="155496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1BF83655-3A8C-5C61-C549-1FAB32B4D5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03421"/>
              </p:ext>
            </p:extLst>
          </p:nvPr>
        </p:nvGraphicFramePr>
        <p:xfrm>
          <a:off x="9666222" y="3429000"/>
          <a:ext cx="1554969" cy="1553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8323">
                  <a:extLst>
                    <a:ext uri="{9D8B030D-6E8A-4147-A177-3AD203B41FA5}">
                      <a16:colId xmlns:a16="http://schemas.microsoft.com/office/drawing/2014/main" val="2779258007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2252260780"/>
                    </a:ext>
                  </a:extLst>
                </a:gridCol>
                <a:gridCol w="518323">
                  <a:extLst>
                    <a:ext uri="{9D8B030D-6E8A-4147-A177-3AD203B41FA5}">
                      <a16:colId xmlns:a16="http://schemas.microsoft.com/office/drawing/2014/main" val="3804569238"/>
                    </a:ext>
                  </a:extLst>
                </a:gridCol>
              </a:tblGrid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4721556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9188845"/>
                  </a:ext>
                </a:extLst>
              </a:tr>
              <a:tr h="517992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200" b="0" dirty="0">
                          <a:solidFill>
                            <a:schemeClr val="tx1"/>
                          </a:solidFill>
                          <a:latin typeface="+mn-lt"/>
                        </a:rPr>
                        <a:t>-3</a:t>
                      </a:r>
                      <a:endParaRPr lang="zh-TW" altLang="en-US" sz="22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8650" marR="68650" marT="34325" marB="343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48715"/>
                  </a:ext>
                </a:extLst>
              </a:tr>
            </a:tbl>
          </a:graphicData>
        </a:graphic>
      </p:graphicFrame>
      <p:cxnSp>
        <p:nvCxnSpPr>
          <p:cNvPr id="24" name="直線箭頭接點 23">
            <a:extLst>
              <a:ext uri="{FF2B5EF4-FFF2-40B4-BE49-F238E27FC236}">
                <a16:creationId xmlns:a16="http://schemas.microsoft.com/office/drawing/2014/main" id="{C8EA3179-2ED3-5E33-783F-DE8B91126D8A}"/>
              </a:ext>
            </a:extLst>
          </p:cNvPr>
          <p:cNvCxnSpPr/>
          <p:nvPr/>
        </p:nvCxnSpPr>
        <p:spPr>
          <a:xfrm>
            <a:off x="8874031" y="2477946"/>
            <a:ext cx="635726" cy="13886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箭頭接點 24">
            <a:extLst>
              <a:ext uri="{FF2B5EF4-FFF2-40B4-BE49-F238E27FC236}">
                <a16:creationId xmlns:a16="http://schemas.microsoft.com/office/drawing/2014/main" id="{EA7CAD03-E897-B88D-A105-37BCBAAE721C}"/>
              </a:ext>
            </a:extLst>
          </p:cNvPr>
          <p:cNvCxnSpPr>
            <a:cxnSpLocks/>
          </p:cNvCxnSpPr>
          <p:nvPr/>
        </p:nvCxnSpPr>
        <p:spPr>
          <a:xfrm flipV="1">
            <a:off x="8874031" y="4508692"/>
            <a:ext cx="635726" cy="138866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B7685D1E-D938-0499-BE13-A2E0EF04BA20}"/>
              </a:ext>
            </a:extLst>
          </p:cNvPr>
          <p:cNvCxnSpPr>
            <a:cxnSpLocks/>
          </p:cNvCxnSpPr>
          <p:nvPr/>
        </p:nvCxnSpPr>
        <p:spPr>
          <a:xfrm>
            <a:off x="8887439" y="4227092"/>
            <a:ext cx="622318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A99FB49D-0DE0-99FE-BAC3-CCF506D6FACF}"/>
              </a:ext>
            </a:extLst>
          </p:cNvPr>
          <p:cNvSpPr txBox="1"/>
          <p:nvPr/>
        </p:nvSpPr>
        <p:spPr>
          <a:xfrm>
            <a:off x="9181129" y="2269422"/>
            <a:ext cx="18112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先各自與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Filter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做內積後相加</a:t>
            </a: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13B81938-2387-AA97-785E-354C1E599677}"/>
              </a:ext>
            </a:extLst>
          </p:cNvPr>
          <p:cNvSpPr txBox="1"/>
          <p:nvPr/>
        </p:nvSpPr>
        <p:spPr>
          <a:xfrm>
            <a:off x="328481" y="2361754"/>
            <a:ext cx="334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FF0000"/>
                </a:solidFill>
              </a:rPr>
              <a:t>R</a:t>
            </a:r>
            <a:endParaRPr kumimoji="1" lang="zh-TW" altLang="en-US" sz="2400" dirty="0">
              <a:solidFill>
                <a:srgbClr val="FF0000"/>
              </a:solidFill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9A0B659B-FBC9-4D1A-54C6-036FCBEB58BA}"/>
              </a:ext>
            </a:extLst>
          </p:cNvPr>
          <p:cNvSpPr txBox="1"/>
          <p:nvPr/>
        </p:nvSpPr>
        <p:spPr>
          <a:xfrm>
            <a:off x="495924" y="1934456"/>
            <a:ext cx="334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B050"/>
                </a:solidFill>
              </a:rPr>
              <a:t>G</a:t>
            </a:r>
            <a:endParaRPr kumimoji="1" lang="zh-TW" altLang="en-US" sz="2400" dirty="0">
              <a:solidFill>
                <a:srgbClr val="00B050"/>
              </a:solidFill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BEA53DE5-EE20-FB0C-2561-25F1120D9F12}"/>
              </a:ext>
            </a:extLst>
          </p:cNvPr>
          <p:cNvSpPr txBox="1"/>
          <p:nvPr/>
        </p:nvSpPr>
        <p:spPr>
          <a:xfrm>
            <a:off x="751767" y="1635248"/>
            <a:ext cx="334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400" dirty="0">
                <a:solidFill>
                  <a:srgbClr val="0070C0"/>
                </a:solidFill>
              </a:rPr>
              <a:t>B</a:t>
            </a:r>
            <a:endParaRPr kumimoji="1" lang="zh-TW" altLang="en-US" sz="2400" dirty="0">
              <a:solidFill>
                <a:srgbClr val="0070C0"/>
              </a:solidFill>
            </a:endParaRPr>
          </a:p>
        </p:txBody>
      </p:sp>
      <p:cxnSp>
        <p:nvCxnSpPr>
          <p:cNvPr id="33" name="直線箭頭接點 32">
            <a:extLst>
              <a:ext uri="{FF2B5EF4-FFF2-40B4-BE49-F238E27FC236}">
                <a16:creationId xmlns:a16="http://schemas.microsoft.com/office/drawing/2014/main" id="{5A7E4C23-1D13-0B01-2B70-28DE1650FD47}"/>
              </a:ext>
            </a:extLst>
          </p:cNvPr>
          <p:cNvCxnSpPr>
            <a:cxnSpLocks/>
          </p:cNvCxnSpPr>
          <p:nvPr/>
        </p:nvCxnSpPr>
        <p:spPr>
          <a:xfrm>
            <a:off x="10443706" y="5120364"/>
            <a:ext cx="0" cy="3332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DE0F7E03-C5FC-9003-310D-8AE76552189A}"/>
              </a:ext>
            </a:extLst>
          </p:cNvPr>
          <p:cNvSpPr txBox="1"/>
          <p:nvPr/>
        </p:nvSpPr>
        <p:spPr>
          <a:xfrm>
            <a:off x="10282029" y="5496223"/>
            <a:ext cx="3309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dirty="0"/>
              <a:t>3</a:t>
            </a:r>
            <a:endParaRPr kumimoji="1" lang="zh-TW" altLang="en-US" sz="2400" dirty="0"/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E81817B-C035-CA5F-61C7-C5F7FA5283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2227565"/>
              </p:ext>
            </p:extLst>
          </p:nvPr>
        </p:nvGraphicFramePr>
        <p:xfrm>
          <a:off x="5336514" y="3406014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10" name="文字方塊 9">
            <a:extLst>
              <a:ext uri="{FF2B5EF4-FFF2-40B4-BE49-F238E27FC236}">
                <a16:creationId xmlns:a16="http://schemas.microsoft.com/office/drawing/2014/main" id="{83379B75-8E9E-47D7-D3B8-D14C82BC9BC4}"/>
              </a:ext>
            </a:extLst>
          </p:cNvPr>
          <p:cNvSpPr txBox="1"/>
          <p:nvPr/>
        </p:nvSpPr>
        <p:spPr>
          <a:xfrm>
            <a:off x="5330419" y="4769739"/>
            <a:ext cx="14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(G) Filter</a:t>
            </a:r>
            <a:endParaRPr kumimoji="1" lang="zh-TW" altLang="en-US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11DF0F27-78C3-30DB-0523-D42B9A4A9E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721897"/>
              </p:ext>
            </p:extLst>
          </p:nvPr>
        </p:nvGraphicFramePr>
        <p:xfrm>
          <a:off x="5341842" y="5112202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23" name="文字方塊 22">
            <a:extLst>
              <a:ext uri="{FF2B5EF4-FFF2-40B4-BE49-F238E27FC236}">
                <a16:creationId xmlns:a16="http://schemas.microsoft.com/office/drawing/2014/main" id="{76EC6DC3-E530-A1EE-0B4E-A46619BF5409}"/>
              </a:ext>
            </a:extLst>
          </p:cNvPr>
          <p:cNvSpPr txBox="1"/>
          <p:nvPr/>
        </p:nvSpPr>
        <p:spPr>
          <a:xfrm>
            <a:off x="5355008" y="6482770"/>
            <a:ext cx="14035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(B) Filter</a:t>
            </a:r>
            <a:endParaRPr kumimoji="1" lang="zh-TW" altLang="en-US" dirty="0"/>
          </a:p>
        </p:txBody>
      </p: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F9E77E5F-DF43-16E8-5AAE-C7787F124948}"/>
              </a:ext>
            </a:extLst>
          </p:cNvPr>
          <p:cNvGrpSpPr/>
          <p:nvPr/>
        </p:nvGrpSpPr>
        <p:grpSpPr>
          <a:xfrm>
            <a:off x="7100047" y="318557"/>
            <a:ext cx="4471467" cy="1169584"/>
            <a:chOff x="7100047" y="318557"/>
            <a:chExt cx="4471467" cy="1169584"/>
          </a:xfrm>
        </p:grpSpPr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B41937A5-E721-393F-9A18-C7CE332BA9A7}"/>
                </a:ext>
              </a:extLst>
            </p:cNvPr>
            <p:cNvSpPr txBox="1"/>
            <p:nvPr/>
          </p:nvSpPr>
          <p:spPr>
            <a:xfrm>
              <a:off x="7548981" y="576946"/>
              <a:ext cx="37199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filters 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數值可能都是不同的！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(</a:t>
              </a:r>
              <a:r>
                <a:rPr kumimoji="1" lang="zh-TW" altLang="en-US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為了方便計算，簡報使用一樣的數字</a:t>
              </a:r>
              <a:r>
                <a:rPr kumimoji="1" lang="en-US" altLang="zh-TW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)</a:t>
              </a:r>
              <a:endPara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7" name="橢圓圖說文字 6">
              <a:extLst>
                <a:ext uri="{FF2B5EF4-FFF2-40B4-BE49-F238E27FC236}">
                  <a16:creationId xmlns:a16="http://schemas.microsoft.com/office/drawing/2014/main" id="{65BFE33C-9814-3736-7BB9-D5D3C98A4BFF}"/>
                </a:ext>
              </a:extLst>
            </p:cNvPr>
            <p:cNvSpPr/>
            <p:nvPr/>
          </p:nvSpPr>
          <p:spPr>
            <a:xfrm>
              <a:off x="7100047" y="318557"/>
              <a:ext cx="4471467" cy="1169584"/>
            </a:xfrm>
            <a:prstGeom prst="wedgeEllipseCallou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085757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23562-A54C-AF59-254A-6E11064E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Filters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數目與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 err="1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output_channels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的關係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1D778-EA66-6E73-C434-76B8D96A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B42D0E8C-C705-E9D5-F0F5-BABE6BE1A6E4}"/>
              </a:ext>
            </a:extLst>
          </p:cNvPr>
          <p:cNvSpPr txBox="1"/>
          <p:nvPr/>
        </p:nvSpPr>
        <p:spPr>
          <a:xfrm>
            <a:off x="792480" y="1946650"/>
            <a:ext cx="9820475" cy="2794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Filters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的數目可以調整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對輸入層來說，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1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個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filter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照顧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3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個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channels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的資料，輸出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1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個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 map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使用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64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個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 filters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，就會輸出 </a:t>
            </a: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64 </a:t>
            </a:r>
            <a:r>
              <a:rPr kumimoji="1" lang="zh-TW" altLang="en-US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個 </a:t>
            </a:r>
            <a:r>
              <a:rPr kumimoji="1" lang="en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 maps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可調整參數為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: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num_filters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*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input_channels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*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filter_size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* 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filter_size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CB59473-9494-CAC8-8D41-074F67E234B5}"/>
              </a:ext>
            </a:extLst>
          </p:cNvPr>
          <p:cNvSpPr txBox="1"/>
          <p:nvPr/>
        </p:nvSpPr>
        <p:spPr>
          <a:xfrm>
            <a:off x="4423717" y="5152768"/>
            <a:ext cx="618923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 dirty="0">
                <a:solidFill>
                  <a:srgbClr val="0070C0"/>
                </a:solidFill>
              </a:rPr>
              <a:t>就是</a:t>
            </a:r>
            <a:r>
              <a:rPr kumimoji="1" lang="en" altLang="zh-TW" sz="2400" b="1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torch.nn.Conv2d</a:t>
            </a:r>
            <a:r>
              <a:rPr kumimoji="1" lang="zh-TW" altLang="en-US" sz="2400" b="1" dirty="0">
                <a:solidFill>
                  <a:srgbClr val="0070C0"/>
                </a:solidFill>
              </a:rPr>
              <a:t>的</a:t>
            </a:r>
            <a:r>
              <a:rPr kumimoji="1" lang="en" altLang="zh-TW" sz="2400" b="1" dirty="0" err="1">
                <a:solidFill>
                  <a:srgbClr val="0070C0"/>
                </a:solidFill>
              </a:rPr>
              <a:t>out_channels</a:t>
            </a:r>
            <a:endParaRPr kumimoji="1" lang="zh-TW" altLang="en-US" sz="2400" b="1" dirty="0">
              <a:solidFill>
                <a:srgbClr val="0070C0"/>
              </a:solidFill>
            </a:endParaRPr>
          </a:p>
        </p:txBody>
      </p:sp>
      <p:cxnSp>
        <p:nvCxnSpPr>
          <p:cNvPr id="6" name="肘形接點 5">
            <a:extLst>
              <a:ext uri="{FF2B5EF4-FFF2-40B4-BE49-F238E27FC236}">
                <a16:creationId xmlns:a16="http://schemas.microsoft.com/office/drawing/2014/main" id="{60769309-DF61-686D-3DAE-4AD85505D1E9}"/>
              </a:ext>
            </a:extLst>
          </p:cNvPr>
          <p:cNvCxnSpPr>
            <a:endCxn id="3" idx="1"/>
          </p:cNvCxnSpPr>
          <p:nvPr/>
        </p:nvCxnSpPr>
        <p:spPr>
          <a:xfrm rot="16200000" flipH="1">
            <a:off x="3855285" y="4815169"/>
            <a:ext cx="642596" cy="494268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12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字方塊 15">
            <a:extLst>
              <a:ext uri="{FF2B5EF4-FFF2-40B4-BE49-F238E27FC236}">
                <a16:creationId xmlns:a16="http://schemas.microsoft.com/office/drawing/2014/main" id="{462A0E56-AC88-165E-F9ED-3CEF0D4D13D8}"/>
              </a:ext>
            </a:extLst>
          </p:cNvPr>
          <p:cNvSpPr txBox="1"/>
          <p:nvPr/>
        </p:nvSpPr>
        <p:spPr>
          <a:xfrm rot="5400000">
            <a:off x="5439936" y="6074897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F69C6461-02BC-D2BA-953A-09F1CCF55464}"/>
              </a:ext>
            </a:extLst>
          </p:cNvPr>
          <p:cNvSpPr txBox="1"/>
          <p:nvPr/>
        </p:nvSpPr>
        <p:spPr>
          <a:xfrm rot="5400000">
            <a:off x="5450372" y="4336667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007431F-296F-E59A-083C-C8AC5DF5AEDB}"/>
              </a:ext>
            </a:extLst>
          </p:cNvPr>
          <p:cNvSpPr txBox="1"/>
          <p:nvPr/>
        </p:nvSpPr>
        <p:spPr>
          <a:xfrm rot="5400000">
            <a:off x="5450372" y="2589293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1923562-A54C-AF59-254A-6E11064E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⭐️ Convolutional layer is not fully-connected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1D778-EA66-6E73-C434-76B8D96A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90EC7644-4B2E-AA38-A1DC-698998F7CD58}"/>
              </a:ext>
            </a:extLst>
          </p:cNvPr>
          <p:cNvSpPr/>
          <p:nvPr/>
        </p:nvSpPr>
        <p:spPr>
          <a:xfrm>
            <a:off x="5544296" y="1591353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E3E7E970-4E76-DDE9-E115-919378C2FA0D}"/>
              </a:ext>
            </a:extLst>
          </p:cNvPr>
          <p:cNvSpPr/>
          <p:nvPr/>
        </p:nvSpPr>
        <p:spPr>
          <a:xfrm>
            <a:off x="5544296" y="2073007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5A16EAB-7348-363C-03D9-DA70AC623BCD}"/>
              </a:ext>
            </a:extLst>
          </p:cNvPr>
          <p:cNvSpPr/>
          <p:nvPr/>
        </p:nvSpPr>
        <p:spPr>
          <a:xfrm>
            <a:off x="5539469" y="2859391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3A3D7A72-DC2D-728B-CDA0-AE2675FDAD41}"/>
              </a:ext>
            </a:extLst>
          </p:cNvPr>
          <p:cNvSpPr/>
          <p:nvPr/>
        </p:nvSpPr>
        <p:spPr>
          <a:xfrm>
            <a:off x="5544296" y="3338727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19059193-CB74-581A-A52B-05EA8661776A}"/>
              </a:ext>
            </a:extLst>
          </p:cNvPr>
          <p:cNvSpPr/>
          <p:nvPr/>
        </p:nvSpPr>
        <p:spPr>
          <a:xfrm>
            <a:off x="5544296" y="3820381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F4F5B039-FEAC-3AB0-3D94-F88C57B999D6}"/>
              </a:ext>
            </a:extLst>
          </p:cNvPr>
          <p:cNvSpPr/>
          <p:nvPr/>
        </p:nvSpPr>
        <p:spPr>
          <a:xfrm>
            <a:off x="5539469" y="4606765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CD8CECAB-920E-1148-5880-90C563AD9876}"/>
              </a:ext>
            </a:extLst>
          </p:cNvPr>
          <p:cNvSpPr/>
          <p:nvPr/>
        </p:nvSpPr>
        <p:spPr>
          <a:xfrm>
            <a:off x="5533860" y="5076957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83D29E24-DD5F-49B3-9F9D-9750CCA8D052}"/>
              </a:ext>
            </a:extLst>
          </p:cNvPr>
          <p:cNvSpPr/>
          <p:nvPr/>
        </p:nvSpPr>
        <p:spPr>
          <a:xfrm>
            <a:off x="5533860" y="5558611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BB99A6CE-B47B-43A1-BB01-AB4245C1CE57}"/>
              </a:ext>
            </a:extLst>
          </p:cNvPr>
          <p:cNvSpPr/>
          <p:nvPr/>
        </p:nvSpPr>
        <p:spPr>
          <a:xfrm>
            <a:off x="5529033" y="6344995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22" name="表格 5">
            <a:extLst>
              <a:ext uri="{FF2B5EF4-FFF2-40B4-BE49-F238E27FC236}">
                <a16:creationId xmlns:a16="http://schemas.microsoft.com/office/drawing/2014/main" id="{EA6EEED0-D8F2-3F84-EED0-F64514606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7560606"/>
              </p:ext>
            </p:extLst>
          </p:nvPr>
        </p:nvGraphicFramePr>
        <p:xfrm>
          <a:off x="714880" y="1991141"/>
          <a:ext cx="3837576" cy="38351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295968240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1548686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2518844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4388671"/>
                  </a:ext>
                </a:extLst>
              </a:tr>
            </a:tbl>
          </a:graphicData>
        </a:graphic>
      </p:graphicFrame>
      <p:sp>
        <p:nvSpPr>
          <p:cNvPr id="34" name="橢圓 33">
            <a:extLst>
              <a:ext uri="{FF2B5EF4-FFF2-40B4-BE49-F238E27FC236}">
                <a16:creationId xmlns:a16="http://schemas.microsoft.com/office/drawing/2014/main" id="{A98606B9-D38F-3FC4-2EBA-8F6EBD5F56EA}"/>
              </a:ext>
            </a:extLst>
          </p:cNvPr>
          <p:cNvSpPr/>
          <p:nvPr/>
        </p:nvSpPr>
        <p:spPr>
          <a:xfrm>
            <a:off x="7248703" y="270294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B3ABAC-C3DF-45DD-60A1-32EC697A7603}"/>
                  </a:ext>
                </a:extLst>
              </p:cNvPr>
              <p:cNvSpPr txBox="1"/>
              <p:nvPr/>
            </p:nvSpPr>
            <p:spPr>
              <a:xfrm>
                <a:off x="7305720" y="2788639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2AB3ABAC-C3DF-45DD-60A1-32EC697A7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720" y="2788639"/>
                <a:ext cx="5158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直線接點 36">
            <a:extLst>
              <a:ext uri="{FF2B5EF4-FFF2-40B4-BE49-F238E27FC236}">
                <a16:creationId xmlns:a16="http://schemas.microsoft.com/office/drawing/2014/main" id="{60EA73F3-6505-95D5-CEE7-1A5C39AA99D3}"/>
              </a:ext>
            </a:extLst>
          </p:cNvPr>
          <p:cNvCxnSpPr>
            <a:cxnSpLocks/>
            <a:stCxn id="5" idx="6"/>
            <a:endCxn id="34" idx="2"/>
          </p:cNvCxnSpPr>
          <p:nvPr/>
        </p:nvCxnSpPr>
        <p:spPr>
          <a:xfrm>
            <a:off x="5937488" y="1787949"/>
            <a:ext cx="1311215" cy="1200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5EA58409-E454-B647-4FA2-60B3BDDCCC32}"/>
              </a:ext>
            </a:extLst>
          </p:cNvPr>
          <p:cNvCxnSpPr>
            <a:cxnSpLocks/>
            <a:stCxn id="6" idx="6"/>
            <a:endCxn id="34" idx="2"/>
          </p:cNvCxnSpPr>
          <p:nvPr/>
        </p:nvCxnSpPr>
        <p:spPr>
          <a:xfrm>
            <a:off x="5937488" y="2269603"/>
            <a:ext cx="1311215" cy="7190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線接點 41">
            <a:extLst>
              <a:ext uri="{FF2B5EF4-FFF2-40B4-BE49-F238E27FC236}">
                <a16:creationId xmlns:a16="http://schemas.microsoft.com/office/drawing/2014/main" id="{310D2688-953C-A07F-33CC-17258DBBBA14}"/>
              </a:ext>
            </a:extLst>
          </p:cNvPr>
          <p:cNvCxnSpPr>
            <a:cxnSpLocks/>
            <a:stCxn id="7" idx="6"/>
            <a:endCxn id="34" idx="2"/>
          </p:cNvCxnSpPr>
          <p:nvPr/>
        </p:nvCxnSpPr>
        <p:spPr>
          <a:xfrm flipV="1">
            <a:off x="5932661" y="2988694"/>
            <a:ext cx="1316042" cy="67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>
            <a:extLst>
              <a:ext uri="{FF2B5EF4-FFF2-40B4-BE49-F238E27FC236}">
                <a16:creationId xmlns:a16="http://schemas.microsoft.com/office/drawing/2014/main" id="{A85A6F07-FBE6-7D75-E0B1-AAD3C95B3B36}"/>
              </a:ext>
            </a:extLst>
          </p:cNvPr>
          <p:cNvCxnSpPr>
            <a:cxnSpLocks/>
            <a:stCxn id="9" idx="6"/>
            <a:endCxn id="38" idx="2"/>
          </p:cNvCxnSpPr>
          <p:nvPr/>
        </p:nvCxnSpPr>
        <p:spPr>
          <a:xfrm>
            <a:off x="5937488" y="3535323"/>
            <a:ext cx="1319207" cy="71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E85FF60D-5D6E-0E4E-378E-308EA8255E45}"/>
              </a:ext>
            </a:extLst>
          </p:cNvPr>
          <p:cNvCxnSpPr>
            <a:cxnSpLocks/>
            <a:stCxn id="10" idx="6"/>
            <a:endCxn id="38" idx="2"/>
          </p:cNvCxnSpPr>
          <p:nvPr/>
        </p:nvCxnSpPr>
        <p:spPr>
          <a:xfrm flipV="1">
            <a:off x="5937488" y="3607109"/>
            <a:ext cx="1319207" cy="4098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E3E9BF84-9ADC-C930-3152-152939A5965E}"/>
              </a:ext>
            </a:extLst>
          </p:cNvPr>
          <p:cNvCxnSpPr>
            <a:cxnSpLocks/>
            <a:stCxn id="11" idx="6"/>
            <a:endCxn id="38" idx="2"/>
          </p:cNvCxnSpPr>
          <p:nvPr/>
        </p:nvCxnSpPr>
        <p:spPr>
          <a:xfrm flipV="1">
            <a:off x="5932661" y="3607109"/>
            <a:ext cx="1324034" cy="11962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B122C19C-D3F9-F557-9536-848964849B61}"/>
              </a:ext>
            </a:extLst>
          </p:cNvPr>
          <p:cNvCxnSpPr>
            <a:cxnSpLocks/>
            <a:stCxn id="13" idx="6"/>
            <a:endCxn id="57" idx="2"/>
          </p:cNvCxnSpPr>
          <p:nvPr/>
        </p:nvCxnSpPr>
        <p:spPr>
          <a:xfrm flipV="1">
            <a:off x="5927052" y="4936255"/>
            <a:ext cx="1321651" cy="337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7C9D99D5-5968-8139-FCF2-234D1407C839}"/>
              </a:ext>
            </a:extLst>
          </p:cNvPr>
          <p:cNvCxnSpPr>
            <a:cxnSpLocks/>
            <a:stCxn id="14" idx="6"/>
            <a:endCxn id="57" idx="2"/>
          </p:cNvCxnSpPr>
          <p:nvPr/>
        </p:nvCxnSpPr>
        <p:spPr>
          <a:xfrm flipV="1">
            <a:off x="5927052" y="4936255"/>
            <a:ext cx="1321651" cy="81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A936445F-444F-7169-98E1-65A38D384F23}"/>
              </a:ext>
            </a:extLst>
          </p:cNvPr>
          <p:cNvCxnSpPr>
            <a:cxnSpLocks/>
            <a:stCxn id="15" idx="6"/>
            <a:endCxn id="57" idx="2"/>
          </p:cNvCxnSpPr>
          <p:nvPr/>
        </p:nvCxnSpPr>
        <p:spPr>
          <a:xfrm flipV="1">
            <a:off x="5922225" y="4936255"/>
            <a:ext cx="1326478" cy="16053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85D698C-3B92-E799-6BBA-A918F03F8C3F}"/>
                  </a:ext>
                </a:extLst>
              </p:cNvPr>
              <p:cNvSpPr txBox="1"/>
              <p:nvPr/>
            </p:nvSpPr>
            <p:spPr>
              <a:xfrm>
                <a:off x="6105863" y="1688133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0" name="文字方塊 69">
                <a:extLst>
                  <a:ext uri="{FF2B5EF4-FFF2-40B4-BE49-F238E27FC236}">
                    <a16:creationId xmlns:a16="http://schemas.microsoft.com/office/drawing/2014/main" id="{D85D698C-3B92-E799-6BBA-A918F03F8C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5863" y="1688133"/>
                <a:ext cx="5158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7F67AD2-C869-CF8C-8604-1477743E72E9}"/>
                  </a:ext>
                </a:extLst>
              </p:cNvPr>
              <p:cNvSpPr txBox="1"/>
              <p:nvPr/>
            </p:nvSpPr>
            <p:spPr>
              <a:xfrm>
                <a:off x="6101319" y="212670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37F67AD2-C869-CF8C-8604-1477743E7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9" y="2126704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9AED3D4-6B6E-379D-1DF6-221706292968}"/>
                  </a:ext>
                </a:extLst>
              </p:cNvPr>
              <p:cNvSpPr txBox="1"/>
              <p:nvPr/>
            </p:nvSpPr>
            <p:spPr>
              <a:xfrm>
                <a:off x="6108725" y="2662602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2" name="文字方塊 71">
                <a:extLst>
                  <a:ext uri="{FF2B5EF4-FFF2-40B4-BE49-F238E27FC236}">
                    <a16:creationId xmlns:a16="http://schemas.microsoft.com/office/drawing/2014/main" id="{49AED3D4-6B6E-379D-1DF6-221706292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8725" y="2662602"/>
                <a:ext cx="51587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15F54B4-F5D2-8123-4A30-A04C9F662FAE}"/>
                  </a:ext>
                </a:extLst>
              </p:cNvPr>
              <p:cNvSpPr txBox="1"/>
              <p:nvPr/>
            </p:nvSpPr>
            <p:spPr>
              <a:xfrm>
                <a:off x="6101929" y="397777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3" name="文字方塊 72">
                <a:extLst>
                  <a:ext uri="{FF2B5EF4-FFF2-40B4-BE49-F238E27FC236}">
                    <a16:creationId xmlns:a16="http://schemas.microsoft.com/office/drawing/2014/main" id="{D15F54B4-F5D2-8123-4A30-A04C9F662F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929" y="3977770"/>
                <a:ext cx="5158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1B0C0882-8244-7509-4473-1FBB795015CA}"/>
                  </a:ext>
                </a:extLst>
              </p:cNvPr>
              <p:cNvSpPr txBox="1"/>
              <p:nvPr/>
            </p:nvSpPr>
            <p:spPr>
              <a:xfrm>
                <a:off x="6101319" y="3505159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4" name="文字方塊 73">
                <a:extLst>
                  <a:ext uri="{FF2B5EF4-FFF2-40B4-BE49-F238E27FC236}">
                    <a16:creationId xmlns:a16="http://schemas.microsoft.com/office/drawing/2014/main" id="{1B0C0882-8244-7509-4473-1FBB79501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9" y="3505159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5591B61C-B1F9-4937-2E78-60773F91F8A6}"/>
                  </a:ext>
                </a:extLst>
              </p:cNvPr>
              <p:cNvSpPr txBox="1"/>
              <p:nvPr/>
            </p:nvSpPr>
            <p:spPr>
              <a:xfrm>
                <a:off x="6101319" y="317221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文字方塊 74">
                <a:extLst>
                  <a:ext uri="{FF2B5EF4-FFF2-40B4-BE49-F238E27FC236}">
                    <a16:creationId xmlns:a16="http://schemas.microsoft.com/office/drawing/2014/main" id="{5591B61C-B1F9-4937-2E78-60773F91F8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1319" y="3172210"/>
                <a:ext cx="5158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EB05666-FA64-3BBD-3F20-4F3A181DB65B}"/>
                  </a:ext>
                </a:extLst>
              </p:cNvPr>
              <p:cNvSpPr txBox="1"/>
              <p:nvPr/>
            </p:nvSpPr>
            <p:spPr>
              <a:xfrm>
                <a:off x="5932661" y="623364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6" name="文字方塊 75">
                <a:extLst>
                  <a:ext uri="{FF2B5EF4-FFF2-40B4-BE49-F238E27FC236}">
                    <a16:creationId xmlns:a16="http://schemas.microsoft.com/office/drawing/2014/main" id="{BEB05666-FA64-3BBD-3F20-4F3A181DB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61" y="6233647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070AF6F0-55AD-ECDB-C69F-918CE44EB260}"/>
                  </a:ext>
                </a:extLst>
              </p:cNvPr>
              <p:cNvSpPr txBox="1"/>
              <p:nvPr/>
            </p:nvSpPr>
            <p:spPr>
              <a:xfrm>
                <a:off x="5927447" y="5121401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070AF6F0-55AD-ECDB-C69F-918CE44EB2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7447" y="5121401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E3A4D38B-6D58-A135-49D0-EA7D7A02762C}"/>
                  </a:ext>
                </a:extLst>
              </p:cNvPr>
              <p:cNvSpPr txBox="1"/>
              <p:nvPr/>
            </p:nvSpPr>
            <p:spPr>
              <a:xfrm>
                <a:off x="5932661" y="5564541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E3A4D38B-6D58-A135-49D0-EA7D7A0276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661" y="5564541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橢圓 56">
            <a:extLst>
              <a:ext uri="{FF2B5EF4-FFF2-40B4-BE49-F238E27FC236}">
                <a16:creationId xmlns:a16="http://schemas.microsoft.com/office/drawing/2014/main" id="{30FDB189-D871-D76A-DD6A-7E57B3602145}"/>
              </a:ext>
            </a:extLst>
          </p:cNvPr>
          <p:cNvSpPr/>
          <p:nvPr/>
        </p:nvSpPr>
        <p:spPr>
          <a:xfrm>
            <a:off x="7248703" y="465050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51841549-207A-12CE-C4BA-EE74B8BDF672}"/>
                  </a:ext>
                </a:extLst>
              </p:cNvPr>
              <p:cNvSpPr txBox="1"/>
              <p:nvPr/>
            </p:nvSpPr>
            <p:spPr>
              <a:xfrm>
                <a:off x="7305720" y="473620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51841549-207A-12CE-C4BA-EE74B8BDF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05720" y="4736200"/>
                <a:ext cx="515874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文字方塊 58">
            <a:extLst>
              <a:ext uri="{FF2B5EF4-FFF2-40B4-BE49-F238E27FC236}">
                <a16:creationId xmlns:a16="http://schemas.microsoft.com/office/drawing/2014/main" id="{E6C7761D-7021-F7EE-F764-C495D3DCC468}"/>
              </a:ext>
            </a:extLst>
          </p:cNvPr>
          <p:cNvSpPr txBox="1"/>
          <p:nvPr/>
        </p:nvSpPr>
        <p:spPr>
          <a:xfrm rot="5400000">
            <a:off x="7246735" y="4188604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AC7BC325-531E-23FF-8711-150DECE18A42}"/>
              </a:ext>
            </a:extLst>
          </p:cNvPr>
          <p:cNvSpPr/>
          <p:nvPr/>
        </p:nvSpPr>
        <p:spPr>
          <a:xfrm>
            <a:off x="7256695" y="332135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AE5768D-C42C-DDD2-9E62-40E2F940274A}"/>
                  </a:ext>
                </a:extLst>
              </p:cNvPr>
              <p:cNvSpPr txBox="1"/>
              <p:nvPr/>
            </p:nvSpPr>
            <p:spPr>
              <a:xfrm>
                <a:off x="7313712" y="340705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7AE5768D-C42C-DDD2-9E62-40E2F9402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712" y="3407054"/>
                <a:ext cx="51587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7" name="表格 5">
                <a:extLst>
                  <a:ext uri="{FF2B5EF4-FFF2-40B4-BE49-F238E27FC236}">
                    <a16:creationId xmlns:a16="http://schemas.microsoft.com/office/drawing/2014/main" id="{8AFBE0AD-967A-E5CD-3FBD-876C6EAE9E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922133"/>
                  </p:ext>
                </p:extLst>
              </p:nvPr>
            </p:nvGraphicFramePr>
            <p:xfrm>
              <a:off x="8354923" y="3481362"/>
              <a:ext cx="2676704" cy="2674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9176">
                      <a:extLst>
                        <a:ext uri="{9D8B030D-6E8A-4147-A177-3AD203B41FA5}">
                          <a16:colId xmlns:a16="http://schemas.microsoft.com/office/drawing/2014/main" val="1106812764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69789686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3642642527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4117180886"/>
                        </a:ext>
                      </a:extLst>
                    </a:gridCol>
                  </a:tblGrid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8761505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6291338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910320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5694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7" name="表格 5">
                <a:extLst>
                  <a:ext uri="{FF2B5EF4-FFF2-40B4-BE49-F238E27FC236}">
                    <a16:creationId xmlns:a16="http://schemas.microsoft.com/office/drawing/2014/main" id="{8AFBE0AD-967A-E5CD-3FBD-876C6EAE9E7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922133"/>
                  </p:ext>
                </p:extLst>
              </p:nvPr>
            </p:nvGraphicFramePr>
            <p:xfrm>
              <a:off x="8354923" y="3481362"/>
              <a:ext cx="2676704" cy="2674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9176">
                      <a:extLst>
                        <a:ext uri="{9D8B030D-6E8A-4147-A177-3AD203B41FA5}">
                          <a16:colId xmlns:a16="http://schemas.microsoft.com/office/drawing/2014/main" val="1106812764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69789686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3642642527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4117180886"/>
                        </a:ext>
                      </a:extLst>
                    </a:gridCol>
                  </a:tblGrid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t="-1887" r="-3018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887" r="-2018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0000" t="-1887" r="-101887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0000" t="-1887" r="-1887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761505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t="-101887" r="-3018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101887" r="-2018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0000" t="-101887" r="-101887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0000" t="-101887" r="-1887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291338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t="-205769" r="-301887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205769" r="-201887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0000" t="-205769" r="-101887" b="-10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0000" t="-205769" r="-1887" b="-10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910320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t="-300000" r="-301887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100000" t="-300000" r="-201887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200000" t="-300000" r="-101887" b="-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15"/>
                          <a:stretch>
                            <a:fillRect l="-300000" t="-300000" r="-1887" b="-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5694970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7E51CBFA-B4A0-6F3B-D703-218728EC97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9025348"/>
              </p:ext>
            </p:extLst>
          </p:nvPr>
        </p:nvGraphicFramePr>
        <p:xfrm>
          <a:off x="8990860" y="1591353"/>
          <a:ext cx="1403559" cy="14026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7853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467853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467553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b="1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000" b="1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61965" marR="61965" marT="30983" marB="3098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49" name="文字方塊 48">
            <a:extLst>
              <a:ext uri="{FF2B5EF4-FFF2-40B4-BE49-F238E27FC236}">
                <a16:creationId xmlns:a16="http://schemas.microsoft.com/office/drawing/2014/main" id="{47ECA30F-2C24-9455-EAA1-0DC5007A0D4C}"/>
              </a:ext>
            </a:extLst>
          </p:cNvPr>
          <p:cNvSpPr txBox="1"/>
          <p:nvPr/>
        </p:nvSpPr>
        <p:spPr>
          <a:xfrm>
            <a:off x="8749797" y="3016593"/>
            <a:ext cx="19522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2000" dirty="0"/>
              <a:t>Filter, stride=1</a:t>
            </a:r>
            <a:endParaRPr kumimoji="1" lang="zh-TW" altLang="en-US" sz="2000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35DFE15B-23EC-62D4-1F14-5BBED7321D1F}"/>
              </a:ext>
            </a:extLst>
          </p:cNvPr>
          <p:cNvSpPr txBox="1"/>
          <p:nvPr/>
        </p:nvSpPr>
        <p:spPr>
          <a:xfrm>
            <a:off x="8749797" y="6019222"/>
            <a:ext cx="2125980" cy="58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 map</a:t>
            </a:r>
          </a:p>
        </p:txBody>
      </p:sp>
      <p:sp>
        <p:nvSpPr>
          <p:cNvPr id="52" name="文字方塊 51">
            <a:extLst>
              <a:ext uri="{FF2B5EF4-FFF2-40B4-BE49-F238E27FC236}">
                <a16:creationId xmlns:a16="http://schemas.microsoft.com/office/drawing/2014/main" id="{2B3D886D-CE1F-B5DF-E04F-86C6BCAE5C26}"/>
              </a:ext>
            </a:extLst>
          </p:cNvPr>
          <p:cNvSpPr txBox="1"/>
          <p:nvPr/>
        </p:nvSpPr>
        <p:spPr>
          <a:xfrm>
            <a:off x="4836402" y="3844241"/>
            <a:ext cx="543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/>
              <a:t>36</a:t>
            </a:r>
            <a:endParaRPr lang="zh-TW" altLang="en-US" dirty="0"/>
          </a:p>
        </p:txBody>
      </p:sp>
      <p:sp>
        <p:nvSpPr>
          <p:cNvPr id="54" name="左中括弧 53">
            <a:extLst>
              <a:ext uri="{FF2B5EF4-FFF2-40B4-BE49-F238E27FC236}">
                <a16:creationId xmlns:a16="http://schemas.microsoft.com/office/drawing/2014/main" id="{81304ACA-44F2-B80B-B361-69D1634C3ABC}"/>
              </a:ext>
            </a:extLst>
          </p:cNvPr>
          <p:cNvSpPr/>
          <p:nvPr/>
        </p:nvSpPr>
        <p:spPr>
          <a:xfrm>
            <a:off x="5321298" y="1685106"/>
            <a:ext cx="108554" cy="498369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49E88D2-0341-CAED-6416-6C3AEE4253AF}"/>
              </a:ext>
            </a:extLst>
          </p:cNvPr>
          <p:cNvSpPr/>
          <p:nvPr/>
        </p:nvSpPr>
        <p:spPr>
          <a:xfrm>
            <a:off x="710053" y="197382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99F3DB-B18E-F538-0522-7E1031D13FF6}"/>
              </a:ext>
            </a:extLst>
          </p:cNvPr>
          <p:cNvSpPr/>
          <p:nvPr/>
        </p:nvSpPr>
        <p:spPr>
          <a:xfrm>
            <a:off x="1365660" y="1973828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1F58C93-FC08-7984-F59A-5272EEE82177}"/>
              </a:ext>
            </a:extLst>
          </p:cNvPr>
          <p:cNvSpPr/>
          <p:nvPr/>
        </p:nvSpPr>
        <p:spPr>
          <a:xfrm>
            <a:off x="2636157" y="3908699"/>
            <a:ext cx="1919031" cy="19190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5115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4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6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98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99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0" dur="1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6" dur="10" fill="hold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0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2" dur="1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6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8" dur="1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1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0" dur="1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2" dur="1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3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4" dur="1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8" dur="1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2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1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2" dur="1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8" dur="1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39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0" dur="1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1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2" dur="1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4" dur="10" fill="hold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tx1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4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6" dur="1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26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2" grpId="0"/>
      <p:bldP spid="8" grpId="0"/>
      <p:bldP spid="5" grpId="0" animBg="1"/>
      <p:bldP spid="6" grpId="0" animBg="1"/>
      <p:bldP spid="7" grpId="0" animBg="1"/>
      <p:bldP spid="9" grpId="0" animBg="1"/>
      <p:bldP spid="10" grpId="0" animBg="1"/>
      <p:bldP spid="11" grpId="0" animBg="1"/>
      <p:bldP spid="13" grpId="0" animBg="1"/>
      <p:bldP spid="14" grpId="0" animBg="1"/>
      <p:bldP spid="15" grpId="0" animBg="1"/>
      <p:bldP spid="34" grpId="0" animBg="1"/>
      <p:bldP spid="35" grpId="0" build="allAtOnce"/>
      <p:bldP spid="35" grpId="1" build="allAtOnce"/>
      <p:bldP spid="70" grpId="0"/>
      <p:bldP spid="70" grpId="1"/>
      <p:bldP spid="70" grpId="2"/>
      <p:bldP spid="71" grpId="0"/>
      <p:bldP spid="71" grpId="1"/>
      <p:bldP spid="71" grpId="2"/>
      <p:bldP spid="72" grpId="0"/>
      <p:bldP spid="72" grpId="1"/>
      <p:bldP spid="72" grpId="2"/>
      <p:bldP spid="73" grpId="0"/>
      <p:bldP spid="73" grpId="1"/>
      <p:bldP spid="73" grpId="2"/>
      <p:bldP spid="74" grpId="0"/>
      <p:bldP spid="74" grpId="1"/>
      <p:bldP spid="74" grpId="2"/>
      <p:bldP spid="75" grpId="0"/>
      <p:bldP spid="75" grpId="1"/>
      <p:bldP spid="75" grpId="2"/>
      <p:bldP spid="76" grpId="0"/>
      <p:bldP spid="76" grpId="1"/>
      <p:bldP spid="77" grpId="0"/>
      <p:bldP spid="77" grpId="1"/>
      <p:bldP spid="78" grpId="0"/>
      <p:bldP spid="78" grpId="1"/>
      <p:bldP spid="57" grpId="0" animBg="1"/>
      <p:bldP spid="58" grpId="0"/>
      <p:bldP spid="58" grpId="1"/>
      <p:bldP spid="59" grpId="0"/>
      <p:bldP spid="38" grpId="0" animBg="1"/>
      <p:bldP spid="40" grpId="0" build="allAtOnce"/>
      <p:bldP spid="40" grpId="1" build="allAtOnce"/>
      <p:bldP spid="51" grpId="0"/>
      <p:bldP spid="52" grpId="0"/>
      <p:bldP spid="54" grpId="0" animBg="1"/>
      <p:bldP spid="17" grpId="0" animBg="1"/>
      <p:bldP spid="17" grpId="1" animBg="1"/>
      <p:bldP spid="18" grpId="0" animBg="1"/>
      <p:bldP spid="18" grpId="1" animBg="1"/>
      <p:bldP spid="18" grpId="2" animBg="1"/>
      <p:bldP spid="20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D79BF-A5C3-C1D8-3A2D-75C83FF4F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BFAD2A-984D-3AC7-9135-26F91973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Convolutional layer vs. FC layer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82061A-BC1C-D671-3FBB-CAB2AA7F0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115" name="表格 115">
            <a:extLst>
              <a:ext uri="{FF2B5EF4-FFF2-40B4-BE49-F238E27FC236}">
                <a16:creationId xmlns:a16="http://schemas.microsoft.com/office/drawing/2014/main" id="{A64BDA9A-59CB-64F2-8482-321C8E89F1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3642173"/>
              </p:ext>
            </p:extLst>
          </p:nvPr>
        </p:nvGraphicFramePr>
        <p:xfrm>
          <a:off x="5703135" y="3056906"/>
          <a:ext cx="4909820" cy="1700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845">
                  <a:extLst>
                    <a:ext uri="{9D8B030D-6E8A-4147-A177-3AD203B41FA5}">
                      <a16:colId xmlns:a16="http://schemas.microsoft.com/office/drawing/2014/main" val="149333442"/>
                    </a:ext>
                  </a:extLst>
                </a:gridCol>
                <a:gridCol w="3533975">
                  <a:extLst>
                    <a:ext uri="{9D8B030D-6E8A-4147-A177-3AD203B41FA5}">
                      <a16:colId xmlns:a16="http://schemas.microsoft.com/office/drawing/2014/main" val="3237611481"/>
                    </a:ext>
                  </a:extLst>
                </a:gridCol>
              </a:tblGrid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Grayscale images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參數量比較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不算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bias 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724653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FC layer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36 * 16 = 576</a:t>
                      </a:r>
                      <a:endParaRPr kumimoji="1"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440054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Conv layer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 * 3 = 9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612943"/>
                  </a:ext>
                </a:extLst>
              </a:tr>
            </a:tbl>
          </a:graphicData>
        </a:graphic>
      </p:graphicFrame>
      <p:sp>
        <p:nvSpPr>
          <p:cNvPr id="3" name="文字方塊 2">
            <a:extLst>
              <a:ext uri="{FF2B5EF4-FFF2-40B4-BE49-F238E27FC236}">
                <a16:creationId xmlns:a16="http://schemas.microsoft.com/office/drawing/2014/main" id="{4E8167DF-56D0-DEA7-EEE3-6A46DA298A79}"/>
              </a:ext>
            </a:extLst>
          </p:cNvPr>
          <p:cNvSpPr txBox="1"/>
          <p:nvPr/>
        </p:nvSpPr>
        <p:spPr>
          <a:xfrm rot="5400000">
            <a:off x="2069206" y="608153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0DEE163-9EA2-CD45-1061-BE348AD34083}"/>
              </a:ext>
            </a:extLst>
          </p:cNvPr>
          <p:cNvSpPr txBox="1"/>
          <p:nvPr/>
        </p:nvSpPr>
        <p:spPr>
          <a:xfrm rot="5400000">
            <a:off x="2079642" y="434330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403297-AC41-07F6-FE13-00C895D80F94}"/>
              </a:ext>
            </a:extLst>
          </p:cNvPr>
          <p:cNvSpPr txBox="1"/>
          <p:nvPr/>
        </p:nvSpPr>
        <p:spPr>
          <a:xfrm rot="5400000">
            <a:off x="2079642" y="259593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3CB7B5F8-43AA-D8F6-5BE4-C2F22E0E3AAD}"/>
              </a:ext>
            </a:extLst>
          </p:cNvPr>
          <p:cNvSpPr/>
          <p:nvPr/>
        </p:nvSpPr>
        <p:spPr>
          <a:xfrm>
            <a:off x="2173566" y="1597991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556EAC3E-5A41-C02B-51EE-16E762BE9BC7}"/>
              </a:ext>
            </a:extLst>
          </p:cNvPr>
          <p:cNvSpPr/>
          <p:nvPr/>
        </p:nvSpPr>
        <p:spPr>
          <a:xfrm>
            <a:off x="2173566" y="2079645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611AF5B8-E847-2D0D-CEA0-4206B1D3FA1F}"/>
              </a:ext>
            </a:extLst>
          </p:cNvPr>
          <p:cNvSpPr/>
          <p:nvPr/>
        </p:nvSpPr>
        <p:spPr>
          <a:xfrm>
            <a:off x="2168739" y="2866029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294BC488-DF7B-B3EB-6A7F-EFCEB85F596F}"/>
              </a:ext>
            </a:extLst>
          </p:cNvPr>
          <p:cNvSpPr/>
          <p:nvPr/>
        </p:nvSpPr>
        <p:spPr>
          <a:xfrm>
            <a:off x="2173566" y="3345365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8AD7D90-3763-6DBD-D67A-A4B8B25A0B64}"/>
              </a:ext>
            </a:extLst>
          </p:cNvPr>
          <p:cNvSpPr/>
          <p:nvPr/>
        </p:nvSpPr>
        <p:spPr>
          <a:xfrm>
            <a:off x="2173566" y="3827019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0FC1658A-B8EF-8E20-7071-BC9D44934272}"/>
              </a:ext>
            </a:extLst>
          </p:cNvPr>
          <p:cNvSpPr/>
          <p:nvPr/>
        </p:nvSpPr>
        <p:spPr>
          <a:xfrm>
            <a:off x="2168739" y="4613403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5314101E-9C1E-9E52-5DF6-54A785001FF6}"/>
              </a:ext>
            </a:extLst>
          </p:cNvPr>
          <p:cNvSpPr/>
          <p:nvPr/>
        </p:nvSpPr>
        <p:spPr>
          <a:xfrm>
            <a:off x="2163130" y="5083595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183639AA-B833-A500-2ABB-49B047D14779}"/>
              </a:ext>
            </a:extLst>
          </p:cNvPr>
          <p:cNvSpPr/>
          <p:nvPr/>
        </p:nvSpPr>
        <p:spPr>
          <a:xfrm>
            <a:off x="2163130" y="5565249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C60596A8-F4BF-9AFF-9197-33312A2A6ADD}"/>
              </a:ext>
            </a:extLst>
          </p:cNvPr>
          <p:cNvSpPr/>
          <p:nvPr/>
        </p:nvSpPr>
        <p:spPr>
          <a:xfrm>
            <a:off x="2158303" y="6351633"/>
            <a:ext cx="393192" cy="393192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DADF313E-D043-1232-F988-BD4841C6F911}"/>
              </a:ext>
            </a:extLst>
          </p:cNvPr>
          <p:cNvSpPr/>
          <p:nvPr/>
        </p:nvSpPr>
        <p:spPr>
          <a:xfrm>
            <a:off x="3877973" y="270958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4717E2C-F501-15BA-A5A9-73E79EC3014A}"/>
                  </a:ext>
                </a:extLst>
              </p:cNvPr>
              <p:cNvSpPr txBox="1"/>
              <p:nvPr/>
            </p:nvSpPr>
            <p:spPr>
              <a:xfrm>
                <a:off x="3934990" y="279527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04717E2C-F501-15BA-A5A9-73E79EC301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990" y="2795277"/>
                <a:ext cx="5158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接點 17">
            <a:extLst>
              <a:ext uri="{FF2B5EF4-FFF2-40B4-BE49-F238E27FC236}">
                <a16:creationId xmlns:a16="http://schemas.microsoft.com/office/drawing/2014/main" id="{B11E6184-1890-2D96-9922-A2858B67CC11}"/>
              </a:ext>
            </a:extLst>
          </p:cNvPr>
          <p:cNvCxnSpPr>
            <a:cxnSpLocks/>
            <a:stCxn id="7" idx="6"/>
            <a:endCxn id="16" idx="2"/>
          </p:cNvCxnSpPr>
          <p:nvPr/>
        </p:nvCxnSpPr>
        <p:spPr>
          <a:xfrm>
            <a:off x="2566758" y="1794587"/>
            <a:ext cx="1311215" cy="1200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>
            <a:extLst>
              <a:ext uri="{FF2B5EF4-FFF2-40B4-BE49-F238E27FC236}">
                <a16:creationId xmlns:a16="http://schemas.microsoft.com/office/drawing/2014/main" id="{39C7992B-EC06-A28A-AD3A-DB46B6442EA2}"/>
              </a:ext>
            </a:extLst>
          </p:cNvPr>
          <p:cNvCxnSpPr>
            <a:cxnSpLocks/>
            <a:stCxn id="8" idx="6"/>
            <a:endCxn id="16" idx="2"/>
          </p:cNvCxnSpPr>
          <p:nvPr/>
        </p:nvCxnSpPr>
        <p:spPr>
          <a:xfrm>
            <a:off x="2566758" y="2276241"/>
            <a:ext cx="1311215" cy="7190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>
            <a:extLst>
              <a:ext uri="{FF2B5EF4-FFF2-40B4-BE49-F238E27FC236}">
                <a16:creationId xmlns:a16="http://schemas.microsoft.com/office/drawing/2014/main" id="{7D46CD9F-E6D9-6EE3-5801-EF239377F91F}"/>
              </a:ext>
            </a:extLst>
          </p:cNvPr>
          <p:cNvCxnSpPr>
            <a:cxnSpLocks/>
            <a:stCxn id="9" idx="6"/>
            <a:endCxn id="16" idx="2"/>
          </p:cNvCxnSpPr>
          <p:nvPr/>
        </p:nvCxnSpPr>
        <p:spPr>
          <a:xfrm flipV="1">
            <a:off x="2561931" y="2995332"/>
            <a:ext cx="1316042" cy="67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>
            <a:extLst>
              <a:ext uri="{FF2B5EF4-FFF2-40B4-BE49-F238E27FC236}">
                <a16:creationId xmlns:a16="http://schemas.microsoft.com/office/drawing/2014/main" id="{8532F9EF-F1FA-1854-AD5C-65F8EE79473E}"/>
              </a:ext>
            </a:extLst>
          </p:cNvPr>
          <p:cNvCxnSpPr>
            <a:cxnSpLocks/>
            <a:stCxn id="10" idx="6"/>
            <a:endCxn id="39" idx="2"/>
          </p:cNvCxnSpPr>
          <p:nvPr/>
        </p:nvCxnSpPr>
        <p:spPr>
          <a:xfrm>
            <a:off x="2566758" y="3541961"/>
            <a:ext cx="1319207" cy="7178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>
            <a:extLst>
              <a:ext uri="{FF2B5EF4-FFF2-40B4-BE49-F238E27FC236}">
                <a16:creationId xmlns:a16="http://schemas.microsoft.com/office/drawing/2014/main" id="{19799056-49BE-65FB-9C4C-686BC798733F}"/>
              </a:ext>
            </a:extLst>
          </p:cNvPr>
          <p:cNvCxnSpPr>
            <a:cxnSpLocks/>
            <a:stCxn id="11" idx="6"/>
            <a:endCxn id="39" idx="2"/>
          </p:cNvCxnSpPr>
          <p:nvPr/>
        </p:nvCxnSpPr>
        <p:spPr>
          <a:xfrm flipV="1">
            <a:off x="2566758" y="3613747"/>
            <a:ext cx="1319207" cy="40986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>
            <a:extLst>
              <a:ext uri="{FF2B5EF4-FFF2-40B4-BE49-F238E27FC236}">
                <a16:creationId xmlns:a16="http://schemas.microsoft.com/office/drawing/2014/main" id="{4A2DE16B-B6D0-3354-5142-7AB541E10F52}"/>
              </a:ext>
            </a:extLst>
          </p:cNvPr>
          <p:cNvCxnSpPr>
            <a:cxnSpLocks/>
            <a:stCxn id="12" idx="6"/>
            <a:endCxn id="39" idx="2"/>
          </p:cNvCxnSpPr>
          <p:nvPr/>
        </p:nvCxnSpPr>
        <p:spPr>
          <a:xfrm flipV="1">
            <a:off x="2561931" y="3613747"/>
            <a:ext cx="1324034" cy="11962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>
            <a:extLst>
              <a:ext uri="{FF2B5EF4-FFF2-40B4-BE49-F238E27FC236}">
                <a16:creationId xmlns:a16="http://schemas.microsoft.com/office/drawing/2014/main" id="{2BE1CD17-9240-922D-D9B4-A1BE47BF692B}"/>
              </a:ext>
            </a:extLst>
          </p:cNvPr>
          <p:cNvCxnSpPr>
            <a:cxnSpLocks/>
            <a:stCxn id="13" idx="6"/>
            <a:endCxn id="36" idx="2"/>
          </p:cNvCxnSpPr>
          <p:nvPr/>
        </p:nvCxnSpPr>
        <p:spPr>
          <a:xfrm flipV="1">
            <a:off x="2556322" y="4942893"/>
            <a:ext cx="1321651" cy="3372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8D3E07B9-1D07-F786-5CDE-2356BD4F21E0}"/>
              </a:ext>
            </a:extLst>
          </p:cNvPr>
          <p:cNvCxnSpPr>
            <a:cxnSpLocks/>
            <a:stCxn id="14" idx="6"/>
            <a:endCxn id="36" idx="2"/>
          </p:cNvCxnSpPr>
          <p:nvPr/>
        </p:nvCxnSpPr>
        <p:spPr>
          <a:xfrm flipV="1">
            <a:off x="2556322" y="4942893"/>
            <a:ext cx="1321651" cy="81895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接點 25">
            <a:extLst>
              <a:ext uri="{FF2B5EF4-FFF2-40B4-BE49-F238E27FC236}">
                <a16:creationId xmlns:a16="http://schemas.microsoft.com/office/drawing/2014/main" id="{C1E86662-5498-8BC5-2163-309A4345E839}"/>
              </a:ext>
            </a:extLst>
          </p:cNvPr>
          <p:cNvCxnSpPr>
            <a:cxnSpLocks/>
            <a:stCxn id="15" idx="6"/>
            <a:endCxn id="36" idx="2"/>
          </p:cNvCxnSpPr>
          <p:nvPr/>
        </p:nvCxnSpPr>
        <p:spPr>
          <a:xfrm flipV="1">
            <a:off x="2551495" y="4942893"/>
            <a:ext cx="1326478" cy="1605336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8FC11A52-B84A-3063-0D54-6A6050D77730}"/>
                  </a:ext>
                </a:extLst>
              </p:cNvPr>
              <p:cNvSpPr txBox="1"/>
              <p:nvPr/>
            </p:nvSpPr>
            <p:spPr>
              <a:xfrm>
                <a:off x="2735133" y="1694771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文字方塊 26">
                <a:extLst>
                  <a:ext uri="{FF2B5EF4-FFF2-40B4-BE49-F238E27FC236}">
                    <a16:creationId xmlns:a16="http://schemas.microsoft.com/office/drawing/2014/main" id="{8FC11A52-B84A-3063-0D54-6A6050D777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5133" y="1694771"/>
                <a:ext cx="5158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679D582-3A4F-65F5-3B18-3510C3B113AE}"/>
                  </a:ext>
                </a:extLst>
              </p:cNvPr>
              <p:cNvSpPr txBox="1"/>
              <p:nvPr/>
            </p:nvSpPr>
            <p:spPr>
              <a:xfrm>
                <a:off x="2730589" y="2133342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F679D582-3A4F-65F5-3B18-3510C3B11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89" y="2133342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19216E8-433E-90C6-1D93-1C86677A2406}"/>
                  </a:ext>
                </a:extLst>
              </p:cNvPr>
              <p:cNvSpPr txBox="1"/>
              <p:nvPr/>
            </p:nvSpPr>
            <p:spPr>
              <a:xfrm>
                <a:off x="2737995" y="266924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D19216E8-433E-90C6-1D93-1C86677A2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7995" y="2669240"/>
                <a:ext cx="51587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B5E2F2DD-9149-3917-26A6-6FE5B8C42C63}"/>
                  </a:ext>
                </a:extLst>
              </p:cNvPr>
              <p:cNvSpPr txBox="1"/>
              <p:nvPr/>
            </p:nvSpPr>
            <p:spPr>
              <a:xfrm>
                <a:off x="2731199" y="398440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B5E2F2DD-9149-3917-26A6-6FE5B8C42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1199" y="3984408"/>
                <a:ext cx="51587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502904F-5C27-1C56-5BF0-BF657808C1DF}"/>
                  </a:ext>
                </a:extLst>
              </p:cNvPr>
              <p:cNvSpPr txBox="1"/>
              <p:nvPr/>
            </p:nvSpPr>
            <p:spPr>
              <a:xfrm>
                <a:off x="2730589" y="351179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502904F-5C27-1C56-5BF0-BF657808C1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89" y="3511797"/>
                <a:ext cx="515874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DD58104-757E-FE67-F81E-4581C24C0D9A}"/>
                  </a:ext>
                </a:extLst>
              </p:cNvPr>
              <p:cNvSpPr txBox="1"/>
              <p:nvPr/>
            </p:nvSpPr>
            <p:spPr>
              <a:xfrm>
                <a:off x="2730589" y="317884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CDD58104-757E-FE67-F81E-4581C24C0D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0589" y="3178848"/>
                <a:ext cx="515874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2711E7D-DB84-2D7C-8D06-8DF8D1AAF72D}"/>
                  </a:ext>
                </a:extLst>
              </p:cNvPr>
              <p:cNvSpPr txBox="1"/>
              <p:nvPr/>
            </p:nvSpPr>
            <p:spPr>
              <a:xfrm>
                <a:off x="2561931" y="624028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文字方塊 32">
                <a:extLst>
                  <a:ext uri="{FF2B5EF4-FFF2-40B4-BE49-F238E27FC236}">
                    <a16:creationId xmlns:a16="http://schemas.microsoft.com/office/drawing/2014/main" id="{F2711E7D-DB84-2D7C-8D06-8DF8D1AAF7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31" y="6240285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6A8446A-DBBB-0E58-26EB-7E10FAA47D88}"/>
                  </a:ext>
                </a:extLst>
              </p:cNvPr>
              <p:cNvSpPr txBox="1"/>
              <p:nvPr/>
            </p:nvSpPr>
            <p:spPr>
              <a:xfrm>
                <a:off x="2556717" y="5128039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zh-TW" altLang="en-US" sz="20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C6A8446A-DBBB-0E58-26EB-7E10FAA47D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6717" y="5128039"/>
                <a:ext cx="515874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B6781D2-5BCB-A1CD-5EA8-DA92CEEBC60C}"/>
                  </a:ext>
                </a:extLst>
              </p:cNvPr>
              <p:cNvSpPr txBox="1"/>
              <p:nvPr/>
            </p:nvSpPr>
            <p:spPr>
              <a:xfrm>
                <a:off x="2561931" y="5571179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FB6781D2-5BCB-A1CD-5EA8-DA92CEEBC6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931" y="5571179"/>
                <a:ext cx="51587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橢圓 35">
            <a:extLst>
              <a:ext uri="{FF2B5EF4-FFF2-40B4-BE49-F238E27FC236}">
                <a16:creationId xmlns:a16="http://schemas.microsoft.com/office/drawing/2014/main" id="{500FBC3B-569B-C139-855C-51529AA8025B}"/>
              </a:ext>
            </a:extLst>
          </p:cNvPr>
          <p:cNvSpPr/>
          <p:nvPr/>
        </p:nvSpPr>
        <p:spPr>
          <a:xfrm>
            <a:off x="3877973" y="4657143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98482CE-A31C-1846-23BC-38453142271D}"/>
                  </a:ext>
                </a:extLst>
              </p:cNvPr>
              <p:cNvSpPr txBox="1"/>
              <p:nvPr/>
            </p:nvSpPr>
            <p:spPr>
              <a:xfrm>
                <a:off x="3934990" y="4742838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37" name="文字方塊 36">
                <a:extLst>
                  <a:ext uri="{FF2B5EF4-FFF2-40B4-BE49-F238E27FC236}">
                    <a16:creationId xmlns:a16="http://schemas.microsoft.com/office/drawing/2014/main" id="{398482CE-A31C-1846-23BC-3845314227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4990" y="4742838"/>
                <a:ext cx="515874" cy="400110"/>
              </a:xfrm>
              <a:prstGeom prst="rect">
                <a:avLst/>
              </a:prstGeom>
              <a:blipFill>
                <a:blip r:embed="rId13"/>
                <a:stretch>
                  <a:fillRect l="-243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字方塊 37">
            <a:extLst>
              <a:ext uri="{FF2B5EF4-FFF2-40B4-BE49-F238E27FC236}">
                <a16:creationId xmlns:a16="http://schemas.microsoft.com/office/drawing/2014/main" id="{CE6DF2A7-3E93-9766-829F-5DF4CAD9E522}"/>
              </a:ext>
            </a:extLst>
          </p:cNvPr>
          <p:cNvSpPr txBox="1"/>
          <p:nvPr/>
        </p:nvSpPr>
        <p:spPr>
          <a:xfrm rot="5400000">
            <a:off x="3876005" y="4195242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DA2F925A-94E1-912F-59BF-3ECF0E67A63C}"/>
              </a:ext>
            </a:extLst>
          </p:cNvPr>
          <p:cNvSpPr/>
          <p:nvPr/>
        </p:nvSpPr>
        <p:spPr>
          <a:xfrm>
            <a:off x="3885965" y="3327997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6CAEE016-F097-BDAC-24A0-101399368E08}"/>
                  </a:ext>
                </a:extLst>
              </p:cNvPr>
              <p:cNvSpPr txBox="1"/>
              <p:nvPr/>
            </p:nvSpPr>
            <p:spPr>
              <a:xfrm>
                <a:off x="3942982" y="3413692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6CAEE016-F097-BDAC-24A0-101399368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2982" y="3413692"/>
                <a:ext cx="515874" cy="40011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文字方塊 40">
            <a:extLst>
              <a:ext uri="{FF2B5EF4-FFF2-40B4-BE49-F238E27FC236}">
                <a16:creationId xmlns:a16="http://schemas.microsoft.com/office/drawing/2014/main" id="{400E10BB-E379-65D6-8FD5-25BEFBD563FA}"/>
              </a:ext>
            </a:extLst>
          </p:cNvPr>
          <p:cNvSpPr txBox="1"/>
          <p:nvPr/>
        </p:nvSpPr>
        <p:spPr>
          <a:xfrm>
            <a:off x="1465672" y="3850879"/>
            <a:ext cx="543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zh-TW" dirty="0"/>
              <a:t>36</a:t>
            </a:r>
            <a:endParaRPr lang="zh-TW" altLang="en-US" dirty="0"/>
          </a:p>
        </p:txBody>
      </p:sp>
      <p:sp>
        <p:nvSpPr>
          <p:cNvPr id="42" name="左中括弧 41">
            <a:extLst>
              <a:ext uri="{FF2B5EF4-FFF2-40B4-BE49-F238E27FC236}">
                <a16:creationId xmlns:a16="http://schemas.microsoft.com/office/drawing/2014/main" id="{CEB9E2C4-5B49-7C5A-53DD-67C3FC43E782}"/>
              </a:ext>
            </a:extLst>
          </p:cNvPr>
          <p:cNvSpPr/>
          <p:nvPr/>
        </p:nvSpPr>
        <p:spPr>
          <a:xfrm>
            <a:off x="1950568" y="1691744"/>
            <a:ext cx="108554" cy="4983693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44" name="文字方塊 43">
            <a:extLst>
              <a:ext uri="{FF2B5EF4-FFF2-40B4-BE49-F238E27FC236}">
                <a16:creationId xmlns:a16="http://schemas.microsoft.com/office/drawing/2014/main" id="{E8BD447C-494D-6615-0A23-A65652D497A1}"/>
              </a:ext>
            </a:extLst>
          </p:cNvPr>
          <p:cNvSpPr txBox="1"/>
          <p:nvPr/>
        </p:nvSpPr>
        <p:spPr>
          <a:xfrm>
            <a:off x="5622452" y="2621763"/>
            <a:ext cx="2153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FC: fully-connected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8911380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923562-A54C-AF59-254A-6E11064E5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Convolutional layer vs. FC layer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參數量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AB1D778-EA66-6E73-C434-76B8D96A0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0111D06C-1A7D-86EB-1CCD-7F8328859149}"/>
              </a:ext>
            </a:extLst>
          </p:cNvPr>
          <p:cNvSpPr txBox="1"/>
          <p:nvPr/>
        </p:nvSpPr>
        <p:spPr>
          <a:xfrm>
            <a:off x="990622" y="2215018"/>
            <a:ext cx="1105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TW" dirty="0"/>
              <a:t>3 * 3 </a:t>
            </a:r>
            <a:endParaRPr lang="zh-TW" altLang="en-US" dirty="0"/>
          </a:p>
        </p:txBody>
      </p:sp>
      <p:sp>
        <p:nvSpPr>
          <p:cNvPr id="52" name="左中括弧 51">
            <a:extLst>
              <a:ext uri="{FF2B5EF4-FFF2-40B4-BE49-F238E27FC236}">
                <a16:creationId xmlns:a16="http://schemas.microsoft.com/office/drawing/2014/main" id="{6D2EE1E0-A454-BAC4-1D80-6AD7E13CF2FE}"/>
              </a:ext>
            </a:extLst>
          </p:cNvPr>
          <p:cNvSpPr/>
          <p:nvPr/>
        </p:nvSpPr>
        <p:spPr>
          <a:xfrm>
            <a:off x="2179553" y="1663581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4" name="左中括弧 53">
            <a:extLst>
              <a:ext uri="{FF2B5EF4-FFF2-40B4-BE49-F238E27FC236}">
                <a16:creationId xmlns:a16="http://schemas.microsoft.com/office/drawing/2014/main" id="{43AB537E-A0D9-AE3A-9533-F77858EFD5E2}"/>
              </a:ext>
            </a:extLst>
          </p:cNvPr>
          <p:cNvSpPr/>
          <p:nvPr/>
        </p:nvSpPr>
        <p:spPr>
          <a:xfrm>
            <a:off x="2175701" y="3401753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C81BCE40-21B9-F568-8773-68A5F6B134B5}"/>
              </a:ext>
            </a:extLst>
          </p:cNvPr>
          <p:cNvSpPr txBox="1"/>
          <p:nvPr/>
        </p:nvSpPr>
        <p:spPr>
          <a:xfrm>
            <a:off x="986770" y="3912908"/>
            <a:ext cx="1105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TW" dirty="0"/>
              <a:t>3 * 3 </a:t>
            </a:r>
            <a:endParaRPr lang="zh-TW" altLang="en-US" dirty="0"/>
          </a:p>
        </p:txBody>
      </p:sp>
      <p:sp>
        <p:nvSpPr>
          <p:cNvPr id="65" name="左中括弧 64">
            <a:extLst>
              <a:ext uri="{FF2B5EF4-FFF2-40B4-BE49-F238E27FC236}">
                <a16:creationId xmlns:a16="http://schemas.microsoft.com/office/drawing/2014/main" id="{3A91B590-900A-0B86-11C0-1D3305912946}"/>
              </a:ext>
            </a:extLst>
          </p:cNvPr>
          <p:cNvSpPr/>
          <p:nvPr/>
        </p:nvSpPr>
        <p:spPr>
          <a:xfrm>
            <a:off x="2176859" y="5141156"/>
            <a:ext cx="106787" cy="1472206"/>
          </a:xfrm>
          <a:prstGeom prst="leftBracket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9A9B6062-2642-D169-1B89-C6DD536C3E60}"/>
              </a:ext>
            </a:extLst>
          </p:cNvPr>
          <p:cNvSpPr txBox="1"/>
          <p:nvPr/>
        </p:nvSpPr>
        <p:spPr>
          <a:xfrm>
            <a:off x="993146" y="5692593"/>
            <a:ext cx="11059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kumimoji="1" lang="en-US" altLang="zh-TW" dirty="0"/>
              <a:t>3 * 3 </a:t>
            </a:r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9ED1726B-5856-9796-B4D6-B3EF2F033E80}"/>
              </a:ext>
            </a:extLst>
          </p:cNvPr>
          <p:cNvSpPr txBox="1"/>
          <p:nvPr/>
        </p:nvSpPr>
        <p:spPr>
          <a:xfrm rot="5400000">
            <a:off x="2277491" y="602193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69" name="文字方塊 68">
            <a:extLst>
              <a:ext uri="{FF2B5EF4-FFF2-40B4-BE49-F238E27FC236}">
                <a16:creationId xmlns:a16="http://schemas.microsoft.com/office/drawing/2014/main" id="{C549FA3C-D90D-1E47-25B1-044AAC0E82A9}"/>
              </a:ext>
            </a:extLst>
          </p:cNvPr>
          <p:cNvSpPr txBox="1"/>
          <p:nvPr/>
        </p:nvSpPr>
        <p:spPr>
          <a:xfrm rot="5400000">
            <a:off x="2287927" y="4283705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80" name="文字方塊 79">
            <a:extLst>
              <a:ext uri="{FF2B5EF4-FFF2-40B4-BE49-F238E27FC236}">
                <a16:creationId xmlns:a16="http://schemas.microsoft.com/office/drawing/2014/main" id="{A0ED25A9-7D4E-0BBC-114C-28AAB43049B3}"/>
              </a:ext>
            </a:extLst>
          </p:cNvPr>
          <p:cNvSpPr txBox="1"/>
          <p:nvPr/>
        </p:nvSpPr>
        <p:spPr>
          <a:xfrm rot="5400000">
            <a:off x="2287927" y="253633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FF8A8B56-9072-7B1C-BF09-8AE47E1C6171}"/>
              </a:ext>
            </a:extLst>
          </p:cNvPr>
          <p:cNvSpPr/>
          <p:nvPr/>
        </p:nvSpPr>
        <p:spPr>
          <a:xfrm>
            <a:off x="2381851" y="1538391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F2801757-5B42-FB84-B62B-82757E32173B}"/>
              </a:ext>
            </a:extLst>
          </p:cNvPr>
          <p:cNvSpPr/>
          <p:nvPr/>
        </p:nvSpPr>
        <p:spPr>
          <a:xfrm>
            <a:off x="2381851" y="2020045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48A71E70-5B47-B2EB-6F9C-E8EDE4830040}"/>
              </a:ext>
            </a:extLst>
          </p:cNvPr>
          <p:cNvSpPr/>
          <p:nvPr/>
        </p:nvSpPr>
        <p:spPr>
          <a:xfrm>
            <a:off x="2377024" y="2806429"/>
            <a:ext cx="393192" cy="393192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5" name="橢圓 84">
            <a:extLst>
              <a:ext uri="{FF2B5EF4-FFF2-40B4-BE49-F238E27FC236}">
                <a16:creationId xmlns:a16="http://schemas.microsoft.com/office/drawing/2014/main" id="{9DC37EE0-98FD-EC71-4432-C5D23DB2150C}"/>
              </a:ext>
            </a:extLst>
          </p:cNvPr>
          <p:cNvSpPr/>
          <p:nvPr/>
        </p:nvSpPr>
        <p:spPr>
          <a:xfrm>
            <a:off x="2381851" y="3285765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6" name="橢圓 85">
            <a:extLst>
              <a:ext uri="{FF2B5EF4-FFF2-40B4-BE49-F238E27FC236}">
                <a16:creationId xmlns:a16="http://schemas.microsoft.com/office/drawing/2014/main" id="{FD34A17E-F801-B435-C583-B4005C1FF7D8}"/>
              </a:ext>
            </a:extLst>
          </p:cNvPr>
          <p:cNvSpPr/>
          <p:nvPr/>
        </p:nvSpPr>
        <p:spPr>
          <a:xfrm>
            <a:off x="2381851" y="3767419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7" name="橢圓 86">
            <a:extLst>
              <a:ext uri="{FF2B5EF4-FFF2-40B4-BE49-F238E27FC236}">
                <a16:creationId xmlns:a16="http://schemas.microsoft.com/office/drawing/2014/main" id="{F318AEC5-1BD2-675E-2192-6AB2EE5D5AF5}"/>
              </a:ext>
            </a:extLst>
          </p:cNvPr>
          <p:cNvSpPr/>
          <p:nvPr/>
        </p:nvSpPr>
        <p:spPr>
          <a:xfrm>
            <a:off x="2377024" y="4553803"/>
            <a:ext cx="393192" cy="39319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8" name="橢圓 87">
            <a:extLst>
              <a:ext uri="{FF2B5EF4-FFF2-40B4-BE49-F238E27FC236}">
                <a16:creationId xmlns:a16="http://schemas.microsoft.com/office/drawing/2014/main" id="{70987A18-EAE5-DC4D-6394-A74EA8C91A2F}"/>
              </a:ext>
            </a:extLst>
          </p:cNvPr>
          <p:cNvSpPr/>
          <p:nvPr/>
        </p:nvSpPr>
        <p:spPr>
          <a:xfrm>
            <a:off x="2371415" y="5023995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A3FA265E-B808-C2DD-FB00-C67606558F74}"/>
              </a:ext>
            </a:extLst>
          </p:cNvPr>
          <p:cNvSpPr/>
          <p:nvPr/>
        </p:nvSpPr>
        <p:spPr>
          <a:xfrm>
            <a:off x="2371415" y="5505649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7D8927A9-0FB5-901E-AA3D-DD0905BBEFFC}"/>
              </a:ext>
            </a:extLst>
          </p:cNvPr>
          <p:cNvSpPr/>
          <p:nvPr/>
        </p:nvSpPr>
        <p:spPr>
          <a:xfrm>
            <a:off x="2366588" y="6292033"/>
            <a:ext cx="393192" cy="393192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4A16360F-754F-2253-B30B-CC54F2C706AC}"/>
              </a:ext>
            </a:extLst>
          </p:cNvPr>
          <p:cNvCxnSpPr>
            <a:cxnSpLocks/>
            <a:stCxn id="82" idx="6"/>
          </p:cNvCxnSpPr>
          <p:nvPr/>
        </p:nvCxnSpPr>
        <p:spPr>
          <a:xfrm>
            <a:off x="2775043" y="1734987"/>
            <a:ext cx="1311215" cy="120074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線接點 93">
            <a:extLst>
              <a:ext uri="{FF2B5EF4-FFF2-40B4-BE49-F238E27FC236}">
                <a16:creationId xmlns:a16="http://schemas.microsoft.com/office/drawing/2014/main" id="{CFECF1A9-CDD6-0916-4D06-D9E86B540D1D}"/>
              </a:ext>
            </a:extLst>
          </p:cNvPr>
          <p:cNvCxnSpPr>
            <a:cxnSpLocks/>
            <a:stCxn id="83" idx="6"/>
          </p:cNvCxnSpPr>
          <p:nvPr/>
        </p:nvCxnSpPr>
        <p:spPr>
          <a:xfrm>
            <a:off x="2775043" y="2216641"/>
            <a:ext cx="1311215" cy="71909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>
            <a:extLst>
              <a:ext uri="{FF2B5EF4-FFF2-40B4-BE49-F238E27FC236}">
                <a16:creationId xmlns:a16="http://schemas.microsoft.com/office/drawing/2014/main" id="{EC1233EE-5890-37BE-298F-601525DD5E3B}"/>
              </a:ext>
            </a:extLst>
          </p:cNvPr>
          <p:cNvCxnSpPr>
            <a:cxnSpLocks/>
            <a:stCxn id="84" idx="6"/>
          </p:cNvCxnSpPr>
          <p:nvPr/>
        </p:nvCxnSpPr>
        <p:spPr>
          <a:xfrm flipV="1">
            <a:off x="2770216" y="2935732"/>
            <a:ext cx="1316042" cy="6729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接點 95">
            <a:extLst>
              <a:ext uri="{FF2B5EF4-FFF2-40B4-BE49-F238E27FC236}">
                <a16:creationId xmlns:a16="http://schemas.microsoft.com/office/drawing/2014/main" id="{91FA3008-AA41-FE14-E749-B0857DB3331E}"/>
              </a:ext>
            </a:extLst>
          </p:cNvPr>
          <p:cNvCxnSpPr>
            <a:cxnSpLocks/>
            <a:stCxn id="85" idx="6"/>
          </p:cNvCxnSpPr>
          <p:nvPr/>
        </p:nvCxnSpPr>
        <p:spPr>
          <a:xfrm flipV="1">
            <a:off x="2775043" y="2935732"/>
            <a:ext cx="1311215" cy="5466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線接點 96">
            <a:extLst>
              <a:ext uri="{FF2B5EF4-FFF2-40B4-BE49-F238E27FC236}">
                <a16:creationId xmlns:a16="http://schemas.microsoft.com/office/drawing/2014/main" id="{B695E75B-A6EB-7168-AB89-98C0E6D7AB92}"/>
              </a:ext>
            </a:extLst>
          </p:cNvPr>
          <p:cNvCxnSpPr>
            <a:cxnSpLocks/>
            <a:stCxn id="86" idx="6"/>
          </p:cNvCxnSpPr>
          <p:nvPr/>
        </p:nvCxnSpPr>
        <p:spPr>
          <a:xfrm flipV="1">
            <a:off x="2775043" y="2935732"/>
            <a:ext cx="1311215" cy="102828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線接點 97">
            <a:extLst>
              <a:ext uri="{FF2B5EF4-FFF2-40B4-BE49-F238E27FC236}">
                <a16:creationId xmlns:a16="http://schemas.microsoft.com/office/drawing/2014/main" id="{FC6FBE47-60BE-5F93-8252-4D8246B301A8}"/>
              </a:ext>
            </a:extLst>
          </p:cNvPr>
          <p:cNvCxnSpPr>
            <a:cxnSpLocks/>
            <a:stCxn id="87" idx="6"/>
          </p:cNvCxnSpPr>
          <p:nvPr/>
        </p:nvCxnSpPr>
        <p:spPr>
          <a:xfrm flipV="1">
            <a:off x="2770216" y="2935732"/>
            <a:ext cx="1316042" cy="181466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B3A87084-9C05-560E-481A-7FA7895D458F}"/>
              </a:ext>
            </a:extLst>
          </p:cNvPr>
          <p:cNvCxnSpPr>
            <a:cxnSpLocks/>
            <a:stCxn id="88" idx="6"/>
          </p:cNvCxnSpPr>
          <p:nvPr/>
        </p:nvCxnSpPr>
        <p:spPr>
          <a:xfrm flipV="1">
            <a:off x="2764607" y="2935732"/>
            <a:ext cx="1321651" cy="228485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C597AB80-63C7-5074-3E4E-F3C3C8091DD9}"/>
              </a:ext>
            </a:extLst>
          </p:cNvPr>
          <p:cNvCxnSpPr>
            <a:cxnSpLocks/>
            <a:stCxn id="89" idx="6"/>
          </p:cNvCxnSpPr>
          <p:nvPr/>
        </p:nvCxnSpPr>
        <p:spPr>
          <a:xfrm flipV="1">
            <a:off x="2764607" y="2935732"/>
            <a:ext cx="1321651" cy="276651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2FBDA616-B39F-0E8D-1A56-40CD4827F896}"/>
              </a:ext>
            </a:extLst>
          </p:cNvPr>
          <p:cNvCxnSpPr>
            <a:cxnSpLocks/>
            <a:stCxn id="90" idx="6"/>
          </p:cNvCxnSpPr>
          <p:nvPr/>
        </p:nvCxnSpPr>
        <p:spPr>
          <a:xfrm flipV="1">
            <a:off x="2759780" y="2935732"/>
            <a:ext cx="1326478" cy="355289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5" name="表格 115">
            <a:extLst>
              <a:ext uri="{FF2B5EF4-FFF2-40B4-BE49-F238E27FC236}">
                <a16:creationId xmlns:a16="http://schemas.microsoft.com/office/drawing/2014/main" id="{4696C68B-DCD8-22DC-156E-C61E2C73D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618598"/>
              </p:ext>
            </p:extLst>
          </p:nvPr>
        </p:nvGraphicFramePr>
        <p:xfrm>
          <a:off x="5703135" y="3056906"/>
          <a:ext cx="5305524" cy="17009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487">
                  <a:extLst>
                    <a:ext uri="{9D8B030D-6E8A-4147-A177-3AD203B41FA5}">
                      <a16:colId xmlns:a16="http://schemas.microsoft.com/office/drawing/2014/main" val="149333442"/>
                    </a:ext>
                  </a:extLst>
                </a:gridCol>
                <a:gridCol w="3486037">
                  <a:extLst>
                    <a:ext uri="{9D8B030D-6E8A-4147-A177-3AD203B41FA5}">
                      <a16:colId xmlns:a16="http://schemas.microsoft.com/office/drawing/2014/main" val="3237611481"/>
                    </a:ext>
                  </a:extLst>
                </a:gridCol>
              </a:tblGrid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RGB images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參數量比較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不算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bias 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724653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FC layer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3 * 128 * 128 * 16 = 786,432</a:t>
                      </a:r>
                      <a:endParaRPr kumimoji="1"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440054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Conv layer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num_filter</a:t>
                      </a:r>
                      <a:r>
                        <a:rPr lang="en-US" altLang="zh-TW" dirty="0"/>
                        <a:t> = 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 * 3 * 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= 27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612943"/>
                  </a:ext>
                </a:extLst>
              </a:tr>
            </a:tbl>
          </a:graphicData>
        </a:graphic>
      </p:graphicFrame>
      <p:sp>
        <p:nvSpPr>
          <p:cNvPr id="116" name="文字方塊 115">
            <a:extLst>
              <a:ext uri="{FF2B5EF4-FFF2-40B4-BE49-F238E27FC236}">
                <a16:creationId xmlns:a16="http://schemas.microsoft.com/office/drawing/2014/main" id="{0D3BBFA4-934F-84D3-D482-90B8138EE56C}"/>
              </a:ext>
            </a:extLst>
          </p:cNvPr>
          <p:cNvSpPr txBox="1"/>
          <p:nvPr/>
        </p:nvSpPr>
        <p:spPr>
          <a:xfrm>
            <a:off x="5622452" y="2621763"/>
            <a:ext cx="21530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FC: fully-connected</a:t>
            </a:r>
            <a:endParaRPr lang="zh-TW" altLang="en-US" dirty="0"/>
          </a:p>
        </p:txBody>
      </p:sp>
      <p:graphicFrame>
        <p:nvGraphicFramePr>
          <p:cNvPr id="3" name="表格 115">
            <a:extLst>
              <a:ext uri="{FF2B5EF4-FFF2-40B4-BE49-F238E27FC236}">
                <a16:creationId xmlns:a16="http://schemas.microsoft.com/office/drawing/2014/main" id="{FE862EC5-F87E-D368-985A-2E1B770D8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9619847"/>
              </p:ext>
            </p:extLst>
          </p:nvPr>
        </p:nvGraphicFramePr>
        <p:xfrm>
          <a:off x="5703135" y="3059410"/>
          <a:ext cx="5305524" cy="2341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487">
                  <a:extLst>
                    <a:ext uri="{9D8B030D-6E8A-4147-A177-3AD203B41FA5}">
                      <a16:colId xmlns:a16="http://schemas.microsoft.com/office/drawing/2014/main" val="149333442"/>
                    </a:ext>
                  </a:extLst>
                </a:gridCol>
                <a:gridCol w="3486037">
                  <a:extLst>
                    <a:ext uri="{9D8B030D-6E8A-4147-A177-3AD203B41FA5}">
                      <a16:colId xmlns:a16="http://schemas.microsoft.com/office/drawing/2014/main" val="3237611481"/>
                    </a:ext>
                  </a:extLst>
                </a:gridCol>
              </a:tblGrid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RGB images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參數量比較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 (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不算 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bias </a:t>
                      </a:r>
                      <a:r>
                        <a:rPr lang="zh-TW" altLang="en-US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數</a:t>
                      </a:r>
                      <a:r>
                        <a:rPr lang="en-US" altLang="zh-TW" dirty="0">
                          <a:solidFill>
                            <a:schemeClr val="bg1"/>
                          </a:solidFill>
                          <a:latin typeface="Microsoft JhengHei" panose="020B0604030504040204" pitchFamily="34" charset="-120"/>
                          <a:ea typeface="Microsoft JhengHei" panose="020B0604030504040204" pitchFamily="34" charset="-120"/>
                        </a:rPr>
                        <a:t>)</a:t>
                      </a:r>
                      <a:endParaRPr lang="zh-TW" altLang="en-US" dirty="0">
                        <a:solidFill>
                          <a:schemeClr val="bg1"/>
                        </a:solidFill>
                        <a:latin typeface="Microsoft JhengHei" panose="020B0604030504040204" pitchFamily="34" charset="-120"/>
                        <a:ea typeface="Microsoft JhengHei" panose="020B0604030504040204" pitchFamily="34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0724653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r>
                        <a:rPr lang="en-US" altLang="zh-TW" dirty="0"/>
                        <a:t>FC layer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TW" dirty="0"/>
                        <a:t>3 * 128 * 128 * 16 = 786,432</a:t>
                      </a:r>
                      <a:endParaRPr kumimoji="1"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6440054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Conv layer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num_filter</a:t>
                      </a:r>
                      <a:r>
                        <a:rPr lang="en-US" altLang="zh-TW" dirty="0"/>
                        <a:t> = 1)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 * 3 * 3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= 27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6612943"/>
                  </a:ext>
                </a:extLst>
              </a:tr>
              <a:tr h="530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Conv layer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/>
                        <a:t>(</a:t>
                      </a:r>
                      <a:r>
                        <a:rPr lang="en-US" altLang="zh-TW" dirty="0" err="1"/>
                        <a:t>num_filter</a:t>
                      </a:r>
                      <a:r>
                        <a:rPr lang="en-US" altLang="zh-TW" dirty="0"/>
                        <a:t> =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16</a:t>
                      </a:r>
                      <a:r>
                        <a:rPr lang="en-US" altLang="zh-TW" dirty="0"/>
                        <a:t>)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3 * 3 * 3 * </a:t>
                      </a:r>
                      <a:r>
                        <a:rPr lang="en-US" altLang="zh-TW" dirty="0">
                          <a:solidFill>
                            <a:srgbClr val="FF0000"/>
                          </a:solidFill>
                        </a:rPr>
                        <a:t>16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= 432</a:t>
                      </a:r>
                      <a:endParaRPr lang="zh-TW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4680356"/>
                  </a:ext>
                </a:extLst>
              </a:tr>
            </a:tbl>
          </a:graphicData>
        </a:graphic>
      </p:graphicFrame>
      <p:sp>
        <p:nvSpPr>
          <p:cNvPr id="5" name="橢圓 4">
            <a:extLst>
              <a:ext uri="{FF2B5EF4-FFF2-40B4-BE49-F238E27FC236}">
                <a16:creationId xmlns:a16="http://schemas.microsoft.com/office/drawing/2014/main" id="{7811A62F-95D3-46B1-B72F-3D59199A610F}"/>
              </a:ext>
            </a:extLst>
          </p:cNvPr>
          <p:cNvSpPr/>
          <p:nvPr/>
        </p:nvSpPr>
        <p:spPr>
          <a:xfrm>
            <a:off x="4088039" y="267251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76AC1BF-6BD8-0894-3BC9-9E7FDF0D658C}"/>
                  </a:ext>
                </a:extLst>
              </p:cNvPr>
              <p:cNvSpPr txBox="1"/>
              <p:nvPr/>
            </p:nvSpPr>
            <p:spPr>
              <a:xfrm>
                <a:off x="4145056" y="2758206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376AC1BF-6BD8-0894-3BC9-9E7FDF0D6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056" y="2758206"/>
                <a:ext cx="5158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0DB16534-62A8-EF4C-CD06-76567CA9C83A}"/>
              </a:ext>
            </a:extLst>
          </p:cNvPr>
          <p:cNvSpPr/>
          <p:nvPr/>
        </p:nvSpPr>
        <p:spPr>
          <a:xfrm>
            <a:off x="4088039" y="4620072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F5F2D53-17FB-F20B-9F5D-19416D0BAB69}"/>
                  </a:ext>
                </a:extLst>
              </p:cNvPr>
              <p:cNvSpPr txBox="1"/>
              <p:nvPr/>
            </p:nvSpPr>
            <p:spPr>
              <a:xfrm>
                <a:off x="4145056" y="4705767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8F5F2D53-17FB-F20B-9F5D-19416D0BAB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5056" y="4705767"/>
                <a:ext cx="5158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6D65FE71-4C62-DA10-2F2F-C95554778219}"/>
              </a:ext>
            </a:extLst>
          </p:cNvPr>
          <p:cNvSpPr txBox="1"/>
          <p:nvPr/>
        </p:nvSpPr>
        <p:spPr>
          <a:xfrm rot="5400000">
            <a:off x="4086071" y="4158171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C2C61A4E-4C41-C493-83F6-B67D80206CE0}"/>
              </a:ext>
            </a:extLst>
          </p:cNvPr>
          <p:cNvSpPr/>
          <p:nvPr/>
        </p:nvSpPr>
        <p:spPr>
          <a:xfrm>
            <a:off x="4096031" y="3290926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CF29935-AC35-5468-4662-459997BEE3C9}"/>
                  </a:ext>
                </a:extLst>
              </p:cNvPr>
              <p:cNvSpPr txBox="1"/>
              <p:nvPr/>
            </p:nvSpPr>
            <p:spPr>
              <a:xfrm>
                <a:off x="4153048" y="3376621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BCF29935-AC35-5468-4662-459997BEE3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3048" y="3376621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8A6192E4-51ED-75EA-04A5-078084127175}"/>
              </a:ext>
            </a:extLst>
          </p:cNvPr>
          <p:cNvSpPr txBox="1"/>
          <p:nvPr/>
        </p:nvSpPr>
        <p:spPr>
          <a:xfrm>
            <a:off x="3114049" y="5441896"/>
            <a:ext cx="1257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/>
              <a:t>(</a:t>
            </a:r>
            <a:r>
              <a:rPr kumimoji="1" lang="zh-TW" altLang="en-US" sz="1600" dirty="0"/>
              <a:t>連線太多，有所省略</a:t>
            </a:r>
            <a:r>
              <a:rPr kumimoji="1" lang="en-US" altLang="zh-TW" sz="1600" dirty="0"/>
              <a:t>)</a:t>
            </a:r>
            <a:endParaRPr kumimoji="1"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70006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AA1CB2-0BFF-B37C-C8F6-05CB16C0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Implementation in </a:t>
            </a:r>
            <a:r>
              <a:rPr kumimoji="1" lang="en-US" altLang="zh-TW" dirty="0" err="1"/>
              <a:t>PyTorch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D4B8917-12A1-7B6B-5091-116C23BCE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BC34562-F77A-AEE3-D199-65F9712B179D}"/>
              </a:ext>
            </a:extLst>
          </p:cNvPr>
          <p:cNvSpPr txBox="1"/>
          <p:nvPr/>
        </p:nvSpPr>
        <p:spPr>
          <a:xfrm>
            <a:off x="653144" y="1698517"/>
            <a:ext cx="10918370" cy="1143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我們使用 </a:t>
            </a:r>
            <a:r>
              <a:rPr kumimoji="1" lang="en-US" altLang="zh-TW" sz="2400" dirty="0">
                <a:latin typeface="Consolas" panose="020B0609020204030204" pitchFamily="49" charset="0"/>
                <a:ea typeface="Microsoft JhengHei" panose="020B0604030504040204" pitchFamily="34" charset="-120"/>
                <a:cs typeface="Consolas" panose="020B0609020204030204" pitchFamily="49" charset="0"/>
              </a:rPr>
              <a:t>torch.nn.Conv2d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Why not 3d?</a:t>
            </a:r>
          </a:p>
        </p:txBody>
      </p:sp>
      <p:grpSp>
        <p:nvGrpSpPr>
          <p:cNvPr id="6" name="群組 5">
            <a:extLst>
              <a:ext uri="{FF2B5EF4-FFF2-40B4-BE49-F238E27FC236}">
                <a16:creationId xmlns:a16="http://schemas.microsoft.com/office/drawing/2014/main" id="{76F305BE-D406-B03E-229A-942047F20BFC}"/>
              </a:ext>
            </a:extLst>
          </p:cNvPr>
          <p:cNvGrpSpPr/>
          <p:nvPr/>
        </p:nvGrpSpPr>
        <p:grpSpPr>
          <a:xfrm>
            <a:off x="4311549" y="3416878"/>
            <a:ext cx="2499360" cy="2499360"/>
            <a:chOff x="1696720" y="2418080"/>
            <a:chExt cx="2499360" cy="2499360"/>
          </a:xfrm>
        </p:grpSpPr>
        <p:sp>
          <p:nvSpPr>
            <p:cNvPr id="7" name="立方體 6">
              <a:extLst>
                <a:ext uri="{FF2B5EF4-FFF2-40B4-BE49-F238E27FC236}">
                  <a16:creationId xmlns:a16="http://schemas.microsoft.com/office/drawing/2014/main" id="{716B0335-ABB9-EF20-0731-606631C1AFB2}"/>
                </a:ext>
              </a:extLst>
            </p:cNvPr>
            <p:cNvSpPr/>
            <p:nvPr/>
          </p:nvSpPr>
          <p:spPr>
            <a:xfrm>
              <a:off x="2042160" y="2418080"/>
              <a:ext cx="680720" cy="2499360"/>
            </a:xfrm>
            <a:prstGeom prst="cube">
              <a:avLst>
                <a:gd name="adj" fmla="val 9107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" name="立方體 7">
              <a:extLst>
                <a:ext uri="{FF2B5EF4-FFF2-40B4-BE49-F238E27FC236}">
                  <a16:creationId xmlns:a16="http://schemas.microsoft.com/office/drawing/2014/main" id="{8A2A3677-24E2-17AD-BDE1-FEC9461A2084}"/>
                </a:ext>
              </a:extLst>
            </p:cNvPr>
            <p:cNvSpPr/>
            <p:nvPr/>
          </p:nvSpPr>
          <p:spPr>
            <a:xfrm>
              <a:off x="1696720" y="2418080"/>
              <a:ext cx="2499360" cy="249936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sp>
        <p:nvSpPr>
          <p:cNvPr id="9" name="文字方塊 8">
            <a:extLst>
              <a:ext uri="{FF2B5EF4-FFF2-40B4-BE49-F238E27FC236}">
                <a16:creationId xmlns:a16="http://schemas.microsoft.com/office/drawing/2014/main" id="{43A680ED-C756-9772-ED4F-1762796378EF}"/>
              </a:ext>
            </a:extLst>
          </p:cNvPr>
          <p:cNvSpPr txBox="1"/>
          <p:nvPr/>
        </p:nvSpPr>
        <p:spPr>
          <a:xfrm rot="19035928">
            <a:off x="4870568" y="5392145"/>
            <a:ext cx="72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128</a:t>
            </a:r>
            <a:endParaRPr kumimoji="1"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4453015-56EC-4078-4141-B9BB6AD065D1}"/>
              </a:ext>
            </a:extLst>
          </p:cNvPr>
          <p:cNvSpPr txBox="1"/>
          <p:nvPr/>
        </p:nvSpPr>
        <p:spPr>
          <a:xfrm>
            <a:off x="5282230" y="4313193"/>
            <a:ext cx="72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128</a:t>
            </a:r>
            <a:endParaRPr kumimoji="1"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AE9172D-9028-BEC5-3130-8BFE4FFA1F45}"/>
              </a:ext>
            </a:extLst>
          </p:cNvPr>
          <p:cNvSpPr txBox="1"/>
          <p:nvPr/>
        </p:nvSpPr>
        <p:spPr>
          <a:xfrm>
            <a:off x="4656989" y="2782669"/>
            <a:ext cx="2387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Number of Channels</a:t>
            </a:r>
          </a:p>
          <a:p>
            <a:pPr algn="ctr"/>
            <a:r>
              <a:rPr kumimoji="1" lang="en-US" altLang="zh-TW" dirty="0">
                <a:ea typeface="Microsoft JhengHei" panose="020B0604030504040204" pitchFamily="34" charset="-120"/>
              </a:rPr>
              <a:t>(</a:t>
            </a:r>
            <a:r>
              <a:rPr kumimoji="1" lang="zh-TW" altLang="en-US" dirty="0">
                <a:ea typeface="Microsoft JhengHei" panose="020B0604030504040204" pitchFamily="34" charset="-120"/>
              </a:rPr>
              <a:t>特徵維度</a:t>
            </a:r>
            <a:r>
              <a:rPr kumimoji="1" lang="en-US" altLang="zh-TW" dirty="0">
                <a:ea typeface="Microsoft JhengHei" panose="020B0604030504040204" pitchFamily="34" charset="-120"/>
              </a:rPr>
              <a:t>)</a:t>
            </a:r>
            <a:endParaRPr kumimoji="1" lang="zh-TW" altLang="en-US" dirty="0">
              <a:ea typeface="Microsoft JhengHei" panose="020B0604030504040204" pitchFamily="34" charset="-120"/>
            </a:endParaRPr>
          </a:p>
        </p:txBody>
      </p:sp>
      <p:sp>
        <p:nvSpPr>
          <p:cNvPr id="12" name="立方體 11">
            <a:extLst>
              <a:ext uri="{FF2B5EF4-FFF2-40B4-BE49-F238E27FC236}">
                <a16:creationId xmlns:a16="http://schemas.microsoft.com/office/drawing/2014/main" id="{135057FD-8162-CA69-A7D0-802829937E71}"/>
              </a:ext>
            </a:extLst>
          </p:cNvPr>
          <p:cNvSpPr/>
          <p:nvPr/>
        </p:nvSpPr>
        <p:spPr>
          <a:xfrm>
            <a:off x="4765043" y="4306733"/>
            <a:ext cx="152400" cy="382252"/>
          </a:xfrm>
          <a:prstGeom prst="cube">
            <a:avLst>
              <a:gd name="adj" fmla="val 91070"/>
            </a:avLst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" name="直線箭頭接點 13">
            <a:extLst>
              <a:ext uri="{FF2B5EF4-FFF2-40B4-BE49-F238E27FC236}">
                <a16:creationId xmlns:a16="http://schemas.microsoft.com/office/drawing/2014/main" id="{D9364BBA-B843-4277-B56F-ED1FC86208EE}"/>
              </a:ext>
            </a:extLst>
          </p:cNvPr>
          <p:cNvCxnSpPr>
            <a:cxnSpLocks/>
          </p:cNvCxnSpPr>
          <p:nvPr/>
        </p:nvCxnSpPr>
        <p:spPr>
          <a:xfrm flipV="1">
            <a:off x="4954329" y="4170012"/>
            <a:ext cx="291015" cy="27077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C96D364B-F498-A189-1BC8-C08B7A764BBB}"/>
              </a:ext>
            </a:extLst>
          </p:cNvPr>
          <p:cNvSpPr txBox="1"/>
          <p:nvPr/>
        </p:nvSpPr>
        <p:spPr>
          <a:xfrm>
            <a:off x="7702694" y="3958672"/>
            <a:ext cx="30815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2d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卷積僅沿著空間維度 </a:t>
            </a:r>
            <a:r>
              <a:rPr kumimoji="1" lang="en-US" altLang="zh-TW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(Height, Width) </a:t>
            </a:r>
            <a:r>
              <a:rPr kumimoji="1" lang="zh-TW" altLang="en-US" sz="2000" dirty="0">
                <a:solidFill>
                  <a:srgbClr val="FF0000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進行</a:t>
            </a:r>
          </a:p>
        </p:txBody>
      </p:sp>
    </p:spTree>
    <p:extLst>
      <p:ext uri="{BB962C8B-B14F-4D97-AF65-F5344CB8AC3E}">
        <p14:creationId xmlns:p14="http://schemas.microsoft.com/office/powerpoint/2010/main" val="2693295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C36682-5D59-57E8-43D3-8060FEEA4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TW" dirty="0"/>
              <a:t>[Recap] </a:t>
            </a:r>
            <a:r>
              <a:rPr kumimoji="1" lang="zh-TW" altLang="en-US" dirty="0"/>
              <a:t>深度學習可以減少 </a:t>
            </a:r>
            <a:r>
              <a:rPr kumimoji="1" lang="en-US" altLang="zh-TW" dirty="0"/>
              <a:t>Feature Selection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7E6113A-3A97-B12D-0B2D-1FBF7C2C1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40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070B9367-005C-658A-F357-6766ED2B8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55" y="1518394"/>
            <a:ext cx="3509617" cy="2341416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579D954-276D-3E79-EA12-ADF46E5C73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51" t="42966" r="43076" b="17210"/>
          <a:stretch/>
        </p:blipFill>
        <p:spPr>
          <a:xfrm>
            <a:off x="6121402" y="2222880"/>
            <a:ext cx="1290572" cy="932444"/>
          </a:xfrm>
          <a:prstGeom prst="rect">
            <a:avLst/>
          </a:prstGeom>
        </p:spPr>
      </p:pic>
      <p:cxnSp>
        <p:nvCxnSpPr>
          <p:cNvPr id="9" name="直線箭頭接點 8">
            <a:extLst>
              <a:ext uri="{FF2B5EF4-FFF2-40B4-BE49-F238E27FC236}">
                <a16:creationId xmlns:a16="http://schemas.microsoft.com/office/drawing/2014/main" id="{2CF015C0-E50A-E039-FE4C-811DE73EF74F}"/>
              </a:ext>
            </a:extLst>
          </p:cNvPr>
          <p:cNvCxnSpPr/>
          <p:nvPr/>
        </p:nvCxnSpPr>
        <p:spPr>
          <a:xfrm>
            <a:off x="4462670" y="2689102"/>
            <a:ext cx="136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709BA72-BB1C-E2E2-CEB2-2E3B37C589FC}"/>
              </a:ext>
            </a:extLst>
          </p:cNvPr>
          <p:cNvSpPr txBox="1"/>
          <p:nvPr/>
        </p:nvSpPr>
        <p:spPr>
          <a:xfrm>
            <a:off x="4553226" y="2375875"/>
            <a:ext cx="1180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找出重要的特徵</a:t>
            </a:r>
          </a:p>
        </p:txBody>
      </p:sp>
      <p:cxnSp>
        <p:nvCxnSpPr>
          <p:cNvPr id="11" name="直線箭頭接點 10">
            <a:extLst>
              <a:ext uri="{FF2B5EF4-FFF2-40B4-BE49-F238E27FC236}">
                <a16:creationId xmlns:a16="http://schemas.microsoft.com/office/drawing/2014/main" id="{06D07736-9C9C-4555-938E-1A431598A872}"/>
              </a:ext>
            </a:extLst>
          </p:cNvPr>
          <p:cNvCxnSpPr/>
          <p:nvPr/>
        </p:nvCxnSpPr>
        <p:spPr>
          <a:xfrm>
            <a:off x="7666384" y="2689102"/>
            <a:ext cx="13616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圓角矩形 11">
            <a:extLst>
              <a:ext uri="{FF2B5EF4-FFF2-40B4-BE49-F238E27FC236}">
                <a16:creationId xmlns:a16="http://schemas.microsoft.com/office/drawing/2014/main" id="{BE408C15-6B75-6CA2-DD6B-AAAAB3EFEC04}"/>
              </a:ext>
            </a:extLst>
          </p:cNvPr>
          <p:cNvSpPr/>
          <p:nvPr/>
        </p:nvSpPr>
        <p:spPr>
          <a:xfrm>
            <a:off x="9282455" y="2222880"/>
            <a:ext cx="2114417" cy="88458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Machine Learning Classifier</a:t>
            </a:r>
            <a:endParaRPr kumimoji="1" lang="zh-TW" altLang="en-US" dirty="0"/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F93C7B89-9CA9-A00B-5064-81C5D29E6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555" y="4074144"/>
            <a:ext cx="3509617" cy="2341416"/>
          </a:xfrm>
          <a:prstGeom prst="rect">
            <a:avLst/>
          </a:prstGeom>
        </p:spPr>
      </p:pic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B22E5D35-724E-9B08-20EB-2653C66889F9}"/>
              </a:ext>
            </a:extLst>
          </p:cNvPr>
          <p:cNvCxnSpPr>
            <a:cxnSpLocks/>
          </p:cNvCxnSpPr>
          <p:nvPr/>
        </p:nvCxnSpPr>
        <p:spPr>
          <a:xfrm>
            <a:off x="4462670" y="5244852"/>
            <a:ext cx="45653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圓角矩形 23">
            <a:extLst>
              <a:ext uri="{FF2B5EF4-FFF2-40B4-BE49-F238E27FC236}">
                <a16:creationId xmlns:a16="http://schemas.microsoft.com/office/drawing/2014/main" id="{871970A7-8366-E3E3-250C-6683F131AF26}"/>
              </a:ext>
            </a:extLst>
          </p:cNvPr>
          <p:cNvSpPr/>
          <p:nvPr/>
        </p:nvSpPr>
        <p:spPr>
          <a:xfrm>
            <a:off x="9282455" y="4778630"/>
            <a:ext cx="2114417" cy="884583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>
                <a:solidFill>
                  <a:schemeClr val="tx1"/>
                </a:solidFill>
              </a:rPr>
              <a:t>Deep Learning Classifier</a:t>
            </a:r>
            <a:endParaRPr kumimoji="1"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0F4BB9-2538-17CB-F8FE-13D9AF10F179}"/>
              </a:ext>
            </a:extLst>
          </p:cNvPr>
          <p:cNvSpPr/>
          <p:nvPr/>
        </p:nvSpPr>
        <p:spPr>
          <a:xfrm>
            <a:off x="2200136" y="5220922"/>
            <a:ext cx="234145" cy="314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1026" name="Picture 2" descr="組圖：迷人小鳥在樹枝上演雜技萌度爆表| 日本| 北海道| 長尾山雀| 大紀元">
            <a:extLst>
              <a:ext uri="{FF2B5EF4-FFF2-40B4-BE49-F238E27FC236}">
                <a16:creationId xmlns:a16="http://schemas.microsoft.com/office/drawing/2014/main" id="{A052EC31-D8A5-6BF9-DE22-4EFCD32205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0005" y="3369018"/>
            <a:ext cx="2114418" cy="1409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957569D6-33C2-45AF-9B3C-38EFCD44FEEE}"/>
              </a:ext>
            </a:extLst>
          </p:cNvPr>
          <p:cNvSpPr/>
          <p:nvPr/>
        </p:nvSpPr>
        <p:spPr>
          <a:xfrm>
            <a:off x="8230141" y="4042635"/>
            <a:ext cx="234145" cy="31490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E4C2312-19FA-B4DE-3A1B-3AEC576904D5}"/>
              </a:ext>
            </a:extLst>
          </p:cNvPr>
          <p:cNvSpPr txBox="1"/>
          <p:nvPr/>
        </p:nvSpPr>
        <p:spPr>
          <a:xfrm>
            <a:off x="4553226" y="5267581"/>
            <a:ext cx="43160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透過 </a:t>
            </a:r>
            <a:r>
              <a:rPr kumimoji="1" lang="en-US" altLang="zh-TW" dirty="0"/>
              <a:t>NN (</a:t>
            </a:r>
            <a:r>
              <a:rPr kumimoji="1" lang="zh-TW" altLang="en-US" dirty="0"/>
              <a:t>例如卷積層</a:t>
            </a:r>
            <a:r>
              <a:rPr kumimoji="1" lang="en-US" altLang="zh-TW" dirty="0"/>
              <a:t>)</a:t>
            </a:r>
            <a:r>
              <a:rPr kumimoji="1" lang="zh-TW" altLang="en-US" dirty="0"/>
              <a:t> 找出重要的特徵</a:t>
            </a:r>
          </a:p>
        </p:txBody>
      </p:sp>
      <p:pic>
        <p:nvPicPr>
          <p:cNvPr id="13" name="Picture 2" descr="Free Adorable grey and white cat with striking yellow eyes against a plain backdrop. Stock Photo">
            <a:extLst>
              <a:ext uri="{FF2B5EF4-FFF2-40B4-BE49-F238E27FC236}">
                <a16:creationId xmlns:a16="http://schemas.microsoft.com/office/drawing/2014/main" id="{5D26C6FE-3376-47A0-30E1-953157ECE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734" y="5636913"/>
            <a:ext cx="1778957" cy="11815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8B083FF-592C-518E-70FC-4DF92DCE7633}"/>
              </a:ext>
            </a:extLst>
          </p:cNvPr>
          <p:cNvSpPr txBox="1"/>
          <p:nvPr/>
        </p:nvSpPr>
        <p:spPr>
          <a:xfrm>
            <a:off x="9028045" y="5997200"/>
            <a:ext cx="2950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TW" altLang="en-US" dirty="0"/>
              <a:t>找不到鳥嘴</a:t>
            </a:r>
            <a:r>
              <a:rPr kumimoji="1" lang="en-US" altLang="zh-TW" dirty="0"/>
              <a:t> -&gt; </a:t>
            </a:r>
            <a:r>
              <a:rPr kumimoji="1" lang="zh-TW" altLang="en-US" dirty="0"/>
              <a:t>不是小鳥</a:t>
            </a:r>
          </a:p>
        </p:txBody>
      </p:sp>
    </p:spTree>
    <p:extLst>
      <p:ext uri="{BB962C8B-B14F-4D97-AF65-F5344CB8AC3E}">
        <p14:creationId xmlns:p14="http://schemas.microsoft.com/office/powerpoint/2010/main" val="323502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" grpId="0" animBg="1"/>
      <p:bldP spid="5" grpId="0" animBg="1"/>
      <p:bldP spid="8" grpId="1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36981-D51C-55DC-78E2-786F1FA23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300CCA-4F4B-FBAD-4A16-33E137116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885621A-9243-46EB-3C37-4F12A4EBBF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EC981E3-17FC-51CB-8790-5B5D6194DBA5}"/>
              </a:ext>
            </a:extLst>
          </p:cNvPr>
          <p:cNvSpPr txBox="1"/>
          <p:nvPr/>
        </p:nvSpPr>
        <p:spPr>
          <a:xfrm>
            <a:off x="653144" y="1806093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Convolutions (</a:t>
            </a:r>
            <a:r>
              <a:rPr kumimoji="1" lang="zh-TW" altLang="en-US" sz="2400" dirty="0"/>
              <a:t>卷積層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Subsampling (</a:t>
            </a:r>
            <a:r>
              <a:rPr kumimoji="1" lang="zh-TW" altLang="en-US" sz="2400" dirty="0"/>
              <a:t>池化層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Fully-connected Layer (</a:t>
            </a:r>
            <a:r>
              <a:rPr kumimoji="1" lang="zh-TW" altLang="en-US" sz="2400" dirty="0"/>
              <a:t>全連接層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186018-C936-99E1-DAA9-CDB3CF6722F5}"/>
              </a:ext>
            </a:extLst>
          </p:cNvPr>
          <p:cNvSpPr/>
          <p:nvPr/>
        </p:nvSpPr>
        <p:spPr>
          <a:xfrm>
            <a:off x="988768" y="2447015"/>
            <a:ext cx="3239310" cy="53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8D5A33D-78FB-8F29-674C-5DECB0E1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23" y="3863607"/>
            <a:ext cx="6975149" cy="23058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04A446C-1256-93E1-DAA6-57ACEE9E3C49}"/>
              </a:ext>
            </a:extLst>
          </p:cNvPr>
          <p:cNvSpPr txBox="1"/>
          <p:nvPr/>
        </p:nvSpPr>
        <p:spPr>
          <a:xfrm>
            <a:off x="2863101" y="6380575"/>
            <a:ext cx="646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/>
              <a:t>Figure source: LeCun, Y., </a:t>
            </a:r>
            <a:r>
              <a:rPr kumimoji="1" lang="en" altLang="zh-TW" sz="1000" dirty="0" err="1"/>
              <a:t>Bottou</a:t>
            </a:r>
            <a:r>
              <a:rPr kumimoji="1" lang="en" altLang="zh-TW" sz="1000" dirty="0"/>
              <a:t>, L., Bengio, Y., &amp; Haffner, P. (</a:t>
            </a:r>
            <a:r>
              <a:rPr kumimoji="1" lang="en" altLang="zh-TW" sz="1000" dirty="0">
                <a:solidFill>
                  <a:srgbClr val="FF0000"/>
                </a:solidFill>
              </a:rPr>
              <a:t>1998</a:t>
            </a:r>
            <a:r>
              <a:rPr kumimoji="1" lang="en" altLang="zh-TW" sz="1000" dirty="0"/>
              <a:t>). Gradient-based learning applied to document recognition. Proceedings of the IEEE, 86(11), 2278-2324.</a:t>
            </a:r>
            <a:endParaRPr kumimoji="1" lang="zh-TW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FE6257A-FE60-2CF7-9DF3-D76A6A47D273}"/>
              </a:ext>
            </a:extLst>
          </p:cNvPr>
          <p:cNvSpPr/>
          <p:nvPr/>
        </p:nvSpPr>
        <p:spPr>
          <a:xfrm>
            <a:off x="4807303" y="5573076"/>
            <a:ext cx="681990" cy="14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70D140-2F2C-4B31-374A-A25EA020C6EE}"/>
              </a:ext>
            </a:extLst>
          </p:cNvPr>
          <p:cNvSpPr/>
          <p:nvPr/>
        </p:nvSpPr>
        <p:spPr>
          <a:xfrm>
            <a:off x="6615509" y="5573076"/>
            <a:ext cx="681990" cy="1467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8376671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0F13E1-B69C-4A66-231B-01057098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Pooling (example of Max Pooling)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392525-2346-4B0B-E3A2-94BD8D04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42</a:t>
            </a:fld>
            <a:endParaRPr 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69A8BA2-7D04-D4FB-FDBA-68CA93C659BD}"/>
              </a:ext>
            </a:extLst>
          </p:cNvPr>
          <p:cNvCxnSpPr>
            <a:cxnSpLocks/>
          </p:cNvCxnSpPr>
          <p:nvPr/>
        </p:nvCxnSpPr>
        <p:spPr>
          <a:xfrm>
            <a:off x="5171440" y="3662680"/>
            <a:ext cx="1696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E583B0-0D65-B0EC-9CB8-CB4F5405937B}"/>
              </a:ext>
            </a:extLst>
          </p:cNvPr>
          <p:cNvSpPr txBox="1"/>
          <p:nvPr/>
        </p:nvSpPr>
        <p:spPr>
          <a:xfrm>
            <a:off x="5171440" y="4017722"/>
            <a:ext cx="2753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/>
              <a:t>kernel_size</a:t>
            </a:r>
            <a:r>
              <a:rPr kumimoji="1" lang="en-US" altLang="zh-TW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stride = 2</a:t>
            </a:r>
            <a:endParaRPr kumimoji="1" lang="zh-TW" altLang="en-US" dirty="0"/>
          </a:p>
        </p:txBody>
      </p:sp>
      <p:graphicFrame>
        <p:nvGraphicFramePr>
          <p:cNvPr id="17" name="表格 5">
            <a:extLst>
              <a:ext uri="{FF2B5EF4-FFF2-40B4-BE49-F238E27FC236}">
                <a16:creationId xmlns:a16="http://schemas.microsoft.com/office/drawing/2014/main" id="{C29C1E82-9013-ED7A-C215-D437AA311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203959"/>
              </p:ext>
            </p:extLst>
          </p:nvPr>
        </p:nvGraphicFramePr>
        <p:xfrm>
          <a:off x="2120536" y="238430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1D4D82E-23BF-AFA4-C1DC-89747058AA91}"/>
              </a:ext>
            </a:extLst>
          </p:cNvPr>
          <p:cNvSpPr/>
          <p:nvPr/>
        </p:nvSpPr>
        <p:spPr>
          <a:xfrm>
            <a:off x="2120537" y="2378671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3352E6D-8425-52D2-8E91-2613BA7A7B2C}"/>
              </a:ext>
            </a:extLst>
          </p:cNvPr>
          <p:cNvSpPr/>
          <p:nvPr/>
        </p:nvSpPr>
        <p:spPr>
          <a:xfrm>
            <a:off x="3399728" y="237585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77349B3-B23F-A423-E20C-0F9093295EBC}"/>
              </a:ext>
            </a:extLst>
          </p:cNvPr>
          <p:cNvSpPr/>
          <p:nvPr/>
        </p:nvSpPr>
        <p:spPr>
          <a:xfrm>
            <a:off x="2116664" y="365704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6A2E016-9B43-1289-67E6-CFFD7F50F3F9}"/>
              </a:ext>
            </a:extLst>
          </p:cNvPr>
          <p:cNvSpPr/>
          <p:nvPr/>
        </p:nvSpPr>
        <p:spPr>
          <a:xfrm>
            <a:off x="3399728" y="365704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EB7CD7E8-FED7-9DFF-14EF-F91BF613C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0946317"/>
              </p:ext>
            </p:extLst>
          </p:nvPr>
        </p:nvGraphicFramePr>
        <p:xfrm>
          <a:off x="7637415" y="2788603"/>
          <a:ext cx="1696720" cy="1736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848360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</a:tblGrid>
              <a:tr h="8478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8890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5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600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0F13E1-B69C-4A66-231B-01057098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Pooling (example of </a:t>
            </a:r>
            <a:r>
              <a:rPr kumimoji="1" lang="en-US" altLang="zh-TW" dirty="0">
                <a:solidFill>
                  <a:srgbClr val="FF0000"/>
                </a:solidFill>
              </a:rPr>
              <a:t>Average</a:t>
            </a:r>
            <a:r>
              <a:rPr kumimoji="1" lang="en-US" altLang="zh-TW" dirty="0"/>
              <a:t> Pooling)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392525-2346-4B0B-E3A2-94BD8D04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43</a:t>
            </a:fld>
            <a:endParaRPr lang="en-US" dirty="0"/>
          </a:p>
        </p:txBody>
      </p:sp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F5CD11A8-9CF4-3A39-D95B-895C53DF68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831048"/>
              </p:ext>
            </p:extLst>
          </p:nvPr>
        </p:nvGraphicFramePr>
        <p:xfrm>
          <a:off x="2120536" y="238430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6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6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0070C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6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6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2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2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2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accent2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69A8BA2-7D04-D4FB-FDBA-68CA93C659BD}"/>
              </a:ext>
            </a:extLst>
          </p:cNvPr>
          <p:cNvCxnSpPr>
            <a:cxnSpLocks/>
          </p:cNvCxnSpPr>
          <p:nvPr/>
        </p:nvCxnSpPr>
        <p:spPr>
          <a:xfrm>
            <a:off x="5171440" y="3662680"/>
            <a:ext cx="1696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表格 5">
            <a:extLst>
              <a:ext uri="{FF2B5EF4-FFF2-40B4-BE49-F238E27FC236}">
                <a16:creationId xmlns:a16="http://schemas.microsoft.com/office/drawing/2014/main" id="{85ACE898-01BF-6834-E476-C6FF32C40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4993239"/>
              </p:ext>
            </p:extLst>
          </p:nvPr>
        </p:nvGraphicFramePr>
        <p:xfrm>
          <a:off x="7637415" y="2788603"/>
          <a:ext cx="1696720" cy="1736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360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848360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</a:tblGrid>
              <a:tr h="84781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rgbClr val="0070C0"/>
                          </a:solidFill>
                          <a:latin typeface="+mn-lt"/>
                        </a:rPr>
                        <a:t>1</a:t>
                      </a:r>
                      <a:endParaRPr lang="zh-TW" altLang="en-US" sz="2500" b="0" dirty="0">
                        <a:solidFill>
                          <a:srgbClr val="0070C0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chemeClr val="accent6"/>
                          </a:solidFill>
                          <a:latin typeface="+mn-lt"/>
                        </a:rPr>
                        <a:t>1</a:t>
                      </a:r>
                      <a:endParaRPr lang="zh-TW" altLang="en-US" sz="2500" b="0" dirty="0">
                        <a:solidFill>
                          <a:schemeClr val="accent6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8890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500" b="0" dirty="0">
                          <a:solidFill>
                            <a:srgbClr val="FF0000"/>
                          </a:solidFill>
                          <a:latin typeface="+mn-lt"/>
                        </a:rPr>
                        <a:t>0.25</a:t>
                      </a:r>
                      <a:endParaRPr lang="zh-TW" altLang="en-US" sz="25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500" b="0" dirty="0">
                          <a:solidFill>
                            <a:schemeClr val="accent2"/>
                          </a:solidFill>
                          <a:latin typeface="+mn-lt"/>
                        </a:rPr>
                        <a:t>1</a:t>
                      </a:r>
                      <a:endParaRPr lang="zh-TW" altLang="en-US" sz="2500" b="0" dirty="0">
                        <a:solidFill>
                          <a:schemeClr val="accent2"/>
                        </a:solidFill>
                        <a:latin typeface="+mn-lt"/>
                      </a:endParaRPr>
                    </a:p>
                  </a:txBody>
                  <a:tcPr marL="112362" marR="112362" marT="56181" marB="5618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</a:tbl>
          </a:graphicData>
        </a:graphic>
      </p:graphicFrame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E583B0-0D65-B0EC-9CB8-CB4F5405937B}"/>
              </a:ext>
            </a:extLst>
          </p:cNvPr>
          <p:cNvSpPr txBox="1"/>
          <p:nvPr/>
        </p:nvSpPr>
        <p:spPr>
          <a:xfrm>
            <a:off x="5171440" y="4017722"/>
            <a:ext cx="2753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/>
              <a:t>kernel_size</a:t>
            </a:r>
            <a:r>
              <a:rPr kumimoji="1" lang="en-US" altLang="zh-TW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stride = 2</a:t>
            </a:r>
            <a:endParaRPr kumimoji="1" lang="zh-TW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5DDA756-8635-61DD-9C87-20CA5424F5BC}"/>
              </a:ext>
            </a:extLst>
          </p:cNvPr>
          <p:cNvSpPr/>
          <p:nvPr/>
        </p:nvSpPr>
        <p:spPr>
          <a:xfrm>
            <a:off x="2120537" y="2378671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AB29D29-F89D-B0AF-CDA7-16A9F425FE04}"/>
              </a:ext>
            </a:extLst>
          </p:cNvPr>
          <p:cNvSpPr/>
          <p:nvPr/>
        </p:nvSpPr>
        <p:spPr>
          <a:xfrm>
            <a:off x="3399728" y="237585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D9E1B6-60AD-C345-8544-ADF72EAFE26A}"/>
              </a:ext>
            </a:extLst>
          </p:cNvPr>
          <p:cNvSpPr/>
          <p:nvPr/>
        </p:nvSpPr>
        <p:spPr>
          <a:xfrm>
            <a:off x="2116664" y="365704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2E1C2DA-F96D-2BE4-36B0-CCB3E8A6DBBA}"/>
              </a:ext>
            </a:extLst>
          </p:cNvPr>
          <p:cNvSpPr/>
          <p:nvPr/>
        </p:nvSpPr>
        <p:spPr>
          <a:xfrm>
            <a:off x="3399728" y="3657042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1662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6" grpId="0" animBg="1"/>
      <p:bldP spid="6" grpId="1" animBg="1"/>
      <p:bldP spid="8" grpId="0" animBg="1"/>
      <p:bldP spid="8" grpId="1" animBg="1"/>
      <p:bldP spid="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0F13E1-B69C-4A66-231B-010570983C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Pooling (example of Max Pooling)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392525-2346-4B0B-E3A2-94BD8D04F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44</a:t>
            </a:fld>
            <a:endParaRPr lang="en-US" dirty="0"/>
          </a:p>
        </p:txBody>
      </p:sp>
      <p:cxnSp>
        <p:nvCxnSpPr>
          <p:cNvPr id="7" name="直線箭頭接點 6">
            <a:extLst>
              <a:ext uri="{FF2B5EF4-FFF2-40B4-BE49-F238E27FC236}">
                <a16:creationId xmlns:a16="http://schemas.microsoft.com/office/drawing/2014/main" id="{A69A8BA2-7D04-D4FB-FDBA-68CA93C659BD}"/>
              </a:ext>
            </a:extLst>
          </p:cNvPr>
          <p:cNvCxnSpPr>
            <a:cxnSpLocks/>
          </p:cNvCxnSpPr>
          <p:nvPr/>
        </p:nvCxnSpPr>
        <p:spPr>
          <a:xfrm>
            <a:off x="5171440" y="3662680"/>
            <a:ext cx="1696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9E583B0-0D65-B0EC-9CB8-CB4F5405937B}"/>
              </a:ext>
            </a:extLst>
          </p:cNvPr>
          <p:cNvSpPr txBox="1"/>
          <p:nvPr/>
        </p:nvSpPr>
        <p:spPr>
          <a:xfrm>
            <a:off x="5171440" y="4017722"/>
            <a:ext cx="2753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/>
              <a:t>kernel_size</a:t>
            </a:r>
            <a:r>
              <a:rPr kumimoji="1" lang="en-US" altLang="zh-TW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>
                <a:solidFill>
                  <a:srgbClr val="FF0000"/>
                </a:solidFill>
              </a:rPr>
              <a:t>stride = 1</a:t>
            </a:r>
            <a:endParaRPr kumimoji="1" lang="zh-TW" altLang="en-US" dirty="0">
              <a:solidFill>
                <a:srgbClr val="FF0000"/>
              </a:solidFill>
            </a:endParaRPr>
          </a:p>
        </p:txBody>
      </p:sp>
      <p:graphicFrame>
        <p:nvGraphicFramePr>
          <p:cNvPr id="17" name="表格 5">
            <a:extLst>
              <a:ext uri="{FF2B5EF4-FFF2-40B4-BE49-F238E27FC236}">
                <a16:creationId xmlns:a16="http://schemas.microsoft.com/office/drawing/2014/main" id="{C29C1E82-9013-ED7A-C215-D437AA3113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268964"/>
              </p:ext>
            </p:extLst>
          </p:nvPr>
        </p:nvGraphicFramePr>
        <p:xfrm>
          <a:off x="2120536" y="2384308"/>
          <a:ext cx="2558384" cy="2556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4117180886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-1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0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5694970"/>
                  </a:ext>
                </a:extLst>
              </a:tr>
            </a:tbl>
          </a:graphicData>
        </a:graphic>
      </p:graphicFrame>
      <p:sp>
        <p:nvSpPr>
          <p:cNvPr id="18" name="矩形 17">
            <a:extLst>
              <a:ext uri="{FF2B5EF4-FFF2-40B4-BE49-F238E27FC236}">
                <a16:creationId xmlns:a16="http://schemas.microsoft.com/office/drawing/2014/main" id="{81D4D82E-23BF-AFA4-C1DC-89747058AA91}"/>
              </a:ext>
            </a:extLst>
          </p:cNvPr>
          <p:cNvSpPr/>
          <p:nvPr/>
        </p:nvSpPr>
        <p:spPr>
          <a:xfrm>
            <a:off x="2120537" y="2378671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graphicFrame>
        <p:nvGraphicFramePr>
          <p:cNvPr id="3" name="表格 5">
            <a:extLst>
              <a:ext uri="{FF2B5EF4-FFF2-40B4-BE49-F238E27FC236}">
                <a16:creationId xmlns:a16="http://schemas.microsoft.com/office/drawing/2014/main" id="{E9C84718-5F15-E945-DB4B-BD4A6178F6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1718870"/>
              </p:ext>
            </p:extLst>
          </p:nvPr>
        </p:nvGraphicFramePr>
        <p:xfrm>
          <a:off x="7696991" y="2698263"/>
          <a:ext cx="1918788" cy="1917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9596">
                  <a:extLst>
                    <a:ext uri="{9D8B030D-6E8A-4147-A177-3AD203B41FA5}">
                      <a16:colId xmlns:a16="http://schemas.microsoft.com/office/drawing/2014/main" val="1106812764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69789686"/>
                    </a:ext>
                  </a:extLst>
                </a:gridCol>
                <a:gridCol w="639596">
                  <a:extLst>
                    <a:ext uri="{9D8B030D-6E8A-4147-A177-3AD203B41FA5}">
                      <a16:colId xmlns:a16="http://schemas.microsoft.com/office/drawing/2014/main" val="3642642527"/>
                    </a:ext>
                  </a:extLst>
                </a:gridCol>
              </a:tblGrid>
              <a:tr h="639186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3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8761505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6291338"/>
                  </a:ext>
                </a:extLst>
              </a:tr>
              <a:tr h="6391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1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2800" b="0" dirty="0">
                          <a:solidFill>
                            <a:srgbClr val="FF0000"/>
                          </a:solidFill>
                          <a:latin typeface="+mn-lt"/>
                        </a:rPr>
                        <a:t>2</a:t>
                      </a:r>
                      <a:endParaRPr lang="zh-TW" altLang="en-US" sz="2800" b="0" dirty="0">
                        <a:solidFill>
                          <a:srgbClr val="FF0000"/>
                        </a:solidFill>
                        <a:latin typeface="+mn-lt"/>
                      </a:endParaRPr>
                    </a:p>
                  </a:txBody>
                  <a:tcPr marL="84712" marR="84712" marT="42356" marB="4235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0910320"/>
                  </a:ext>
                </a:extLst>
              </a:tr>
            </a:tbl>
          </a:graphicData>
        </a:graphic>
      </p:graphicFrame>
      <p:sp>
        <p:nvSpPr>
          <p:cNvPr id="22" name="矩形 21">
            <a:extLst>
              <a:ext uri="{FF2B5EF4-FFF2-40B4-BE49-F238E27FC236}">
                <a16:creationId xmlns:a16="http://schemas.microsoft.com/office/drawing/2014/main" id="{B7C86E6F-5124-2551-5A2A-B2A7B967E3EE}"/>
              </a:ext>
            </a:extLst>
          </p:cNvPr>
          <p:cNvSpPr/>
          <p:nvPr/>
        </p:nvSpPr>
        <p:spPr>
          <a:xfrm>
            <a:off x="2762069" y="2384308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2ECEFAAC-846A-DA4F-9954-7FED1E6B33D8}"/>
              </a:ext>
            </a:extLst>
          </p:cNvPr>
          <p:cNvSpPr/>
          <p:nvPr/>
        </p:nvSpPr>
        <p:spPr>
          <a:xfrm>
            <a:off x="3395857" y="2384308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208D274-EA16-B1E2-A032-F6E0D356CEC1}"/>
              </a:ext>
            </a:extLst>
          </p:cNvPr>
          <p:cNvSpPr/>
          <p:nvPr/>
        </p:nvSpPr>
        <p:spPr>
          <a:xfrm>
            <a:off x="2127463" y="3019448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2FB3124-9842-EF53-5953-698F7045FEF3}"/>
              </a:ext>
            </a:extLst>
          </p:cNvPr>
          <p:cNvSpPr/>
          <p:nvPr/>
        </p:nvSpPr>
        <p:spPr>
          <a:xfrm>
            <a:off x="2768995" y="3025085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9403E1F-3820-CB0B-A4A2-87DBC80AD629}"/>
              </a:ext>
            </a:extLst>
          </p:cNvPr>
          <p:cNvSpPr/>
          <p:nvPr/>
        </p:nvSpPr>
        <p:spPr>
          <a:xfrm>
            <a:off x="3402783" y="3025085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E8CEE65-BB5E-D9D8-AFB9-BCF7691DECAB}"/>
              </a:ext>
            </a:extLst>
          </p:cNvPr>
          <p:cNvSpPr/>
          <p:nvPr/>
        </p:nvSpPr>
        <p:spPr>
          <a:xfrm>
            <a:off x="2127462" y="3668318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34EB6EA-930E-6B9A-0625-74F96FCE9312}"/>
              </a:ext>
            </a:extLst>
          </p:cNvPr>
          <p:cNvSpPr/>
          <p:nvPr/>
        </p:nvSpPr>
        <p:spPr>
          <a:xfrm>
            <a:off x="2768994" y="3673955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E5D76B0-F2CE-5A62-C74F-BD0F26B8A79D}"/>
              </a:ext>
            </a:extLst>
          </p:cNvPr>
          <p:cNvSpPr/>
          <p:nvPr/>
        </p:nvSpPr>
        <p:spPr>
          <a:xfrm>
            <a:off x="3402782" y="3673955"/>
            <a:ext cx="1283064" cy="128401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7880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D32AE-5232-A877-3715-475E78730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2D Pooling on RGB Images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408622B-9AAF-7D34-8C6F-AC324AA52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45</a:t>
            </a:fld>
            <a:endParaRPr 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C648A0E8-E0FE-56F2-D8E0-E2B82058310A}"/>
              </a:ext>
            </a:extLst>
          </p:cNvPr>
          <p:cNvGrpSpPr/>
          <p:nvPr/>
        </p:nvGrpSpPr>
        <p:grpSpPr>
          <a:xfrm>
            <a:off x="7843522" y="2855648"/>
            <a:ext cx="1763454" cy="1692501"/>
            <a:chOff x="1696720" y="2418080"/>
            <a:chExt cx="2499360" cy="2499360"/>
          </a:xfrm>
        </p:grpSpPr>
        <p:sp>
          <p:nvSpPr>
            <p:cNvPr id="7" name="立方體 6">
              <a:extLst>
                <a:ext uri="{FF2B5EF4-FFF2-40B4-BE49-F238E27FC236}">
                  <a16:creationId xmlns:a16="http://schemas.microsoft.com/office/drawing/2014/main" id="{F00486F3-81E9-AF54-BD52-371772182FB8}"/>
                </a:ext>
              </a:extLst>
            </p:cNvPr>
            <p:cNvSpPr/>
            <p:nvPr/>
          </p:nvSpPr>
          <p:spPr>
            <a:xfrm>
              <a:off x="2042160" y="2418080"/>
              <a:ext cx="680720" cy="2499360"/>
            </a:xfrm>
            <a:prstGeom prst="cube">
              <a:avLst>
                <a:gd name="adj" fmla="val 9107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" name="立方體 5">
              <a:extLst>
                <a:ext uri="{FF2B5EF4-FFF2-40B4-BE49-F238E27FC236}">
                  <a16:creationId xmlns:a16="http://schemas.microsoft.com/office/drawing/2014/main" id="{159E9177-C699-1BC9-F4E5-7B9A731C9D64}"/>
                </a:ext>
              </a:extLst>
            </p:cNvPr>
            <p:cNvSpPr/>
            <p:nvPr/>
          </p:nvSpPr>
          <p:spPr>
            <a:xfrm>
              <a:off x="1696720" y="2418080"/>
              <a:ext cx="2499360" cy="249936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9C2DF98A-1B96-357A-38BF-8AC2797973A4}"/>
              </a:ext>
            </a:extLst>
          </p:cNvPr>
          <p:cNvGrpSpPr/>
          <p:nvPr/>
        </p:nvGrpSpPr>
        <p:grpSpPr>
          <a:xfrm>
            <a:off x="1849120" y="2452219"/>
            <a:ext cx="2499360" cy="2499360"/>
            <a:chOff x="1696720" y="2418080"/>
            <a:chExt cx="2499360" cy="2499360"/>
          </a:xfrm>
        </p:grpSpPr>
        <p:sp>
          <p:nvSpPr>
            <p:cNvPr id="12" name="立方體 11">
              <a:extLst>
                <a:ext uri="{FF2B5EF4-FFF2-40B4-BE49-F238E27FC236}">
                  <a16:creationId xmlns:a16="http://schemas.microsoft.com/office/drawing/2014/main" id="{11D3D0E1-C33A-57C6-EC97-7827D6C3C0D6}"/>
                </a:ext>
              </a:extLst>
            </p:cNvPr>
            <p:cNvSpPr/>
            <p:nvPr/>
          </p:nvSpPr>
          <p:spPr>
            <a:xfrm>
              <a:off x="2042160" y="2418080"/>
              <a:ext cx="680720" cy="2499360"/>
            </a:xfrm>
            <a:prstGeom prst="cube">
              <a:avLst>
                <a:gd name="adj" fmla="val 91070"/>
              </a:avLst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立方體 12">
              <a:extLst>
                <a:ext uri="{FF2B5EF4-FFF2-40B4-BE49-F238E27FC236}">
                  <a16:creationId xmlns:a16="http://schemas.microsoft.com/office/drawing/2014/main" id="{11DAEE54-B7E6-17B8-D4DE-EE221E20AE04}"/>
                </a:ext>
              </a:extLst>
            </p:cNvPr>
            <p:cNvSpPr/>
            <p:nvPr/>
          </p:nvSpPr>
          <p:spPr>
            <a:xfrm>
              <a:off x="1696720" y="2418080"/>
              <a:ext cx="2499360" cy="2499360"/>
            </a:xfrm>
            <a:prstGeom prst="cub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</p:grp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8D79A673-72F6-7790-0D19-53C27F3EFCC1}"/>
              </a:ext>
            </a:extLst>
          </p:cNvPr>
          <p:cNvCxnSpPr>
            <a:cxnSpLocks/>
          </p:cNvCxnSpPr>
          <p:nvPr/>
        </p:nvCxnSpPr>
        <p:spPr>
          <a:xfrm>
            <a:off x="5171440" y="3662680"/>
            <a:ext cx="1696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B254356-3DDC-5321-295A-48AF0F34F671}"/>
              </a:ext>
            </a:extLst>
          </p:cNvPr>
          <p:cNvSpPr txBox="1"/>
          <p:nvPr/>
        </p:nvSpPr>
        <p:spPr>
          <a:xfrm>
            <a:off x="5171440" y="4017722"/>
            <a:ext cx="27533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參數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 err="1"/>
              <a:t>kernel_size</a:t>
            </a:r>
            <a:r>
              <a:rPr kumimoji="1" lang="en-US" altLang="zh-TW" dirty="0"/>
              <a:t>=2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TW" dirty="0"/>
              <a:t>stride = 2</a:t>
            </a:r>
            <a:endParaRPr kumimoji="1" lang="zh-TW" altLang="en-US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AAF7B1A2-A4ED-C87F-8A3E-4AC5B3246A78}"/>
              </a:ext>
            </a:extLst>
          </p:cNvPr>
          <p:cNvSpPr txBox="1"/>
          <p:nvPr/>
        </p:nvSpPr>
        <p:spPr>
          <a:xfrm rot="19035928">
            <a:off x="2408139" y="4427486"/>
            <a:ext cx="72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224</a:t>
            </a:r>
            <a:endParaRPr kumimoji="1" lang="zh-TW" altLang="en-US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55D2EBD-04E7-7978-CE9E-EF0847CC8817}"/>
              </a:ext>
            </a:extLst>
          </p:cNvPr>
          <p:cNvSpPr txBox="1"/>
          <p:nvPr/>
        </p:nvSpPr>
        <p:spPr>
          <a:xfrm>
            <a:off x="2819801" y="3348534"/>
            <a:ext cx="723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224</a:t>
            </a:r>
            <a:endParaRPr kumimoji="1" lang="zh-TW" altLang="en-US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04E0F82E-FF45-3A22-2BC4-CC0C28DC8285}"/>
              </a:ext>
            </a:extLst>
          </p:cNvPr>
          <p:cNvSpPr txBox="1"/>
          <p:nvPr/>
        </p:nvSpPr>
        <p:spPr>
          <a:xfrm>
            <a:off x="3099614" y="2114821"/>
            <a:ext cx="6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64</a:t>
            </a:r>
            <a:endParaRPr kumimoji="1" lang="zh-TW" altLang="en-US" dirty="0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0E7B23D7-56AE-107E-39F5-199D1EF81A98}"/>
              </a:ext>
            </a:extLst>
          </p:cNvPr>
          <p:cNvSpPr txBox="1"/>
          <p:nvPr/>
        </p:nvSpPr>
        <p:spPr>
          <a:xfrm>
            <a:off x="8620997" y="2518947"/>
            <a:ext cx="680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64</a:t>
            </a:r>
            <a:endParaRPr kumimoji="1" lang="zh-TW" altLang="en-US" dirty="0"/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13AF3276-3DEE-B232-EFBD-0572E46B9239}"/>
              </a:ext>
            </a:extLst>
          </p:cNvPr>
          <p:cNvSpPr txBox="1"/>
          <p:nvPr/>
        </p:nvSpPr>
        <p:spPr>
          <a:xfrm>
            <a:off x="8546759" y="3460173"/>
            <a:ext cx="480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112</a:t>
            </a:r>
            <a:endParaRPr kumimoji="1" lang="zh-TW" altLang="en-US" sz="1400" dirty="0"/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8F2D9C0-8113-949B-16DF-C4234D9DB1AB}"/>
              </a:ext>
            </a:extLst>
          </p:cNvPr>
          <p:cNvSpPr txBox="1"/>
          <p:nvPr/>
        </p:nvSpPr>
        <p:spPr>
          <a:xfrm>
            <a:off x="8289195" y="4240372"/>
            <a:ext cx="48029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112</a:t>
            </a:r>
            <a:endParaRPr kumimoji="1" lang="zh-TW" altLang="en-US" sz="1400" dirty="0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F303198A-80AC-2A08-8D86-6BC4AA2EC63D}"/>
              </a:ext>
            </a:extLst>
          </p:cNvPr>
          <p:cNvSpPr txBox="1"/>
          <p:nvPr/>
        </p:nvSpPr>
        <p:spPr>
          <a:xfrm>
            <a:off x="1924165" y="5201563"/>
            <a:ext cx="1902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224 x 224 x 64</a:t>
            </a:r>
          </a:p>
          <a:p>
            <a:pPr algn="ctr"/>
            <a:r>
              <a:rPr kumimoji="1" lang="en-US" altLang="zh-TW" dirty="0"/>
              <a:t>(H x W x C)</a:t>
            </a:r>
            <a:endParaRPr kumimoji="1" lang="zh-TW" altLang="en-US" dirty="0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FD0BBB7-A85A-5DD2-F232-368D641CCE09}"/>
              </a:ext>
            </a:extLst>
          </p:cNvPr>
          <p:cNvSpPr txBox="1"/>
          <p:nvPr/>
        </p:nvSpPr>
        <p:spPr>
          <a:xfrm>
            <a:off x="7704746" y="5201562"/>
            <a:ext cx="1902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112 x 112 x 64</a:t>
            </a:r>
          </a:p>
          <a:p>
            <a:pPr algn="ctr"/>
            <a:r>
              <a:rPr kumimoji="1" lang="en-US" altLang="zh-TW" dirty="0"/>
              <a:t>(H x W x C)</a:t>
            </a:r>
            <a:endParaRPr kumimoji="1"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5A295F-ADE2-3AE0-608A-25C61869049F}"/>
              </a:ext>
            </a:extLst>
          </p:cNvPr>
          <p:cNvSpPr txBox="1"/>
          <p:nvPr/>
        </p:nvSpPr>
        <p:spPr>
          <a:xfrm>
            <a:off x="2609655" y="6415560"/>
            <a:ext cx="69726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" altLang="zh-TW" sz="1400" dirty="0"/>
              <a:t>https://</a:t>
            </a:r>
            <a:r>
              <a:rPr kumimoji="1" lang="en" altLang="zh-TW" sz="1400" dirty="0" err="1"/>
              <a:t>docs.pytorch.org</a:t>
            </a:r>
            <a:r>
              <a:rPr kumimoji="1" lang="en" altLang="zh-TW" sz="1400" dirty="0"/>
              <a:t>/docs/stable/generated/torch.nn.MaxPool2d.html</a:t>
            </a:r>
            <a:endParaRPr kumimoji="1"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694079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0" grpId="0"/>
      <p:bldP spid="21" grpId="0"/>
      <p:bldP spid="22" grpId="0"/>
      <p:bldP spid="2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010573-FAFF-44FD-5C7E-A789CF50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[Summary] Meaning of Pooling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762F00F-C73B-8DF8-8D58-207A0F17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5DC47CE-4CA9-4790-422A-9422B6C19E05}"/>
              </a:ext>
            </a:extLst>
          </p:cNvPr>
          <p:cNvSpPr txBox="1"/>
          <p:nvPr/>
        </p:nvSpPr>
        <p:spPr>
          <a:xfrm>
            <a:off x="653144" y="1806093"/>
            <a:ext cx="10918370" cy="1686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Pooling </a:t>
            </a:r>
            <a:r>
              <a:rPr kumimoji="1" lang="zh-TW" altLang="en-US" sz="2400" dirty="0"/>
              <a:t>目的在於：強制保留最重要的特徵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優點：加速</a:t>
            </a:r>
            <a:r>
              <a:rPr kumimoji="1" lang="en-US" altLang="zh-TW" sz="2400" dirty="0"/>
              <a:t> CNN </a:t>
            </a:r>
            <a:r>
              <a:rPr kumimoji="1" lang="zh-TW" altLang="en-US" sz="2400" dirty="0"/>
              <a:t>的計算</a:t>
            </a: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/>
              <a:t>缺點：不保證模型效能真的會因此變好</a:t>
            </a:r>
            <a:endParaRPr kumimoji="1" lang="en-US" altLang="zh-TW" sz="2400" dirty="0"/>
          </a:p>
        </p:txBody>
      </p:sp>
    </p:spTree>
    <p:extLst>
      <p:ext uri="{BB962C8B-B14F-4D97-AF65-F5344CB8AC3E}">
        <p14:creationId xmlns:p14="http://schemas.microsoft.com/office/powerpoint/2010/main" val="39255148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A46155-DDCE-30DB-5DB2-5D004DB87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7E87C-5C20-0C3E-D902-37353FDC0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 Outline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B84203-AC7C-BD6D-4A14-F44D8AA9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4CA71D0-BF32-22F3-F7A5-B0BA016B19B1}"/>
              </a:ext>
            </a:extLst>
          </p:cNvPr>
          <p:cNvSpPr txBox="1"/>
          <p:nvPr/>
        </p:nvSpPr>
        <p:spPr>
          <a:xfrm>
            <a:off x="653144" y="1806093"/>
            <a:ext cx="10918370" cy="27938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Convolutions (</a:t>
            </a:r>
            <a:r>
              <a:rPr kumimoji="1" lang="zh-TW" altLang="en-US" sz="2400" dirty="0"/>
              <a:t>卷積層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Subsampling (</a:t>
            </a:r>
            <a:r>
              <a:rPr kumimoji="1" lang="zh-TW" altLang="en-US" sz="2400" dirty="0"/>
              <a:t>池化層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Fully-connected Layer (</a:t>
            </a:r>
            <a:r>
              <a:rPr kumimoji="1" lang="zh-TW" altLang="en-US" sz="2400" dirty="0"/>
              <a:t>全連接層</a:t>
            </a:r>
            <a:r>
              <a:rPr kumimoji="1" lang="en-US" altLang="zh-TW" sz="2400" dirty="0"/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kumimoji="1" lang="en-US" altLang="zh-TW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EA2CB0-6A0E-0E81-24CB-14692E29CFCF}"/>
              </a:ext>
            </a:extLst>
          </p:cNvPr>
          <p:cNvSpPr/>
          <p:nvPr/>
        </p:nvSpPr>
        <p:spPr>
          <a:xfrm>
            <a:off x="1050324" y="2994393"/>
            <a:ext cx="4609070" cy="535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5F8D0C4-DFE4-3671-7687-00858A853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8423" y="3863607"/>
            <a:ext cx="6975149" cy="2305834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687563A9-5E76-A248-8988-F9D41F417977}"/>
              </a:ext>
            </a:extLst>
          </p:cNvPr>
          <p:cNvSpPr txBox="1"/>
          <p:nvPr/>
        </p:nvSpPr>
        <p:spPr>
          <a:xfrm>
            <a:off x="2863101" y="6380575"/>
            <a:ext cx="64657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/>
              <a:t>Figure source: LeCun, Y., </a:t>
            </a:r>
            <a:r>
              <a:rPr kumimoji="1" lang="en" altLang="zh-TW" sz="1000" dirty="0" err="1"/>
              <a:t>Bottou</a:t>
            </a:r>
            <a:r>
              <a:rPr kumimoji="1" lang="en" altLang="zh-TW" sz="1000" dirty="0"/>
              <a:t>, L., Bengio, Y., &amp; Haffner, P. (</a:t>
            </a:r>
            <a:r>
              <a:rPr kumimoji="1" lang="en" altLang="zh-TW" sz="1000" dirty="0">
                <a:solidFill>
                  <a:srgbClr val="FF0000"/>
                </a:solidFill>
              </a:rPr>
              <a:t>1998</a:t>
            </a:r>
            <a:r>
              <a:rPr kumimoji="1" lang="en" altLang="zh-TW" sz="1000" dirty="0"/>
              <a:t>). Gradient-based learning applied to document recognition. Proceedings of the IEEE, 86(11), 2278-2324.</a:t>
            </a:r>
            <a:endParaRPr kumimoji="1" lang="zh-TW" altLang="en-US" sz="10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B4E0FA7-82E7-850C-ED0A-1E75B30A5535}"/>
              </a:ext>
            </a:extLst>
          </p:cNvPr>
          <p:cNvSpPr/>
          <p:nvPr/>
        </p:nvSpPr>
        <p:spPr>
          <a:xfrm>
            <a:off x="7241583" y="5409639"/>
            <a:ext cx="815021" cy="163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969D0C0-025D-D2A3-DF24-24BD143C0EE2}"/>
              </a:ext>
            </a:extLst>
          </p:cNvPr>
          <p:cNvSpPr/>
          <p:nvPr/>
        </p:nvSpPr>
        <p:spPr>
          <a:xfrm>
            <a:off x="7686162" y="5572897"/>
            <a:ext cx="815021" cy="1632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1002704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1A4EA4-91E4-63FD-0864-8C256D864E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</a:t>
            </a:r>
            <a:r>
              <a:rPr kumimoji="1" lang="zh-TW" altLang="en-US" dirty="0"/>
              <a:t> 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的結局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7C65DB9-81DC-D005-FEE1-6FC931615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3F29FCE-A3F0-12DB-B1FD-B1C091848B99}"/>
              </a:ext>
            </a:extLst>
          </p:cNvPr>
          <p:cNvSpPr txBox="1"/>
          <p:nvPr/>
        </p:nvSpPr>
        <p:spPr>
          <a:xfrm>
            <a:off x="636815" y="1850917"/>
            <a:ext cx="10918370" cy="2802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通常不會只有一層的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Convolutional Layer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隨著層數增加，通常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Feature map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會越來越小，因為：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Convolutional Layer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可能會縮小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feature map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如果沒有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padding)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Pooling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也會縮小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feature map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經過了多次的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Convolution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+ Pooling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後的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feature maps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為壓縮後的</a:t>
            </a:r>
            <a:r>
              <a:rPr kumimoji="1" lang="zh-TW" altLang="en-US" sz="2400" b="1" dirty="0">
                <a:ea typeface="Microsoft JhengHei" panose="020B0604030504040204" pitchFamily="34" charset="-120"/>
              </a:rPr>
              <a:t>重要資訊</a:t>
            </a:r>
            <a:endParaRPr kumimoji="1" lang="en-US" altLang="zh-TW" sz="2400" b="1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143939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B0836-2FF1-EAA4-BFD5-1150AFA1D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The whole CNN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83485EA-0D68-1364-71AB-83173001C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5" name="圖片 4" descr="一張含有 寵物, 室內, 狗飼養, corgi 的圖片&#10;&#10;自動產生的描述">
            <a:extLst>
              <a:ext uri="{FF2B5EF4-FFF2-40B4-BE49-F238E27FC236}">
                <a16:creationId xmlns:a16="http://schemas.microsoft.com/office/drawing/2014/main" id="{38F48D60-A46D-4AF1-1392-A95FB3F79C4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4" t="24003" r="17757" b="22533"/>
          <a:stretch/>
        </p:blipFill>
        <p:spPr>
          <a:xfrm>
            <a:off x="789943" y="1827791"/>
            <a:ext cx="1842214" cy="184672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290DFC0-1D61-D377-38CC-E7844B1C34AE}"/>
              </a:ext>
            </a:extLst>
          </p:cNvPr>
          <p:cNvSpPr/>
          <p:nvPr/>
        </p:nvSpPr>
        <p:spPr>
          <a:xfrm>
            <a:off x="3433170" y="2161390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17CABF8-94B3-6A15-5200-8112C8935D8C}"/>
              </a:ext>
            </a:extLst>
          </p:cNvPr>
          <p:cNvSpPr/>
          <p:nvPr/>
        </p:nvSpPr>
        <p:spPr>
          <a:xfrm>
            <a:off x="3433170" y="2939368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E73D49-B84A-BD0C-91BF-4B6949C17A77}"/>
              </a:ext>
            </a:extLst>
          </p:cNvPr>
          <p:cNvSpPr/>
          <p:nvPr/>
        </p:nvSpPr>
        <p:spPr>
          <a:xfrm>
            <a:off x="3433170" y="3619918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45DBA5C-48F0-F33D-7B08-924B0D55375B}"/>
              </a:ext>
            </a:extLst>
          </p:cNvPr>
          <p:cNvSpPr/>
          <p:nvPr/>
        </p:nvSpPr>
        <p:spPr>
          <a:xfrm>
            <a:off x="3433170" y="4397896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2CD66F9-F9EA-BC8A-29A6-FA7229702F81}"/>
              </a:ext>
            </a:extLst>
          </p:cNvPr>
          <p:cNvSpPr/>
          <p:nvPr/>
        </p:nvSpPr>
        <p:spPr>
          <a:xfrm>
            <a:off x="3433170" y="5175874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BD4D183-04E3-6AE8-31AE-F48261757729}"/>
              </a:ext>
            </a:extLst>
          </p:cNvPr>
          <p:cNvSpPr/>
          <p:nvPr/>
        </p:nvSpPr>
        <p:spPr>
          <a:xfrm>
            <a:off x="3433170" y="5856423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cxnSp>
        <p:nvCxnSpPr>
          <p:cNvPr id="17" name="直線箭頭接點 16">
            <a:extLst>
              <a:ext uri="{FF2B5EF4-FFF2-40B4-BE49-F238E27FC236}">
                <a16:creationId xmlns:a16="http://schemas.microsoft.com/office/drawing/2014/main" id="{82924233-30CF-AA0F-FFD8-50833C194ACB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>
            <a:off x="4172310" y="5446223"/>
            <a:ext cx="0" cy="4102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箭頭接點 19">
            <a:extLst>
              <a:ext uri="{FF2B5EF4-FFF2-40B4-BE49-F238E27FC236}">
                <a16:creationId xmlns:a16="http://schemas.microsoft.com/office/drawing/2014/main" id="{810E8B50-C78B-E302-6A39-419453B015C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>
            <a:off x="4172310" y="4765673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箭頭接點 22">
            <a:extLst>
              <a:ext uri="{FF2B5EF4-FFF2-40B4-BE49-F238E27FC236}">
                <a16:creationId xmlns:a16="http://schemas.microsoft.com/office/drawing/2014/main" id="{222929CC-69E0-4A93-7CBB-87D96EE2D12A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>
            <a:off x="4172310" y="3987695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線箭頭接點 25">
            <a:extLst>
              <a:ext uri="{FF2B5EF4-FFF2-40B4-BE49-F238E27FC236}">
                <a16:creationId xmlns:a16="http://schemas.microsoft.com/office/drawing/2014/main" id="{0106BF96-0DA8-4FCF-FDA2-ACD1C337BF51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172310" y="320971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箭頭接點 28">
            <a:extLst>
              <a:ext uri="{FF2B5EF4-FFF2-40B4-BE49-F238E27FC236}">
                <a16:creationId xmlns:a16="http://schemas.microsoft.com/office/drawing/2014/main" id="{170584EA-4083-4F20-74CD-46569A1EFD9B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>
            <a:off x="4172310" y="252916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肘形接點 32">
            <a:extLst>
              <a:ext uri="{FF2B5EF4-FFF2-40B4-BE49-F238E27FC236}">
                <a16:creationId xmlns:a16="http://schemas.microsoft.com/office/drawing/2014/main" id="{8E4222A5-9518-4515-C567-7D02CE7EF07F}"/>
              </a:ext>
            </a:extLst>
          </p:cNvPr>
          <p:cNvCxnSpPr>
            <a:stCxn id="5" idx="3"/>
            <a:endCxn id="6" idx="0"/>
          </p:cNvCxnSpPr>
          <p:nvPr/>
        </p:nvCxnSpPr>
        <p:spPr>
          <a:xfrm flipV="1">
            <a:off x="2632157" y="2161390"/>
            <a:ext cx="1540153" cy="589766"/>
          </a:xfrm>
          <a:prstGeom prst="bentConnector4">
            <a:avLst>
              <a:gd name="adj1" fmla="val 26004"/>
              <a:gd name="adj2" fmla="val 143644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EA95DE7D-F114-BF6B-83E4-0FE9DC3F689F}"/>
              </a:ext>
            </a:extLst>
          </p:cNvPr>
          <p:cNvSpPr/>
          <p:nvPr/>
        </p:nvSpPr>
        <p:spPr>
          <a:xfrm>
            <a:off x="5712463" y="3619918"/>
            <a:ext cx="1478280" cy="36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Convolution</a:t>
            </a:r>
            <a:endParaRPr kumimoji="1" lang="zh-TW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8F01520-C937-4548-D98B-2D1C36DC0DB3}"/>
              </a:ext>
            </a:extLst>
          </p:cNvPr>
          <p:cNvSpPr/>
          <p:nvPr/>
        </p:nvSpPr>
        <p:spPr>
          <a:xfrm>
            <a:off x="5712463" y="2939368"/>
            <a:ext cx="1478280" cy="27034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TW" sz="1600" dirty="0" err="1"/>
              <a:t>BatchNorm</a:t>
            </a:r>
            <a:endParaRPr kumimoji="1" lang="zh-TW" altLang="en-US" sz="1600" dirty="0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22F50E5-CFE1-6D86-500B-BF3205C910BD}"/>
              </a:ext>
            </a:extLst>
          </p:cNvPr>
          <p:cNvSpPr/>
          <p:nvPr/>
        </p:nvSpPr>
        <p:spPr>
          <a:xfrm>
            <a:off x="5712463" y="2161389"/>
            <a:ext cx="1478280" cy="3677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/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Pooling</a:t>
            </a:r>
            <a:endParaRPr kumimoji="1" lang="zh-TW" altLang="en-US" dirty="0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045CAF1-AA66-A35D-34C4-11A8FE037048}"/>
              </a:ext>
            </a:extLst>
          </p:cNvPr>
          <p:cNvSpPr/>
          <p:nvPr/>
        </p:nvSpPr>
        <p:spPr>
          <a:xfrm>
            <a:off x="8081563" y="2161390"/>
            <a:ext cx="1478280" cy="36777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Flatten</a:t>
            </a:r>
            <a:endParaRPr kumimoji="1" lang="zh-TW" altLang="en-US" dirty="0"/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0D5F31B3-32D8-249F-3F5D-A4F3077FBDBC}"/>
              </a:ext>
            </a:extLst>
          </p:cNvPr>
          <p:cNvSpPr/>
          <p:nvPr/>
        </p:nvSpPr>
        <p:spPr>
          <a:xfrm>
            <a:off x="8081563" y="3114068"/>
            <a:ext cx="1478280" cy="8736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dirty="0"/>
              <a:t>Fully-connected Networks</a:t>
            </a:r>
            <a:endParaRPr kumimoji="1" lang="zh-TW" altLang="en-US" dirty="0"/>
          </a:p>
        </p:txBody>
      </p:sp>
      <p:sp>
        <p:nvSpPr>
          <p:cNvPr id="41" name="圓角矩形 40">
            <a:extLst>
              <a:ext uri="{FF2B5EF4-FFF2-40B4-BE49-F238E27FC236}">
                <a16:creationId xmlns:a16="http://schemas.microsoft.com/office/drawing/2014/main" id="{D7DFCDCC-BFD5-3FA2-1B1E-D8F96FD3ED0A}"/>
              </a:ext>
            </a:extLst>
          </p:cNvPr>
          <p:cNvSpPr/>
          <p:nvPr/>
        </p:nvSpPr>
        <p:spPr>
          <a:xfrm>
            <a:off x="7933368" y="4581784"/>
            <a:ext cx="1774669" cy="807628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b="1" dirty="0">
                <a:solidFill>
                  <a:schemeClr val="tx1"/>
                </a:solidFill>
              </a:rPr>
              <a:t>Classification</a:t>
            </a:r>
            <a:endParaRPr kumimoji="1" lang="zh-TW" altLang="en-US" b="1" dirty="0">
              <a:solidFill>
                <a:schemeClr val="tx1"/>
              </a:solidFill>
            </a:endParaRPr>
          </a:p>
        </p:txBody>
      </p:sp>
      <p:cxnSp>
        <p:nvCxnSpPr>
          <p:cNvPr id="42" name="直線箭頭接點 41">
            <a:extLst>
              <a:ext uri="{FF2B5EF4-FFF2-40B4-BE49-F238E27FC236}">
                <a16:creationId xmlns:a16="http://schemas.microsoft.com/office/drawing/2014/main" id="{99480CCB-B3E7-728E-B76D-E60A5DF7CE8A}"/>
              </a:ext>
            </a:extLst>
          </p:cNvPr>
          <p:cNvCxnSpPr>
            <a:cxnSpLocks/>
            <a:stCxn id="36" idx="0"/>
            <a:endCxn id="37" idx="2"/>
          </p:cNvCxnSpPr>
          <p:nvPr/>
        </p:nvCxnSpPr>
        <p:spPr>
          <a:xfrm flipV="1">
            <a:off x="6451603" y="2529166"/>
            <a:ext cx="0" cy="4102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箭頭接點 44">
            <a:extLst>
              <a:ext uri="{FF2B5EF4-FFF2-40B4-BE49-F238E27FC236}">
                <a16:creationId xmlns:a16="http://schemas.microsoft.com/office/drawing/2014/main" id="{57482C9B-2778-30A4-FD9A-732437152C6A}"/>
              </a:ext>
            </a:extLst>
          </p:cNvPr>
          <p:cNvCxnSpPr>
            <a:cxnSpLocks/>
            <a:stCxn id="35" idx="0"/>
            <a:endCxn id="36" idx="2"/>
          </p:cNvCxnSpPr>
          <p:nvPr/>
        </p:nvCxnSpPr>
        <p:spPr>
          <a:xfrm flipV="1">
            <a:off x="6451603" y="3209717"/>
            <a:ext cx="0" cy="4102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肘形接點 47">
            <a:extLst>
              <a:ext uri="{FF2B5EF4-FFF2-40B4-BE49-F238E27FC236}">
                <a16:creationId xmlns:a16="http://schemas.microsoft.com/office/drawing/2014/main" id="{8896412A-A417-58C7-2FAC-16ED643B8504}"/>
              </a:ext>
            </a:extLst>
          </p:cNvPr>
          <p:cNvCxnSpPr>
            <a:cxnSpLocks/>
            <a:stCxn id="15" idx="2"/>
          </p:cNvCxnSpPr>
          <p:nvPr/>
        </p:nvCxnSpPr>
        <p:spPr>
          <a:xfrm rot="5400000" flipH="1" flipV="1">
            <a:off x="4603905" y="4376501"/>
            <a:ext cx="1416103" cy="2279295"/>
          </a:xfrm>
          <a:prstGeom prst="bentConnector4">
            <a:avLst>
              <a:gd name="adj1" fmla="val -16143"/>
              <a:gd name="adj2" fmla="val 999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字方塊 49">
            <a:extLst>
              <a:ext uri="{FF2B5EF4-FFF2-40B4-BE49-F238E27FC236}">
                <a16:creationId xmlns:a16="http://schemas.microsoft.com/office/drawing/2014/main" id="{F2823384-BA6A-093D-75B9-B5AA2C2509E9}"/>
              </a:ext>
            </a:extLst>
          </p:cNvPr>
          <p:cNvSpPr txBox="1"/>
          <p:nvPr/>
        </p:nvSpPr>
        <p:spPr>
          <a:xfrm>
            <a:off x="6158420" y="4093193"/>
            <a:ext cx="923330" cy="506093"/>
          </a:xfrm>
          <a:prstGeom prst="rect">
            <a:avLst/>
          </a:prstGeom>
          <a:noFill/>
        </p:spPr>
        <p:txBody>
          <a:bodyPr vert="eaVert" wrap="square" rtlCol="0" anchor="ctr">
            <a:spAutoFit/>
          </a:bodyPr>
          <a:lstStyle/>
          <a:p>
            <a:r>
              <a:rPr kumimoji="1" lang="en-US" altLang="zh-TW" sz="4800" dirty="0"/>
              <a:t>…</a:t>
            </a:r>
            <a:endParaRPr kumimoji="1" lang="zh-TW" altLang="en-US" sz="4800" dirty="0"/>
          </a:p>
        </p:txBody>
      </p:sp>
      <p:cxnSp>
        <p:nvCxnSpPr>
          <p:cNvPr id="54" name="肘形接點 53">
            <a:extLst>
              <a:ext uri="{FF2B5EF4-FFF2-40B4-BE49-F238E27FC236}">
                <a16:creationId xmlns:a16="http://schemas.microsoft.com/office/drawing/2014/main" id="{37C6F649-4852-1E8A-C89A-E0F49BCFFA0D}"/>
              </a:ext>
            </a:extLst>
          </p:cNvPr>
          <p:cNvCxnSpPr>
            <a:cxnSpLocks/>
            <a:stCxn id="37" idx="0"/>
            <a:endCxn id="38" idx="0"/>
          </p:cNvCxnSpPr>
          <p:nvPr/>
        </p:nvCxnSpPr>
        <p:spPr>
          <a:xfrm rot="16200000" flipH="1">
            <a:off x="7636152" y="976839"/>
            <a:ext cx="1" cy="2369100"/>
          </a:xfrm>
          <a:prstGeom prst="bentConnector3">
            <a:avLst>
              <a:gd name="adj1" fmla="val -2286000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箭頭接點 62">
            <a:extLst>
              <a:ext uri="{FF2B5EF4-FFF2-40B4-BE49-F238E27FC236}">
                <a16:creationId xmlns:a16="http://schemas.microsoft.com/office/drawing/2014/main" id="{38E39F11-A556-6D19-1C14-7B8C4E74D85B}"/>
              </a:ext>
            </a:extLst>
          </p:cNvPr>
          <p:cNvCxnSpPr>
            <a:cxnSpLocks/>
            <a:stCxn id="38" idx="2"/>
            <a:endCxn id="39" idx="0"/>
          </p:cNvCxnSpPr>
          <p:nvPr/>
        </p:nvCxnSpPr>
        <p:spPr>
          <a:xfrm>
            <a:off x="8820703" y="2529167"/>
            <a:ext cx="0" cy="58490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線箭頭接點 65">
            <a:extLst>
              <a:ext uri="{FF2B5EF4-FFF2-40B4-BE49-F238E27FC236}">
                <a16:creationId xmlns:a16="http://schemas.microsoft.com/office/drawing/2014/main" id="{609651EC-D953-FB0D-6019-DD2010F2822C}"/>
              </a:ext>
            </a:extLst>
          </p:cNvPr>
          <p:cNvCxnSpPr>
            <a:cxnSpLocks/>
            <a:stCxn id="39" idx="2"/>
            <a:endCxn id="41" idx="0"/>
          </p:cNvCxnSpPr>
          <p:nvPr/>
        </p:nvCxnSpPr>
        <p:spPr>
          <a:xfrm>
            <a:off x="8820703" y="3987695"/>
            <a:ext cx="0" cy="59408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22241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0FFE15D-E225-C52E-5576-FE8D3BCF0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Flatten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ACCCDE0-0CE6-9869-7BF1-D4D6F9F55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FF993318-08B0-32D4-66F2-19A6E8CEEA8B}"/>
              </a:ext>
            </a:extLst>
          </p:cNvPr>
          <p:cNvSpPr txBox="1"/>
          <p:nvPr/>
        </p:nvSpPr>
        <p:spPr>
          <a:xfrm>
            <a:off x="1534591" y="5465761"/>
            <a:ext cx="9155473" cy="11323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" altLang="zh-TW" sz="2400" dirty="0">
                <a:ea typeface="Microsoft JhengHei" panose="020B0604030504040204" pitchFamily="34" charset="-120"/>
              </a:rPr>
              <a:t>Why Flatten?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Feature maps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最後的大小通常不會等於類別數目，因此需要接上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fully-connected layer</a:t>
            </a: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3F890BD0-A2D6-37BC-BED7-61E373EAC6A7}"/>
              </a:ext>
            </a:extLst>
          </p:cNvPr>
          <p:cNvSpPr/>
          <p:nvPr/>
        </p:nvSpPr>
        <p:spPr>
          <a:xfrm>
            <a:off x="7162208" y="220548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CD433C-E9E6-81C3-3F5B-0C46CDE07055}"/>
                  </a:ext>
                </a:extLst>
              </p:cNvPr>
              <p:cNvSpPr txBox="1"/>
              <p:nvPr/>
            </p:nvSpPr>
            <p:spPr>
              <a:xfrm>
                <a:off x="7219225" y="2291179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D8CD433C-E9E6-81C3-3F5B-0C46CDE07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225" y="2291179"/>
                <a:ext cx="515874" cy="40011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橢圓 6">
            <a:extLst>
              <a:ext uri="{FF2B5EF4-FFF2-40B4-BE49-F238E27FC236}">
                <a16:creationId xmlns:a16="http://schemas.microsoft.com/office/drawing/2014/main" id="{F7B44430-48C9-BA60-EE62-D4DBBDD27B4F}"/>
              </a:ext>
            </a:extLst>
          </p:cNvPr>
          <p:cNvSpPr/>
          <p:nvPr/>
        </p:nvSpPr>
        <p:spPr>
          <a:xfrm>
            <a:off x="7162208" y="415304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23093DC-223D-6716-45DC-7141BA71E73E}"/>
                  </a:ext>
                </a:extLst>
              </p:cNvPr>
              <p:cNvSpPr txBox="1"/>
              <p:nvPr/>
            </p:nvSpPr>
            <p:spPr>
              <a:xfrm>
                <a:off x="7219225" y="4238740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TW" sz="2000" b="0" i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523093DC-223D-6716-45DC-7141BA71E7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9225" y="4238740"/>
                <a:ext cx="515874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文字方塊 8">
            <a:extLst>
              <a:ext uri="{FF2B5EF4-FFF2-40B4-BE49-F238E27FC236}">
                <a16:creationId xmlns:a16="http://schemas.microsoft.com/office/drawing/2014/main" id="{E558D7BC-085E-2C8D-CB1F-1BEC0896F968}"/>
              </a:ext>
            </a:extLst>
          </p:cNvPr>
          <p:cNvSpPr txBox="1"/>
          <p:nvPr/>
        </p:nvSpPr>
        <p:spPr>
          <a:xfrm rot="5400000">
            <a:off x="7160240" y="3691144"/>
            <a:ext cx="7261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400" b="1" dirty="0"/>
              <a:t>...</a:t>
            </a:r>
            <a:endParaRPr kumimoji="1" lang="zh-TW" altLang="en-US" sz="24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EB782A68-6CB0-83F5-10CC-48445EDEEE09}"/>
              </a:ext>
            </a:extLst>
          </p:cNvPr>
          <p:cNvSpPr/>
          <p:nvPr/>
        </p:nvSpPr>
        <p:spPr>
          <a:xfrm>
            <a:off x="7170200" y="2823899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88BF4C2-114E-D5DF-208C-A9DEB8F793AC}"/>
                  </a:ext>
                </a:extLst>
              </p:cNvPr>
              <p:cNvSpPr txBox="1"/>
              <p:nvPr/>
            </p:nvSpPr>
            <p:spPr>
              <a:xfrm>
                <a:off x="7227217" y="2909594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688BF4C2-114E-D5DF-208C-A9DEB8F793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7217" y="2909594"/>
                <a:ext cx="51587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表格 5">
                <a:extLst>
                  <a:ext uri="{FF2B5EF4-FFF2-40B4-BE49-F238E27FC236}">
                    <a16:creationId xmlns:a16="http://schemas.microsoft.com/office/drawing/2014/main" id="{9DFDD15D-C0CF-2696-149F-3074446AB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391548"/>
                  </p:ext>
                </p:extLst>
              </p:nvPr>
            </p:nvGraphicFramePr>
            <p:xfrm>
              <a:off x="2893235" y="2112645"/>
              <a:ext cx="2676704" cy="2674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9176">
                      <a:extLst>
                        <a:ext uri="{9D8B030D-6E8A-4147-A177-3AD203B41FA5}">
                          <a16:colId xmlns:a16="http://schemas.microsoft.com/office/drawing/2014/main" val="1106812764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69789686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3642642527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4117180886"/>
                        </a:ext>
                      </a:extLst>
                    </a:gridCol>
                  </a:tblGrid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1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𝟒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08761505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66291338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en-US" altLang="zh-TW" sz="29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790910320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TW" altLang="en-US" sz="290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e>
                                  <m:sub>
                                    <m:r>
                                      <a:rPr lang="zh-TW" altLang="en-US" sz="29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n-US" altLang="zh-TW" sz="29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TW" altLang="en-US" sz="2900" b="0" dirty="0">
                            <a:solidFill>
                              <a:schemeClr val="tx1"/>
                            </a:solidFill>
                            <a:latin typeface="+mn-lt"/>
                          </a:endParaRPr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8856949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表格 5">
                <a:extLst>
                  <a:ext uri="{FF2B5EF4-FFF2-40B4-BE49-F238E27FC236}">
                    <a16:creationId xmlns:a16="http://schemas.microsoft.com/office/drawing/2014/main" id="{9DFDD15D-C0CF-2696-149F-3074446ABD5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3391548"/>
                  </p:ext>
                </p:extLst>
              </p:nvPr>
            </p:nvGraphicFramePr>
            <p:xfrm>
              <a:off x="2893235" y="2112645"/>
              <a:ext cx="2676704" cy="267498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9176">
                      <a:extLst>
                        <a:ext uri="{9D8B030D-6E8A-4147-A177-3AD203B41FA5}">
                          <a16:colId xmlns:a16="http://schemas.microsoft.com/office/drawing/2014/main" val="1106812764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69789686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3642642527"/>
                        </a:ext>
                      </a:extLst>
                    </a:gridCol>
                    <a:gridCol w="669176">
                      <a:extLst>
                        <a:ext uri="{9D8B030D-6E8A-4147-A177-3AD203B41FA5}">
                          <a16:colId xmlns:a16="http://schemas.microsoft.com/office/drawing/2014/main" val="4117180886"/>
                        </a:ext>
                      </a:extLst>
                    </a:gridCol>
                  </a:tblGrid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887" r="-301887" b="-3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887" r="-201887" b="-3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887" r="-101887" b="-3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t="-1887" r="-1887" b="-3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08761505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101887" r="-301887" b="-2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101887" r="-201887" b="-2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101887" r="-101887" b="-20188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t="-101887" r="-1887" b="-20188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6291338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205769" r="-301887" b="-1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205769" r="-201887" b="-1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205769" r="-101887" b="-10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t="-205769" r="-1887" b="-1057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90910320"/>
                      </a:ext>
                    </a:extLst>
                  </a:tr>
                  <a:tr h="668747"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t="-300000" r="-301887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00000" t="-300000" r="-201887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00000" t="-300000" r="-101887" b="-377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TW"/>
                        </a:p>
                      </a:txBody>
                      <a:tcPr marL="88630" marR="88630" marT="44315" marB="44315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0000" t="-300000" r="-1887" b="-377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8569497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文字方塊 12">
            <a:extLst>
              <a:ext uri="{FF2B5EF4-FFF2-40B4-BE49-F238E27FC236}">
                <a16:creationId xmlns:a16="http://schemas.microsoft.com/office/drawing/2014/main" id="{92429165-B7DA-0360-D0B4-E47E3FCC00B2}"/>
              </a:ext>
            </a:extLst>
          </p:cNvPr>
          <p:cNvSpPr txBox="1"/>
          <p:nvPr/>
        </p:nvSpPr>
        <p:spPr>
          <a:xfrm>
            <a:off x="3288109" y="4650505"/>
            <a:ext cx="2125980" cy="589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en-US" altLang="zh-TW" sz="2400" dirty="0">
                <a:solidFill>
                  <a:srgbClr val="FF0000"/>
                </a:solidFill>
                <a:ea typeface="Microsoft JhengHei" panose="020B0604030504040204" pitchFamily="34" charset="-120"/>
              </a:rPr>
              <a:t>feature map</a:t>
            </a:r>
          </a:p>
        </p:txBody>
      </p:sp>
      <p:cxnSp>
        <p:nvCxnSpPr>
          <p:cNvPr id="15" name="直線箭頭接點 14">
            <a:extLst>
              <a:ext uri="{FF2B5EF4-FFF2-40B4-BE49-F238E27FC236}">
                <a16:creationId xmlns:a16="http://schemas.microsoft.com/office/drawing/2014/main" id="{7228B5E6-17C4-5345-7836-4250131964F4}"/>
              </a:ext>
            </a:extLst>
          </p:cNvPr>
          <p:cNvCxnSpPr/>
          <p:nvPr/>
        </p:nvCxnSpPr>
        <p:spPr>
          <a:xfrm>
            <a:off x="5869459" y="3429000"/>
            <a:ext cx="864973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613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E85BA8-2F26-1F1A-AABB-1BBC9894B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/>
              <a:t>Fully-connected Networks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3D6EFAE-3746-0061-7FED-6C970CE10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EE770D4-D14A-ECE1-B400-621D57F070D6}"/>
              </a:ext>
            </a:extLst>
          </p:cNvPr>
          <p:cNvSpPr txBox="1"/>
          <p:nvPr/>
        </p:nvSpPr>
        <p:spPr>
          <a:xfrm>
            <a:off x="636815" y="1928013"/>
            <a:ext cx="1091837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常被稱為全連接層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(Fully-connected layers, FC)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Multi-layer perceptron (MLP)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即是由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 FC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所構成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注意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! CNN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 不是全連接層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8B29B11E-3F3B-6CAD-87AE-2DF76CAA2CDD}"/>
              </a:ext>
            </a:extLst>
          </p:cNvPr>
          <p:cNvSpPr/>
          <p:nvPr/>
        </p:nvSpPr>
        <p:spPr>
          <a:xfrm>
            <a:off x="1109337" y="42937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8DB92D0F-BB08-17D1-F20A-F29CC09A4557}"/>
              </a:ext>
            </a:extLst>
          </p:cNvPr>
          <p:cNvSpPr/>
          <p:nvPr/>
        </p:nvSpPr>
        <p:spPr>
          <a:xfrm>
            <a:off x="1109337" y="548603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0128C15B-8215-BCBE-1BFA-17A65C6DCB0E}"/>
              </a:ext>
            </a:extLst>
          </p:cNvPr>
          <p:cNvCxnSpPr>
            <a:cxnSpLocks/>
            <a:stCxn id="6" idx="6"/>
          </p:cNvCxnSpPr>
          <p:nvPr/>
        </p:nvCxnSpPr>
        <p:spPr>
          <a:xfrm>
            <a:off x="1680837" y="4579464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4E2F41D1-B2CB-FDC6-5295-316F1ECF435B}"/>
              </a:ext>
            </a:extLst>
          </p:cNvPr>
          <p:cNvCxnSpPr>
            <a:cxnSpLocks/>
            <a:stCxn id="7" idx="6"/>
            <a:endCxn id="10" idx="2"/>
          </p:cNvCxnSpPr>
          <p:nvPr/>
        </p:nvCxnSpPr>
        <p:spPr>
          <a:xfrm flipV="1">
            <a:off x="1680837" y="4580851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6C75F7CD-20B9-3749-E3A3-551AB43236B2}"/>
              </a:ext>
            </a:extLst>
          </p:cNvPr>
          <p:cNvSpPr/>
          <p:nvPr/>
        </p:nvSpPr>
        <p:spPr>
          <a:xfrm>
            <a:off x="2858127" y="429510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1" name="直線接點 10">
            <a:extLst>
              <a:ext uri="{FF2B5EF4-FFF2-40B4-BE49-F238E27FC236}">
                <a16:creationId xmlns:a16="http://schemas.microsoft.com/office/drawing/2014/main" id="{2EFDE491-EA87-4E78-59B6-7B19738CD7DD}"/>
              </a:ext>
            </a:extLst>
          </p:cNvPr>
          <p:cNvCxnSpPr>
            <a:cxnSpLocks/>
            <a:stCxn id="6" idx="6"/>
            <a:endCxn id="10" idx="2"/>
          </p:cNvCxnSpPr>
          <p:nvPr/>
        </p:nvCxnSpPr>
        <p:spPr>
          <a:xfrm>
            <a:off x="1680837" y="4579464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BC76E1A5-C40A-D791-7E16-56EEB3F28F44}"/>
              </a:ext>
            </a:extLst>
          </p:cNvPr>
          <p:cNvCxnSpPr>
            <a:cxnSpLocks/>
            <a:stCxn id="7" idx="6"/>
          </p:cNvCxnSpPr>
          <p:nvPr/>
        </p:nvCxnSpPr>
        <p:spPr>
          <a:xfrm>
            <a:off x="1680837" y="5771780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>
            <a:extLst>
              <a:ext uri="{FF2B5EF4-FFF2-40B4-BE49-F238E27FC236}">
                <a16:creationId xmlns:a16="http://schemas.microsoft.com/office/drawing/2014/main" id="{7766242E-39BA-9400-02BE-253ED04E4DF5}"/>
              </a:ext>
            </a:extLst>
          </p:cNvPr>
          <p:cNvSpPr/>
          <p:nvPr/>
        </p:nvSpPr>
        <p:spPr>
          <a:xfrm>
            <a:off x="3934071" y="486660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C7B06EDD-E994-7141-F7FC-DC279B703026}"/>
              </a:ext>
            </a:extLst>
          </p:cNvPr>
          <p:cNvCxnSpPr>
            <a:cxnSpLocks/>
            <a:stCxn id="10" idx="6"/>
            <a:endCxn id="13" idx="2"/>
          </p:cNvCxnSpPr>
          <p:nvPr/>
        </p:nvCxnSpPr>
        <p:spPr>
          <a:xfrm>
            <a:off x="3429627" y="4580851"/>
            <a:ext cx="504444" cy="57150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接點 14">
            <a:extLst>
              <a:ext uri="{FF2B5EF4-FFF2-40B4-BE49-F238E27FC236}">
                <a16:creationId xmlns:a16="http://schemas.microsoft.com/office/drawing/2014/main" id="{EA558F23-4210-8CBE-5993-74D40C3C511C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3429627" y="5152351"/>
            <a:ext cx="504444" cy="61969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ABDDD6-592D-9595-E7D0-D4F5688FC540}"/>
                  </a:ext>
                </a:extLst>
              </p:cNvPr>
              <p:cNvSpPr txBox="1"/>
              <p:nvPr/>
            </p:nvSpPr>
            <p:spPr>
              <a:xfrm>
                <a:off x="1215052" y="434410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EBABDDD6-592D-9595-E7D0-D4F5688FC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052" y="4344104"/>
                <a:ext cx="322139" cy="400110"/>
              </a:xfrm>
              <a:prstGeom prst="rect">
                <a:avLst/>
              </a:prstGeom>
              <a:blipFill>
                <a:blip r:embed="rId3"/>
                <a:stretch>
                  <a:fillRect r="-230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F4E32E2-49F8-964C-ABD7-7D142BC64DD6}"/>
                  </a:ext>
                </a:extLst>
              </p:cNvPr>
              <p:cNvSpPr txBox="1"/>
              <p:nvPr/>
            </p:nvSpPr>
            <p:spPr>
              <a:xfrm>
                <a:off x="1191269" y="5549098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5F4E32E2-49F8-964C-ABD7-7D142BC64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1269" y="5549098"/>
                <a:ext cx="44485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1710462-323E-4038-FA67-CCB74522BE62}"/>
                  </a:ext>
                </a:extLst>
              </p:cNvPr>
              <p:cNvSpPr txBox="1"/>
              <p:nvPr/>
            </p:nvSpPr>
            <p:spPr>
              <a:xfrm>
                <a:off x="2915144" y="437034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71710462-323E-4038-FA67-CCB74522BE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5144" y="4370345"/>
                <a:ext cx="515874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ADF54E5-1B42-DE03-09C4-8A4A67B478A4}"/>
                  </a:ext>
                </a:extLst>
              </p:cNvPr>
              <p:cNvSpPr txBox="1"/>
              <p:nvPr/>
            </p:nvSpPr>
            <p:spPr>
              <a:xfrm>
                <a:off x="3967599" y="4958283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baseline="-25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3" name="文字方塊 22">
                <a:extLst>
                  <a:ext uri="{FF2B5EF4-FFF2-40B4-BE49-F238E27FC236}">
                    <a16:creationId xmlns:a16="http://schemas.microsoft.com/office/drawing/2014/main" id="{0ADF54E5-1B42-DE03-09C4-8A4A67B47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7599" y="4958283"/>
                <a:ext cx="504444" cy="400110"/>
              </a:xfrm>
              <a:prstGeom prst="rect">
                <a:avLst/>
              </a:prstGeom>
              <a:blipFill>
                <a:blip r:embed="rId6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5FB0801-F045-1040-C9DA-A67B6962770E}"/>
                  </a:ext>
                </a:extLst>
              </p:cNvPr>
              <p:cNvSpPr txBox="1"/>
              <p:nvPr/>
            </p:nvSpPr>
            <p:spPr>
              <a:xfrm>
                <a:off x="2891655" y="5561049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55FB0801-F045-1040-C9DA-A67B696277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1655" y="5561049"/>
                <a:ext cx="50444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橢圓 26">
            <a:extLst>
              <a:ext uri="{FF2B5EF4-FFF2-40B4-BE49-F238E27FC236}">
                <a16:creationId xmlns:a16="http://schemas.microsoft.com/office/drawing/2014/main" id="{2FED192D-773D-C148-1D29-09DA2819341A}"/>
              </a:ext>
            </a:extLst>
          </p:cNvPr>
          <p:cNvSpPr/>
          <p:nvPr/>
        </p:nvSpPr>
        <p:spPr>
          <a:xfrm>
            <a:off x="2846697" y="548058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3252961-310F-14E9-1E68-0145A323984E}"/>
              </a:ext>
            </a:extLst>
          </p:cNvPr>
          <p:cNvSpPr/>
          <p:nvPr/>
        </p:nvSpPr>
        <p:spPr>
          <a:xfrm>
            <a:off x="6361380" y="42937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F13AABE7-F2B6-DA6A-905B-812B59C2740E}"/>
              </a:ext>
            </a:extLst>
          </p:cNvPr>
          <p:cNvSpPr/>
          <p:nvPr/>
        </p:nvSpPr>
        <p:spPr>
          <a:xfrm>
            <a:off x="6361380" y="5486030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2" name="直線接點 31">
            <a:extLst>
              <a:ext uri="{FF2B5EF4-FFF2-40B4-BE49-F238E27FC236}">
                <a16:creationId xmlns:a16="http://schemas.microsoft.com/office/drawing/2014/main" id="{50F18839-22D2-927B-0F06-CA434A9CFC7C}"/>
              </a:ext>
            </a:extLst>
          </p:cNvPr>
          <p:cNvCxnSpPr>
            <a:cxnSpLocks/>
            <a:stCxn id="30" idx="6"/>
          </p:cNvCxnSpPr>
          <p:nvPr/>
        </p:nvCxnSpPr>
        <p:spPr>
          <a:xfrm>
            <a:off x="6932880" y="4579464"/>
            <a:ext cx="1165860" cy="1192585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>
            <a:extLst>
              <a:ext uri="{FF2B5EF4-FFF2-40B4-BE49-F238E27FC236}">
                <a16:creationId xmlns:a16="http://schemas.microsoft.com/office/drawing/2014/main" id="{4F4FE554-1966-088E-56A1-A9F6ABA88A46}"/>
              </a:ext>
            </a:extLst>
          </p:cNvPr>
          <p:cNvCxnSpPr>
            <a:cxnSpLocks/>
            <a:stCxn id="31" idx="6"/>
            <a:endCxn id="34" idx="2"/>
          </p:cNvCxnSpPr>
          <p:nvPr/>
        </p:nvCxnSpPr>
        <p:spPr>
          <a:xfrm flipV="1">
            <a:off x="6932880" y="4580851"/>
            <a:ext cx="1177290" cy="119092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>
            <a:extLst>
              <a:ext uri="{FF2B5EF4-FFF2-40B4-BE49-F238E27FC236}">
                <a16:creationId xmlns:a16="http://schemas.microsoft.com/office/drawing/2014/main" id="{441FF42F-FC74-33EB-88EC-F24B8A86BC8C}"/>
              </a:ext>
            </a:extLst>
          </p:cNvPr>
          <p:cNvSpPr/>
          <p:nvPr/>
        </p:nvSpPr>
        <p:spPr>
          <a:xfrm>
            <a:off x="8110170" y="4295101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5" name="直線接點 34">
            <a:extLst>
              <a:ext uri="{FF2B5EF4-FFF2-40B4-BE49-F238E27FC236}">
                <a16:creationId xmlns:a16="http://schemas.microsoft.com/office/drawing/2014/main" id="{44168EE2-7ED5-0BE3-3529-7C2A1013AE0C}"/>
              </a:ext>
            </a:extLst>
          </p:cNvPr>
          <p:cNvCxnSpPr>
            <a:cxnSpLocks/>
            <a:stCxn id="30" idx="6"/>
            <a:endCxn id="34" idx="2"/>
          </p:cNvCxnSpPr>
          <p:nvPr/>
        </p:nvCxnSpPr>
        <p:spPr>
          <a:xfrm>
            <a:off x="6932880" y="4579464"/>
            <a:ext cx="1177290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5E524256-2F11-5276-0B2E-B2F1E3065911}"/>
              </a:ext>
            </a:extLst>
          </p:cNvPr>
          <p:cNvCxnSpPr>
            <a:cxnSpLocks/>
            <a:stCxn id="31" idx="6"/>
          </p:cNvCxnSpPr>
          <p:nvPr/>
        </p:nvCxnSpPr>
        <p:spPr>
          <a:xfrm>
            <a:off x="6932880" y="5771780"/>
            <a:ext cx="1165860" cy="2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橢圓 36">
            <a:extLst>
              <a:ext uri="{FF2B5EF4-FFF2-40B4-BE49-F238E27FC236}">
                <a16:creationId xmlns:a16="http://schemas.microsoft.com/office/drawing/2014/main" id="{CA2E8453-E1A5-2C30-3DEF-99746C77A921}"/>
              </a:ext>
            </a:extLst>
          </p:cNvPr>
          <p:cNvSpPr/>
          <p:nvPr/>
        </p:nvSpPr>
        <p:spPr>
          <a:xfrm>
            <a:off x="9689656" y="429371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38" name="直線接點 37">
            <a:extLst>
              <a:ext uri="{FF2B5EF4-FFF2-40B4-BE49-F238E27FC236}">
                <a16:creationId xmlns:a16="http://schemas.microsoft.com/office/drawing/2014/main" id="{B175C885-E0C8-DEF2-2705-7AF564501BFA}"/>
              </a:ext>
            </a:extLst>
          </p:cNvPr>
          <p:cNvCxnSpPr>
            <a:cxnSpLocks/>
            <a:stCxn id="34" idx="6"/>
            <a:endCxn id="37" idx="2"/>
          </p:cNvCxnSpPr>
          <p:nvPr/>
        </p:nvCxnSpPr>
        <p:spPr>
          <a:xfrm flipV="1">
            <a:off x="8681670" y="4579464"/>
            <a:ext cx="1007986" cy="138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>
            <a:extLst>
              <a:ext uri="{FF2B5EF4-FFF2-40B4-BE49-F238E27FC236}">
                <a16:creationId xmlns:a16="http://schemas.microsoft.com/office/drawing/2014/main" id="{C2B5C706-F1F8-69A1-9026-4156E9D2CAF3}"/>
              </a:ext>
            </a:extLst>
          </p:cNvPr>
          <p:cNvCxnSpPr>
            <a:cxnSpLocks/>
            <a:stCxn id="51" idx="6"/>
            <a:endCxn id="37" idx="2"/>
          </p:cNvCxnSpPr>
          <p:nvPr/>
        </p:nvCxnSpPr>
        <p:spPr>
          <a:xfrm flipV="1">
            <a:off x="8670240" y="4579464"/>
            <a:ext cx="1019416" cy="118687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D23AD4D-2B03-9834-83A5-B4D15B064E3A}"/>
                  </a:ext>
                </a:extLst>
              </p:cNvPr>
              <p:cNvSpPr txBox="1"/>
              <p:nvPr/>
            </p:nvSpPr>
            <p:spPr>
              <a:xfrm>
                <a:off x="6467095" y="4344104"/>
                <a:ext cx="322139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0" name="文字方塊 39">
                <a:extLst>
                  <a:ext uri="{FF2B5EF4-FFF2-40B4-BE49-F238E27FC236}">
                    <a16:creationId xmlns:a16="http://schemas.microsoft.com/office/drawing/2014/main" id="{BD23AD4D-2B03-9834-83A5-B4D15B064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7095" y="4344104"/>
                <a:ext cx="322139" cy="400110"/>
              </a:xfrm>
              <a:prstGeom prst="rect">
                <a:avLst/>
              </a:prstGeom>
              <a:blipFill>
                <a:blip r:embed="rId8"/>
                <a:stretch>
                  <a:fillRect r="-192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0063FF2-0CBE-1ABE-1FC0-D0726396056F}"/>
                  </a:ext>
                </a:extLst>
              </p:cNvPr>
              <p:cNvSpPr txBox="1"/>
              <p:nvPr/>
            </p:nvSpPr>
            <p:spPr>
              <a:xfrm>
                <a:off x="6443312" y="5549098"/>
                <a:ext cx="4448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1" name="文字方塊 40">
                <a:extLst>
                  <a:ext uri="{FF2B5EF4-FFF2-40B4-BE49-F238E27FC236}">
                    <a16:creationId xmlns:a16="http://schemas.microsoft.com/office/drawing/2014/main" id="{20063FF2-0CBE-1ABE-1FC0-D072639605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3312" y="5549098"/>
                <a:ext cx="44485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5A4BB97-68CF-7476-B1C3-877DD07923A1}"/>
                  </a:ext>
                </a:extLst>
              </p:cNvPr>
              <p:cNvSpPr txBox="1"/>
              <p:nvPr/>
            </p:nvSpPr>
            <p:spPr>
              <a:xfrm>
                <a:off x="8167187" y="4370345"/>
                <a:ext cx="51587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6" name="文字方塊 45">
                <a:extLst>
                  <a:ext uri="{FF2B5EF4-FFF2-40B4-BE49-F238E27FC236}">
                    <a16:creationId xmlns:a16="http://schemas.microsoft.com/office/drawing/2014/main" id="{25A4BB97-68CF-7476-B1C3-877DD07923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67187" y="4370345"/>
                <a:ext cx="515874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8705D441-B99D-BD55-41D6-215600744D0B}"/>
                  </a:ext>
                </a:extLst>
              </p:cNvPr>
              <p:cNvSpPr txBox="1"/>
              <p:nvPr/>
            </p:nvSpPr>
            <p:spPr>
              <a:xfrm>
                <a:off x="9723184" y="4385396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i="1" baseline="-2500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8705D441-B99D-BD55-41D6-215600744D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184" y="4385396"/>
                <a:ext cx="504444" cy="400110"/>
              </a:xfrm>
              <a:prstGeom prst="rect">
                <a:avLst/>
              </a:prstGeom>
              <a:blipFill>
                <a:blip r:embed="rId11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DE58713-73A7-8547-9C4E-1D9E83F6B764}"/>
                  </a:ext>
                </a:extLst>
              </p:cNvPr>
              <p:cNvSpPr txBox="1"/>
              <p:nvPr/>
            </p:nvSpPr>
            <p:spPr>
              <a:xfrm>
                <a:off x="8143698" y="5561049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TW" altLang="en-US" sz="2000" i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TW" altLang="en-US" sz="2000" dirty="0"/>
              </a:p>
            </p:txBody>
          </p:sp>
        </mc:Choice>
        <mc:Fallback xmlns="">
          <p:sp>
            <p:nvSpPr>
              <p:cNvPr id="48" name="文字方塊 47">
                <a:extLst>
                  <a:ext uri="{FF2B5EF4-FFF2-40B4-BE49-F238E27FC236}">
                    <a16:creationId xmlns:a16="http://schemas.microsoft.com/office/drawing/2014/main" id="{4DE58713-73A7-8547-9C4E-1D9E83F6B7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3698" y="5561049"/>
                <a:ext cx="504444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橢圓 50">
            <a:extLst>
              <a:ext uri="{FF2B5EF4-FFF2-40B4-BE49-F238E27FC236}">
                <a16:creationId xmlns:a16="http://schemas.microsoft.com/office/drawing/2014/main" id="{3017AE35-0437-8ECF-FB73-B0878DA4AD14}"/>
              </a:ext>
            </a:extLst>
          </p:cNvPr>
          <p:cNvSpPr/>
          <p:nvPr/>
        </p:nvSpPr>
        <p:spPr>
          <a:xfrm>
            <a:off x="8098740" y="5480584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32566E6-0641-84E5-D6C1-73F5BD08D14E}"/>
              </a:ext>
            </a:extLst>
          </p:cNvPr>
          <p:cNvCxnSpPr>
            <a:cxnSpLocks/>
            <a:endCxn id="57" idx="2"/>
          </p:cNvCxnSpPr>
          <p:nvPr/>
        </p:nvCxnSpPr>
        <p:spPr>
          <a:xfrm>
            <a:off x="8670240" y="4564092"/>
            <a:ext cx="1019416" cy="1199273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>
            <a:extLst>
              <a:ext uri="{FF2B5EF4-FFF2-40B4-BE49-F238E27FC236}">
                <a16:creationId xmlns:a16="http://schemas.microsoft.com/office/drawing/2014/main" id="{A7920916-7AD2-60BC-7E73-C37D383056E7}"/>
              </a:ext>
            </a:extLst>
          </p:cNvPr>
          <p:cNvSpPr/>
          <p:nvPr/>
        </p:nvSpPr>
        <p:spPr>
          <a:xfrm>
            <a:off x="9689656" y="5477615"/>
            <a:ext cx="571500" cy="5715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F5A3A975-D4E1-EB11-8B4B-B5A2818DD2BB}"/>
                  </a:ext>
                </a:extLst>
              </p:cNvPr>
              <p:cNvSpPr txBox="1"/>
              <p:nvPr/>
            </p:nvSpPr>
            <p:spPr>
              <a:xfrm>
                <a:off x="9723184" y="5569297"/>
                <a:ext cx="5044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0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zh-TW" sz="2000" b="0" i="1" baseline="-25000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zh-TW" alt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8" name="文字方塊 57">
                <a:extLst>
                  <a:ext uri="{FF2B5EF4-FFF2-40B4-BE49-F238E27FC236}">
                    <a16:creationId xmlns:a16="http://schemas.microsoft.com/office/drawing/2014/main" id="{F5A3A975-D4E1-EB11-8B4B-B5A2818DD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23184" y="5569297"/>
                <a:ext cx="504444" cy="400110"/>
              </a:xfrm>
              <a:prstGeom prst="rect">
                <a:avLst/>
              </a:prstGeom>
              <a:blipFill>
                <a:blip r:embed="rId13"/>
                <a:stretch>
                  <a:fillRect t="-6250" b="-62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直線接點 59">
            <a:extLst>
              <a:ext uri="{FF2B5EF4-FFF2-40B4-BE49-F238E27FC236}">
                <a16:creationId xmlns:a16="http://schemas.microsoft.com/office/drawing/2014/main" id="{2FE66D13-6C7B-E935-C153-7831E9C69B91}"/>
              </a:ext>
            </a:extLst>
          </p:cNvPr>
          <p:cNvCxnSpPr>
            <a:cxnSpLocks/>
            <a:stCxn id="51" idx="6"/>
            <a:endCxn id="57" idx="2"/>
          </p:cNvCxnSpPr>
          <p:nvPr/>
        </p:nvCxnSpPr>
        <p:spPr>
          <a:xfrm flipV="1">
            <a:off x="8670240" y="5763365"/>
            <a:ext cx="1019416" cy="2969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>
            <a:extLst>
              <a:ext uri="{FF2B5EF4-FFF2-40B4-BE49-F238E27FC236}">
                <a16:creationId xmlns:a16="http://schemas.microsoft.com/office/drawing/2014/main" id="{C9F9DE04-A461-3ACC-E2E7-4107F838322D}"/>
              </a:ext>
            </a:extLst>
          </p:cNvPr>
          <p:cNvSpPr txBox="1"/>
          <p:nvPr/>
        </p:nvSpPr>
        <p:spPr>
          <a:xfrm>
            <a:off x="10249726" y="4967685"/>
            <a:ext cx="16151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Classification</a:t>
            </a:r>
            <a:endParaRPr kumimoji="1" lang="zh-TW" altLang="en-US" dirty="0"/>
          </a:p>
        </p:txBody>
      </p:sp>
      <p:sp>
        <p:nvSpPr>
          <p:cNvPr id="65" name="文字方塊 64">
            <a:extLst>
              <a:ext uri="{FF2B5EF4-FFF2-40B4-BE49-F238E27FC236}">
                <a16:creationId xmlns:a16="http://schemas.microsoft.com/office/drawing/2014/main" id="{6D49846D-F153-C5E6-6E94-4722750BF48D}"/>
              </a:ext>
            </a:extLst>
          </p:cNvPr>
          <p:cNvSpPr txBox="1"/>
          <p:nvPr/>
        </p:nvSpPr>
        <p:spPr>
          <a:xfrm>
            <a:off x="4598925" y="4690686"/>
            <a:ext cx="16023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Regression /</a:t>
            </a:r>
          </a:p>
          <a:p>
            <a:r>
              <a:rPr kumimoji="1" lang="en-US" altLang="zh-TW" dirty="0"/>
              <a:t>Binary Classification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70306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ADF92E-B5A8-D2C9-16E4-EE0DB245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CNN Summary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841A6B-01EF-5CBE-F220-27940AAD0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52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FA76626-3C10-AE6F-B4B3-8FF3F784CD37}"/>
              </a:ext>
            </a:extLst>
          </p:cNvPr>
          <p:cNvSpPr txBox="1"/>
          <p:nvPr/>
        </p:nvSpPr>
        <p:spPr>
          <a:xfrm>
            <a:off x="636815" y="1897533"/>
            <a:ext cx="10918370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為影像資料量身定做，用來捕捉空間資訊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(Spatial Information)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Parameter sharing (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參數共享機制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)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zh-TW" altLang="en-US" sz="2400" dirty="0">
                <a:ea typeface="Microsoft JhengHei" panose="020B0604030504040204" pitchFamily="34" charset="-120"/>
              </a:rPr>
              <a:t>降低用 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MLP </a:t>
            </a:r>
            <a:r>
              <a:rPr kumimoji="1" lang="zh-TW" altLang="en-US" sz="2400" dirty="0">
                <a:ea typeface="Microsoft JhengHei" panose="020B0604030504040204" pitchFamily="34" charset="-120"/>
              </a:rPr>
              <a:t>來進行影像任務的參數量</a:t>
            </a:r>
            <a:endParaRPr kumimoji="1" lang="en-US" altLang="zh-TW" sz="2400" dirty="0"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252146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12265A-7A1D-FEB2-B3B2-7084F1394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" altLang="zh-TW" dirty="0" err="1"/>
              <a:t>ConvNets</a:t>
            </a:r>
            <a:r>
              <a:rPr kumimoji="1" lang="en" altLang="zh-TW" dirty="0"/>
              <a:t> are everywhere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18F1247-CA77-876E-722C-4F7CFD43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53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D6B4BE4-6D6A-0754-D011-741F5E8D4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3141" y="2137767"/>
            <a:ext cx="4270037" cy="3604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3467AF33-E926-CE59-45F4-1C49E319454F}"/>
              </a:ext>
            </a:extLst>
          </p:cNvPr>
          <p:cNvSpPr txBox="1"/>
          <p:nvPr/>
        </p:nvSpPr>
        <p:spPr>
          <a:xfrm>
            <a:off x="1064562" y="1794904"/>
            <a:ext cx="3447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Object Detection with YOLO</a:t>
            </a:r>
            <a:endParaRPr kumimoji="1" lang="zh-TW" altLang="en-US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597930D-6B42-ACA0-B55F-7937B3964FE5}"/>
              </a:ext>
            </a:extLst>
          </p:cNvPr>
          <p:cNvSpPr txBox="1"/>
          <p:nvPr/>
        </p:nvSpPr>
        <p:spPr>
          <a:xfrm>
            <a:off x="778006" y="5742723"/>
            <a:ext cx="40203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/>
              <a:t>Figure source: https://</a:t>
            </a:r>
            <a:r>
              <a:rPr kumimoji="1" lang="en-US" altLang="zh-TW" sz="1400" dirty="0" err="1"/>
              <a:t>pjreddie.com</a:t>
            </a:r>
            <a:r>
              <a:rPr kumimoji="1" lang="en-US" altLang="zh-TW" sz="1400" dirty="0"/>
              <a:t>/darknet/yolo/</a:t>
            </a:r>
            <a:endParaRPr kumimoji="1" lang="zh-TW" altLang="en-US" sz="14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EE9E3E59-B7E5-A80C-42FC-2CB4D10DA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478" y="2261940"/>
            <a:ext cx="4460661" cy="3356610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0A15A22E-CDDC-1FD9-0AF9-13446B11ADE3}"/>
              </a:ext>
            </a:extLst>
          </p:cNvPr>
          <p:cNvSpPr txBox="1"/>
          <p:nvPr/>
        </p:nvSpPr>
        <p:spPr>
          <a:xfrm>
            <a:off x="6948784" y="5742723"/>
            <a:ext cx="38898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400" dirty="0"/>
              <a:t>Figure source: </a:t>
            </a:r>
            <a:r>
              <a:rPr kumimoji="1" lang="en" altLang="zh-TW" sz="1400" dirty="0" err="1"/>
              <a:t>Gatys</a:t>
            </a:r>
            <a:r>
              <a:rPr kumimoji="1" lang="en" altLang="zh-TW" sz="1400" dirty="0"/>
              <a:t>, Leon A., Alexander S. Ecker, and Matthias </a:t>
            </a:r>
            <a:r>
              <a:rPr kumimoji="1" lang="en" altLang="zh-TW" sz="1400" dirty="0" err="1"/>
              <a:t>Bethge</a:t>
            </a:r>
            <a:r>
              <a:rPr kumimoji="1" lang="en" altLang="zh-TW" sz="1400" dirty="0"/>
              <a:t>. "Image style transfer using convolutional neural networks." CVPR. 2016.</a:t>
            </a:r>
            <a:endParaRPr kumimoji="1" lang="zh-TW" altLang="en-US" sz="14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30CD8BD-7475-AB77-206B-EAA25B37A0CD}"/>
              </a:ext>
            </a:extLst>
          </p:cNvPr>
          <p:cNvSpPr txBox="1"/>
          <p:nvPr/>
        </p:nvSpPr>
        <p:spPr>
          <a:xfrm>
            <a:off x="7268824" y="1768435"/>
            <a:ext cx="30144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b="1" dirty="0"/>
              <a:t>Style Transfer with CNN</a:t>
            </a:r>
            <a:endParaRPr kumimoji="1" lang="zh-TW" altLang="en-US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BA679A-148D-CA7A-FE56-246D9B28E3AA}"/>
              </a:ext>
            </a:extLst>
          </p:cNvPr>
          <p:cNvSpPr/>
          <p:nvPr/>
        </p:nvSpPr>
        <p:spPr>
          <a:xfrm>
            <a:off x="6430536" y="2164236"/>
            <a:ext cx="282497" cy="400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288459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D038F2-90E8-5217-422A-BD5F3A5F6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Advanced CNNs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2F57CB7-E665-1BC0-C0BC-41AC947BF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54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5FB99C0-C112-C572-EFF2-C14DBFA243E7}"/>
              </a:ext>
            </a:extLst>
          </p:cNvPr>
          <p:cNvSpPr txBox="1"/>
          <p:nvPr/>
        </p:nvSpPr>
        <p:spPr>
          <a:xfrm>
            <a:off x="636815" y="1928013"/>
            <a:ext cx="10918370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[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ResNet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] Deep Residual Learning for Image Recognition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arxiv.org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/abs/1512.03385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[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DenseNet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] Densely Connected Convolutional Networks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arxiv.org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/abs/1608.06993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>
                <a:ea typeface="Microsoft JhengHei" panose="020B0604030504040204" pitchFamily="34" charset="-120"/>
              </a:rPr>
              <a:t>https://</a:t>
            </a:r>
            <a:r>
              <a:rPr kumimoji="1" lang="en-US" altLang="zh-TW" sz="2400" dirty="0" err="1">
                <a:ea typeface="Microsoft JhengHei" panose="020B0604030504040204" pitchFamily="34" charset="-120"/>
              </a:rPr>
              <a:t>slazebni.cs.illinois.edu</a:t>
            </a:r>
            <a:r>
              <a:rPr kumimoji="1" lang="en-US" altLang="zh-TW" sz="2400" dirty="0">
                <a:ea typeface="Microsoft JhengHei" panose="020B0604030504040204" pitchFamily="34" charset="-120"/>
              </a:rPr>
              <a:t>/spring17/lec04_advanced_cnn.pdf</a:t>
            </a:r>
          </a:p>
        </p:txBody>
      </p:sp>
    </p:spTree>
    <p:extLst>
      <p:ext uri="{BB962C8B-B14F-4D97-AF65-F5344CB8AC3E}">
        <p14:creationId xmlns:p14="http://schemas.microsoft.com/office/powerpoint/2010/main" val="359954698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93494F-1C3B-3D6B-A72E-E48366CA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Additional Links</a:t>
            </a:r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0565246-5560-F81C-59D7-7A88C4F93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55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8A1C55F-1531-41D1-3ADF-3B915E461B49}"/>
              </a:ext>
            </a:extLst>
          </p:cNvPr>
          <p:cNvSpPr txBox="1"/>
          <p:nvPr/>
        </p:nvSpPr>
        <p:spPr>
          <a:xfrm>
            <a:off x="653144" y="1806093"/>
            <a:ext cx="10918370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 err="1"/>
              <a:t>PyTorch</a:t>
            </a:r>
            <a:r>
              <a:rPr kumimoji="1" lang="en-US" altLang="zh-TW" sz="2400" b="1" dirty="0"/>
              <a:t> CNN example</a:t>
            </a:r>
            <a:r>
              <a:rPr kumimoji="1" lang="en-US" altLang="zh-TW" sz="2400" dirty="0"/>
              <a:t>: https://</a:t>
            </a:r>
            <a:r>
              <a:rPr kumimoji="1" lang="en-US" altLang="zh-TW" sz="2400" dirty="0" err="1"/>
              <a:t>pytorch.org</a:t>
            </a:r>
            <a:r>
              <a:rPr kumimoji="1" lang="en-US" altLang="zh-TW" sz="2400" dirty="0"/>
              <a:t>/tutorials/beginner/blitz/cifar10_tutorial.html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b="1" dirty="0"/>
              <a:t>Batch Normalization: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wandb.ai</a:t>
            </a:r>
            <a:r>
              <a:rPr kumimoji="1" lang="en-US" altLang="zh-TW" sz="2400" dirty="0"/>
              <a:t>/</a:t>
            </a:r>
            <a:r>
              <a:rPr kumimoji="1" lang="en-US" altLang="zh-TW" sz="2400" dirty="0" err="1"/>
              <a:t>wandb_fc</a:t>
            </a:r>
            <a:r>
              <a:rPr kumimoji="1" lang="en-US" altLang="zh-TW" sz="2400" dirty="0"/>
              <a:t>/</a:t>
            </a:r>
            <a:r>
              <a:rPr kumimoji="1" lang="en-US" altLang="zh-TW" sz="2400" dirty="0" err="1"/>
              <a:t>GroupNorm</a:t>
            </a:r>
            <a:r>
              <a:rPr kumimoji="1" lang="en-US" altLang="zh-TW" sz="2400" dirty="0"/>
              <a:t>/reports/Group-Normalization-in-</a:t>
            </a:r>
            <a:r>
              <a:rPr kumimoji="1" lang="en-US" altLang="zh-TW" sz="2400" dirty="0" err="1"/>
              <a:t>Pytorch</a:t>
            </a:r>
            <a:r>
              <a:rPr kumimoji="1" lang="en-US" altLang="zh-TW" sz="2400" dirty="0"/>
              <a:t>-With-Examples---VmlldzoxMzU0MzMy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1" lang="en-US" altLang="zh-TW" sz="2400" dirty="0"/>
              <a:t>https://</a:t>
            </a:r>
            <a:r>
              <a:rPr kumimoji="1" lang="en-US" altLang="zh-TW" sz="2400" dirty="0" err="1"/>
              <a:t>towardsdatascience.com</a:t>
            </a:r>
            <a:r>
              <a:rPr kumimoji="1" lang="en-US" altLang="zh-TW" sz="2400" dirty="0"/>
              <a:t>/batch-norm-explained-visually-how-it-works-and-why-neural-networks-need-it-b18919692739/</a:t>
            </a:r>
          </a:p>
        </p:txBody>
      </p:sp>
    </p:spTree>
    <p:extLst>
      <p:ext uri="{BB962C8B-B14F-4D97-AF65-F5344CB8AC3E}">
        <p14:creationId xmlns:p14="http://schemas.microsoft.com/office/powerpoint/2010/main" val="27739329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CD83C5C-EA61-C255-DF28-E9CFF9EEA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3065145"/>
            <a:ext cx="3200400" cy="727709"/>
          </a:xfrm>
        </p:spPr>
        <p:txBody>
          <a:bodyPr anchor="ctr">
            <a:normAutofit/>
          </a:bodyPr>
          <a:lstStyle/>
          <a:p>
            <a:r>
              <a:rPr lang="en-US" altLang="zh-TW" sz="4800" dirty="0"/>
              <a:t>Thank you!</a:t>
            </a:r>
            <a:endParaRPr lang="zh-TW" altLang="en-US" sz="4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060AC63-905C-E7E8-4AEA-D711150C4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pPr/>
              <a:t>56</a:t>
            </a:fld>
            <a:endParaRPr lang="en-US" dirty="0"/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5CC2DB8D-FB34-E3BD-0CDD-276E352FE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21802" y="2769461"/>
            <a:ext cx="4071257" cy="2046786"/>
          </a:xfrm>
        </p:spPr>
        <p:txBody>
          <a:bodyPr>
            <a:normAutofit fontScale="85000" lnSpcReduction="10000"/>
          </a:bodyPr>
          <a:lstStyle/>
          <a:p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Instructor: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林英嘉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 ✉️ </a:t>
            </a:r>
            <a:r>
              <a:rPr kumimoji="1" lang="en-US" altLang="zh-TW" sz="3200" dirty="0" err="1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yjlin@cgu.edu.tw</a:t>
            </a: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  <a:p>
            <a:pPr marL="0" indent="0">
              <a:buNone/>
            </a:pP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TA: </a:t>
            </a: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鄭茹云</a:t>
            </a:r>
          </a:p>
          <a:p>
            <a:pPr marL="0" indent="0">
              <a:buNone/>
            </a:pPr>
            <a:r>
              <a:rPr kumimoji="1" lang="zh-TW" altLang="en-US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✉️ </a:t>
            </a:r>
            <a:r>
              <a:rPr kumimoji="1" lang="en-US" altLang="zh-TW" sz="3200" dirty="0">
                <a:latin typeface="Calibri" panose="020F0502020204030204" pitchFamily="34" charset="0"/>
                <a:ea typeface="Microsoft JhengHei" panose="020B0604030504040204" pitchFamily="34" charset="-120"/>
                <a:cs typeface="Calibri" panose="020F0502020204030204" pitchFamily="34" charset="0"/>
              </a:rPr>
              <a:t>m1461010@cgu.edu.tw</a:t>
            </a:r>
          </a:p>
          <a:p>
            <a:pPr marL="0" indent="0">
              <a:buNone/>
            </a:pPr>
            <a:endParaRPr kumimoji="1" lang="en-US" altLang="zh-TW" sz="3200" dirty="0">
              <a:latin typeface="Calibri" panose="020F0502020204030204" pitchFamily="34" charset="0"/>
              <a:ea typeface="Microsoft JhengHei" panose="020B0604030504040204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9680789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ourse_template_DL" id="{E71C07C9-5718-B34F-9EA9-A4FDE47A262C}" vid="{F05AA8C9-6C58-904C-AE8A-42257BEE94D0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回顧</Template>
  <TotalTime>7986</TotalTime>
  <Words>3561</Words>
  <Application>Microsoft Macintosh PowerPoint</Application>
  <PresentationFormat>寬螢幕</PresentationFormat>
  <Paragraphs>2067</Paragraphs>
  <Slides>56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56</vt:i4>
      </vt:variant>
    </vt:vector>
  </HeadingPairs>
  <TitlesOfParts>
    <vt:vector size="62" baseType="lpstr">
      <vt:lpstr>Microsoft JhengHei</vt:lpstr>
      <vt:lpstr>Arial</vt:lpstr>
      <vt:lpstr>Calibri</vt:lpstr>
      <vt:lpstr>Cambria Math</vt:lpstr>
      <vt:lpstr>Consolas</vt:lpstr>
      <vt:lpstr>回顧</vt:lpstr>
      <vt:lpstr>深度學習 Deep Learning</vt:lpstr>
      <vt:lpstr>Outline</vt:lpstr>
      <vt:lpstr>[Recep] 什麼是機器學習？(以電腦視覺為例)</vt:lpstr>
      <vt:lpstr>深度學習常見模型架構</vt:lpstr>
      <vt:lpstr>Examples of Convolutions</vt:lpstr>
      <vt:lpstr>影像資料簡要介紹</vt:lpstr>
      <vt:lpstr>Images</vt:lpstr>
      <vt:lpstr>RGB Images (彩色影像)</vt:lpstr>
      <vt:lpstr>Gray-scale Images (灰階影像)</vt:lpstr>
      <vt:lpstr>Image inputs are too big for an MLP</vt:lpstr>
      <vt:lpstr>Convolutional Neural Networks</vt:lpstr>
      <vt:lpstr>CNN Outline</vt:lpstr>
      <vt:lpstr>卷積層有兩個重要的設定參數</vt:lpstr>
      <vt:lpstr>Convolutions (stride = 1)</vt:lpstr>
      <vt:lpstr>Convolutions (stride = 1)</vt:lpstr>
      <vt:lpstr>Convolutions (stride = 1)</vt:lpstr>
      <vt:lpstr>Convolutions (stride = 1)</vt:lpstr>
      <vt:lpstr>Convolutions (stride = 1)</vt:lpstr>
      <vt:lpstr>Convolutions (stride = 1)</vt:lpstr>
      <vt:lpstr>Convolutions (stride = 1)</vt:lpstr>
      <vt:lpstr>Convolutions (stride = 1)</vt:lpstr>
      <vt:lpstr>Convolutions (stride = 2)</vt:lpstr>
      <vt:lpstr>Convolutions (stride = 2)</vt:lpstr>
      <vt:lpstr>Convolutions (stride = 2)</vt:lpstr>
      <vt:lpstr>Convolutions (stride = 2, padding = 1)</vt:lpstr>
      <vt:lpstr>Convolutions (stride = 2, padding = 1)</vt:lpstr>
      <vt:lpstr>Convolutions (stride = 2, padding = 1)</vt:lpstr>
      <vt:lpstr>Convolutions (stride = 2, padding = 1)</vt:lpstr>
      <vt:lpstr>Convolutions (stride = 2, padding = 1)</vt:lpstr>
      <vt:lpstr>Convolutions (stride = 2)</vt:lpstr>
      <vt:lpstr>Convolutions (stride = 2)</vt:lpstr>
      <vt:lpstr>Convolutions (stride = 2)</vt:lpstr>
      <vt:lpstr>Convolutions (stride = 2)</vt:lpstr>
      <vt:lpstr>⭐️ Convolutions (RGB)</vt:lpstr>
      <vt:lpstr>Filters 數目與 output_channels 的關係</vt:lpstr>
      <vt:lpstr>⭐️ Convolutional layer is not fully-connected</vt:lpstr>
      <vt:lpstr>Convolutional layer vs. FC layer 參數量</vt:lpstr>
      <vt:lpstr>Convolutional layer vs. FC layer 參數量</vt:lpstr>
      <vt:lpstr>Implementation in PyTorch</vt:lpstr>
      <vt:lpstr>[Recap] 深度學習可以減少 Feature Selection</vt:lpstr>
      <vt:lpstr>CNN Outline</vt:lpstr>
      <vt:lpstr>Pooling (example of Max Pooling)</vt:lpstr>
      <vt:lpstr>Pooling (example of Average Pooling)</vt:lpstr>
      <vt:lpstr>Pooling (example of Max Pooling)</vt:lpstr>
      <vt:lpstr>2D Pooling on RGB Images</vt:lpstr>
      <vt:lpstr>[Summary] Meaning of Pooling</vt:lpstr>
      <vt:lpstr>CNN Outline</vt:lpstr>
      <vt:lpstr>CNN 的結局</vt:lpstr>
      <vt:lpstr>The whole CNN</vt:lpstr>
      <vt:lpstr>Flatten</vt:lpstr>
      <vt:lpstr>Fully-connected Networks</vt:lpstr>
      <vt:lpstr>CNN Summary</vt:lpstr>
      <vt:lpstr>ConvNets are everywhere</vt:lpstr>
      <vt:lpstr>Advanced CNNs</vt:lpstr>
      <vt:lpstr>Additional Links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深度學習 Deep Learning</dc:title>
  <dc:creator>林英嘉</dc:creator>
  <cp:lastModifiedBy>林英嘉</cp:lastModifiedBy>
  <cp:revision>1213</cp:revision>
  <dcterms:created xsi:type="dcterms:W3CDTF">2025-02-06T07:16:08Z</dcterms:created>
  <dcterms:modified xsi:type="dcterms:W3CDTF">2026-10-13T07:28:10Z</dcterms:modified>
</cp:coreProperties>
</file>